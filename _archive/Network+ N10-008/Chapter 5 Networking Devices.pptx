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10"/>
  </p:notesMasterIdLst>
  <p:sldIdLst>
    <p:sldId id="256" r:id="rId2"/>
    <p:sldId id="257" r:id="rId3"/>
    <p:sldId id="271"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59173"/>
  </p:normalViewPr>
  <p:slideViewPr>
    <p:cSldViewPr snapToGrid="0">
      <p:cViewPr varScale="1">
        <p:scale>
          <a:sx n="65" d="100"/>
          <a:sy n="65" d="100"/>
        </p:scale>
        <p:origin x="2432" y="192"/>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765EFA-606C-844F-AE31-041056E78A27}" type="datetimeFigureOut">
              <a:rPr lang="en-US" smtClean="0"/>
              <a:t>9/14/22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9E6F2-C86E-EA43-BDDA-BA3449E23008}" type="slidenum">
              <a:rPr lang="en-US" smtClean="0"/>
              <a:t>‹#›</a:t>
            </a:fld>
            <a:endParaRPr lang="en-US"/>
          </a:p>
        </p:txBody>
      </p:sp>
    </p:spTree>
    <p:extLst>
      <p:ext uri="{BB962C8B-B14F-4D97-AF65-F5344CB8AC3E}">
        <p14:creationId xmlns:p14="http://schemas.microsoft.com/office/powerpoint/2010/main" val="384299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sng" dirty="0"/>
              <a:t>NIC:</a:t>
            </a:r>
            <a:r>
              <a:rPr lang="en-US" b="0" u="none" dirty="0"/>
              <a:t> </a:t>
            </a:r>
            <a:r>
              <a:rPr lang="en-US" dirty="0"/>
              <a:t>provides the physical, electrical, and electronic connections to the device</a:t>
            </a:r>
          </a:p>
          <a:p>
            <a:pPr marL="171450" indent="-171450">
              <a:buFont typeface="Arial" panose="020B0604020202020204" pitchFamily="34" charset="0"/>
              <a:buChar char="•"/>
            </a:pPr>
            <a:r>
              <a:rPr lang="en-US" dirty="0"/>
              <a:t>It’s a layer 2 device because it communicates using the MAC address</a:t>
            </a:r>
          </a:p>
          <a:p>
            <a:pPr marL="171450" indent="-171450">
              <a:buFont typeface="Arial" panose="020B0604020202020204" pitchFamily="34" charset="0"/>
              <a:buChar char="•"/>
            </a:pPr>
            <a:r>
              <a:rPr lang="en-US" b="1" u="sng" dirty="0"/>
              <a:t>Hub:</a:t>
            </a:r>
            <a:r>
              <a:rPr lang="en-US" b="0" u="none" dirty="0"/>
              <a:t> I</a:t>
            </a:r>
            <a:r>
              <a:rPr lang="en-US" dirty="0"/>
              <a:t>t has no intelligence, it is a layer 1 device, a hub simply repeats all data to all hosts on the network</a:t>
            </a:r>
          </a:p>
          <a:p>
            <a:pPr marL="171450" indent="-171450">
              <a:buFont typeface="Arial" panose="020B0604020202020204" pitchFamily="34" charset="0"/>
              <a:buChar char="•"/>
            </a:pPr>
            <a:r>
              <a:rPr lang="en-US" dirty="0"/>
              <a:t>Hubs are glorified repeaters</a:t>
            </a:r>
          </a:p>
          <a:p>
            <a:pPr marL="171450" indent="-171450">
              <a:buFont typeface="Arial" panose="020B0604020202020204" pitchFamily="34" charset="0"/>
              <a:buChar char="•"/>
            </a:pPr>
            <a:r>
              <a:rPr lang="en-US" b="1" u="sng" dirty="0"/>
              <a:t>Bridges:</a:t>
            </a:r>
            <a:r>
              <a:rPr lang="en-US" dirty="0"/>
              <a:t> main purpose is to break up collision domains, they use MAC addresses to make forwarding decisions so they are layer 2 devices</a:t>
            </a:r>
          </a:p>
          <a:p>
            <a:pPr marL="171450" indent="-171450">
              <a:buFont typeface="Arial" panose="020B0604020202020204" pitchFamily="34" charset="0"/>
              <a:buChar char="•"/>
            </a:pPr>
            <a:r>
              <a:rPr lang="en-US" b="1" u="sng" dirty="0"/>
              <a:t>Switch:</a:t>
            </a:r>
            <a:r>
              <a:rPr lang="en-US" b="0" u="none" dirty="0"/>
              <a:t> </a:t>
            </a:r>
            <a:r>
              <a:rPr lang="en-US" dirty="0"/>
              <a:t>Are intelligent hubs because; it pays attention to frames, source and destination MAC addresses, and knows which port data has been received. Layer 2</a:t>
            </a:r>
          </a:p>
          <a:p>
            <a:pPr marL="171450" indent="-171450">
              <a:buFont typeface="Arial" panose="020B0604020202020204" pitchFamily="34" charset="0"/>
              <a:buChar char="•"/>
            </a:pPr>
            <a:r>
              <a:rPr lang="en-US" dirty="0"/>
              <a:t>Switches use MAC addresses to make forwarding decisions</a:t>
            </a:r>
          </a:p>
          <a:p>
            <a:pPr marL="171450" indent="-171450">
              <a:buFont typeface="Arial" panose="020B0604020202020204" pitchFamily="34" charset="0"/>
              <a:buChar char="•"/>
            </a:pPr>
            <a:r>
              <a:rPr lang="en-US" b="1" u="sng" dirty="0"/>
              <a:t>Router:</a:t>
            </a:r>
            <a:r>
              <a:rPr lang="en-US" b="0" u="none" dirty="0"/>
              <a:t> </a:t>
            </a:r>
            <a:r>
              <a:rPr lang="en-US" dirty="0"/>
              <a:t>They process routing packets. Use IP addresses to make forwarding decisions, so they operate at layer 3</a:t>
            </a:r>
          </a:p>
          <a:p>
            <a:pPr marL="171450" indent="-171450">
              <a:buFont typeface="Arial" panose="020B0604020202020204" pitchFamily="34" charset="0"/>
              <a:buChar char="•"/>
            </a:pPr>
            <a:r>
              <a:rPr lang="en-US" b="1" u="sng" dirty="0"/>
              <a:t>Firewall:</a:t>
            </a:r>
            <a:r>
              <a:rPr lang="en-US" b="0" u="none" dirty="0"/>
              <a:t> </a:t>
            </a:r>
            <a:r>
              <a:rPr lang="en-US" dirty="0"/>
              <a:t>Act as security guards for your network. It filters packets based on rules that have been implemented to determine what data is allowed to flow in and out of your network.</a:t>
            </a:r>
          </a:p>
          <a:p>
            <a:pPr marL="171450" indent="-171450">
              <a:buFont typeface="Arial" panose="020B0604020202020204" pitchFamily="34" charset="0"/>
              <a:buChar char="•"/>
            </a:pPr>
            <a:r>
              <a:rPr lang="en-US" dirty="0"/>
              <a:t>Firewalls operate at multiple levels of the OSI model depending on the rules in place</a:t>
            </a:r>
          </a:p>
          <a:p>
            <a:pPr marL="171450" indent="-171450">
              <a:buFont typeface="Arial" panose="020B0604020202020204" pitchFamily="34" charset="0"/>
              <a:buChar char="•"/>
            </a:pPr>
            <a:r>
              <a:rPr lang="en-US" b="1" u="sng" dirty="0"/>
              <a:t>IDS:</a:t>
            </a:r>
            <a:r>
              <a:rPr lang="en-US" b="0" u="none" dirty="0"/>
              <a:t> </a:t>
            </a:r>
            <a:r>
              <a:rPr lang="en-US" dirty="0"/>
              <a:t>It monitors, records problems, and tells you about it</a:t>
            </a:r>
          </a:p>
          <a:p>
            <a:pPr marL="171450" indent="-171450">
              <a:buFont typeface="Arial" panose="020B0604020202020204" pitchFamily="34" charset="0"/>
              <a:buChar char="•"/>
            </a:pPr>
            <a:r>
              <a:rPr lang="en-US" b="1" u="sng" dirty="0"/>
              <a:t>IPS:</a:t>
            </a:r>
            <a:r>
              <a:rPr lang="en-US" b="0" u="none" dirty="0"/>
              <a:t> W</a:t>
            </a:r>
            <a:r>
              <a:rPr lang="en-US" dirty="0"/>
              <a:t>orks in real time to stop the threats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6E9E6F2-C86E-EA43-BDDA-BA3449E23008}" type="slidenum">
              <a:rPr lang="en-US" smtClean="0"/>
              <a:t>2</a:t>
            </a:fld>
            <a:endParaRPr lang="en-US"/>
          </a:p>
        </p:txBody>
      </p:sp>
    </p:spTree>
    <p:extLst>
      <p:ext uri="{BB962C8B-B14F-4D97-AF65-F5344CB8AC3E}">
        <p14:creationId xmlns:p14="http://schemas.microsoft.com/office/powerpoint/2010/main" val="40770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firewall can be a box or a software placed on a server or router</a:t>
            </a:r>
          </a:p>
          <a:p>
            <a:pPr marL="171450" indent="-171450">
              <a:buFont typeface="Arial" panose="020B0604020202020204" pitchFamily="34" charset="0"/>
              <a:buChar char="•"/>
            </a:pPr>
            <a:r>
              <a:rPr lang="en-US" dirty="0"/>
              <a:t>Two network connections within a firewall; internet side and one on the network</a:t>
            </a:r>
          </a:p>
          <a:p>
            <a:pPr marL="171450" indent="-171450">
              <a:buFont typeface="Arial" panose="020B0604020202020204" pitchFamily="34" charset="0"/>
              <a:buChar char="•"/>
            </a:pPr>
            <a:r>
              <a:rPr lang="en-US" dirty="0"/>
              <a:t>A DMZ is another type of private firewall, also called a screened subnet. that is within the network that </a:t>
            </a:r>
          </a:p>
          <a:p>
            <a:pPr marL="171450" indent="-171450">
              <a:buFont typeface="Arial" panose="020B0604020202020204" pitchFamily="34" charset="0"/>
              <a:buChar char="•"/>
            </a:pPr>
            <a:r>
              <a:rPr lang="en-US" dirty="0"/>
              <a:t>Example would be you having a website for your organization hosted on a web server, but you don’t want users to have access to your internal network</a:t>
            </a:r>
          </a:p>
        </p:txBody>
      </p:sp>
      <p:sp>
        <p:nvSpPr>
          <p:cNvPr id="4" name="Slide Number Placeholder 3"/>
          <p:cNvSpPr>
            <a:spLocks noGrp="1"/>
          </p:cNvSpPr>
          <p:nvPr>
            <p:ph type="sldNum" sz="quarter" idx="5"/>
          </p:nvPr>
        </p:nvSpPr>
        <p:spPr/>
        <p:txBody>
          <a:bodyPr/>
          <a:lstStyle/>
          <a:p>
            <a:fld id="{F6E9E6F2-C86E-EA43-BDDA-BA3449E23008}" type="slidenum">
              <a:rPr lang="en-US" smtClean="0"/>
              <a:t>3</a:t>
            </a:fld>
            <a:endParaRPr lang="en-US"/>
          </a:p>
        </p:txBody>
      </p:sp>
    </p:spTree>
    <p:extLst>
      <p:ext uri="{BB962C8B-B14F-4D97-AF65-F5344CB8AC3E}">
        <p14:creationId xmlns:p14="http://schemas.microsoft.com/office/powerpoint/2010/main" val="3949371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An access point is just a wireless hub via analog wireless signals and they operate at Layer 2</a:t>
            </a:r>
          </a:p>
          <a:p>
            <a:pPr marL="171450" indent="-171450">
              <a:buFont typeface="Arial" panose="020B0604020202020204" pitchFamily="34" charset="0"/>
              <a:buChar char="•"/>
            </a:pPr>
            <a:r>
              <a:rPr lang="en-US" dirty="0"/>
              <a:t>A range extender does exactly what it sounds like, it can extend the wireless signal from your router to other parts of a building or room</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6E9E6F2-C86E-EA43-BDDA-BA3449E23008}" type="slidenum">
              <a:rPr lang="en-US" smtClean="0"/>
              <a:t>4</a:t>
            </a:fld>
            <a:endParaRPr lang="en-US"/>
          </a:p>
        </p:txBody>
      </p:sp>
    </p:spTree>
    <p:extLst>
      <p:ext uri="{BB962C8B-B14F-4D97-AF65-F5344CB8AC3E}">
        <p14:creationId xmlns:p14="http://schemas.microsoft.com/office/powerpoint/2010/main" val="954820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6E9E6F2-C86E-EA43-BDDA-BA3449E23008}" type="slidenum">
              <a:rPr lang="en-US" smtClean="0"/>
              <a:t>5</a:t>
            </a:fld>
            <a:endParaRPr lang="en-US"/>
          </a:p>
        </p:txBody>
      </p:sp>
    </p:spTree>
    <p:extLst>
      <p:ext uri="{BB962C8B-B14F-4D97-AF65-F5344CB8AC3E}">
        <p14:creationId xmlns:p14="http://schemas.microsoft.com/office/powerpoint/2010/main" val="1502202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DHCP assigns IP addresses to hosts.</a:t>
            </a:r>
          </a:p>
          <a:p>
            <a:pPr marL="171450" indent="-171450">
              <a:buFont typeface="Arial" panose="020B0604020202020204" pitchFamily="34" charset="0"/>
              <a:buChar char="•"/>
            </a:pPr>
            <a:r>
              <a:rPr lang="en-US" dirty="0"/>
              <a:t>It assigns it automatically</a:t>
            </a:r>
          </a:p>
          <a:p>
            <a:pPr marL="171450" indent="-171450">
              <a:buFont typeface="Arial" panose="020B0604020202020204" pitchFamily="34" charset="0"/>
              <a:buChar char="•"/>
            </a:pPr>
            <a:r>
              <a:rPr lang="en-US" dirty="0"/>
              <a:t>The server is configured with a pool of addresses that is can use and has a list of addresses that are “off limits”</a:t>
            </a:r>
          </a:p>
          <a:p>
            <a:pPr marL="171450" indent="-171450">
              <a:buFont typeface="Arial" panose="020B0604020202020204" pitchFamily="34" charset="0"/>
              <a:buChar char="•"/>
            </a:pPr>
            <a:r>
              <a:rPr lang="en-US" dirty="0"/>
              <a:t>DORA: Discover, Offer, Request, Acknowledge</a:t>
            </a:r>
          </a:p>
          <a:p>
            <a:pPr marL="171450" indent="-171450">
              <a:buFont typeface="Arial" panose="020B0604020202020204" pitchFamily="34" charset="0"/>
              <a:buChar char="•"/>
            </a:pPr>
            <a:r>
              <a:rPr lang="en-US" dirty="0"/>
              <a:t>The computer/client sends out a DCHP discover message</a:t>
            </a:r>
          </a:p>
          <a:p>
            <a:pPr marL="171450" indent="-171450">
              <a:buFont typeface="Arial" panose="020B0604020202020204" pitchFamily="34" charset="0"/>
              <a:buChar char="•"/>
            </a:pPr>
            <a:r>
              <a:rPr lang="en-US" dirty="0"/>
              <a:t>The DHCP server responds with an offer of IP address options</a:t>
            </a:r>
          </a:p>
          <a:p>
            <a:pPr marL="171450" indent="-171450">
              <a:buFont typeface="Arial" panose="020B0604020202020204" pitchFamily="34" charset="0"/>
              <a:buChar char="•"/>
            </a:pPr>
            <a:r>
              <a:rPr lang="en-US" dirty="0"/>
              <a:t>The client makes a request for an IP address</a:t>
            </a:r>
          </a:p>
          <a:p>
            <a:pPr marL="171450" indent="-171450">
              <a:buFont typeface="Arial" panose="020B0604020202020204" pitchFamily="34" charset="0"/>
              <a:buChar char="•"/>
            </a:pPr>
            <a:r>
              <a:rPr lang="en-US" dirty="0"/>
              <a:t>The DHCP server acknowledges the request and the cycle is complete</a:t>
            </a:r>
          </a:p>
          <a:p>
            <a:pPr marL="171450" indent="-171450">
              <a:buFont typeface="Arial" panose="020B0604020202020204" pitchFamily="34" charset="0"/>
              <a:buChar char="•"/>
            </a:pPr>
            <a:r>
              <a:rPr lang="en-US" dirty="0"/>
              <a:t>IP addresses have lease terms and it also allows you to reserve static addresses</a:t>
            </a:r>
          </a:p>
          <a:p>
            <a:pPr marL="171450" indent="-171450">
              <a:buFont typeface="Arial" panose="020B0604020202020204" pitchFamily="34" charset="0"/>
              <a:buChar char="•"/>
            </a:pPr>
            <a:r>
              <a:rPr lang="en-US" dirty="0"/>
              <a:t>A DHCP relay, since routers cant forward broadcasts, the relay agent sends out the request message from its own IP address to get the IP address for the client</a:t>
            </a:r>
          </a:p>
          <a:p>
            <a:pPr marL="171450" indent="-171450">
              <a:buFont typeface="Arial" panose="020B0604020202020204" pitchFamily="34" charset="0"/>
              <a:buChar char="•"/>
            </a:pPr>
            <a:r>
              <a:rPr lang="en-US" dirty="0"/>
              <a:t>The reason for this is DHCP sends out broadcasts and routers won’t forward broadcasts</a:t>
            </a:r>
          </a:p>
          <a:p>
            <a:pPr marL="171450" indent="-171450">
              <a:buFont typeface="Arial" panose="020B0604020202020204" pitchFamily="34" charset="0"/>
              <a:buChar char="•"/>
            </a:pPr>
            <a:r>
              <a:rPr lang="en-US" dirty="0"/>
              <a:t>IPAM integrates the management of DNS, DHCP, and IP addresses</a:t>
            </a:r>
            <a:br>
              <a:rPr lang="en-US" dirty="0"/>
            </a:b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6E9E6F2-C86E-EA43-BDDA-BA3449E23008}" type="slidenum">
              <a:rPr lang="en-US" smtClean="0"/>
              <a:t>6</a:t>
            </a:fld>
            <a:endParaRPr lang="en-US"/>
          </a:p>
        </p:txBody>
      </p:sp>
    </p:spTree>
    <p:extLst>
      <p:ext uri="{BB962C8B-B14F-4D97-AF65-F5344CB8AC3E}">
        <p14:creationId xmlns:p14="http://schemas.microsoft.com/office/powerpoint/2010/main" val="2293533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sng" dirty="0"/>
              <a:t>A multi-layer switch or “smart switch”:</a:t>
            </a:r>
            <a:r>
              <a:rPr lang="en-US" b="0" u="none" dirty="0"/>
              <a:t> </a:t>
            </a:r>
            <a:r>
              <a:rPr lang="en-US" dirty="0"/>
              <a:t>It operates like a regular switch at layer 2, but it also routes traffic at layer 3 while providing up to 24 collision domains</a:t>
            </a:r>
          </a:p>
          <a:p>
            <a:pPr marL="171450" indent="-171450">
              <a:buFont typeface="Arial" panose="020B0604020202020204" pitchFamily="34" charset="0"/>
              <a:buChar char="•"/>
            </a:pPr>
            <a:r>
              <a:rPr lang="en-US" dirty="0"/>
              <a:t>Looks exactly the same as the layer 2 switch</a:t>
            </a:r>
          </a:p>
          <a:p>
            <a:pPr marL="171450" indent="-171450">
              <a:buFont typeface="Arial" panose="020B0604020202020204" pitchFamily="34" charset="0"/>
              <a:buChar char="•"/>
            </a:pPr>
            <a:r>
              <a:rPr lang="en-US" b="1" u="sng" dirty="0"/>
              <a:t>DNS:</a:t>
            </a:r>
            <a:r>
              <a:rPr lang="en-US" b="0" u="none" dirty="0"/>
              <a:t> </a:t>
            </a:r>
            <a:r>
              <a:rPr lang="en-US" dirty="0"/>
              <a:t>makes the internet user friendly</a:t>
            </a:r>
          </a:p>
          <a:p>
            <a:pPr marL="171450" indent="-171450">
              <a:buFont typeface="Arial" panose="020B0604020202020204" pitchFamily="34" charset="0"/>
              <a:buChar char="•"/>
            </a:pPr>
            <a:r>
              <a:rPr lang="en-US" b="1" u="sng" dirty="0"/>
              <a:t>FQDN:</a:t>
            </a:r>
            <a:r>
              <a:rPr lang="en-US" b="0" u="none" dirty="0"/>
              <a:t> </a:t>
            </a:r>
            <a:r>
              <a:rPr lang="en-US" dirty="0"/>
              <a:t>consists of the hostname and domain name</a:t>
            </a:r>
          </a:p>
          <a:p>
            <a:pPr marL="171450" indent="-171450">
              <a:buFont typeface="Arial" panose="020B0604020202020204" pitchFamily="34" charset="0"/>
              <a:buChar char="•"/>
            </a:pPr>
            <a:r>
              <a:rPr lang="en-US" b="1" u="sng" dirty="0"/>
              <a:t>Record Types</a:t>
            </a:r>
            <a:r>
              <a:rPr lang="en-US" dirty="0"/>
              <a:t>: also called zone files are text files that store information about a domain’s or hostname IP address</a:t>
            </a:r>
          </a:p>
          <a:p>
            <a:pPr marL="171450" indent="-171450">
              <a:buFont typeface="Arial" panose="020B0604020202020204" pitchFamily="34" charset="0"/>
              <a:buChar char="•"/>
            </a:pPr>
            <a:r>
              <a:rPr lang="en-US" b="1" u="sng" dirty="0"/>
              <a:t>CNAME:</a:t>
            </a:r>
            <a:r>
              <a:rPr lang="en-US" b="0" u="none" dirty="0"/>
              <a:t> </a:t>
            </a:r>
            <a:r>
              <a:rPr lang="en-US" dirty="0"/>
              <a:t>Alternative web address; </a:t>
            </a:r>
            <a:r>
              <a:rPr lang="en-US" dirty="0" err="1"/>
              <a:t>mail.google.com</a:t>
            </a:r>
            <a:r>
              <a:rPr lang="en-US" dirty="0"/>
              <a:t>/</a:t>
            </a:r>
            <a:r>
              <a:rPr lang="en-US" dirty="0" err="1"/>
              <a:t>google.com</a:t>
            </a:r>
            <a:endParaRPr lang="en-US" dirty="0"/>
          </a:p>
          <a:p>
            <a:pPr marL="171450" indent="-171450">
              <a:buFont typeface="Arial" panose="020B0604020202020204" pitchFamily="34" charset="0"/>
              <a:buChar char="•"/>
            </a:pPr>
            <a:r>
              <a:rPr lang="en-US" b="1" u="sng" dirty="0"/>
              <a:t>Proxy Server</a:t>
            </a:r>
            <a:r>
              <a:rPr lang="en-US" dirty="0"/>
              <a:t>: Operates at layer, it receives traffic and forwards traffic to the correct server; sort of filter before traffic hits the resource server</a:t>
            </a:r>
          </a:p>
          <a:p>
            <a:pPr marL="171450" indent="-171450">
              <a:buFont typeface="Arial" panose="020B0604020202020204" pitchFamily="34" charset="0"/>
              <a:buChar char="•"/>
            </a:pPr>
            <a:r>
              <a:rPr lang="en-US" dirty="0"/>
              <a:t>Web proxy server will cache info, like when you go to </a:t>
            </a:r>
            <a:r>
              <a:rPr lang="en-US" dirty="0" err="1"/>
              <a:t>google.com</a:t>
            </a:r>
            <a:r>
              <a:rPr lang="en-US" dirty="0"/>
              <a:t> again, instead of going to the google web server, your data will be pulled from the proxy server</a:t>
            </a:r>
          </a:p>
          <a:p>
            <a:pPr marL="171450" indent="-171450">
              <a:buFont typeface="Arial" panose="020B0604020202020204" pitchFamily="34" charset="0"/>
              <a:buChar char="•"/>
            </a:pPr>
            <a:r>
              <a:rPr lang="en-US" b="1" u="sng" dirty="0"/>
              <a:t>Encryption devices:</a:t>
            </a:r>
            <a:r>
              <a:rPr lang="en-US" b="0" u="none" dirty="0"/>
              <a:t> </a:t>
            </a:r>
            <a:r>
              <a:rPr lang="en-US" dirty="0"/>
              <a:t>help assist with keeping your data and communications secure, but everything is hackable</a:t>
            </a:r>
          </a:p>
        </p:txBody>
      </p:sp>
      <p:sp>
        <p:nvSpPr>
          <p:cNvPr id="4" name="Slide Number Placeholder 3"/>
          <p:cNvSpPr>
            <a:spLocks noGrp="1"/>
          </p:cNvSpPr>
          <p:nvPr>
            <p:ph type="sldNum" sz="quarter" idx="5"/>
          </p:nvPr>
        </p:nvSpPr>
        <p:spPr/>
        <p:txBody>
          <a:bodyPr/>
          <a:lstStyle/>
          <a:p>
            <a:fld id="{F6E9E6F2-C86E-EA43-BDDA-BA3449E23008}" type="slidenum">
              <a:rPr lang="en-US" smtClean="0"/>
              <a:t>7</a:t>
            </a:fld>
            <a:endParaRPr lang="en-US"/>
          </a:p>
        </p:txBody>
      </p:sp>
    </p:spTree>
    <p:extLst>
      <p:ext uri="{BB962C8B-B14F-4D97-AF65-F5344CB8AC3E}">
        <p14:creationId xmlns:p14="http://schemas.microsoft.com/office/powerpoint/2010/main" val="1423361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sng" dirty="0"/>
              <a:t>Analog modem:</a:t>
            </a:r>
            <a:r>
              <a:rPr lang="en-US" b="0" u="none" dirty="0"/>
              <a:t> </a:t>
            </a:r>
            <a:r>
              <a:rPr lang="en-US" dirty="0"/>
              <a:t>converts digital signals that can be sent over phone lines and vice versa</a:t>
            </a:r>
          </a:p>
          <a:p>
            <a:pPr marL="171450" indent="-171450">
              <a:buFont typeface="Arial" panose="020B0604020202020204" pitchFamily="34" charset="0"/>
              <a:buChar char="•"/>
            </a:pPr>
            <a:r>
              <a:rPr lang="en-US" b="1" u="sng" dirty="0"/>
              <a:t>Packet Shaper:</a:t>
            </a:r>
            <a:r>
              <a:rPr lang="en-US" b="0" u="none" dirty="0"/>
              <a:t> </a:t>
            </a:r>
            <a:r>
              <a:rPr lang="en-US" dirty="0"/>
              <a:t>Network performance management tool, allows you to control traffic, measure it, and apply Quality of Service to your network</a:t>
            </a:r>
          </a:p>
          <a:p>
            <a:pPr marL="171450" indent="-171450">
              <a:buFont typeface="Arial" panose="020B0604020202020204" pitchFamily="34" charset="0"/>
              <a:buChar char="•"/>
            </a:pPr>
            <a:r>
              <a:rPr lang="en-US" b="1" u="sng" dirty="0"/>
              <a:t>VPN concentrator:</a:t>
            </a:r>
            <a:r>
              <a:rPr lang="en-US" b="0" u="none" dirty="0"/>
              <a:t> </a:t>
            </a:r>
            <a:r>
              <a:rPr lang="en-US" dirty="0"/>
              <a:t>A device that creates and helps manage multiple VPN connections remotely</a:t>
            </a:r>
          </a:p>
          <a:p>
            <a:pPr marL="171450" indent="-171450">
              <a:buFont typeface="Arial" panose="020B0604020202020204" pitchFamily="34" charset="0"/>
              <a:buChar char="•"/>
            </a:pPr>
            <a:r>
              <a:rPr lang="en-US" dirty="0"/>
              <a:t>Companies use these to allow remote workers to connect to the corporate network</a:t>
            </a:r>
          </a:p>
          <a:p>
            <a:pPr marL="171450" indent="-171450">
              <a:buFont typeface="Arial" panose="020B0604020202020204" pitchFamily="34" charset="0"/>
              <a:buChar char="•"/>
            </a:pPr>
            <a:r>
              <a:rPr lang="en-US" b="1" u="sng" dirty="0"/>
              <a:t>Media Converter:</a:t>
            </a:r>
            <a:r>
              <a:rPr lang="en-US" b="0" u="none" dirty="0"/>
              <a:t> </a:t>
            </a:r>
            <a:r>
              <a:rPr lang="en-US" dirty="0"/>
              <a:t>the device used to convert one type of cabling to the other</a:t>
            </a:r>
          </a:p>
          <a:p>
            <a:pPr marL="171450" indent="-171450">
              <a:buFont typeface="Arial" panose="020B0604020202020204" pitchFamily="34" charset="0"/>
              <a:buChar char="•"/>
            </a:pPr>
            <a:r>
              <a:rPr lang="en-US" b="1" u="sng" dirty="0"/>
              <a:t>VOIP PBX:</a:t>
            </a:r>
            <a:r>
              <a:rPr lang="en-US" b="0" u="none" dirty="0"/>
              <a:t> </a:t>
            </a:r>
            <a:r>
              <a:rPr lang="en-US" dirty="0"/>
              <a:t>PBX allows companies to have 1 or 2 outside numbers, but 50+ internal phone numbers or extensions</a:t>
            </a:r>
          </a:p>
          <a:p>
            <a:pPr marL="171450" indent="-171450">
              <a:buFont typeface="Arial" panose="020B0604020202020204" pitchFamily="34" charset="0"/>
              <a:buChar char="•"/>
            </a:pPr>
            <a:r>
              <a:rPr lang="en-US" dirty="0"/>
              <a:t>This adds the functionality of a PBX over traditional phone lines to work with VOIP</a:t>
            </a:r>
          </a:p>
          <a:p>
            <a:pPr marL="171450" indent="-171450">
              <a:buFont typeface="Arial" panose="020B0604020202020204" pitchFamily="34" charset="0"/>
              <a:buChar char="•"/>
            </a:pPr>
            <a:r>
              <a:rPr lang="en-US" dirty="0"/>
              <a:t>Rarely are people using actual phone lines anymore, most phone calls at companies occur over the network</a:t>
            </a:r>
          </a:p>
        </p:txBody>
      </p:sp>
      <p:sp>
        <p:nvSpPr>
          <p:cNvPr id="4" name="Slide Number Placeholder 3"/>
          <p:cNvSpPr>
            <a:spLocks noGrp="1"/>
          </p:cNvSpPr>
          <p:nvPr>
            <p:ph type="sldNum" sz="quarter" idx="5"/>
          </p:nvPr>
        </p:nvSpPr>
        <p:spPr/>
        <p:txBody>
          <a:bodyPr/>
          <a:lstStyle/>
          <a:p>
            <a:fld id="{F6E9E6F2-C86E-EA43-BDDA-BA3449E23008}" type="slidenum">
              <a:rPr lang="en-US" smtClean="0"/>
              <a:t>8</a:t>
            </a:fld>
            <a:endParaRPr lang="en-US"/>
          </a:p>
        </p:txBody>
      </p:sp>
    </p:spTree>
    <p:extLst>
      <p:ext uri="{BB962C8B-B14F-4D97-AF65-F5344CB8AC3E}">
        <p14:creationId xmlns:p14="http://schemas.microsoft.com/office/powerpoint/2010/main" val="192722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A423BF71-38B7-8642-BFCE-EDAE9BD0CBAF}" type="datetimeFigureOut">
              <a:rPr lang="en-US" smtClean="0"/>
              <a:t>9/14/22</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6D22F896-40B5-4ADD-8801-0D06FADFA095}" type="slidenum">
              <a:rPr lang="en-US" smtClean="0"/>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31446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981CDE-9BE7-C544-8ACB-7077DFC4270F}" type="datetimeFigureOut">
              <a:rPr lang="en-US" smtClean="0"/>
              <a:t>9/14/22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0836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B55BA285-9698-1B45-8319-D90A8C63F150}" type="datetimeFigureOut">
              <a:rPr lang="en-US" smtClean="0"/>
              <a:t>9/14/22</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6D22F896-40B5-4ADD-8801-0D06FADFA095}" type="slidenum">
              <a:rPr lang="en-US" smtClean="0"/>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5743004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86CD42-43FF-B740-998F-DCC3802C4CE3}" type="datetimeFigureOut">
              <a:rPr lang="en-US" smtClean="0"/>
              <a:t>9/14/22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6981218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A0FFBD-2EE4-8547-BBAE-A1AC91C8D77E}" type="datetimeFigureOut">
              <a:rPr lang="en-US" smtClean="0"/>
              <a:t>9/14/22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95441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5A2352-D7AC-F242-9256-A4477BCBF354}" type="datetimeFigureOut">
              <a:rPr lang="en-US" smtClean="0"/>
              <a:t>9/14/22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91971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FC6A-9AE6-404D-9FDD-168B477B9C90}" type="datetimeFigureOut">
              <a:rPr lang="en-US" smtClean="0"/>
              <a:t>9/14/22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3554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61CFCDFD-B4CF-A241-8D71-E814B10BEAF4}" type="datetimeFigureOut">
              <a:rPr lang="en-US" smtClean="0"/>
              <a:t>9/14/22</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6D22F896-40B5-4ADD-8801-0D06FADFA095}"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2596788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26A7B589-FD4B-7E46-869A-CBADC5FC564E}" type="datetimeFigureOut">
              <a:rPr lang="en-US" smtClean="0"/>
              <a:t>9/14/22</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441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B025CB-9D18-264E-A945-2D020344C9DA}" type="datetimeFigureOut">
              <a:rPr lang="en-US" smtClean="0"/>
              <a:t>9/14/22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3461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7EFB6C-7E96-8F41-8872-189CA1C59F84}" type="datetimeFigureOut">
              <a:rPr lang="en-US" smtClean="0"/>
              <a:t>9/14/22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5896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4CD8A92E-5FF9-8143-81B3-CCB531513398}" type="datetimeFigureOut">
              <a:rPr lang="en-US" smtClean="0"/>
              <a:t>9/14/22</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6D22F896-40B5-4ADD-8801-0D06FADFA095}"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44108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AA42B-EA88-4470-A377-3182506CB21D}"/>
              </a:ext>
            </a:extLst>
          </p:cNvPr>
          <p:cNvSpPr>
            <a:spLocks noGrp="1"/>
          </p:cNvSpPr>
          <p:nvPr>
            <p:ph type="ctrTitle"/>
          </p:nvPr>
        </p:nvSpPr>
        <p:spPr/>
        <p:txBody>
          <a:bodyPr/>
          <a:lstStyle/>
          <a:p>
            <a:r>
              <a:rPr lang="en-US" dirty="0"/>
              <a:t>Chapter 5</a:t>
            </a:r>
          </a:p>
        </p:txBody>
      </p:sp>
      <p:sp>
        <p:nvSpPr>
          <p:cNvPr id="3" name="Subtitle 2">
            <a:extLst>
              <a:ext uri="{FF2B5EF4-FFF2-40B4-BE49-F238E27FC236}">
                <a16:creationId xmlns:a16="http://schemas.microsoft.com/office/drawing/2014/main" id="{3108014A-2130-4A3D-984B-3E36B187E9EF}"/>
              </a:ext>
            </a:extLst>
          </p:cNvPr>
          <p:cNvSpPr>
            <a:spLocks noGrp="1"/>
          </p:cNvSpPr>
          <p:nvPr>
            <p:ph type="subTitle" idx="1"/>
          </p:nvPr>
        </p:nvSpPr>
        <p:spPr/>
        <p:txBody>
          <a:bodyPr/>
          <a:lstStyle/>
          <a:p>
            <a:r>
              <a:rPr lang="en-US" dirty="0"/>
              <a:t>Networking Devices</a:t>
            </a:r>
          </a:p>
        </p:txBody>
      </p:sp>
    </p:spTree>
    <p:extLst>
      <p:ext uri="{BB962C8B-B14F-4D97-AF65-F5344CB8AC3E}">
        <p14:creationId xmlns:p14="http://schemas.microsoft.com/office/powerpoint/2010/main" val="2906838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D598-9DDF-49CA-9F4A-A608B2E327D4}"/>
              </a:ext>
            </a:extLst>
          </p:cNvPr>
          <p:cNvSpPr>
            <a:spLocks noGrp="1"/>
          </p:cNvSpPr>
          <p:nvPr>
            <p:ph type="title"/>
          </p:nvPr>
        </p:nvSpPr>
        <p:spPr/>
        <p:txBody>
          <a:bodyPr/>
          <a:lstStyle/>
          <a:p>
            <a:pPr algn="ctr"/>
            <a:r>
              <a:rPr lang="en-US" dirty="0"/>
              <a:t>Networking Devices</a:t>
            </a:r>
          </a:p>
        </p:txBody>
      </p:sp>
      <p:sp>
        <p:nvSpPr>
          <p:cNvPr id="3" name="Content Placeholder 2">
            <a:extLst>
              <a:ext uri="{FF2B5EF4-FFF2-40B4-BE49-F238E27FC236}">
                <a16:creationId xmlns:a16="http://schemas.microsoft.com/office/drawing/2014/main" id="{9F953D03-BE95-404D-A61D-6F543E0FB22B}"/>
              </a:ext>
            </a:extLst>
          </p:cNvPr>
          <p:cNvSpPr>
            <a:spLocks noGrp="1"/>
          </p:cNvSpPr>
          <p:nvPr>
            <p:ph idx="1"/>
          </p:nvPr>
        </p:nvSpPr>
        <p:spPr/>
        <p:txBody>
          <a:bodyPr>
            <a:normAutofit/>
          </a:bodyPr>
          <a:lstStyle/>
          <a:p>
            <a:r>
              <a:rPr lang="en-US" dirty="0"/>
              <a:t>Network Interface Card (NIC)</a:t>
            </a:r>
          </a:p>
          <a:p>
            <a:r>
              <a:rPr lang="en-US" dirty="0"/>
              <a:t>HUB</a:t>
            </a:r>
          </a:p>
          <a:p>
            <a:r>
              <a:rPr lang="en-US" dirty="0"/>
              <a:t>Bridge</a:t>
            </a:r>
          </a:p>
          <a:p>
            <a:r>
              <a:rPr lang="en-US" dirty="0"/>
              <a:t>Switch</a:t>
            </a:r>
          </a:p>
          <a:p>
            <a:r>
              <a:rPr lang="en-US" dirty="0"/>
              <a:t>Router</a:t>
            </a:r>
          </a:p>
          <a:p>
            <a:r>
              <a:rPr lang="en-US" dirty="0"/>
              <a:t>Firewall</a:t>
            </a:r>
          </a:p>
          <a:p>
            <a:r>
              <a:rPr lang="en-US" dirty="0"/>
              <a:t>IDS/IPS </a:t>
            </a:r>
          </a:p>
        </p:txBody>
      </p:sp>
      <p:pic>
        <p:nvPicPr>
          <p:cNvPr id="4" name="Content Placeholder 9">
            <a:extLst>
              <a:ext uri="{FF2B5EF4-FFF2-40B4-BE49-F238E27FC236}">
                <a16:creationId xmlns:a16="http://schemas.microsoft.com/office/drawing/2014/main" id="{9260FCE3-9BEE-4518-8768-E297BA5D0D1B}"/>
              </a:ext>
            </a:extLst>
          </p:cNvPr>
          <p:cNvPicPr>
            <a:picLocks noGrp="1" noChangeAspect="1"/>
          </p:cNvPicPr>
          <p:nvPr/>
        </p:nvPicPr>
        <p:blipFill rotWithShape="1">
          <a:blip r:embed="rId3"/>
          <a:srcRect l="-10206" r="9125"/>
          <a:stretch/>
        </p:blipFill>
        <p:spPr>
          <a:xfrm>
            <a:off x="6235162" y="4199731"/>
            <a:ext cx="2456873" cy="2091346"/>
          </a:xfrm>
          <a:prstGeom prst="rect">
            <a:avLst/>
          </a:prstGeom>
          <a:noFill/>
          <a:ln w="9525">
            <a:noFill/>
          </a:ln>
        </p:spPr>
      </p:pic>
      <p:pic>
        <p:nvPicPr>
          <p:cNvPr id="5" name="Content Placeholder 9">
            <a:extLst>
              <a:ext uri="{FF2B5EF4-FFF2-40B4-BE49-F238E27FC236}">
                <a16:creationId xmlns:a16="http://schemas.microsoft.com/office/drawing/2014/main" id="{13ACC85D-C3DB-4471-9F1C-4731F79E5A0A}"/>
              </a:ext>
            </a:extLst>
          </p:cNvPr>
          <p:cNvPicPr>
            <a:picLocks noGrp="1" noChangeAspect="1"/>
          </p:cNvPicPr>
          <p:nvPr/>
        </p:nvPicPr>
        <p:blipFill rotWithShape="1">
          <a:blip r:embed="rId4"/>
          <a:srcRect l="-378" r="-378"/>
          <a:stretch/>
        </p:blipFill>
        <p:spPr>
          <a:xfrm>
            <a:off x="4036398" y="4192957"/>
            <a:ext cx="2403075" cy="1972404"/>
          </a:xfrm>
          <a:prstGeom prst="rect">
            <a:avLst/>
          </a:prstGeom>
          <a:noFill/>
          <a:ln w="9525">
            <a:noFill/>
          </a:ln>
        </p:spPr>
      </p:pic>
      <p:pic>
        <p:nvPicPr>
          <p:cNvPr id="1028" name="Picture 4" descr="Angle Standard. NETGEAR - 24-Port 10/100/1000 Mbps Gigabit Unmanaged Switch - Blue.">
            <a:extLst>
              <a:ext uri="{FF2B5EF4-FFF2-40B4-BE49-F238E27FC236}">
                <a16:creationId xmlns:a16="http://schemas.microsoft.com/office/drawing/2014/main" id="{A9C02820-89BC-4205-B39B-5EF21EE761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5999" y="2424694"/>
            <a:ext cx="5197943" cy="17716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lo Alto PA-200 4-Port RJ-45 10/100/1000 Security Appliance">
            <a:extLst>
              <a:ext uri="{FF2B5EF4-FFF2-40B4-BE49-F238E27FC236}">
                <a16:creationId xmlns:a16="http://schemas.microsoft.com/office/drawing/2014/main" id="{414A7F79-4C0C-4867-BF26-2DB18876F2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9759" y="4192956"/>
            <a:ext cx="2614184" cy="2091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337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8"/>
          <p:cNvSpPr>
            <a:spLocks noGrp="1"/>
          </p:cNvSpPr>
          <p:nvPr>
            <p:ph type="title"/>
          </p:nvPr>
        </p:nvSpPr>
        <p:spPr>
          <a:xfrm>
            <a:off x="1073426" y="274638"/>
            <a:ext cx="10495722" cy="1143000"/>
          </a:xfrm>
          <a:ln/>
        </p:spPr>
        <p:txBody>
          <a:bodyPr vert="horz" wrap="square" lIns="91440" tIns="45720" rIns="91440" bIns="45720" rtlCol="0" anchor="ctr">
            <a:normAutofit/>
          </a:bodyPr>
          <a:lstStyle/>
          <a:p>
            <a:pPr algn="ctr" eaLnBrk="1" hangingPunct="1"/>
            <a:r>
              <a:rPr lang="en-US" altLang="en-US" dirty="0"/>
              <a:t>Firewall</a:t>
            </a:r>
          </a:p>
        </p:txBody>
      </p:sp>
      <p:sp>
        <p:nvSpPr>
          <p:cNvPr id="18440" name="Rectangle 12"/>
          <p:cNvSpPr/>
          <p:nvPr/>
        </p:nvSpPr>
        <p:spPr>
          <a:xfrm>
            <a:off x="4648200" y="6248400"/>
            <a:ext cx="2895600" cy="457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algn="ctr">
              <a:spcBef>
                <a:spcPct val="0"/>
              </a:spcBef>
              <a:buNone/>
            </a:pPr>
            <a:endParaRPr lang="en-US" altLang="en-US" sz="1400" dirty="0">
              <a:latin typeface="Times" pitchFamily="-108" charset="0"/>
            </a:endParaRPr>
          </a:p>
        </p:txBody>
      </p:sp>
      <p:cxnSp>
        <p:nvCxnSpPr>
          <p:cNvPr id="18441" name="Straight Connector 40"/>
          <p:cNvCxnSpPr/>
          <p:nvPr/>
        </p:nvCxnSpPr>
        <p:spPr>
          <a:xfrm flipH="1" flipV="1">
            <a:off x="4400551" y="4217989"/>
            <a:ext cx="5394325" cy="3175"/>
          </a:xfrm>
          <a:prstGeom prst="line">
            <a:avLst/>
          </a:prstGeom>
          <a:ln w="38100" cap="flat" cmpd="sng">
            <a:solidFill>
              <a:schemeClr val="tx2"/>
            </a:solidFill>
            <a:prstDash val="solid"/>
            <a:headEnd type="none" w="med" len="med"/>
            <a:tailEnd type="none" w="med" len="med"/>
          </a:ln>
        </p:spPr>
      </p:cxnSp>
      <p:cxnSp>
        <p:nvCxnSpPr>
          <p:cNvPr id="18442" name="Straight Connector 40"/>
          <p:cNvCxnSpPr/>
          <p:nvPr/>
        </p:nvCxnSpPr>
        <p:spPr>
          <a:xfrm>
            <a:off x="8435976" y="3170238"/>
            <a:ext cx="3175" cy="1047750"/>
          </a:xfrm>
          <a:prstGeom prst="line">
            <a:avLst/>
          </a:prstGeom>
          <a:ln w="38100" cap="flat" cmpd="sng">
            <a:solidFill>
              <a:schemeClr val="tx2"/>
            </a:solidFill>
            <a:prstDash val="solid"/>
            <a:headEnd type="none" w="med" len="med"/>
            <a:tailEnd type="none" w="med" len="med"/>
          </a:ln>
        </p:spPr>
      </p:cxnSp>
      <p:cxnSp>
        <p:nvCxnSpPr>
          <p:cNvPr id="18443" name="Straight Connector 40"/>
          <p:cNvCxnSpPr/>
          <p:nvPr/>
        </p:nvCxnSpPr>
        <p:spPr>
          <a:xfrm>
            <a:off x="9775825" y="3101976"/>
            <a:ext cx="0" cy="2232025"/>
          </a:xfrm>
          <a:prstGeom prst="line">
            <a:avLst/>
          </a:prstGeom>
          <a:ln w="38100" cap="flat" cmpd="sng">
            <a:solidFill>
              <a:schemeClr val="tx2"/>
            </a:solidFill>
            <a:prstDash val="solid"/>
            <a:headEnd type="none" w="med" len="med"/>
            <a:tailEnd type="none" w="med" len="med"/>
          </a:ln>
        </p:spPr>
      </p:cxnSp>
      <p:pic>
        <p:nvPicPr>
          <p:cNvPr id="18444" name="Picture 6"/>
          <p:cNvPicPr>
            <a:picLocks noChangeAspect="1"/>
          </p:cNvPicPr>
          <p:nvPr/>
        </p:nvPicPr>
        <p:blipFill>
          <a:blip r:embed="rId3"/>
          <a:stretch>
            <a:fillRect/>
          </a:stretch>
        </p:blipFill>
        <p:spPr>
          <a:xfrm>
            <a:off x="3032125" y="4038601"/>
            <a:ext cx="1485900" cy="182563"/>
          </a:xfrm>
          <a:prstGeom prst="rect">
            <a:avLst/>
          </a:prstGeom>
          <a:noFill/>
          <a:ln w="9525">
            <a:noFill/>
          </a:ln>
        </p:spPr>
      </p:pic>
      <p:pic>
        <p:nvPicPr>
          <p:cNvPr id="18445" name="Picture 1028"/>
          <p:cNvPicPr/>
          <p:nvPr/>
        </p:nvPicPr>
        <p:blipFill>
          <a:blip r:embed="rId4"/>
          <a:stretch>
            <a:fillRect/>
          </a:stretch>
        </p:blipFill>
        <p:spPr>
          <a:xfrm>
            <a:off x="4070350" y="3435351"/>
            <a:ext cx="731838" cy="1363663"/>
          </a:xfrm>
          <a:prstGeom prst="rect">
            <a:avLst/>
          </a:prstGeom>
          <a:noFill/>
          <a:ln w="9525">
            <a:noFill/>
          </a:ln>
        </p:spPr>
      </p:pic>
      <p:pic>
        <p:nvPicPr>
          <p:cNvPr id="18446" name="Picture 1028"/>
          <p:cNvPicPr/>
          <p:nvPr/>
        </p:nvPicPr>
        <p:blipFill>
          <a:blip r:embed="rId4"/>
          <a:stretch>
            <a:fillRect/>
          </a:stretch>
        </p:blipFill>
        <p:spPr>
          <a:xfrm>
            <a:off x="6650832" y="3435351"/>
            <a:ext cx="733425" cy="1363663"/>
          </a:xfrm>
          <a:prstGeom prst="rect">
            <a:avLst/>
          </a:prstGeom>
          <a:noFill/>
          <a:ln w="9525">
            <a:noFill/>
          </a:ln>
        </p:spPr>
      </p:pic>
      <p:pic>
        <p:nvPicPr>
          <p:cNvPr id="18447" name="Picture 43"/>
          <p:cNvPicPr>
            <a:picLocks noChangeAspect="1"/>
          </p:cNvPicPr>
          <p:nvPr/>
        </p:nvPicPr>
        <p:blipFill>
          <a:blip r:embed="rId5"/>
          <a:stretch>
            <a:fillRect/>
          </a:stretch>
        </p:blipFill>
        <p:spPr>
          <a:xfrm>
            <a:off x="9498014" y="2428876"/>
            <a:ext cx="828675" cy="1171575"/>
          </a:xfrm>
          <a:prstGeom prst="rect">
            <a:avLst/>
          </a:prstGeom>
          <a:noFill/>
          <a:ln w="9525">
            <a:noFill/>
          </a:ln>
        </p:spPr>
      </p:pic>
      <p:pic>
        <p:nvPicPr>
          <p:cNvPr id="18448" name="Picture 42"/>
          <p:cNvPicPr>
            <a:picLocks noChangeAspect="1"/>
          </p:cNvPicPr>
          <p:nvPr/>
        </p:nvPicPr>
        <p:blipFill>
          <a:blip r:embed="rId5"/>
          <a:stretch>
            <a:fillRect/>
          </a:stretch>
        </p:blipFill>
        <p:spPr>
          <a:xfrm>
            <a:off x="9380539" y="2654300"/>
            <a:ext cx="828675" cy="1169988"/>
          </a:xfrm>
          <a:prstGeom prst="rect">
            <a:avLst/>
          </a:prstGeom>
          <a:noFill/>
          <a:ln w="9525">
            <a:noFill/>
          </a:ln>
        </p:spPr>
      </p:pic>
      <p:pic>
        <p:nvPicPr>
          <p:cNvPr id="18449" name="Picture 44"/>
          <p:cNvPicPr>
            <a:picLocks noChangeAspect="1"/>
          </p:cNvPicPr>
          <p:nvPr/>
        </p:nvPicPr>
        <p:blipFill>
          <a:blip r:embed="rId5"/>
          <a:stretch>
            <a:fillRect/>
          </a:stretch>
        </p:blipFill>
        <p:spPr>
          <a:xfrm>
            <a:off x="8024814" y="2654300"/>
            <a:ext cx="828675" cy="1169988"/>
          </a:xfrm>
          <a:prstGeom prst="rect">
            <a:avLst/>
          </a:prstGeom>
          <a:noFill/>
          <a:ln w="9525">
            <a:noFill/>
          </a:ln>
        </p:spPr>
      </p:pic>
      <p:pic>
        <p:nvPicPr>
          <p:cNvPr id="18450" name="Picture 45"/>
          <p:cNvPicPr>
            <a:picLocks noChangeAspect="1"/>
          </p:cNvPicPr>
          <p:nvPr/>
        </p:nvPicPr>
        <p:blipFill>
          <a:blip r:embed="rId5"/>
          <a:stretch>
            <a:fillRect/>
          </a:stretch>
        </p:blipFill>
        <p:spPr>
          <a:xfrm>
            <a:off x="9248776" y="4659314"/>
            <a:ext cx="828675" cy="1169987"/>
          </a:xfrm>
          <a:prstGeom prst="rect">
            <a:avLst/>
          </a:prstGeom>
          <a:noFill/>
          <a:ln w="9525">
            <a:noFill/>
          </a:ln>
        </p:spPr>
      </p:pic>
      <p:grpSp>
        <p:nvGrpSpPr>
          <p:cNvPr id="18451" name="Group 4"/>
          <p:cNvGrpSpPr/>
          <p:nvPr/>
        </p:nvGrpSpPr>
        <p:grpSpPr>
          <a:xfrm>
            <a:off x="5099051" y="3355976"/>
            <a:ext cx="1154113" cy="1522413"/>
            <a:chOff x="505879" y="5243967"/>
            <a:chExt cx="1153898" cy="1523319"/>
          </a:xfrm>
        </p:grpSpPr>
        <p:pic>
          <p:nvPicPr>
            <p:cNvPr id="18459" name="Picture 46"/>
            <p:cNvPicPr>
              <a:picLocks noChangeAspect="1"/>
            </p:cNvPicPr>
            <p:nvPr/>
          </p:nvPicPr>
          <p:blipFill>
            <a:blip r:embed="rId5"/>
            <a:stretch>
              <a:fillRect/>
            </a:stretch>
          </p:blipFill>
          <p:spPr>
            <a:xfrm>
              <a:off x="505879" y="5243967"/>
              <a:ext cx="828990" cy="1170338"/>
            </a:xfrm>
            <a:prstGeom prst="rect">
              <a:avLst/>
            </a:prstGeom>
            <a:noFill/>
            <a:ln w="9525">
              <a:noFill/>
            </a:ln>
          </p:spPr>
        </p:pic>
        <p:pic>
          <p:nvPicPr>
            <p:cNvPr id="18460" name="Picture 47"/>
            <p:cNvPicPr>
              <a:picLocks noChangeAspect="1"/>
            </p:cNvPicPr>
            <p:nvPr/>
          </p:nvPicPr>
          <p:blipFill>
            <a:blip r:embed="rId5"/>
            <a:stretch>
              <a:fillRect/>
            </a:stretch>
          </p:blipFill>
          <p:spPr>
            <a:xfrm>
              <a:off x="672129" y="5406943"/>
              <a:ext cx="828990" cy="1170338"/>
            </a:xfrm>
            <a:prstGeom prst="rect">
              <a:avLst/>
            </a:prstGeom>
            <a:noFill/>
            <a:ln w="9525">
              <a:noFill/>
            </a:ln>
          </p:spPr>
        </p:pic>
        <p:pic>
          <p:nvPicPr>
            <p:cNvPr id="18461" name="Picture 48"/>
            <p:cNvPicPr>
              <a:picLocks noChangeAspect="1"/>
            </p:cNvPicPr>
            <p:nvPr/>
          </p:nvPicPr>
          <p:blipFill>
            <a:blip r:embed="rId5"/>
            <a:stretch>
              <a:fillRect/>
            </a:stretch>
          </p:blipFill>
          <p:spPr>
            <a:xfrm>
              <a:off x="830787" y="5596948"/>
              <a:ext cx="828990" cy="1170338"/>
            </a:xfrm>
            <a:prstGeom prst="rect">
              <a:avLst/>
            </a:prstGeom>
            <a:noFill/>
            <a:ln w="9525">
              <a:noFill/>
            </a:ln>
          </p:spPr>
        </p:pic>
      </p:grpSp>
      <p:grpSp>
        <p:nvGrpSpPr>
          <p:cNvPr id="18452" name="Group 50"/>
          <p:cNvGrpSpPr/>
          <p:nvPr/>
        </p:nvGrpSpPr>
        <p:grpSpPr>
          <a:xfrm>
            <a:off x="1524000" y="3571875"/>
            <a:ext cx="1879600" cy="1117600"/>
            <a:chOff x="297196" y="2315326"/>
            <a:chExt cx="1879600" cy="1117600"/>
          </a:xfrm>
        </p:grpSpPr>
        <p:pic>
          <p:nvPicPr>
            <p:cNvPr id="18457" name="Picture 8"/>
            <p:cNvPicPr>
              <a:picLocks noChangeAspect="1"/>
            </p:cNvPicPr>
            <p:nvPr/>
          </p:nvPicPr>
          <p:blipFill>
            <a:blip r:embed="rId6"/>
            <a:stretch>
              <a:fillRect/>
            </a:stretch>
          </p:blipFill>
          <p:spPr>
            <a:xfrm>
              <a:off x="297196" y="2315326"/>
              <a:ext cx="1879600" cy="1117600"/>
            </a:xfrm>
            <a:prstGeom prst="rect">
              <a:avLst/>
            </a:prstGeom>
            <a:noFill/>
            <a:ln w="9525">
              <a:noFill/>
            </a:ln>
          </p:spPr>
        </p:pic>
        <p:sp>
          <p:nvSpPr>
            <p:cNvPr id="18458" name="TextBox 49"/>
            <p:cNvSpPr txBox="1"/>
            <p:nvPr/>
          </p:nvSpPr>
          <p:spPr>
            <a:xfrm>
              <a:off x="882754" y="2717160"/>
              <a:ext cx="906017" cy="3139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eaLnBrk="1" hangingPunct="1">
                <a:lnSpc>
                  <a:spcPct val="90000"/>
                </a:lnSpc>
                <a:spcBef>
                  <a:spcPct val="0"/>
                </a:spcBef>
                <a:buNone/>
              </a:pPr>
              <a:r>
                <a:rPr lang="en-US" altLang="en-US" sz="1600" dirty="0"/>
                <a:t>Internet</a:t>
              </a:r>
            </a:p>
          </p:txBody>
        </p:sp>
      </p:grpSp>
      <p:sp>
        <p:nvSpPr>
          <p:cNvPr id="18453" name="TextBox 49"/>
          <p:cNvSpPr txBox="1"/>
          <p:nvPr/>
        </p:nvSpPr>
        <p:spPr>
          <a:xfrm>
            <a:off x="3932238" y="4799013"/>
            <a:ext cx="924548" cy="3139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eaLnBrk="1" hangingPunct="1">
              <a:lnSpc>
                <a:spcPct val="90000"/>
              </a:lnSpc>
              <a:spcBef>
                <a:spcPct val="0"/>
              </a:spcBef>
              <a:buNone/>
            </a:pPr>
            <a:r>
              <a:rPr lang="en-US" altLang="en-US" sz="1600" dirty="0"/>
              <a:t>Firewall</a:t>
            </a:r>
          </a:p>
        </p:txBody>
      </p:sp>
      <p:sp>
        <p:nvSpPr>
          <p:cNvPr id="18454" name="TextBox 49"/>
          <p:cNvSpPr txBox="1"/>
          <p:nvPr/>
        </p:nvSpPr>
        <p:spPr>
          <a:xfrm>
            <a:off x="6411913" y="4799013"/>
            <a:ext cx="924548" cy="3139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eaLnBrk="1" hangingPunct="1">
              <a:lnSpc>
                <a:spcPct val="90000"/>
              </a:lnSpc>
              <a:spcBef>
                <a:spcPct val="0"/>
              </a:spcBef>
              <a:buNone/>
            </a:pPr>
            <a:r>
              <a:rPr lang="en-US" altLang="en-US" sz="1600" dirty="0"/>
              <a:t>Firewall</a:t>
            </a:r>
          </a:p>
        </p:txBody>
      </p:sp>
      <p:sp>
        <p:nvSpPr>
          <p:cNvPr id="18455" name="TextBox 49"/>
          <p:cNvSpPr txBox="1"/>
          <p:nvPr/>
        </p:nvSpPr>
        <p:spPr>
          <a:xfrm>
            <a:off x="5399088" y="4918075"/>
            <a:ext cx="673582" cy="3139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eaLnBrk="1" hangingPunct="1">
              <a:lnSpc>
                <a:spcPct val="90000"/>
              </a:lnSpc>
              <a:spcBef>
                <a:spcPct val="0"/>
              </a:spcBef>
              <a:buNone/>
            </a:pPr>
            <a:r>
              <a:rPr lang="en-US" altLang="en-US" sz="1600" dirty="0"/>
              <a:t>DMZ</a:t>
            </a:r>
          </a:p>
        </p:txBody>
      </p:sp>
      <p:sp>
        <p:nvSpPr>
          <p:cNvPr id="18456" name="TextBox 49"/>
          <p:cNvSpPr txBox="1"/>
          <p:nvPr/>
        </p:nvSpPr>
        <p:spPr>
          <a:xfrm>
            <a:off x="7904164" y="4256088"/>
            <a:ext cx="1764907" cy="3139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stStyle>
          <a:p>
            <a:pPr marL="0" indent="0" eaLnBrk="1" hangingPunct="1">
              <a:lnSpc>
                <a:spcPct val="90000"/>
              </a:lnSpc>
              <a:spcBef>
                <a:spcPct val="0"/>
              </a:spcBef>
              <a:buNone/>
            </a:pPr>
            <a:r>
              <a:rPr lang="en-US" altLang="en-US" sz="1600" dirty="0"/>
              <a:t>Internal Network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5DFC-BC18-48F0-9252-900BC7E3A057}"/>
              </a:ext>
            </a:extLst>
          </p:cNvPr>
          <p:cNvSpPr>
            <a:spLocks noGrp="1"/>
          </p:cNvSpPr>
          <p:nvPr>
            <p:ph type="title"/>
          </p:nvPr>
        </p:nvSpPr>
        <p:spPr/>
        <p:txBody>
          <a:bodyPr/>
          <a:lstStyle/>
          <a:p>
            <a:pPr algn="ctr"/>
            <a:r>
              <a:rPr lang="en-US" dirty="0"/>
              <a:t>Networking Devices Cont.</a:t>
            </a:r>
          </a:p>
        </p:txBody>
      </p:sp>
      <p:sp>
        <p:nvSpPr>
          <p:cNvPr id="3" name="Content Placeholder 2">
            <a:extLst>
              <a:ext uri="{FF2B5EF4-FFF2-40B4-BE49-F238E27FC236}">
                <a16:creationId xmlns:a16="http://schemas.microsoft.com/office/drawing/2014/main" id="{888B343B-A268-43A6-9668-A5B2C545BFA0}"/>
              </a:ext>
            </a:extLst>
          </p:cNvPr>
          <p:cNvSpPr>
            <a:spLocks noGrp="1"/>
          </p:cNvSpPr>
          <p:nvPr>
            <p:ph idx="1"/>
          </p:nvPr>
        </p:nvSpPr>
        <p:spPr/>
        <p:txBody>
          <a:bodyPr/>
          <a:lstStyle/>
          <a:p>
            <a:r>
              <a:rPr lang="en-US" dirty="0"/>
              <a:t>Access Points</a:t>
            </a:r>
          </a:p>
          <a:p>
            <a:r>
              <a:rPr lang="en-US" dirty="0"/>
              <a:t>Range Extenders</a:t>
            </a:r>
          </a:p>
        </p:txBody>
      </p:sp>
      <p:pic>
        <p:nvPicPr>
          <p:cNvPr id="2050" name="Picture 2" descr="Amazon.com: CISCO SYSTEMS 802.11ac Wireless Access Point ...">
            <a:extLst>
              <a:ext uri="{FF2B5EF4-FFF2-40B4-BE49-F238E27FC236}">
                <a16:creationId xmlns:a16="http://schemas.microsoft.com/office/drawing/2014/main" id="{8E60B171-2F70-425B-9620-B990B04486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079" y="4009243"/>
            <a:ext cx="21336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est WiFi Extenders of 2018 - Top 11 Wireless Range Extenders ...">
            <a:extLst>
              <a:ext uri="{FF2B5EF4-FFF2-40B4-BE49-F238E27FC236}">
                <a16:creationId xmlns:a16="http://schemas.microsoft.com/office/drawing/2014/main" id="{CAA14900-9B3A-4A27-8745-D2B720B666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080" y="2947644"/>
            <a:ext cx="5630412" cy="2815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383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76097-6821-43AD-98EE-04970CFAB0DA}"/>
              </a:ext>
            </a:extLst>
          </p:cNvPr>
          <p:cNvSpPr>
            <a:spLocks noGrp="1"/>
          </p:cNvSpPr>
          <p:nvPr>
            <p:ph type="title"/>
          </p:nvPr>
        </p:nvSpPr>
        <p:spPr/>
        <p:txBody>
          <a:bodyPr/>
          <a:lstStyle/>
          <a:p>
            <a:pPr algn="ctr"/>
            <a:r>
              <a:rPr lang="en-US" dirty="0"/>
              <a:t>Contention Methods</a:t>
            </a:r>
          </a:p>
        </p:txBody>
      </p:sp>
      <p:sp>
        <p:nvSpPr>
          <p:cNvPr id="3" name="Content Placeholder 2">
            <a:extLst>
              <a:ext uri="{FF2B5EF4-FFF2-40B4-BE49-F238E27FC236}">
                <a16:creationId xmlns:a16="http://schemas.microsoft.com/office/drawing/2014/main" id="{F15DE1D8-7518-4362-B760-0C6026EE4220}"/>
              </a:ext>
            </a:extLst>
          </p:cNvPr>
          <p:cNvSpPr>
            <a:spLocks noGrp="1"/>
          </p:cNvSpPr>
          <p:nvPr>
            <p:ph idx="1"/>
          </p:nvPr>
        </p:nvSpPr>
        <p:spPr/>
        <p:txBody>
          <a:bodyPr/>
          <a:lstStyle/>
          <a:p>
            <a:r>
              <a:rPr lang="en-US" dirty="0"/>
              <a:t>Carrier Sense Multiple Access</a:t>
            </a:r>
          </a:p>
          <a:p>
            <a:pPr lvl="1"/>
            <a:r>
              <a:rPr lang="en-US" dirty="0"/>
              <a:t>Collision Detection</a:t>
            </a:r>
          </a:p>
          <a:p>
            <a:pPr lvl="1"/>
            <a:r>
              <a:rPr lang="en-US" dirty="0"/>
              <a:t>Collision Avoidance</a:t>
            </a:r>
          </a:p>
        </p:txBody>
      </p:sp>
    </p:spTree>
    <p:extLst>
      <p:ext uri="{BB962C8B-B14F-4D97-AF65-F5344CB8AC3E}">
        <p14:creationId xmlns:p14="http://schemas.microsoft.com/office/powerpoint/2010/main" val="172429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9EF56-8832-4455-A843-BE2892F0874F}"/>
              </a:ext>
            </a:extLst>
          </p:cNvPr>
          <p:cNvSpPr>
            <a:spLocks noGrp="1"/>
          </p:cNvSpPr>
          <p:nvPr>
            <p:ph type="title"/>
          </p:nvPr>
        </p:nvSpPr>
        <p:spPr/>
        <p:txBody>
          <a:bodyPr/>
          <a:lstStyle/>
          <a:p>
            <a:pPr algn="ctr"/>
            <a:r>
              <a:rPr lang="en-US" dirty="0"/>
              <a:t>Network Servers</a:t>
            </a:r>
          </a:p>
        </p:txBody>
      </p:sp>
      <p:sp>
        <p:nvSpPr>
          <p:cNvPr id="3" name="Content Placeholder 2">
            <a:extLst>
              <a:ext uri="{FF2B5EF4-FFF2-40B4-BE49-F238E27FC236}">
                <a16:creationId xmlns:a16="http://schemas.microsoft.com/office/drawing/2014/main" id="{555C6235-6E2B-4449-A50B-EEEA313F93C3}"/>
              </a:ext>
            </a:extLst>
          </p:cNvPr>
          <p:cNvSpPr>
            <a:spLocks noGrp="1"/>
          </p:cNvSpPr>
          <p:nvPr>
            <p:ph idx="1"/>
          </p:nvPr>
        </p:nvSpPr>
        <p:spPr>
          <a:xfrm>
            <a:off x="1251678" y="1389893"/>
            <a:ext cx="10178322" cy="3593591"/>
          </a:xfrm>
        </p:spPr>
        <p:txBody>
          <a:bodyPr>
            <a:normAutofit/>
          </a:bodyPr>
          <a:lstStyle/>
          <a:p>
            <a:r>
              <a:rPr lang="en-US" dirty="0"/>
              <a:t>Dynamic Host Configuration Protocol</a:t>
            </a:r>
          </a:p>
          <a:p>
            <a:pPr lvl="1"/>
            <a:r>
              <a:rPr lang="en-US" dirty="0"/>
              <a:t>Assigns</a:t>
            </a:r>
          </a:p>
          <a:p>
            <a:pPr lvl="2"/>
            <a:r>
              <a:rPr lang="en-US" dirty="0"/>
              <a:t>IP</a:t>
            </a:r>
          </a:p>
          <a:p>
            <a:pPr lvl="2"/>
            <a:r>
              <a:rPr lang="en-US" dirty="0"/>
              <a:t>Subnet Mask</a:t>
            </a:r>
          </a:p>
          <a:p>
            <a:pPr lvl="2"/>
            <a:r>
              <a:rPr lang="en-US" dirty="0"/>
              <a:t>Default Gateway</a:t>
            </a:r>
          </a:p>
          <a:p>
            <a:pPr lvl="2"/>
            <a:r>
              <a:rPr lang="en-US" dirty="0"/>
              <a:t>Domain</a:t>
            </a:r>
          </a:p>
          <a:p>
            <a:pPr lvl="2"/>
            <a:r>
              <a:rPr lang="en-US" dirty="0"/>
              <a:t>DNS Servers</a:t>
            </a:r>
          </a:p>
          <a:p>
            <a:r>
              <a:rPr lang="en-US" dirty="0"/>
              <a:t>DHCP Relay on a ROUTER</a:t>
            </a:r>
          </a:p>
          <a:p>
            <a:r>
              <a:rPr lang="en-US" dirty="0"/>
              <a:t>IP Address Management (IPAM)- Software that manages both DNS and DHCP</a:t>
            </a:r>
          </a:p>
        </p:txBody>
      </p:sp>
    </p:spTree>
    <p:extLst>
      <p:ext uri="{BB962C8B-B14F-4D97-AF65-F5344CB8AC3E}">
        <p14:creationId xmlns:p14="http://schemas.microsoft.com/office/powerpoint/2010/main" val="1326612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95F4-6F97-442E-A78C-06F8CBEE4938}"/>
              </a:ext>
            </a:extLst>
          </p:cNvPr>
          <p:cNvSpPr>
            <a:spLocks noGrp="1"/>
          </p:cNvSpPr>
          <p:nvPr>
            <p:ph type="title"/>
          </p:nvPr>
        </p:nvSpPr>
        <p:spPr>
          <a:xfrm>
            <a:off x="1251678" y="422141"/>
            <a:ext cx="10178322" cy="1492132"/>
          </a:xfrm>
        </p:spPr>
        <p:txBody>
          <a:bodyPr/>
          <a:lstStyle/>
          <a:p>
            <a:pPr algn="ctr"/>
            <a:r>
              <a:rPr lang="en-US" dirty="0"/>
              <a:t>Other Devices</a:t>
            </a:r>
          </a:p>
        </p:txBody>
      </p:sp>
      <p:sp>
        <p:nvSpPr>
          <p:cNvPr id="3" name="Content Placeholder 2">
            <a:extLst>
              <a:ext uri="{FF2B5EF4-FFF2-40B4-BE49-F238E27FC236}">
                <a16:creationId xmlns:a16="http://schemas.microsoft.com/office/drawing/2014/main" id="{BBE2B00E-A9BA-49D5-8981-BFA0220D9C0E}"/>
              </a:ext>
            </a:extLst>
          </p:cNvPr>
          <p:cNvSpPr>
            <a:spLocks noGrp="1"/>
          </p:cNvSpPr>
          <p:nvPr>
            <p:ph idx="1"/>
          </p:nvPr>
        </p:nvSpPr>
        <p:spPr>
          <a:xfrm>
            <a:off x="1251678" y="1632204"/>
            <a:ext cx="10178322" cy="3593591"/>
          </a:xfrm>
        </p:spPr>
        <p:txBody>
          <a:bodyPr>
            <a:normAutofit/>
          </a:bodyPr>
          <a:lstStyle/>
          <a:p>
            <a:r>
              <a:rPr lang="en-US" dirty="0"/>
              <a:t>Multi-Layer Switch</a:t>
            </a:r>
          </a:p>
          <a:p>
            <a:pPr lvl="1"/>
            <a:r>
              <a:rPr lang="en-US" dirty="0"/>
              <a:t>Layer 3 Switch</a:t>
            </a:r>
          </a:p>
          <a:p>
            <a:r>
              <a:rPr lang="en-US" dirty="0"/>
              <a:t>Load Balancer</a:t>
            </a:r>
          </a:p>
          <a:p>
            <a:r>
              <a:rPr lang="en-US" dirty="0"/>
              <a:t>Domain Name Server</a:t>
            </a:r>
          </a:p>
          <a:p>
            <a:pPr lvl="1"/>
            <a:r>
              <a:rPr lang="en-US" dirty="0"/>
              <a:t>FQDN</a:t>
            </a:r>
          </a:p>
          <a:p>
            <a:pPr lvl="1"/>
            <a:r>
              <a:rPr lang="en-US" dirty="0"/>
              <a:t>Record Types</a:t>
            </a:r>
          </a:p>
          <a:p>
            <a:r>
              <a:rPr lang="en-US" dirty="0"/>
              <a:t>Proxy Server</a:t>
            </a:r>
          </a:p>
          <a:p>
            <a:r>
              <a:rPr lang="en-US" dirty="0"/>
              <a:t>Encryption Devices</a:t>
            </a:r>
          </a:p>
        </p:txBody>
      </p:sp>
    </p:spTree>
    <p:extLst>
      <p:ext uri="{BB962C8B-B14F-4D97-AF65-F5344CB8AC3E}">
        <p14:creationId xmlns:p14="http://schemas.microsoft.com/office/powerpoint/2010/main" val="3183004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8AF76-8947-4EC0-A257-A69F788A62B9}"/>
              </a:ext>
            </a:extLst>
          </p:cNvPr>
          <p:cNvSpPr>
            <a:spLocks noGrp="1"/>
          </p:cNvSpPr>
          <p:nvPr>
            <p:ph type="title"/>
          </p:nvPr>
        </p:nvSpPr>
        <p:spPr/>
        <p:txBody>
          <a:bodyPr/>
          <a:lstStyle/>
          <a:p>
            <a:pPr algn="ctr"/>
            <a:r>
              <a:rPr lang="en-US" dirty="0"/>
              <a:t>Other Devices</a:t>
            </a:r>
          </a:p>
        </p:txBody>
      </p:sp>
      <p:sp>
        <p:nvSpPr>
          <p:cNvPr id="3" name="Content Placeholder 2">
            <a:extLst>
              <a:ext uri="{FF2B5EF4-FFF2-40B4-BE49-F238E27FC236}">
                <a16:creationId xmlns:a16="http://schemas.microsoft.com/office/drawing/2014/main" id="{616D0517-822A-4CF1-8FBD-43F6E4F41A93}"/>
              </a:ext>
            </a:extLst>
          </p:cNvPr>
          <p:cNvSpPr>
            <a:spLocks noGrp="1"/>
          </p:cNvSpPr>
          <p:nvPr>
            <p:ph idx="1"/>
          </p:nvPr>
        </p:nvSpPr>
        <p:spPr/>
        <p:txBody>
          <a:bodyPr/>
          <a:lstStyle/>
          <a:p>
            <a:r>
              <a:rPr lang="en-US" dirty="0"/>
              <a:t>Analog Modem</a:t>
            </a:r>
          </a:p>
          <a:p>
            <a:r>
              <a:rPr lang="en-US" dirty="0"/>
              <a:t>Packet Shaper</a:t>
            </a:r>
          </a:p>
          <a:p>
            <a:r>
              <a:rPr lang="en-US" dirty="0"/>
              <a:t>VPN Concentrator</a:t>
            </a:r>
          </a:p>
          <a:p>
            <a:r>
              <a:rPr lang="en-US" dirty="0"/>
              <a:t>Media Converter</a:t>
            </a:r>
          </a:p>
          <a:p>
            <a:pPr lvl="1"/>
            <a:r>
              <a:rPr lang="en-US" dirty="0"/>
              <a:t>Fiber to Ethernet</a:t>
            </a:r>
          </a:p>
          <a:p>
            <a:r>
              <a:rPr lang="en-US" dirty="0"/>
              <a:t>VOIP PBX</a:t>
            </a:r>
          </a:p>
          <a:p>
            <a:pPr lvl="1"/>
            <a:r>
              <a:rPr lang="en-US" dirty="0"/>
              <a:t>Private </a:t>
            </a:r>
            <a:r>
              <a:rPr lang="en-US"/>
              <a:t>Branch Exchange</a:t>
            </a:r>
            <a:endParaRPr lang="en-US" dirty="0"/>
          </a:p>
          <a:p>
            <a:endParaRPr lang="en-US" dirty="0"/>
          </a:p>
        </p:txBody>
      </p:sp>
    </p:spTree>
    <p:extLst>
      <p:ext uri="{BB962C8B-B14F-4D97-AF65-F5344CB8AC3E}">
        <p14:creationId xmlns:p14="http://schemas.microsoft.com/office/powerpoint/2010/main" val="239016474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{A74C1714-5C0B-3846-B47C-6ECBC5836BBB}tf10001071</Template>
  <TotalTime>281</TotalTime>
  <Words>926</Words>
  <Application>Microsoft Macintosh PowerPoint</Application>
  <PresentationFormat>Widescreen</PresentationFormat>
  <Paragraphs>104</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Gill Sans MT</vt:lpstr>
      <vt:lpstr>Impact</vt:lpstr>
      <vt:lpstr>Times</vt:lpstr>
      <vt:lpstr>Badge</vt:lpstr>
      <vt:lpstr>Chapter 5</vt:lpstr>
      <vt:lpstr>Networking Devices</vt:lpstr>
      <vt:lpstr>Firewall</vt:lpstr>
      <vt:lpstr>Networking Devices Cont.</vt:lpstr>
      <vt:lpstr>Contention Methods</vt:lpstr>
      <vt:lpstr>Network Servers</vt:lpstr>
      <vt:lpstr>Other Devices</vt:lpstr>
      <vt:lpstr>Other Devices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Sam Lee</dc:creator>
  <cp:lastModifiedBy>Adrienne Bailey</cp:lastModifiedBy>
  <cp:revision>18</cp:revision>
  <dcterms:created xsi:type="dcterms:W3CDTF">2018-10-29T20:34:46Z</dcterms:created>
  <dcterms:modified xsi:type="dcterms:W3CDTF">2022-09-14T20:25:22Z</dcterms:modified>
</cp:coreProperties>
</file>