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8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71" r:id="rId6"/>
    <p:sldId id="283" r:id="rId7"/>
    <p:sldId id="260" r:id="rId8"/>
    <p:sldId id="261" r:id="rId9"/>
    <p:sldId id="263" r:id="rId10"/>
    <p:sldId id="294" r:id="rId11"/>
    <p:sldId id="262" r:id="rId12"/>
    <p:sldId id="264" r:id="rId13"/>
    <p:sldId id="280" r:id="rId14"/>
    <p:sldId id="281" r:id="rId15"/>
    <p:sldId id="291" r:id="rId16"/>
    <p:sldId id="284" r:id="rId17"/>
    <p:sldId id="265" r:id="rId18"/>
    <p:sldId id="266" r:id="rId19"/>
    <p:sldId id="267" r:id="rId20"/>
    <p:sldId id="268" r:id="rId21"/>
    <p:sldId id="269" r:id="rId22"/>
    <p:sldId id="270" r:id="rId23"/>
    <p:sldId id="292" r:id="rId24"/>
    <p:sldId id="282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65437"/>
  </p:normalViewPr>
  <p:slideViewPr>
    <p:cSldViewPr snapToGrid="0">
      <p:cViewPr varScale="1">
        <p:scale>
          <a:sx n="72" d="100"/>
          <a:sy n="72" d="100"/>
        </p:scale>
        <p:origin x="2840" y="20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0533E-7F04-0444-AAFF-A6E9D2189720}" type="datetimeFigureOut">
              <a:rPr lang="en-US" smtClean="0"/>
              <a:t>9/19/22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E6025-7046-1B4A-BD4F-434C74284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032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E6025-7046-1B4A-BD4F-434C742843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600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2 media types we will need to know in-depth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E6025-7046-1B4A-BD4F-434C7428439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799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Plenum cable is cable that is laid in the plenum spaces of buildings.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plenum space is typically a space between the floors of a building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Cables that are non-plenum rated give off poisonous smoke if it catches fire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ThinNet</a:t>
            </a:r>
            <a:r>
              <a:rPr lang="en-US" dirty="0"/>
              <a:t> = thin coaxial cable, same as the thick coaxial except its diameter is smaller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 must use BNC connectors w/ a </a:t>
            </a:r>
            <a:r>
              <a:rPr lang="en-US" dirty="0" err="1"/>
              <a:t>ThinNet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E6025-7046-1B4A-BD4F-434C7428439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880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STP help to protect data transmission from Electromagnetic interference (EMI)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E6025-7046-1B4A-BD4F-434C7428439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5778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RJ-11s tend to go on phone lines or in phone jacks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RJ-45s go on the Ethernet cables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E6025-7046-1B4A-BD4F-434C7428439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811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Your objectives only want you to remember Cat5-Cat8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way you read charts like this is to find the similarities and differences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max length for all is 100m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Cat 6, 6a, &amp; 7 are all up to 10Gbps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Cat5e speed is 1000Mbps or 1Gbps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Cat 8 goes up to 40Gbps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E6025-7046-1B4A-BD4F-434C7428439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84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Fiber optic cables are immune to Electromagnetic Interference (EMI) and Radio Frequency Interference (RFI)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Fiber sends digital signals using light instead of electricity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carries the light on either glass or a plastic core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difference between the nodes is the number of light rays/signals it can carry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Single-mode is for long distance and multi-mode is for short distance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SMF is very high speed and long distance, it uses LEDs and lasers to transmit light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Can transmit distances up to 40km = 25miles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MMF uses light as well, but it uses multiple paths and the light reflects back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Distances can only go up to 3,000ft, it is not very reliable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E6025-7046-1B4A-BD4F-434C7428439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5452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APC is Angled Physical contact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UPC is Ultra Physical Contact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With the UPC light is reflected back down to the core of the fiber cable, which causes a loss of </a:t>
            </a:r>
            <a:r>
              <a:rPr lang="en-US" dirty="0" err="1"/>
              <a:t>db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DB is how much data gets loss in transit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APC doesn’t have nearly as much DB loss because of the way it is angled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E6025-7046-1B4A-BD4F-434C7428439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340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With the APC, the light isn’t reflected directly back into the fiber cable like it is in the UPC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Light being reflected back causes data to be lost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E6025-7046-1B4A-BD4F-434C7428439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662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two most popular connectors are Straight Tip and Square Connector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ST screws on just like a BNC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SC has a latched mechanism on it to keep it from simply falling 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SC can be used for single-mode or multi-mode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two Small Form-Factor Connectors are the LC and the MTRJ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LC is a small form factor connector, available in SMF and MMF, also has UPC and APC polish types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MTRJ has two MMF inside of the connector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E6025-7046-1B4A-BD4F-434C7428439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9354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Transmitters are devices that have both a transmitter and a receiver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You will see these in switches, routers, and on servers to be able to insert your fiber connection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SFP is used for telecommunication and data communications applications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SFP+ is the enhanced version that allows for data up to 16Gbps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QSFP allows for even more speed and the QSFP+ is used for 100Gbps links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E6025-7046-1B4A-BD4F-434C7428439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8963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Sometimes you need to convert one type of media to another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Single-mode Fiber to Ethernet accepts a fiber connector and an Ethernet connector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Multi-Mode Fiber to Ethernet does the same thing except with only MMF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E6025-7046-1B4A-BD4F-434C7428439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495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Fiber to coaxial converts digital signals from optical to coax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SMF to MMF converts between the two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E6025-7046-1B4A-BD4F-434C7428439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71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Commonly used for serial data signals.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Legacy way of data communicating for devices using different manufacturers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Think of connecting a computer’s serial port to an external modem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Normally have a DB-9 connector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DB-9 has 9 pins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DB-25 has guess how many pins?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E6025-7046-1B4A-BD4F-434C7428439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229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Universal Serial Bus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Hubs can be chained together and you can actually plug up to 127 devices using USB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E6025-7046-1B4A-BD4F-434C7428439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0840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Speed is the rate at which data transmits through your network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Distance has to deal with how far the signal has to travel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degradation of a signal due to the medium and the distance is known as attenuation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Half-duplex vs Full-Duplex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Half-duplex is when a device can either send or receive comms at a given time, but not the same time (think walkie-talkies)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Full-duplex is when both devices can send and receive comms at the same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Noise has to deal with EMI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E6025-7046-1B4A-BD4F-434C7428439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2178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Learn one and remember the difference with the other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Pins 4, 5, 7, and 8 are the same in both standards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E6025-7046-1B4A-BD4F-434C7428439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365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Used to connect unlike devices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Connecting a computer to a switch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T568A+T568A = straight through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T568B+T568B = straight through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E6025-7046-1B4A-BD4F-434C7428439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232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Used to connect like devices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Switch to a switch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Used only in Ethernet UTP installations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T568A+T568B = crossover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E6025-7046-1B4A-BD4F-434C7428439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838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It’s a straight through cable that you simply just turned 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E6025-7046-1B4A-BD4F-434C7428439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9317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Fiber distribution panel is a fiber version of a patch panel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E6025-7046-1B4A-BD4F-434C7428439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254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E6025-7046-1B4A-BD4F-434C7428439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579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a patch panel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E6025-7046-1B4A-BD4F-434C7428439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287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063115" y="630937"/>
            <a:ext cx="5230368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1098388"/>
            <a:ext cx="7738814" cy="4394988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5979197"/>
            <a:ext cx="6034030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6375679"/>
            <a:ext cx="174729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91B805F-FF0F-4BAA-A3A3-E4F945D687F8}" type="datetimeFigureOut">
              <a:rPr lang="en-US" smtClean="0"/>
              <a:t>9/19/22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6375679"/>
            <a:ext cx="1747292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3808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F3A6-CC5D-4649-8527-DB0C21FDDFD9}" type="datetimeFigureOut">
              <a:rPr lang="en-US" smtClean="0"/>
              <a:t>9/19/22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971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2110979" cy="6858000"/>
          </a:xfrm>
          <a:custGeom>
            <a:avLst/>
            <a:gdLst/>
            <a:ahLst/>
            <a:cxnLst/>
            <a:rect l="0" t="0" r="r" b="b"/>
            <a:pathLst>
              <a:path w="1773" h="4320">
                <a:moveTo>
                  <a:pt x="0" y="0"/>
                </a:moveTo>
                <a:lnTo>
                  <a:pt x="891" y="0"/>
                </a:lnTo>
                <a:lnTo>
                  <a:pt x="906" y="56"/>
                </a:lnTo>
                <a:lnTo>
                  <a:pt x="921" y="111"/>
                </a:lnTo>
                <a:lnTo>
                  <a:pt x="938" y="165"/>
                </a:lnTo>
                <a:lnTo>
                  <a:pt x="957" y="217"/>
                </a:lnTo>
                <a:lnTo>
                  <a:pt x="980" y="266"/>
                </a:lnTo>
                <a:lnTo>
                  <a:pt x="1007" y="312"/>
                </a:lnTo>
                <a:lnTo>
                  <a:pt x="1036" y="351"/>
                </a:lnTo>
                <a:lnTo>
                  <a:pt x="1069" y="387"/>
                </a:lnTo>
                <a:lnTo>
                  <a:pt x="1105" y="422"/>
                </a:lnTo>
                <a:lnTo>
                  <a:pt x="1145" y="456"/>
                </a:lnTo>
                <a:lnTo>
                  <a:pt x="1185" y="487"/>
                </a:lnTo>
                <a:lnTo>
                  <a:pt x="1227" y="520"/>
                </a:lnTo>
                <a:lnTo>
                  <a:pt x="1270" y="551"/>
                </a:lnTo>
                <a:lnTo>
                  <a:pt x="1311" y="584"/>
                </a:lnTo>
                <a:lnTo>
                  <a:pt x="1352" y="617"/>
                </a:lnTo>
                <a:lnTo>
                  <a:pt x="1390" y="651"/>
                </a:lnTo>
                <a:lnTo>
                  <a:pt x="1425" y="687"/>
                </a:lnTo>
                <a:lnTo>
                  <a:pt x="1456" y="725"/>
                </a:lnTo>
                <a:lnTo>
                  <a:pt x="1484" y="765"/>
                </a:lnTo>
                <a:lnTo>
                  <a:pt x="1505" y="808"/>
                </a:lnTo>
                <a:lnTo>
                  <a:pt x="1521" y="856"/>
                </a:lnTo>
                <a:lnTo>
                  <a:pt x="1530" y="907"/>
                </a:lnTo>
                <a:lnTo>
                  <a:pt x="1534" y="960"/>
                </a:lnTo>
                <a:lnTo>
                  <a:pt x="1534" y="1013"/>
                </a:lnTo>
                <a:lnTo>
                  <a:pt x="1530" y="1068"/>
                </a:lnTo>
                <a:lnTo>
                  <a:pt x="1523" y="1125"/>
                </a:lnTo>
                <a:lnTo>
                  <a:pt x="1515" y="1181"/>
                </a:lnTo>
                <a:lnTo>
                  <a:pt x="1508" y="1237"/>
                </a:lnTo>
                <a:lnTo>
                  <a:pt x="1501" y="1293"/>
                </a:lnTo>
                <a:lnTo>
                  <a:pt x="1496" y="1350"/>
                </a:lnTo>
                <a:lnTo>
                  <a:pt x="1494" y="1405"/>
                </a:lnTo>
                <a:lnTo>
                  <a:pt x="1497" y="1458"/>
                </a:lnTo>
                <a:lnTo>
                  <a:pt x="1504" y="1511"/>
                </a:lnTo>
                <a:lnTo>
                  <a:pt x="1517" y="1560"/>
                </a:lnTo>
                <a:lnTo>
                  <a:pt x="1535" y="1610"/>
                </a:lnTo>
                <a:lnTo>
                  <a:pt x="1557" y="1659"/>
                </a:lnTo>
                <a:lnTo>
                  <a:pt x="1583" y="1708"/>
                </a:lnTo>
                <a:lnTo>
                  <a:pt x="1611" y="1757"/>
                </a:lnTo>
                <a:lnTo>
                  <a:pt x="1640" y="1807"/>
                </a:lnTo>
                <a:lnTo>
                  <a:pt x="1669" y="1855"/>
                </a:lnTo>
                <a:lnTo>
                  <a:pt x="1696" y="1905"/>
                </a:lnTo>
                <a:lnTo>
                  <a:pt x="1721" y="1954"/>
                </a:lnTo>
                <a:lnTo>
                  <a:pt x="1742" y="2006"/>
                </a:lnTo>
                <a:lnTo>
                  <a:pt x="1759" y="2057"/>
                </a:lnTo>
                <a:lnTo>
                  <a:pt x="1769" y="2108"/>
                </a:lnTo>
                <a:lnTo>
                  <a:pt x="1773" y="2160"/>
                </a:lnTo>
                <a:lnTo>
                  <a:pt x="1769" y="2212"/>
                </a:lnTo>
                <a:lnTo>
                  <a:pt x="1759" y="2263"/>
                </a:lnTo>
                <a:lnTo>
                  <a:pt x="1742" y="2314"/>
                </a:lnTo>
                <a:lnTo>
                  <a:pt x="1721" y="2366"/>
                </a:lnTo>
                <a:lnTo>
                  <a:pt x="1696" y="2415"/>
                </a:lnTo>
                <a:lnTo>
                  <a:pt x="1669" y="2465"/>
                </a:lnTo>
                <a:lnTo>
                  <a:pt x="1640" y="2513"/>
                </a:lnTo>
                <a:lnTo>
                  <a:pt x="1611" y="2563"/>
                </a:lnTo>
                <a:lnTo>
                  <a:pt x="1583" y="2612"/>
                </a:lnTo>
                <a:lnTo>
                  <a:pt x="1557" y="2661"/>
                </a:lnTo>
                <a:lnTo>
                  <a:pt x="1535" y="2710"/>
                </a:lnTo>
                <a:lnTo>
                  <a:pt x="1517" y="2760"/>
                </a:lnTo>
                <a:lnTo>
                  <a:pt x="1504" y="2809"/>
                </a:lnTo>
                <a:lnTo>
                  <a:pt x="1497" y="2862"/>
                </a:lnTo>
                <a:lnTo>
                  <a:pt x="1494" y="2915"/>
                </a:lnTo>
                <a:lnTo>
                  <a:pt x="1496" y="2970"/>
                </a:lnTo>
                <a:lnTo>
                  <a:pt x="1501" y="3027"/>
                </a:lnTo>
                <a:lnTo>
                  <a:pt x="1508" y="3083"/>
                </a:lnTo>
                <a:lnTo>
                  <a:pt x="1515" y="3139"/>
                </a:lnTo>
                <a:lnTo>
                  <a:pt x="1523" y="3195"/>
                </a:lnTo>
                <a:lnTo>
                  <a:pt x="1530" y="3252"/>
                </a:lnTo>
                <a:lnTo>
                  <a:pt x="1534" y="3307"/>
                </a:lnTo>
                <a:lnTo>
                  <a:pt x="1534" y="3360"/>
                </a:lnTo>
                <a:lnTo>
                  <a:pt x="1530" y="3413"/>
                </a:lnTo>
                <a:lnTo>
                  <a:pt x="1521" y="3464"/>
                </a:lnTo>
                <a:lnTo>
                  <a:pt x="1505" y="3512"/>
                </a:lnTo>
                <a:lnTo>
                  <a:pt x="1484" y="3555"/>
                </a:lnTo>
                <a:lnTo>
                  <a:pt x="1456" y="3595"/>
                </a:lnTo>
                <a:lnTo>
                  <a:pt x="1425" y="3633"/>
                </a:lnTo>
                <a:lnTo>
                  <a:pt x="1390" y="3669"/>
                </a:lnTo>
                <a:lnTo>
                  <a:pt x="1352" y="3703"/>
                </a:lnTo>
                <a:lnTo>
                  <a:pt x="1311" y="3736"/>
                </a:lnTo>
                <a:lnTo>
                  <a:pt x="1270" y="3769"/>
                </a:lnTo>
                <a:lnTo>
                  <a:pt x="1227" y="3800"/>
                </a:lnTo>
                <a:lnTo>
                  <a:pt x="1185" y="3833"/>
                </a:lnTo>
                <a:lnTo>
                  <a:pt x="1145" y="3864"/>
                </a:lnTo>
                <a:lnTo>
                  <a:pt x="1105" y="3898"/>
                </a:lnTo>
                <a:lnTo>
                  <a:pt x="1069" y="3933"/>
                </a:lnTo>
                <a:lnTo>
                  <a:pt x="1036" y="3969"/>
                </a:lnTo>
                <a:lnTo>
                  <a:pt x="1007" y="4008"/>
                </a:lnTo>
                <a:lnTo>
                  <a:pt x="980" y="4054"/>
                </a:lnTo>
                <a:lnTo>
                  <a:pt x="957" y="4103"/>
                </a:lnTo>
                <a:lnTo>
                  <a:pt x="938" y="4155"/>
                </a:lnTo>
                <a:lnTo>
                  <a:pt x="921" y="4209"/>
                </a:lnTo>
                <a:lnTo>
                  <a:pt x="906" y="4264"/>
                </a:lnTo>
                <a:lnTo>
                  <a:pt x="891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1073889"/>
            <a:ext cx="6140303" cy="4064627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5159782"/>
            <a:ext cx="5263116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6375679"/>
            <a:ext cx="1120460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B6F927C-B73E-4F9D-ADFE-F6E23BD7CEE8}" type="datetimeFigureOut">
              <a:rPr lang="en-US" smtClean="0"/>
              <a:t>9/19/22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6375679"/>
            <a:ext cx="1115675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reeform 11"/>
          <p:cNvSpPr/>
          <p:nvPr/>
        </p:nvSpPr>
        <p:spPr bwMode="auto">
          <a:xfrm>
            <a:off x="655786" y="0"/>
            <a:ext cx="1234679" cy="6858000"/>
          </a:xfrm>
          <a:custGeom>
            <a:avLst/>
            <a:gdLst/>
            <a:ahLst/>
            <a:cxnLst/>
            <a:rect l="0" t="0" r="r" b="b"/>
            <a:pathLst>
              <a:path w="1037" h="4320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6858000"/>
            <a:chOff x="0" y="0"/>
            <a:chExt cx="2110979" cy="6858000"/>
          </a:xfrm>
        </p:grpSpPr>
        <p:sp>
          <p:nvSpPr>
            <p:cNvPr id="9" name="Freeform 8" title="left scallop shape"/>
            <p:cNvSpPr/>
            <p:nvPr/>
          </p:nvSpPr>
          <p:spPr bwMode="auto">
            <a:xfrm>
              <a:off x="0" y="0"/>
              <a:ext cx="2110979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0" name="Freeform 11" title="left scallop inline"/>
            <p:cNvSpPr/>
            <p:nvPr/>
          </p:nvSpPr>
          <p:spPr bwMode="auto">
            <a:xfrm>
              <a:off x="655786" y="0"/>
              <a:ext cx="1234679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95949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286000"/>
            <a:ext cx="3593592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6" y="2286000"/>
            <a:ext cx="3593592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FFFF-984A-4EE5-9BF2-EC9310C878F1}" type="datetimeFigureOut">
              <a:rPr lang="en-US" smtClean="0"/>
              <a:t>9/19/22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195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381001"/>
            <a:ext cx="7629525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1832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1832" y="2909102"/>
            <a:ext cx="361188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909102"/>
            <a:ext cx="361188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271C1-B42E-4A60-A25F-0185B888604B}" type="datetimeFigureOut">
              <a:rPr lang="en-US" smtClean="0"/>
              <a:t>9/19/22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3502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6292-3725-4763-8973-4C59F0403D99}" type="datetimeFigureOut">
              <a:rPr lang="en-US" smtClean="0"/>
              <a:t>9/19/22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24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996D1-8909-469F-911A-4C12C68BF5D9}" type="datetimeFigureOut">
              <a:rPr lang="en-US" smtClean="0"/>
              <a:t>9/19/22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643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457200"/>
            <a:ext cx="2319086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920377"/>
            <a:ext cx="4618814" cy="49851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741336"/>
            <a:ext cx="2319086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6375679"/>
            <a:ext cx="925016" cy="348462"/>
          </a:xfrm>
        </p:spPr>
        <p:txBody>
          <a:bodyPr/>
          <a:lstStyle/>
          <a:p>
            <a:fld id="{E16A73BC-5D11-4675-B334-102E1E8C9B50}" type="datetimeFigureOut">
              <a:rPr lang="en-US" smtClean="0"/>
              <a:t>9/19/22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6375679"/>
            <a:ext cx="924342" cy="345796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25096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457200"/>
            <a:ext cx="2319088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741336"/>
            <a:ext cx="2319088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6375679"/>
            <a:ext cx="924342" cy="348462"/>
          </a:xfrm>
        </p:spPr>
        <p:txBody>
          <a:bodyPr/>
          <a:lstStyle/>
          <a:p>
            <a:fld id="{27B8E45F-652B-4E89-8925-000B0AB8FD98}" type="datetimeFigureOut">
              <a:rPr lang="en-US" smtClean="0"/>
              <a:t>9/19/22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56153" y="6375679"/>
            <a:ext cx="947460" cy="345796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79490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B5C51-60B3-48EF-AA78-DB950F30DBA2}" type="datetimeFigureOut">
              <a:rPr lang="en-US" smtClean="0"/>
              <a:t>9/19/22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071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911" y="382386"/>
            <a:ext cx="1771930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4" y="382386"/>
            <a:ext cx="5809517" cy="56004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676B-6E73-4E3B-A9B3-4966DB9B52A5}" type="datetimeFigureOut">
              <a:rPr lang="en-US" smtClean="0"/>
              <a:t>9/19/22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797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2286002"/>
            <a:ext cx="763374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4A3462A-2D5B-48AF-A3D4-EF8A90A50A80}" type="datetimeFigureOut">
              <a:rPr lang="en-US" smtClean="0"/>
              <a:t>9/19/22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right edge border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Freeform 5"/>
          <p:cNvSpPr/>
          <p:nvPr/>
        </p:nvSpPr>
        <p:spPr bwMode="auto">
          <a:xfrm>
            <a:off x="1" y="0"/>
            <a:ext cx="679090" cy="6858000"/>
          </a:xfrm>
          <a:custGeom>
            <a:avLst/>
            <a:gdLst/>
            <a:ahLst/>
            <a:cxnLst/>
            <a:rect l="0" t="0" r="r" b="b"/>
            <a:pathLst>
              <a:path w="211" h="2160">
                <a:moveTo>
                  <a:pt x="155" y="1728"/>
                </a:moveTo>
                <a:cubicBezTo>
                  <a:pt x="155" y="1620"/>
                  <a:pt x="211" y="1620"/>
                  <a:pt x="211" y="1512"/>
                </a:cubicBezTo>
                <a:cubicBezTo>
                  <a:pt x="211" y="1404"/>
                  <a:pt x="155" y="1404"/>
                  <a:pt x="155" y="1296"/>
                </a:cubicBezTo>
                <a:cubicBezTo>
                  <a:pt x="155" y="1188"/>
                  <a:pt x="211" y="1188"/>
                  <a:pt x="211" y="1080"/>
                </a:cubicBezTo>
                <a:cubicBezTo>
                  <a:pt x="211" y="972"/>
                  <a:pt x="155" y="972"/>
                  <a:pt x="155" y="864"/>
                </a:cubicBezTo>
                <a:cubicBezTo>
                  <a:pt x="155" y="756"/>
                  <a:pt x="211" y="756"/>
                  <a:pt x="211" y="648"/>
                </a:cubicBezTo>
                <a:cubicBezTo>
                  <a:pt x="211" y="540"/>
                  <a:pt x="155" y="540"/>
                  <a:pt x="155" y="432"/>
                </a:cubicBezTo>
                <a:cubicBezTo>
                  <a:pt x="155" y="324"/>
                  <a:pt x="211" y="324"/>
                  <a:pt x="211" y="216"/>
                </a:cubicBezTo>
                <a:cubicBezTo>
                  <a:pt x="211" y="108"/>
                  <a:pt x="155" y="108"/>
                  <a:pt x="15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155" y="2160"/>
                  <a:pt x="155" y="2160"/>
                  <a:pt x="155" y="2160"/>
                </a:cubicBezTo>
                <a:cubicBezTo>
                  <a:pt x="155" y="2052"/>
                  <a:pt x="211" y="2052"/>
                  <a:pt x="211" y="1944"/>
                </a:cubicBezTo>
                <a:cubicBezTo>
                  <a:pt x="211" y="1836"/>
                  <a:pt x="155" y="1836"/>
                  <a:pt x="155" y="172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72767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100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594">
          <p15:clr>
            <a:srgbClr val="F26B43"/>
          </p15:clr>
        </p15:guide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pos="5400">
          <p15:clr>
            <a:srgbClr val="F26B43"/>
          </p15:clr>
        </p15:guide>
        <p15:guide id="4" orient="horz" pos="4008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720">
          <p15:clr>
            <a:srgbClr val="F26B43"/>
          </p15:clr>
        </p15:guide>
        <p15:guide id="7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F2A6D-0C01-4FE4-BD00-82CF124504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D61DA5-8FC6-4B77-ADA2-8F0F215A8E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Network Connectors and Wiring Standards</a:t>
            </a:r>
          </a:p>
        </p:txBody>
      </p:sp>
    </p:spTree>
    <p:extLst>
      <p:ext uri="{BB962C8B-B14F-4D97-AF65-F5344CB8AC3E}">
        <p14:creationId xmlns:p14="http://schemas.microsoft.com/office/powerpoint/2010/main" val="4073453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569B1-C5FA-4526-ACE7-F683FAC49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Bounded Network Media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2E759-9DDF-452F-ABC3-7BD424CDE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Copper Media</a:t>
            </a:r>
          </a:p>
          <a:p>
            <a:r>
              <a:rPr lang="en-US" dirty="0"/>
              <a:t>Fiber Optics Media</a:t>
            </a:r>
          </a:p>
        </p:txBody>
      </p:sp>
    </p:spTree>
    <p:extLst>
      <p:ext uri="{BB962C8B-B14F-4D97-AF65-F5344CB8AC3E}">
        <p14:creationId xmlns:p14="http://schemas.microsoft.com/office/powerpoint/2010/main" val="2572380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14166-F927-40E4-90F8-47067A1B3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247" y="382385"/>
            <a:ext cx="8175813" cy="1492132"/>
          </a:xfrm>
        </p:spPr>
        <p:txBody>
          <a:bodyPr/>
          <a:lstStyle/>
          <a:p>
            <a:pPr algn="ctr"/>
            <a:r>
              <a:rPr lang="en-US" dirty="0"/>
              <a:t>Coaxial Cable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9EC52-C325-4DE4-A560-479F9FAF0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Plenum Rated Cable </a:t>
            </a:r>
          </a:p>
          <a:p>
            <a:r>
              <a:rPr lang="en-US" dirty="0" err="1"/>
              <a:t>ThinNet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RG-58</a:t>
            </a:r>
          </a:p>
          <a:p>
            <a:pPr lvl="1"/>
            <a:r>
              <a:rPr lang="en-US" dirty="0"/>
              <a:t>Must use BNC</a:t>
            </a:r>
          </a:p>
          <a:p>
            <a:r>
              <a:rPr lang="en-US" dirty="0"/>
              <a:t>BNC Connectors</a:t>
            </a:r>
          </a:p>
          <a:p>
            <a:r>
              <a:rPr lang="en-US" dirty="0"/>
              <a:t>F-Type connectors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E66659-8C6E-4BC0-AB0E-9BC466BC82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86" y="1610723"/>
            <a:ext cx="5023774" cy="1510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A8A31D-C2C9-4DC5-A472-F7C9FD2241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539" y="3967353"/>
            <a:ext cx="3057525" cy="2030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FC2980F0-A532-4389-A87A-38F1496BF9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733" b="-10637"/>
          <a:stretch>
            <a:fillRect/>
          </a:stretch>
        </p:blipFill>
        <p:spPr bwMode="auto">
          <a:xfrm>
            <a:off x="3574256" y="3967353"/>
            <a:ext cx="1995488" cy="232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6617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18BD7-DCE2-4B8D-8409-85CBAB44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9" y="232341"/>
            <a:ext cx="8193740" cy="1492132"/>
          </a:xfrm>
        </p:spPr>
        <p:txBody>
          <a:bodyPr/>
          <a:lstStyle/>
          <a:p>
            <a:pPr algn="ctr"/>
            <a:r>
              <a:rPr lang="en-US" dirty="0"/>
              <a:t>Twisted Pair Cable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CED63-63F8-4A5F-AA34-241149810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758" y="1389531"/>
            <a:ext cx="7633742" cy="3593591"/>
          </a:xfrm>
        </p:spPr>
        <p:txBody>
          <a:bodyPr/>
          <a:lstStyle/>
          <a:p>
            <a:r>
              <a:rPr lang="en-US" dirty="0"/>
              <a:t>UTP:</a:t>
            </a:r>
          </a:p>
          <a:p>
            <a:pPr lvl="1"/>
            <a:r>
              <a:rPr lang="en-US" dirty="0"/>
              <a:t>No shielding around conductors.</a:t>
            </a:r>
          </a:p>
          <a:p>
            <a:pPr lvl="1"/>
            <a:r>
              <a:rPr lang="en-US" dirty="0"/>
              <a:t>Typically contains four pairs of stranded or solid conductors.</a:t>
            </a:r>
          </a:p>
          <a:p>
            <a:pPr lvl="1"/>
            <a:r>
              <a:rPr lang="en-US" dirty="0"/>
              <a:t>Inexpensive and reliable.</a:t>
            </a:r>
          </a:p>
          <a:p>
            <a:r>
              <a:rPr lang="en-US" dirty="0"/>
              <a:t>STP:</a:t>
            </a:r>
          </a:p>
          <a:p>
            <a:pPr lvl="1"/>
            <a:r>
              <a:rPr lang="en-US" dirty="0"/>
              <a:t>Shielding around conductors.</a:t>
            </a:r>
          </a:p>
          <a:p>
            <a:pPr lvl="1"/>
            <a:r>
              <a:rPr lang="en-US" dirty="0"/>
              <a:t>Typically contains four pairs of stranded or solid conductors.</a:t>
            </a:r>
          </a:p>
          <a:p>
            <a:pPr lvl="1"/>
            <a:r>
              <a:rPr lang="en-US" dirty="0"/>
              <a:t>More expensive than UTP.</a:t>
            </a:r>
          </a:p>
        </p:txBody>
      </p:sp>
    </p:spTree>
    <p:extLst>
      <p:ext uri="{BB962C8B-B14F-4D97-AF65-F5344CB8AC3E}">
        <p14:creationId xmlns:p14="http://schemas.microsoft.com/office/powerpoint/2010/main" val="3344677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28962"/>
            <a:ext cx="1447800" cy="4111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9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6464300"/>
            <a:ext cx="1295400" cy="317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70" name="Rectangle 8"/>
          <p:cNvSpPr>
            <a:spLocks noGrp="1"/>
          </p:cNvSpPr>
          <p:nvPr>
            <p:ph type="title"/>
          </p:nvPr>
        </p:nvSpPr>
        <p:spPr>
          <a:xfrm>
            <a:off x="2133600" y="274638"/>
            <a:ext cx="6553200" cy="1143000"/>
          </a:xfrm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en-US" dirty="0"/>
              <a:t>Cat 5e UTP Cable</a:t>
            </a:r>
          </a:p>
        </p:txBody>
      </p:sp>
      <p:sp>
        <p:nvSpPr>
          <p:cNvPr id="11271" name="Rectangle 10"/>
          <p:cNvSpPr/>
          <p:nvPr/>
        </p:nvSpPr>
        <p:spPr>
          <a:xfrm>
            <a:off x="7467600" y="62484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lvl="0" indent="0" algn="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11272" name="Picture 32" descr="https://computrnetworking.files.wordpress.com/2012/02/cat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575" y="1531938"/>
            <a:ext cx="4921250" cy="47164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5">
            <a:extLst>
              <a:ext uri="{FF2B5EF4-FFF2-40B4-BE49-F238E27FC236}">
                <a16:creationId xmlns:a16="http://schemas.microsoft.com/office/drawing/2014/main" id="{72463869-7816-4141-B111-C1CA278B0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3513"/>
            <a:ext cx="144780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7">
            <a:extLst>
              <a:ext uri="{FF2B5EF4-FFF2-40B4-BE49-F238E27FC236}">
                <a16:creationId xmlns:a16="http://schemas.microsoft.com/office/drawing/2014/main" id="{04287F59-F7DF-4E2B-87CF-7993504E3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464300"/>
            <a:ext cx="12954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Rectangle 8">
            <a:extLst>
              <a:ext uri="{FF2B5EF4-FFF2-40B4-BE49-F238E27FC236}">
                <a16:creationId xmlns:a16="http://schemas.microsoft.com/office/drawing/2014/main" id="{C5A67011-C27B-494C-A2C8-DE499E71B6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274638"/>
            <a:ext cx="6553200" cy="1143000"/>
          </a:xfrm>
          <a:noFill/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RJ Connectors</a:t>
            </a:r>
          </a:p>
        </p:txBody>
      </p:sp>
      <p:pic>
        <p:nvPicPr>
          <p:cNvPr id="23560" name="Picture 27" descr="http://www.wanpax.com/_image/Others/Connectors.jpg">
            <a:extLst>
              <a:ext uri="{FF2B5EF4-FFF2-40B4-BE49-F238E27FC236}">
                <a16:creationId xmlns:a16="http://schemas.microsoft.com/office/drawing/2014/main" id="{2996F480-3ADC-4AC2-80B6-98A2296AB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064" y="1622570"/>
            <a:ext cx="3962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A2901-2992-47A5-9894-DCF39CAF5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339" y="396709"/>
            <a:ext cx="7772400" cy="1609344"/>
          </a:xfrm>
        </p:spPr>
        <p:txBody>
          <a:bodyPr/>
          <a:lstStyle/>
          <a:p>
            <a:r>
              <a:rPr lang="en-US" dirty="0"/>
              <a:t>Twisted Pair Categories</a:t>
            </a:r>
          </a:p>
        </p:txBody>
      </p:sp>
      <p:pic>
        <p:nvPicPr>
          <p:cNvPr id="1026" name="Picture 2" descr="Twister pair cable categories">
            <a:extLst>
              <a:ext uri="{FF2B5EF4-FFF2-40B4-BE49-F238E27FC236}">
                <a16:creationId xmlns:a16="http://schemas.microsoft.com/office/drawing/2014/main" id="{48126FB4-F744-B4F2-C598-1EEFA8825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3469"/>
            <a:ext cx="9144000" cy="5184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2383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F4400-0E80-4FD3-9E54-DAE52411F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45" y="168526"/>
            <a:ext cx="8294882" cy="1492132"/>
          </a:xfrm>
        </p:spPr>
        <p:txBody>
          <a:bodyPr/>
          <a:lstStyle/>
          <a:p>
            <a:pPr algn="ctr"/>
            <a:r>
              <a:rPr lang="en-US" dirty="0"/>
              <a:t>Fiber Optic Cable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FB78A-F7BC-4DA2-91A1-0A172D885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386" y="2448306"/>
            <a:ext cx="7543800" cy="3038094"/>
          </a:xfrm>
        </p:spPr>
        <p:txBody>
          <a:bodyPr/>
          <a:lstStyle/>
          <a:p>
            <a:r>
              <a:rPr lang="en-US" dirty="0"/>
              <a:t>Single Mode Fiber</a:t>
            </a:r>
          </a:p>
          <a:p>
            <a:r>
              <a:rPr lang="en-US" dirty="0"/>
              <a:t>Multi Mode Fiber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4AF7E6D-F247-49A2-967D-788EF548FE46}"/>
              </a:ext>
            </a:extLst>
          </p:cNvPr>
          <p:cNvGrpSpPr/>
          <p:nvPr/>
        </p:nvGrpSpPr>
        <p:grpSpPr>
          <a:xfrm>
            <a:off x="4723386" y="1838607"/>
            <a:ext cx="3998768" cy="1327708"/>
            <a:chOff x="1752600" y="3352800"/>
            <a:chExt cx="6019800" cy="214398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9C40D42-2671-4342-99AB-F04277F2C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52600" y="4038600"/>
              <a:ext cx="6019800" cy="1458180"/>
            </a:xfrm>
            <a:prstGeom prst="rect">
              <a:avLst/>
            </a:prstGeom>
          </p:spPr>
        </p:pic>
        <p:sp>
          <p:nvSpPr>
            <p:cNvPr id="6" name="Line 316">
              <a:extLst>
                <a:ext uri="{FF2B5EF4-FFF2-40B4-BE49-F238E27FC236}">
                  <a16:creationId xmlns:a16="http://schemas.microsoft.com/office/drawing/2014/main" id="{0318A763-0F0E-45F5-94E6-0232D39178B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515868" y="4077941"/>
              <a:ext cx="129291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Rounded Rectangle 149">
              <a:extLst>
                <a:ext uri="{FF2B5EF4-FFF2-40B4-BE49-F238E27FC236}">
                  <a16:creationId xmlns:a16="http://schemas.microsoft.com/office/drawing/2014/main" id="{EC27C874-3698-4160-9E5F-DB648B696EEA}"/>
                </a:ext>
              </a:extLst>
            </p:cNvPr>
            <p:cNvSpPr/>
            <p:nvPr/>
          </p:nvSpPr>
          <p:spPr>
            <a:xfrm>
              <a:off x="6552255" y="3352800"/>
              <a:ext cx="1220145" cy="442306"/>
            </a:xfrm>
            <a:prstGeom prst="round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 defTabSz="685800"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Glass fiber</a:t>
              </a:r>
            </a:p>
          </p:txBody>
        </p:sp>
        <p:sp>
          <p:nvSpPr>
            <p:cNvPr id="8" name="Line 316">
              <a:extLst>
                <a:ext uri="{FF2B5EF4-FFF2-40B4-BE49-F238E27FC236}">
                  <a16:creationId xmlns:a16="http://schemas.microsoft.com/office/drawing/2014/main" id="{66E635E4-81F6-4C0A-9153-089DB63AE2F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673219" y="4011664"/>
              <a:ext cx="72981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Rounded Rectangle 149">
              <a:extLst>
                <a:ext uri="{FF2B5EF4-FFF2-40B4-BE49-F238E27FC236}">
                  <a16:creationId xmlns:a16="http://schemas.microsoft.com/office/drawing/2014/main" id="{84412FDF-CAB5-468C-BCD5-64E88B643783}"/>
                </a:ext>
              </a:extLst>
            </p:cNvPr>
            <p:cNvSpPr/>
            <p:nvPr/>
          </p:nvSpPr>
          <p:spPr>
            <a:xfrm>
              <a:off x="3428055" y="3352800"/>
              <a:ext cx="1220145" cy="442306"/>
            </a:xfrm>
            <a:prstGeom prst="round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 defTabSz="685800"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Strengthening fibers</a:t>
              </a:r>
            </a:p>
          </p:txBody>
        </p:sp>
        <p:sp>
          <p:nvSpPr>
            <p:cNvPr id="10" name="Line 316">
              <a:extLst>
                <a:ext uri="{FF2B5EF4-FFF2-40B4-BE49-F238E27FC236}">
                  <a16:creationId xmlns:a16="http://schemas.microsoft.com/office/drawing/2014/main" id="{63B62806-E890-40F0-9A76-75E9A010CFE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12728" y="3941762"/>
              <a:ext cx="8028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Rounded Rectangle 149">
              <a:extLst>
                <a:ext uri="{FF2B5EF4-FFF2-40B4-BE49-F238E27FC236}">
                  <a16:creationId xmlns:a16="http://schemas.microsoft.com/office/drawing/2014/main" id="{892A9675-485B-4B90-BE05-AC5C6DEBFD36}"/>
                </a:ext>
              </a:extLst>
            </p:cNvPr>
            <p:cNvSpPr/>
            <p:nvPr/>
          </p:nvSpPr>
          <p:spPr>
            <a:xfrm>
              <a:off x="1904055" y="3520469"/>
              <a:ext cx="1220145" cy="274637"/>
            </a:xfrm>
            <a:prstGeom prst="round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 defTabSz="685800"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Outer jacket</a:t>
              </a:r>
            </a:p>
          </p:txBody>
        </p:sp>
        <p:sp>
          <p:nvSpPr>
            <p:cNvPr id="12" name="Line 316">
              <a:extLst>
                <a:ext uri="{FF2B5EF4-FFF2-40B4-BE49-F238E27FC236}">
                  <a16:creationId xmlns:a16="http://schemas.microsoft.com/office/drawing/2014/main" id="{8AD61F9C-AC9D-4165-9B54-67DDDEFCCB1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898237" y="4092890"/>
              <a:ext cx="117538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Rounded Rectangle 149">
              <a:extLst>
                <a:ext uri="{FF2B5EF4-FFF2-40B4-BE49-F238E27FC236}">
                  <a16:creationId xmlns:a16="http://schemas.microsoft.com/office/drawing/2014/main" id="{7A631DA4-4C01-4EB6-93A8-15D216115C3F}"/>
                </a:ext>
              </a:extLst>
            </p:cNvPr>
            <p:cNvSpPr/>
            <p:nvPr/>
          </p:nvSpPr>
          <p:spPr>
            <a:xfrm>
              <a:off x="4875855" y="3493005"/>
              <a:ext cx="1220145" cy="302101"/>
            </a:xfrm>
            <a:prstGeom prst="round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 defTabSz="685800"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Plastic coating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9D12BB0-C26D-411B-B470-6C0BB87F76D4}"/>
              </a:ext>
            </a:extLst>
          </p:cNvPr>
          <p:cNvGrpSpPr/>
          <p:nvPr/>
        </p:nvGrpSpPr>
        <p:grpSpPr>
          <a:xfrm>
            <a:off x="687751" y="3700710"/>
            <a:ext cx="2734865" cy="1925240"/>
            <a:chOff x="3189288" y="1217613"/>
            <a:chExt cx="3646487" cy="2566987"/>
          </a:xfrm>
        </p:grpSpPr>
        <p:pic>
          <p:nvPicPr>
            <p:cNvPr id="15" name="Picture 1">
              <a:extLst>
                <a:ext uri="{FF2B5EF4-FFF2-40B4-BE49-F238E27FC236}">
                  <a16:creationId xmlns:a16="http://schemas.microsoft.com/office/drawing/2014/main" id="{AFFF2F87-AB82-4E81-8E72-9C9CFD19B7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9288" y="1217613"/>
              <a:ext cx="2566987" cy="2566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6" name="Straight Arrow Connector 5">
              <a:extLst>
                <a:ext uri="{FF2B5EF4-FFF2-40B4-BE49-F238E27FC236}">
                  <a16:creationId xmlns:a16="http://schemas.microsoft.com/office/drawing/2014/main" id="{E9F05E96-BE00-4E12-A655-EAE0EB03E096}"/>
                </a:ext>
              </a:extLst>
            </p:cNvPr>
            <p:cNvCxnSpPr>
              <a:cxnSpLocks noChangeShapeType="1"/>
              <a:stCxn id="15" idx="0"/>
            </p:cNvCxnSpPr>
            <p:nvPr/>
          </p:nvCxnSpPr>
          <p:spPr bwMode="auto">
            <a:xfrm flipH="1">
              <a:off x="3765550" y="1217613"/>
              <a:ext cx="706438" cy="1035050"/>
            </a:xfrm>
            <a:prstGeom prst="straightConnector1">
              <a:avLst/>
            </a:prstGeom>
            <a:noFill/>
            <a:ln w="3810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TextBox 3">
              <a:extLst>
                <a:ext uri="{FF2B5EF4-FFF2-40B4-BE49-F238E27FC236}">
                  <a16:creationId xmlns:a16="http://schemas.microsoft.com/office/drawing/2014/main" id="{740EF6E3-0468-42EA-9605-EFFEED46C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4988" y="1293813"/>
              <a:ext cx="998537" cy="677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350" dirty="0"/>
                <a:t>125 µm</a:t>
              </a:r>
            </a:p>
          </p:txBody>
        </p:sp>
        <p:cxnSp>
          <p:nvCxnSpPr>
            <p:cNvPr id="18" name="Straight Arrow Connector 13">
              <a:extLst>
                <a:ext uri="{FF2B5EF4-FFF2-40B4-BE49-F238E27FC236}">
                  <a16:creationId xmlns:a16="http://schemas.microsoft.com/office/drawing/2014/main" id="{1F207864-315A-4683-8C84-613DFEF4F9DF}"/>
                </a:ext>
              </a:extLst>
            </p:cNvPr>
            <p:cNvCxnSpPr>
              <a:cxnSpLocks noChangeShapeType="1"/>
              <a:stCxn id="15" idx="0"/>
            </p:cNvCxnSpPr>
            <p:nvPr/>
          </p:nvCxnSpPr>
          <p:spPr bwMode="auto">
            <a:xfrm>
              <a:off x="4471988" y="1217613"/>
              <a:ext cx="714375" cy="1035050"/>
            </a:xfrm>
            <a:prstGeom prst="straightConnector1">
              <a:avLst/>
            </a:prstGeom>
            <a:noFill/>
            <a:ln w="3810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Straight Arrow Connector 35">
              <a:extLst>
                <a:ext uri="{FF2B5EF4-FFF2-40B4-BE49-F238E27FC236}">
                  <a16:creationId xmlns:a16="http://schemas.microsoft.com/office/drawing/2014/main" id="{10DAC90E-84A4-4F9F-8B81-6B46F5E3A379}"/>
                </a:ext>
              </a:extLst>
            </p:cNvPr>
            <p:cNvCxnSpPr>
              <a:cxnSpLocks noChangeShapeType="1"/>
              <a:endCxn id="15" idx="2"/>
            </p:cNvCxnSpPr>
            <p:nvPr/>
          </p:nvCxnSpPr>
          <p:spPr bwMode="auto">
            <a:xfrm flipH="1">
              <a:off x="4471988" y="2503488"/>
              <a:ext cx="176212" cy="1281112"/>
            </a:xfrm>
            <a:prstGeom prst="straightConnector1">
              <a:avLst/>
            </a:prstGeom>
            <a:noFill/>
            <a:ln w="3810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Straight Arrow Connector 36">
              <a:extLst>
                <a:ext uri="{FF2B5EF4-FFF2-40B4-BE49-F238E27FC236}">
                  <a16:creationId xmlns:a16="http://schemas.microsoft.com/office/drawing/2014/main" id="{11AF3BE4-65A9-4933-A039-DF6F0EF67636}"/>
                </a:ext>
              </a:extLst>
            </p:cNvPr>
            <p:cNvCxnSpPr>
              <a:cxnSpLocks noChangeShapeType="1"/>
              <a:endCxn id="15" idx="2"/>
            </p:cNvCxnSpPr>
            <p:nvPr/>
          </p:nvCxnSpPr>
          <p:spPr bwMode="auto">
            <a:xfrm>
              <a:off x="4341813" y="2503488"/>
              <a:ext cx="130175" cy="1281112"/>
            </a:xfrm>
            <a:prstGeom prst="straightConnector1">
              <a:avLst/>
            </a:prstGeom>
            <a:noFill/>
            <a:ln w="3810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5AE763B-07B2-4368-AE4B-8656988D5938}"/>
                </a:ext>
              </a:extLst>
            </p:cNvPr>
            <p:cNvCxnSpPr/>
            <p:nvPr/>
          </p:nvCxnSpPr>
          <p:spPr>
            <a:xfrm>
              <a:off x="4475163" y="1225550"/>
              <a:ext cx="1995487" cy="69850"/>
            </a:xfrm>
            <a:prstGeom prst="line">
              <a:avLst/>
            </a:prstGeom>
            <a:ln w="317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8849AAB-1234-4C40-976D-74B83FD10A2C}"/>
                </a:ext>
              </a:extLst>
            </p:cNvPr>
            <p:cNvCxnSpPr/>
            <p:nvPr/>
          </p:nvCxnSpPr>
          <p:spPr>
            <a:xfrm flipV="1">
              <a:off x="4452938" y="3711575"/>
              <a:ext cx="2012950" cy="69850"/>
            </a:xfrm>
            <a:prstGeom prst="line">
              <a:avLst/>
            </a:prstGeom>
            <a:ln w="317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52">
              <a:extLst>
                <a:ext uri="{FF2B5EF4-FFF2-40B4-BE49-F238E27FC236}">
                  <a16:creationId xmlns:a16="http://schemas.microsoft.com/office/drawing/2014/main" id="{CF7F33AD-CA35-47A8-A76B-493D8B2717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7238" y="3357563"/>
              <a:ext cx="998537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350" dirty="0"/>
                <a:t>9 µm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28BBB9D-4311-4A78-9304-39E02B7EFB26}"/>
              </a:ext>
            </a:extLst>
          </p:cNvPr>
          <p:cNvGrpSpPr/>
          <p:nvPr/>
        </p:nvGrpSpPr>
        <p:grpSpPr>
          <a:xfrm>
            <a:off x="4186997" y="3671540"/>
            <a:ext cx="3608786" cy="1925240"/>
            <a:chOff x="3189288" y="4081463"/>
            <a:chExt cx="4811714" cy="2566987"/>
          </a:xfrm>
        </p:grpSpPr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D50AB32F-29FD-44AE-BFA4-381681BC4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9288" y="4081463"/>
              <a:ext cx="2566987" cy="2566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6" name="Straight Arrow Connector 23">
              <a:extLst>
                <a:ext uri="{FF2B5EF4-FFF2-40B4-BE49-F238E27FC236}">
                  <a16:creationId xmlns:a16="http://schemas.microsoft.com/office/drawing/2014/main" id="{8FE04477-1D82-40C0-A11D-6AB42DAF8C7B}"/>
                </a:ext>
              </a:extLst>
            </p:cNvPr>
            <p:cNvCxnSpPr>
              <a:cxnSpLocks noChangeShapeType="1"/>
              <a:stCxn id="25" idx="0"/>
            </p:cNvCxnSpPr>
            <p:nvPr/>
          </p:nvCxnSpPr>
          <p:spPr bwMode="auto">
            <a:xfrm flipH="1">
              <a:off x="3765550" y="4081463"/>
              <a:ext cx="706438" cy="1036637"/>
            </a:xfrm>
            <a:prstGeom prst="straightConnector1">
              <a:avLst/>
            </a:prstGeom>
            <a:noFill/>
            <a:ln w="3810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Straight Arrow Connector 24">
              <a:extLst>
                <a:ext uri="{FF2B5EF4-FFF2-40B4-BE49-F238E27FC236}">
                  <a16:creationId xmlns:a16="http://schemas.microsoft.com/office/drawing/2014/main" id="{EC23C00A-EE21-4BD6-8263-CB765F7B4811}"/>
                </a:ext>
              </a:extLst>
            </p:cNvPr>
            <p:cNvCxnSpPr>
              <a:cxnSpLocks noChangeShapeType="1"/>
              <a:stCxn id="25" idx="0"/>
            </p:cNvCxnSpPr>
            <p:nvPr/>
          </p:nvCxnSpPr>
          <p:spPr bwMode="auto">
            <a:xfrm>
              <a:off x="4471988" y="4081463"/>
              <a:ext cx="676275" cy="1000125"/>
            </a:xfrm>
            <a:prstGeom prst="straightConnector1">
              <a:avLst/>
            </a:prstGeom>
            <a:noFill/>
            <a:ln w="3810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Straight Arrow Connector 29">
              <a:extLst>
                <a:ext uri="{FF2B5EF4-FFF2-40B4-BE49-F238E27FC236}">
                  <a16:creationId xmlns:a16="http://schemas.microsoft.com/office/drawing/2014/main" id="{73677721-CC4B-4A43-AFB0-33035924FC50}"/>
                </a:ext>
              </a:extLst>
            </p:cNvPr>
            <p:cNvCxnSpPr>
              <a:cxnSpLocks noChangeShapeType="1"/>
              <a:endCxn id="25" idx="2"/>
            </p:cNvCxnSpPr>
            <p:nvPr/>
          </p:nvCxnSpPr>
          <p:spPr bwMode="auto">
            <a:xfrm flipH="1">
              <a:off x="4471988" y="5487988"/>
              <a:ext cx="446087" cy="1160462"/>
            </a:xfrm>
            <a:prstGeom prst="straightConnector1">
              <a:avLst/>
            </a:prstGeom>
            <a:noFill/>
            <a:ln w="3810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Straight Arrow Connector 30">
              <a:extLst>
                <a:ext uri="{FF2B5EF4-FFF2-40B4-BE49-F238E27FC236}">
                  <a16:creationId xmlns:a16="http://schemas.microsoft.com/office/drawing/2014/main" id="{0C91167F-8679-469B-9B77-328EEAAC22FC}"/>
                </a:ext>
              </a:extLst>
            </p:cNvPr>
            <p:cNvCxnSpPr>
              <a:cxnSpLocks noChangeShapeType="1"/>
              <a:endCxn id="25" idx="2"/>
            </p:cNvCxnSpPr>
            <p:nvPr/>
          </p:nvCxnSpPr>
          <p:spPr bwMode="auto">
            <a:xfrm>
              <a:off x="4033838" y="5487988"/>
              <a:ext cx="438150" cy="1160462"/>
            </a:xfrm>
            <a:prstGeom prst="straightConnector1">
              <a:avLst/>
            </a:prstGeom>
            <a:noFill/>
            <a:ln w="3810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71EC713-456E-418B-83A9-137D8B6653CD}"/>
                </a:ext>
              </a:extLst>
            </p:cNvPr>
            <p:cNvCxnSpPr/>
            <p:nvPr/>
          </p:nvCxnSpPr>
          <p:spPr>
            <a:xfrm>
              <a:off x="4452938" y="4081463"/>
              <a:ext cx="2039937" cy="77787"/>
            </a:xfrm>
            <a:prstGeom prst="line">
              <a:avLst/>
            </a:prstGeom>
            <a:ln w="317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0F5ACA5-869B-4B4F-974D-496875D2ACC4}"/>
                </a:ext>
              </a:extLst>
            </p:cNvPr>
            <p:cNvCxnSpPr/>
            <p:nvPr/>
          </p:nvCxnSpPr>
          <p:spPr>
            <a:xfrm flipV="1">
              <a:off x="4459288" y="6573838"/>
              <a:ext cx="2012950" cy="69850"/>
            </a:xfrm>
            <a:prstGeom prst="line">
              <a:avLst/>
            </a:prstGeom>
            <a:ln w="317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51">
              <a:extLst>
                <a:ext uri="{FF2B5EF4-FFF2-40B4-BE49-F238E27FC236}">
                  <a16:creationId xmlns:a16="http://schemas.microsoft.com/office/drawing/2014/main" id="{6AEAE28B-9795-47AF-82F1-054AFCD7A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4988" y="4159250"/>
              <a:ext cx="998537" cy="677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350" dirty="0"/>
                <a:t>125 µm</a:t>
              </a:r>
            </a:p>
          </p:txBody>
        </p:sp>
        <p:sp>
          <p:nvSpPr>
            <p:cNvPr id="33" name="TextBox 53">
              <a:extLst>
                <a:ext uri="{FF2B5EF4-FFF2-40B4-BE49-F238E27FC236}">
                  <a16:creationId xmlns:a16="http://schemas.microsoft.com/office/drawing/2014/main" id="{C0AB1F92-9224-4BED-9358-26BB69A242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7239" y="6204506"/>
              <a:ext cx="2163763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350" dirty="0"/>
                <a:t>50 or 62.5µm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7729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ADACA-DB36-4468-AF7D-058F29223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85892"/>
            <a:ext cx="7772400" cy="1006679"/>
          </a:xfrm>
        </p:spPr>
        <p:txBody>
          <a:bodyPr/>
          <a:lstStyle/>
          <a:p>
            <a:pPr algn="ctr"/>
            <a:r>
              <a:rPr lang="en-US" dirty="0"/>
              <a:t>Fiber Optic Polishes</a:t>
            </a:r>
          </a:p>
        </p:txBody>
      </p:sp>
      <p:graphicFrame>
        <p:nvGraphicFramePr>
          <p:cNvPr id="4" name="Group 23">
            <a:extLst>
              <a:ext uri="{FF2B5EF4-FFF2-40B4-BE49-F238E27FC236}">
                <a16:creationId xmlns:a16="http://schemas.microsoft.com/office/drawing/2014/main" id="{BFBF5AD8-F520-4913-B9CB-7FFDA061D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22949"/>
              </p:ext>
            </p:extLst>
          </p:nvPr>
        </p:nvGraphicFramePr>
        <p:xfrm>
          <a:off x="1195754" y="1883570"/>
          <a:ext cx="6319379" cy="3762325"/>
        </p:xfrm>
        <a:graphic>
          <a:graphicData uri="http://schemas.openxmlformats.org/drawingml/2006/table">
            <a:tbl>
              <a:tblPr/>
              <a:tblGrid>
                <a:gridCol w="1475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4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2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/>
                          <a:cs typeface="Calibri"/>
                        </a:rPr>
                        <a:t>Polish Type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DDC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Description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476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PC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Physical Contact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End faces slightly curved or spherical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Back reflection about -40 dB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Used in most applications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476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UPC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Ultra Physical Contact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Extended polishing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Back reflection about -55 dB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Used in digital CATV and telephony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476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APC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Angled Physical Contact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Industry-standard 8 degrees of curvature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Back reflection about -70 dB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Used in CATV and analog 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7323A48-CDC4-47F9-A466-5FE949C0FD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4285" t="-50436" r="-73497" b="80943"/>
          <a:stretch/>
        </p:blipFill>
        <p:spPr>
          <a:xfrm>
            <a:off x="2899569" y="1883570"/>
            <a:ext cx="690919" cy="901576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183219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2C650-AC5A-344A-8F37-0B859864B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APC vs UPC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79568-9568-ECEF-9F29-25E7C7443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 descr="Fiber SFP Module Compatibility with APC, UPC, PC">
            <a:extLst>
              <a:ext uri="{FF2B5EF4-FFF2-40B4-BE49-F238E27FC236}">
                <a16:creationId xmlns:a16="http://schemas.microsoft.com/office/drawing/2014/main" id="{91C7D26B-563F-7226-9686-4CB399FAE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52954"/>
            <a:ext cx="9144000" cy="5205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6863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F5152-1D1A-435E-B648-2AFE764C7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29" y="430291"/>
            <a:ext cx="8247530" cy="1207008"/>
          </a:xfrm>
        </p:spPr>
        <p:txBody>
          <a:bodyPr/>
          <a:lstStyle/>
          <a:p>
            <a:pPr algn="ctr"/>
            <a:r>
              <a:rPr lang="en-US" dirty="0"/>
              <a:t>Fiber Optics Connectors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BDB4A7-C8F7-4D85-8953-9ECF544F8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2682" y="2554794"/>
            <a:ext cx="138564" cy="20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0" rIns="6858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Arial" panose="020B0604020202020204" pitchFamily="34" charset="0"/>
            </a:endParaRPr>
          </a:p>
        </p:txBody>
      </p:sp>
      <p:graphicFrame>
        <p:nvGraphicFramePr>
          <p:cNvPr id="6" name="Group 23">
            <a:extLst>
              <a:ext uri="{FF2B5EF4-FFF2-40B4-BE49-F238E27FC236}">
                <a16:creationId xmlns:a16="http://schemas.microsoft.com/office/drawing/2014/main" id="{5ECFC1CE-54F6-42E1-AEDF-C01E0BD21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088856"/>
              </p:ext>
            </p:extLst>
          </p:nvPr>
        </p:nvGraphicFramePr>
        <p:xfrm>
          <a:off x="909157" y="1731391"/>
          <a:ext cx="7626849" cy="4700535"/>
        </p:xfrm>
        <a:graphic>
          <a:graphicData uri="http://schemas.openxmlformats.org/drawingml/2006/table">
            <a:tbl>
              <a:tblPr/>
              <a:tblGrid>
                <a:gridCol w="1766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0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572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/>
                          <a:cs typeface="Calibri"/>
                        </a:rPr>
                        <a:t>Fiber Connector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DDC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Description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9706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ST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Similar in appearance to BNC connectors (straight ceramic center ping and bayonet lug lockdown)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Connect multimode fibers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Common in network patch panels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03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SC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Box-shaped connectors snap into a receptacle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Connect single mode and multimode fibers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Common in duplex configurations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503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LC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Half the size of ST and SC with an RJ-45-type latching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Connect single mode and multimode fibers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Used to transition from twisted pair to optical fiber cabling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50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MTRJ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Comparable in size to RJ-45 with a snap-to-lock connector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Connect two multimode fibers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Also called Fiber Jack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033934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181E7B72-7DD4-463A-AEBE-6107D2BEB1C3}"/>
              </a:ext>
            </a:extLst>
          </p:cNvPr>
          <p:cNvGrpSpPr/>
          <p:nvPr/>
        </p:nvGrpSpPr>
        <p:grpSpPr>
          <a:xfrm>
            <a:off x="1146587" y="2658668"/>
            <a:ext cx="1256095" cy="3699544"/>
            <a:chOff x="960263" y="2198880"/>
            <a:chExt cx="1685925" cy="3106415"/>
          </a:xfrm>
        </p:grpSpPr>
        <p:pic>
          <p:nvPicPr>
            <p:cNvPr id="8" name="Picture 166" descr="01_ST">
              <a:extLst>
                <a:ext uri="{FF2B5EF4-FFF2-40B4-BE49-F238E27FC236}">
                  <a16:creationId xmlns:a16="http://schemas.microsoft.com/office/drawing/2014/main" id="{DB865BD3-70DA-4E9D-8D99-13D1A7E801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0263" y="2198880"/>
              <a:ext cx="1685925" cy="614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165" descr="02_SC">
              <a:extLst>
                <a:ext uri="{FF2B5EF4-FFF2-40B4-BE49-F238E27FC236}">
                  <a16:creationId xmlns:a16="http://schemas.microsoft.com/office/drawing/2014/main" id="{5BD7B85E-C4F5-4951-983B-64ED725285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9200" y="3045274"/>
              <a:ext cx="1363663" cy="696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49" descr="06_LC">
              <a:extLst>
                <a:ext uri="{FF2B5EF4-FFF2-40B4-BE49-F238E27FC236}">
                  <a16:creationId xmlns:a16="http://schemas.microsoft.com/office/drawing/2014/main" id="{AB4C4DCD-C012-4C40-A7D2-B5F8E88873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4287" y="3797431"/>
              <a:ext cx="1233488" cy="742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47" descr="08_RJ">
              <a:extLst>
                <a:ext uri="{FF2B5EF4-FFF2-40B4-BE49-F238E27FC236}">
                  <a16:creationId xmlns:a16="http://schemas.microsoft.com/office/drawing/2014/main" id="{F56B8243-14EA-4B49-8D81-E3E9A5C83D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0781" y="4717920"/>
              <a:ext cx="1460500" cy="587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16711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D901-4FE3-4419-873E-23749FF3A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982" y="329710"/>
            <a:ext cx="8394664" cy="1609344"/>
          </a:xfrm>
        </p:spPr>
        <p:txBody>
          <a:bodyPr/>
          <a:lstStyle/>
          <a:p>
            <a:pPr algn="ctr"/>
            <a:r>
              <a:rPr lang="en-US" dirty="0"/>
              <a:t>Fiber Optic Transceivers</a:t>
            </a:r>
          </a:p>
        </p:txBody>
      </p:sp>
      <p:graphicFrame>
        <p:nvGraphicFramePr>
          <p:cNvPr id="4" name="Group 23">
            <a:extLst>
              <a:ext uri="{FF2B5EF4-FFF2-40B4-BE49-F238E27FC236}">
                <a16:creationId xmlns:a16="http://schemas.microsoft.com/office/drawing/2014/main" id="{BFF64A4B-1A06-4B1D-B621-69721224D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768358"/>
              </p:ext>
            </p:extLst>
          </p:nvPr>
        </p:nvGraphicFramePr>
        <p:xfrm>
          <a:off x="1196385" y="1442322"/>
          <a:ext cx="7321858" cy="5210888"/>
        </p:xfrm>
        <a:graphic>
          <a:graphicData uri="http://schemas.openxmlformats.org/drawingml/2006/table">
            <a:tbl>
              <a:tblPr/>
              <a:tblGrid>
                <a:gridCol w="1631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0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9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/>
                          <a:cs typeface="Calibri"/>
                        </a:rPr>
                        <a:t>Transceiver Type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DDC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Description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693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GBIC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Gigabit Interface converter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Converts electrical signals to optical signals and vice versa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High-speed network interface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Variable wavelength</a:t>
                      </a:r>
                    </a:p>
                    <a:p>
                      <a:pPr marL="742950" marR="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Short-wave connects devices between 0.5 and 500 meters</a:t>
                      </a:r>
                    </a:p>
                    <a:p>
                      <a:pPr marL="742950" marR="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Long-wave connects devices between 2 and nearly 10 meters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583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SFP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Small form factor pluggable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Converts electrical signals to optical signals and vice versa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Common in 2 Gbps and 4 Gbps Fibre Channel components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Smaller than GBIC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08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SFP+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Supports 8 Gbps Fibre Channel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Supports 10 Gbps Ethernet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Supports  OTU2 standard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10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QSFP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Quad SPF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Four channels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Supports 10 Gb transmissions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03393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0CA0C02-E1E7-439F-9A41-2479E25D1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727" y="2110307"/>
            <a:ext cx="986473" cy="15380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9C7B5E-5735-426C-8D85-FE474EE47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496" y="3819616"/>
            <a:ext cx="748313" cy="9413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CE9C2A-BD26-4176-BA07-43FFC9D27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4033" y="5692673"/>
            <a:ext cx="676776" cy="835617"/>
          </a:xfrm>
          <a:prstGeom prst="rect">
            <a:avLst/>
          </a:prstGeom>
        </p:spPr>
      </p:pic>
      <p:pic>
        <p:nvPicPr>
          <p:cNvPr id="1026" name="Picture 2" descr="10GBase-T SFP+ Transceiver, 10G T, 10G Copper, RJ-45 SFP+ CAT.6a, up to 30  meters, Compatible with Cisco SFP-10G-T-S, Ubiquiti UniFi UF-RJ45-10G,  Fortinet, Netgear, D-Link, Supermicro and More - Newegg.com">
            <a:extLst>
              <a:ext uri="{FF2B5EF4-FFF2-40B4-BE49-F238E27FC236}">
                <a16:creationId xmlns:a16="http://schemas.microsoft.com/office/drawing/2014/main" id="{1FA379B0-CF2D-39AE-CE2F-7F9378DBF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497" y="4932228"/>
            <a:ext cx="821060" cy="68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9979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algn="ctr"/>
            <a:r>
              <a:rPr lang="en-US" altLang="en-US" b="1" dirty="0"/>
              <a:t>Media Converters</a:t>
            </a:r>
          </a:p>
        </p:txBody>
      </p:sp>
      <p:pic>
        <p:nvPicPr>
          <p:cNvPr id="21509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24" y="154625"/>
            <a:ext cx="1447800" cy="411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11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12" y="6544625"/>
            <a:ext cx="1295400" cy="317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13" name="Picture 25" descr="http://www.hexin-technology.com/shared/images/product/netLINK-HTB_1100S_Media_Convert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1467804"/>
            <a:ext cx="3810000" cy="2857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14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0450" y="3321050"/>
            <a:ext cx="4273550" cy="3536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1295400" y="274638"/>
            <a:ext cx="7391400" cy="1143000"/>
          </a:xfrm>
          <a:ln/>
        </p:spPr>
        <p:txBody>
          <a:bodyPr vert="horz" wrap="square" lIns="91440" tIns="45720" rIns="91440" bIns="45720" anchor="ctr">
            <a:normAutofit fontScale="90000"/>
          </a:bodyPr>
          <a:lstStyle/>
          <a:p>
            <a:r>
              <a:rPr lang="en-US" altLang="en-US" b="1" dirty="0"/>
              <a:t>Media Converters (Cont.)</a:t>
            </a:r>
          </a:p>
        </p:txBody>
      </p:sp>
      <p:pic>
        <p:nvPicPr>
          <p:cNvPr id="22531" name="Picture 3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209800" y="1447800"/>
            <a:ext cx="4343400" cy="2389188"/>
          </a:xfrm>
          <a:ln/>
        </p:spPr>
      </p:pic>
      <p:pic>
        <p:nvPicPr>
          <p:cNvPr id="22532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4191000"/>
            <a:ext cx="3448050" cy="1866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4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9056"/>
            <a:ext cx="1447800" cy="411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6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6528500"/>
            <a:ext cx="1295400" cy="317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70">
            <a:extLst>
              <a:ext uri="{FF2B5EF4-FFF2-40B4-BE49-F238E27FC236}">
                <a16:creationId xmlns:a16="http://schemas.microsoft.com/office/drawing/2014/main" id="{C1E4A77B-B906-9244-B0DA-6C28BEDF7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269" y="485775"/>
            <a:ext cx="814546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>
            <a:lvl1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itchFamily="34" charset="0"/>
              </a:defRPr>
            </a:lvl2pPr>
            <a:lvl3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itchFamily="34" charset="0"/>
              </a:defRPr>
            </a:lvl3pPr>
            <a:lvl4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itchFamily="34" charset="0"/>
              </a:defRPr>
            </a:lvl4pPr>
            <a:lvl5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defTabSz="81438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defTabSz="81438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defTabSz="81438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defTabSz="81438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kern="0" dirty="0"/>
              <a:t>Serial Cables</a:t>
            </a:r>
          </a:p>
        </p:txBody>
      </p:sp>
      <p:sp>
        <p:nvSpPr>
          <p:cNvPr id="34818" name="TextBox 16">
            <a:extLst>
              <a:ext uri="{FF2B5EF4-FFF2-40B4-BE49-F238E27FC236}">
                <a16:creationId xmlns:a16="http://schemas.microsoft.com/office/drawing/2014/main" id="{E6FB50AE-2F34-48E0-8506-C5BB83FCA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231" y="1323975"/>
            <a:ext cx="3135313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/>
              <a:t>An RS-232 cable end</a:t>
            </a:r>
            <a:br>
              <a:rPr lang="en-US" altLang="en-US" sz="2400" dirty="0"/>
            </a:br>
            <a:r>
              <a:rPr lang="en-US" altLang="en-US" sz="2400" dirty="0"/>
              <a:t>Figure 3.16</a:t>
            </a:r>
          </a:p>
        </p:txBody>
      </p:sp>
      <p:pic>
        <p:nvPicPr>
          <p:cNvPr id="34819" name="Picture 2" descr="http://files.cablewholesale.com/hires/10d1-032.jpg">
            <a:extLst>
              <a:ext uri="{FF2B5EF4-FFF2-40B4-BE49-F238E27FC236}">
                <a16:creationId xmlns:a16="http://schemas.microsoft.com/office/drawing/2014/main" id="{064CB02B-1DCE-4B44-BC8E-CF76A4CE6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249488"/>
            <a:ext cx="3286125" cy="328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5DA628DE-D268-4190-B2E1-D3DF88FE3F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545" y="480219"/>
            <a:ext cx="8148918" cy="1143000"/>
          </a:xfrm>
        </p:spPr>
        <p:txBody>
          <a:bodyPr/>
          <a:lstStyle/>
          <a:p>
            <a:pPr algn="ctr"/>
            <a:r>
              <a:rPr lang="en-US" altLang="en-US" b="1" dirty="0">
                <a:ea typeface="ＭＳ Ｐゴシック" panose="020B0600070205080204" pitchFamily="34" charset="-128"/>
              </a:rPr>
              <a:t>Universal Serial Bus</a:t>
            </a:r>
          </a:p>
        </p:txBody>
      </p:sp>
      <p:pic>
        <p:nvPicPr>
          <p:cNvPr id="37891" name="Picture 5">
            <a:extLst>
              <a:ext uri="{FF2B5EF4-FFF2-40B4-BE49-F238E27FC236}">
                <a16:creationId xmlns:a16="http://schemas.microsoft.com/office/drawing/2014/main" id="{7A5EB546-ABDA-418A-9B85-EB13CB015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17" y="69056"/>
            <a:ext cx="14478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7">
            <a:extLst>
              <a:ext uri="{FF2B5EF4-FFF2-40B4-BE49-F238E27FC236}">
                <a16:creationId xmlns:a16="http://schemas.microsoft.com/office/drawing/2014/main" id="{2BEB2006-AA9C-4F68-8C27-133D3614A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717" y="6540500"/>
            <a:ext cx="12954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4" name="Picture 2">
            <a:extLst>
              <a:ext uri="{FF2B5EF4-FFF2-40B4-BE49-F238E27FC236}">
                <a16:creationId xmlns:a16="http://schemas.microsoft.com/office/drawing/2014/main" id="{B36630D0-E77D-41EC-8852-EDB662FA4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3463" y="10591800"/>
            <a:ext cx="4024312" cy="513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5" name="Picture 2">
            <a:extLst>
              <a:ext uri="{FF2B5EF4-FFF2-40B4-BE49-F238E27FC236}">
                <a16:creationId xmlns:a16="http://schemas.microsoft.com/office/drawing/2014/main" id="{FE11714D-0C90-4080-ADD5-9F10B9151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473" y="1593273"/>
            <a:ext cx="2895600" cy="257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6" name="Picture 3">
            <a:extLst>
              <a:ext uri="{FF2B5EF4-FFF2-40B4-BE49-F238E27FC236}">
                <a16:creationId xmlns:a16="http://schemas.microsoft.com/office/drawing/2014/main" id="{905AAA68-3DE7-48DD-B1DD-1A5BCBACD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073" y="3744190"/>
            <a:ext cx="24193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4F020-B9C1-4CF4-9C47-660B02054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Cable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B8CDC-4877-4B86-99F9-C5DB6019F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Speed</a:t>
            </a:r>
          </a:p>
          <a:p>
            <a:r>
              <a:rPr lang="en-US" dirty="0"/>
              <a:t>Distance –Attenuation</a:t>
            </a:r>
          </a:p>
          <a:p>
            <a:r>
              <a:rPr lang="en-US" dirty="0"/>
              <a:t>Duplex</a:t>
            </a:r>
          </a:p>
          <a:p>
            <a:r>
              <a:rPr lang="en-US" dirty="0"/>
              <a:t>Noise/Impedance</a:t>
            </a:r>
          </a:p>
        </p:txBody>
      </p:sp>
    </p:spTree>
    <p:extLst>
      <p:ext uri="{BB962C8B-B14F-4D97-AF65-F5344CB8AC3E}">
        <p14:creationId xmlns:p14="http://schemas.microsoft.com/office/powerpoint/2010/main" val="2984150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68B34-EB7A-40E9-9656-439D2A41E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Wiring Standards</a:t>
            </a:r>
          </a:p>
        </p:txBody>
      </p:sp>
      <p:pic>
        <p:nvPicPr>
          <p:cNvPr id="4" name="Picture 2" descr="Image result for t568A">
            <a:extLst>
              <a:ext uri="{FF2B5EF4-FFF2-40B4-BE49-F238E27FC236}">
                <a16:creationId xmlns:a16="http://schemas.microsoft.com/office/drawing/2014/main" id="{977417BE-9504-4C1B-B411-C12D028B6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411" y="2358629"/>
            <a:ext cx="4531178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9089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0843-5D92-4A52-AC43-FCB8ED83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2385"/>
            <a:ext cx="7962900" cy="1492132"/>
          </a:xfrm>
        </p:spPr>
        <p:txBody>
          <a:bodyPr/>
          <a:lstStyle/>
          <a:p>
            <a:pPr algn="ctr"/>
            <a:r>
              <a:rPr lang="en-US" dirty="0"/>
              <a:t>Straight Through Cables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7211-1ED3-4FB2-B499-E4406B689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Straight Through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F13A848-3529-4F1D-BC07-3C2669B9B67B}"/>
              </a:ext>
            </a:extLst>
          </p:cNvPr>
          <p:cNvGrpSpPr/>
          <p:nvPr/>
        </p:nvGrpSpPr>
        <p:grpSpPr>
          <a:xfrm>
            <a:off x="797814" y="2834863"/>
            <a:ext cx="5429378" cy="932957"/>
            <a:chOff x="914230" y="4419430"/>
            <a:chExt cx="7239170" cy="1243941"/>
          </a:xfrm>
        </p:grpSpPr>
        <p:sp>
          <p:nvSpPr>
            <p:cNvPr id="5" name="Line 300">
              <a:extLst>
                <a:ext uri="{FF2B5EF4-FFF2-40B4-BE49-F238E27FC236}">
                  <a16:creationId xmlns:a16="http://schemas.microsoft.com/office/drawing/2014/main" id="{DE94794B-6F45-476F-BFA3-773EEB7E9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6932" y="4572000"/>
              <a:ext cx="3913336" cy="0"/>
            </a:xfrm>
            <a:prstGeom prst="line">
              <a:avLst/>
            </a:prstGeom>
            <a:noFill/>
            <a:ln w="57150">
              <a:solidFill>
                <a:srgbClr val="F79109"/>
              </a:solidFill>
              <a:prstDash val="lg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Line 300">
              <a:extLst>
                <a:ext uri="{FF2B5EF4-FFF2-40B4-BE49-F238E27FC236}">
                  <a16:creationId xmlns:a16="http://schemas.microsoft.com/office/drawing/2014/main" id="{BAA5B875-57F7-401C-8F72-40DE68BC96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9864" y="4876800"/>
              <a:ext cx="3913336" cy="0"/>
            </a:xfrm>
            <a:prstGeom prst="line">
              <a:avLst/>
            </a:prstGeom>
            <a:noFill/>
            <a:ln w="57150">
              <a:solidFill>
                <a:srgbClr val="F79109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Line 300">
              <a:extLst>
                <a:ext uri="{FF2B5EF4-FFF2-40B4-BE49-F238E27FC236}">
                  <a16:creationId xmlns:a16="http://schemas.microsoft.com/office/drawing/2014/main" id="{088D3675-062D-4631-922B-2CBB14AD92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9864" y="5181600"/>
              <a:ext cx="3913336" cy="0"/>
            </a:xfrm>
            <a:prstGeom prst="line">
              <a:avLst/>
            </a:prstGeom>
            <a:noFill/>
            <a:ln w="57150">
              <a:solidFill>
                <a:srgbClr val="00B050"/>
              </a:solidFill>
              <a:prstDash val="lg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Line 300">
              <a:extLst>
                <a:ext uri="{FF2B5EF4-FFF2-40B4-BE49-F238E27FC236}">
                  <a16:creationId xmlns:a16="http://schemas.microsoft.com/office/drawing/2014/main" id="{4534E41B-ACC3-4809-9B9E-A9932CDC2E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000" y="5486400"/>
              <a:ext cx="3913336" cy="0"/>
            </a:xfrm>
            <a:prstGeom prst="line">
              <a:avLst/>
            </a:prstGeom>
            <a:noFill/>
            <a:ln w="57150">
              <a:solidFill>
                <a:srgbClr val="00B05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Text Box 307">
              <a:extLst>
                <a:ext uri="{FF2B5EF4-FFF2-40B4-BE49-F238E27FC236}">
                  <a16:creationId xmlns:a16="http://schemas.microsoft.com/office/drawing/2014/main" id="{6225BDFA-505B-485A-99EF-7FDB2D9E9A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4419601"/>
              <a:ext cx="1490663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10" name="Text Box 307">
              <a:extLst>
                <a:ext uri="{FF2B5EF4-FFF2-40B4-BE49-F238E27FC236}">
                  <a16:creationId xmlns:a16="http://schemas.microsoft.com/office/drawing/2014/main" id="{1B886068-7F23-4403-BF5E-FA91DD7EDF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7558" y="4736812"/>
              <a:ext cx="135514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11" name="Text Box 307">
              <a:extLst>
                <a:ext uri="{FF2B5EF4-FFF2-40B4-BE49-F238E27FC236}">
                  <a16:creationId xmlns:a16="http://schemas.microsoft.com/office/drawing/2014/main" id="{9D4A8A5B-850D-4117-8017-69830A7F90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5041612"/>
              <a:ext cx="1490663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3</a:t>
              </a:r>
            </a:p>
          </p:txBody>
        </p:sp>
        <p:sp>
          <p:nvSpPr>
            <p:cNvPr id="12" name="Text Box 307">
              <a:extLst>
                <a:ext uri="{FF2B5EF4-FFF2-40B4-BE49-F238E27FC236}">
                  <a16:creationId xmlns:a16="http://schemas.microsoft.com/office/drawing/2014/main" id="{9A11FF65-4A52-4F7D-989A-E667BF1F34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5340205"/>
              <a:ext cx="1490663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6</a:t>
              </a:r>
            </a:p>
          </p:txBody>
        </p:sp>
        <p:sp>
          <p:nvSpPr>
            <p:cNvPr id="13" name="Text Box 307">
              <a:extLst>
                <a:ext uri="{FF2B5EF4-FFF2-40B4-BE49-F238E27FC236}">
                  <a16:creationId xmlns:a16="http://schemas.microsoft.com/office/drawing/2014/main" id="{A1AE58FF-DF58-4CC0-AC31-4594E4B5C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3538" y="4419601"/>
              <a:ext cx="1490663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14" name="Text Box 307">
              <a:extLst>
                <a:ext uri="{FF2B5EF4-FFF2-40B4-BE49-F238E27FC236}">
                  <a16:creationId xmlns:a16="http://schemas.microsoft.com/office/drawing/2014/main" id="{ECFD346B-7AC9-4A4E-8EFA-389D1AEFFF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1297" y="4736812"/>
              <a:ext cx="135514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15" name="Text Box 307">
              <a:extLst>
                <a:ext uri="{FF2B5EF4-FFF2-40B4-BE49-F238E27FC236}">
                  <a16:creationId xmlns:a16="http://schemas.microsoft.com/office/drawing/2014/main" id="{8D4A8F7E-DE46-446E-8399-E334CA58C3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3538" y="5041612"/>
              <a:ext cx="1490663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3</a:t>
              </a:r>
            </a:p>
          </p:txBody>
        </p:sp>
        <p:sp>
          <p:nvSpPr>
            <p:cNvPr id="16" name="Text Box 307">
              <a:extLst>
                <a:ext uri="{FF2B5EF4-FFF2-40B4-BE49-F238E27FC236}">
                  <a16:creationId xmlns:a16="http://schemas.microsoft.com/office/drawing/2014/main" id="{ABE5F6A2-A5EE-4BEF-809D-39A3383EBA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3538" y="5340206"/>
              <a:ext cx="1490663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6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C0F7CD9-F0BB-42A9-88FD-69A396278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72161" y="4800600"/>
              <a:ext cx="1081239" cy="490606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165513C-A3A5-4549-9539-9BD0B9A4B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4230" y="4419430"/>
              <a:ext cx="1219370" cy="1219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74596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D55D3-932C-4DAE-8338-3F0DB5164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Crossover Cable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8A9AA25-C465-46DF-9EF4-0E9238FCFA86}"/>
              </a:ext>
            </a:extLst>
          </p:cNvPr>
          <p:cNvGrpSpPr/>
          <p:nvPr/>
        </p:nvGrpSpPr>
        <p:grpSpPr>
          <a:xfrm>
            <a:off x="797814" y="2296395"/>
            <a:ext cx="5486528" cy="932957"/>
            <a:chOff x="914230" y="2743200"/>
            <a:chExt cx="7315370" cy="1243941"/>
          </a:xfrm>
        </p:grpSpPr>
        <p:sp>
          <p:nvSpPr>
            <p:cNvPr id="5" name="Line 300">
              <a:extLst>
                <a:ext uri="{FF2B5EF4-FFF2-40B4-BE49-F238E27FC236}">
                  <a16:creationId xmlns:a16="http://schemas.microsoft.com/office/drawing/2014/main" id="{C4114B2F-52F8-4F3F-B5FB-DA6E832DA0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6932" y="2895770"/>
              <a:ext cx="3936268" cy="609600"/>
            </a:xfrm>
            <a:prstGeom prst="line">
              <a:avLst/>
            </a:prstGeom>
            <a:noFill/>
            <a:ln w="57150">
              <a:solidFill>
                <a:srgbClr val="F79109"/>
              </a:solidFill>
              <a:prstDash val="lg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Line 300">
              <a:extLst>
                <a:ext uri="{FF2B5EF4-FFF2-40B4-BE49-F238E27FC236}">
                  <a16:creationId xmlns:a16="http://schemas.microsoft.com/office/drawing/2014/main" id="{39506DA1-3C97-44B3-93B6-C05D2C15B3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9864" y="3200570"/>
              <a:ext cx="3940472" cy="609600"/>
            </a:xfrm>
            <a:prstGeom prst="line">
              <a:avLst/>
            </a:prstGeom>
            <a:noFill/>
            <a:ln w="57150">
              <a:solidFill>
                <a:srgbClr val="F79109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Line 300">
              <a:extLst>
                <a:ext uri="{FF2B5EF4-FFF2-40B4-BE49-F238E27FC236}">
                  <a16:creationId xmlns:a16="http://schemas.microsoft.com/office/drawing/2014/main" id="{D98FCE84-7A00-4D01-AB5D-DD143F1F9C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39864" y="2895770"/>
              <a:ext cx="3940472" cy="609600"/>
            </a:xfrm>
            <a:prstGeom prst="line">
              <a:avLst/>
            </a:prstGeom>
            <a:noFill/>
            <a:ln w="57150">
              <a:solidFill>
                <a:srgbClr val="00B050"/>
              </a:solidFill>
              <a:prstDash val="lg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Line 300">
              <a:extLst>
                <a:ext uri="{FF2B5EF4-FFF2-40B4-BE49-F238E27FC236}">
                  <a16:creationId xmlns:a16="http://schemas.microsoft.com/office/drawing/2014/main" id="{A22CF640-547C-4D8D-B2FA-64EDB899F3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7000" y="3200570"/>
              <a:ext cx="3837136" cy="609600"/>
            </a:xfrm>
            <a:prstGeom prst="line">
              <a:avLst/>
            </a:prstGeom>
            <a:noFill/>
            <a:ln w="57150">
              <a:solidFill>
                <a:srgbClr val="00B05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Text Box 307">
              <a:extLst>
                <a:ext uri="{FF2B5EF4-FFF2-40B4-BE49-F238E27FC236}">
                  <a16:creationId xmlns:a16="http://schemas.microsoft.com/office/drawing/2014/main" id="{8D3F23D3-9086-4884-A3E2-466E404CED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2743371"/>
              <a:ext cx="1490663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10" name="Text Box 307">
              <a:extLst>
                <a:ext uri="{FF2B5EF4-FFF2-40B4-BE49-F238E27FC236}">
                  <a16:creationId xmlns:a16="http://schemas.microsoft.com/office/drawing/2014/main" id="{57DB61A2-46DF-468F-83E8-1E097C054E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7558" y="3060582"/>
              <a:ext cx="135514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11" name="Text Box 307">
              <a:extLst>
                <a:ext uri="{FF2B5EF4-FFF2-40B4-BE49-F238E27FC236}">
                  <a16:creationId xmlns:a16="http://schemas.microsoft.com/office/drawing/2014/main" id="{1E28D1B4-FF1E-4E28-B045-91AD93B1E2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3365382"/>
              <a:ext cx="1490663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3</a:t>
              </a:r>
            </a:p>
          </p:txBody>
        </p:sp>
        <p:sp>
          <p:nvSpPr>
            <p:cNvPr id="12" name="Text Box 307">
              <a:extLst>
                <a:ext uri="{FF2B5EF4-FFF2-40B4-BE49-F238E27FC236}">
                  <a16:creationId xmlns:a16="http://schemas.microsoft.com/office/drawing/2014/main" id="{11680A7A-A77C-4F7D-A4E1-CE3356E815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3663975"/>
              <a:ext cx="1490663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6</a:t>
              </a:r>
            </a:p>
          </p:txBody>
        </p:sp>
        <p:sp>
          <p:nvSpPr>
            <p:cNvPr id="13" name="Text Box 307">
              <a:extLst>
                <a:ext uri="{FF2B5EF4-FFF2-40B4-BE49-F238E27FC236}">
                  <a16:creationId xmlns:a16="http://schemas.microsoft.com/office/drawing/2014/main" id="{5FD6EC8D-23E4-4B07-A5D5-28103C5EBB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3538" y="2743371"/>
              <a:ext cx="1490663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14" name="Text Box 307">
              <a:extLst>
                <a:ext uri="{FF2B5EF4-FFF2-40B4-BE49-F238E27FC236}">
                  <a16:creationId xmlns:a16="http://schemas.microsoft.com/office/drawing/2014/main" id="{8D3D3FCD-4FB1-4752-B93F-6A87D5864E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1297" y="3060582"/>
              <a:ext cx="135514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15" name="Text Box 307">
              <a:extLst>
                <a:ext uri="{FF2B5EF4-FFF2-40B4-BE49-F238E27FC236}">
                  <a16:creationId xmlns:a16="http://schemas.microsoft.com/office/drawing/2014/main" id="{05AF36C3-4DC1-40A7-9209-50D7C65BDA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3538" y="3365382"/>
              <a:ext cx="1490663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3</a:t>
              </a:r>
            </a:p>
          </p:txBody>
        </p:sp>
        <p:sp>
          <p:nvSpPr>
            <p:cNvPr id="16" name="Text Box 307">
              <a:extLst>
                <a:ext uri="{FF2B5EF4-FFF2-40B4-BE49-F238E27FC236}">
                  <a16:creationId xmlns:a16="http://schemas.microsoft.com/office/drawing/2014/main" id="{0C3AF779-C15A-45FF-A76D-E32916C346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3538" y="3663976"/>
              <a:ext cx="1490663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6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43BF4BB-D514-492C-92E9-8167808CF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230" y="2743200"/>
              <a:ext cx="1219370" cy="121937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E9586FE-689B-48CA-A088-972D92269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10230" y="2743200"/>
              <a:ext cx="1219370" cy="1219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2207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1C2C4-7ED6-4EB1-94EF-98AA29CBD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Rollover Cable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DA2EF8E-C722-46CC-B731-6B0B66A505CE}"/>
              </a:ext>
            </a:extLst>
          </p:cNvPr>
          <p:cNvGrpSpPr/>
          <p:nvPr/>
        </p:nvGrpSpPr>
        <p:grpSpPr>
          <a:xfrm>
            <a:off x="1338800" y="2427732"/>
            <a:ext cx="4407695" cy="1227222"/>
            <a:chOff x="1633538" y="4916904"/>
            <a:chExt cx="5876926" cy="1636296"/>
          </a:xfrm>
        </p:grpSpPr>
        <p:sp>
          <p:nvSpPr>
            <p:cNvPr id="5" name="Line 300">
              <a:extLst>
                <a:ext uri="{FF2B5EF4-FFF2-40B4-BE49-F238E27FC236}">
                  <a16:creationId xmlns:a16="http://schemas.microsoft.com/office/drawing/2014/main" id="{75BD1FF0-23CC-4AD7-A8A7-54BFB91B22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6932" y="5069304"/>
              <a:ext cx="3961400" cy="1483896"/>
            </a:xfrm>
            <a:prstGeom prst="line">
              <a:avLst/>
            </a:prstGeom>
            <a:noFill/>
            <a:ln w="57150">
              <a:solidFill>
                <a:srgbClr val="F79109"/>
              </a:solidFill>
              <a:prstDash val="lg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Text Box 307">
              <a:extLst>
                <a:ext uri="{FF2B5EF4-FFF2-40B4-BE49-F238E27FC236}">
                  <a16:creationId xmlns:a16="http://schemas.microsoft.com/office/drawing/2014/main" id="{53046059-6E13-43AD-98EA-40D8926763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1" y="4916904"/>
              <a:ext cx="1490663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7" name="Text Box 307">
              <a:extLst>
                <a:ext uri="{FF2B5EF4-FFF2-40B4-BE49-F238E27FC236}">
                  <a16:creationId xmlns:a16="http://schemas.microsoft.com/office/drawing/2014/main" id="{A1F91799-D039-4949-963F-D4902CA4D8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3538" y="4916904"/>
              <a:ext cx="1490662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5AA82DF-CFD0-4589-9CBF-9BBDD17F5842}"/>
              </a:ext>
            </a:extLst>
          </p:cNvPr>
          <p:cNvGrpSpPr/>
          <p:nvPr/>
        </p:nvGrpSpPr>
        <p:grpSpPr>
          <a:xfrm>
            <a:off x="1389619" y="2584255"/>
            <a:ext cx="4306057" cy="914181"/>
            <a:chOff x="1701296" y="5117812"/>
            <a:chExt cx="5741409" cy="1218908"/>
          </a:xfrm>
        </p:grpSpPr>
        <p:sp>
          <p:nvSpPr>
            <p:cNvPr id="9" name="Line 300">
              <a:extLst>
                <a:ext uri="{FF2B5EF4-FFF2-40B4-BE49-F238E27FC236}">
                  <a16:creationId xmlns:a16="http://schemas.microsoft.com/office/drawing/2014/main" id="{2B791544-E397-4172-B375-3BC05D43E4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9864" y="5257800"/>
              <a:ext cx="3911332" cy="1078920"/>
            </a:xfrm>
            <a:prstGeom prst="line">
              <a:avLst/>
            </a:prstGeom>
            <a:noFill/>
            <a:ln w="57150">
              <a:solidFill>
                <a:srgbClr val="F79109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Text Box 307">
              <a:extLst>
                <a:ext uri="{FF2B5EF4-FFF2-40B4-BE49-F238E27FC236}">
                  <a16:creationId xmlns:a16="http://schemas.microsoft.com/office/drawing/2014/main" id="{61FC730D-64EF-411C-8D85-621897F295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7558" y="5117812"/>
              <a:ext cx="135514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11" name="Text Box 307">
              <a:extLst>
                <a:ext uri="{FF2B5EF4-FFF2-40B4-BE49-F238E27FC236}">
                  <a16:creationId xmlns:a16="http://schemas.microsoft.com/office/drawing/2014/main" id="{87061DCC-D3F3-4CAD-AC18-7BE04B39E8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1296" y="5117812"/>
              <a:ext cx="135514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2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7B1A51-0266-4C7A-97D3-6F7FBDCE6D55}"/>
              </a:ext>
            </a:extLst>
          </p:cNvPr>
          <p:cNvGrpSpPr/>
          <p:nvPr/>
        </p:nvGrpSpPr>
        <p:grpSpPr>
          <a:xfrm>
            <a:off x="1338800" y="2740776"/>
            <a:ext cx="4407695" cy="599537"/>
            <a:chOff x="1633538" y="5334000"/>
            <a:chExt cx="5876926" cy="799382"/>
          </a:xfrm>
        </p:grpSpPr>
        <p:sp>
          <p:nvSpPr>
            <p:cNvPr id="13" name="Line 300">
              <a:extLst>
                <a:ext uri="{FF2B5EF4-FFF2-40B4-BE49-F238E27FC236}">
                  <a16:creationId xmlns:a16="http://schemas.microsoft.com/office/drawing/2014/main" id="{F793D13F-72A8-4E53-814B-FD0C82818C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9864" y="5473987"/>
              <a:ext cx="3890404" cy="659395"/>
            </a:xfrm>
            <a:prstGeom prst="line">
              <a:avLst/>
            </a:prstGeom>
            <a:noFill/>
            <a:ln w="57150">
              <a:solidFill>
                <a:srgbClr val="00B050"/>
              </a:solidFill>
              <a:prstDash val="lg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Text Box 307">
              <a:extLst>
                <a:ext uri="{FF2B5EF4-FFF2-40B4-BE49-F238E27FC236}">
                  <a16:creationId xmlns:a16="http://schemas.microsoft.com/office/drawing/2014/main" id="{44CD069A-06E0-42D3-9FEB-7843A7E601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1" y="5334000"/>
              <a:ext cx="1490663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3</a:t>
              </a:r>
            </a:p>
          </p:txBody>
        </p:sp>
        <p:sp>
          <p:nvSpPr>
            <p:cNvPr id="15" name="Text Box 307">
              <a:extLst>
                <a:ext uri="{FF2B5EF4-FFF2-40B4-BE49-F238E27FC236}">
                  <a16:creationId xmlns:a16="http://schemas.microsoft.com/office/drawing/2014/main" id="{27FFE3D9-D8BB-4A01-895E-6AB668616B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3538" y="5334000"/>
              <a:ext cx="1490662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3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52D7AC0-C52A-40C0-950F-D6B59CEFAFC9}"/>
              </a:ext>
            </a:extLst>
          </p:cNvPr>
          <p:cNvGrpSpPr/>
          <p:nvPr/>
        </p:nvGrpSpPr>
        <p:grpSpPr>
          <a:xfrm>
            <a:off x="1338800" y="2850418"/>
            <a:ext cx="4407695" cy="624223"/>
            <a:chOff x="1633538" y="5745474"/>
            <a:chExt cx="5876926" cy="832297"/>
          </a:xfrm>
        </p:grpSpPr>
        <p:sp>
          <p:nvSpPr>
            <p:cNvPr id="17" name="Line 300">
              <a:extLst>
                <a:ext uri="{FF2B5EF4-FFF2-40B4-BE49-F238E27FC236}">
                  <a16:creationId xmlns:a16="http://schemas.microsoft.com/office/drawing/2014/main" id="{8CF4F347-8597-4D45-BB21-BFDF4156C5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7000" y="5745474"/>
              <a:ext cx="3863268" cy="655326"/>
            </a:xfrm>
            <a:prstGeom prst="line">
              <a:avLst/>
            </a:prstGeom>
            <a:noFill/>
            <a:ln w="57150">
              <a:solidFill>
                <a:srgbClr val="00B05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Text Box 307">
              <a:extLst>
                <a:ext uri="{FF2B5EF4-FFF2-40B4-BE49-F238E27FC236}">
                  <a16:creationId xmlns:a16="http://schemas.microsoft.com/office/drawing/2014/main" id="{A7EC0ABC-58B6-4D60-A70B-C3E09CF5E0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1" y="6254606"/>
              <a:ext cx="1490663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6</a:t>
              </a:r>
            </a:p>
          </p:txBody>
        </p:sp>
        <p:sp>
          <p:nvSpPr>
            <p:cNvPr id="19" name="Text Box 307">
              <a:extLst>
                <a:ext uri="{FF2B5EF4-FFF2-40B4-BE49-F238E27FC236}">
                  <a16:creationId xmlns:a16="http://schemas.microsoft.com/office/drawing/2014/main" id="{FFA07C03-9BB8-47E6-8D05-8013AFF10A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3538" y="6254606"/>
              <a:ext cx="1490662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6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D6A55A54-19EA-4324-B945-C61FD3791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14" y="2621599"/>
            <a:ext cx="914528" cy="91452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A97EAAC5-13F8-4EBB-9FA9-FD1047B601D7}"/>
              </a:ext>
            </a:extLst>
          </p:cNvPr>
          <p:cNvGrpSpPr/>
          <p:nvPr/>
        </p:nvGrpSpPr>
        <p:grpSpPr>
          <a:xfrm>
            <a:off x="1338800" y="2897298"/>
            <a:ext cx="4407695" cy="292751"/>
            <a:chOff x="1640304" y="5562600"/>
            <a:chExt cx="5876926" cy="390335"/>
          </a:xfrm>
        </p:grpSpPr>
        <p:sp>
          <p:nvSpPr>
            <p:cNvPr id="22" name="Line 300">
              <a:extLst>
                <a:ext uri="{FF2B5EF4-FFF2-40B4-BE49-F238E27FC236}">
                  <a16:creationId xmlns:a16="http://schemas.microsoft.com/office/drawing/2014/main" id="{6BF72B4D-BA1C-471F-A806-CA1F2E80BE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3698" y="5729619"/>
              <a:ext cx="3913336" cy="223316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Text Box 307">
              <a:extLst>
                <a:ext uri="{FF2B5EF4-FFF2-40B4-BE49-F238E27FC236}">
                  <a16:creationId xmlns:a16="http://schemas.microsoft.com/office/drawing/2014/main" id="{E1C92C39-0A8D-45BA-80E9-0B3B0D463E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6567" y="5562600"/>
              <a:ext cx="1490663" cy="323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4</a:t>
              </a:r>
            </a:p>
          </p:txBody>
        </p:sp>
        <p:sp>
          <p:nvSpPr>
            <p:cNvPr id="24" name="Text Box 307">
              <a:extLst>
                <a:ext uri="{FF2B5EF4-FFF2-40B4-BE49-F238E27FC236}">
                  <a16:creationId xmlns:a16="http://schemas.microsoft.com/office/drawing/2014/main" id="{450A8D47-0713-48B5-AAA5-E5FC46FED3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0304" y="5562600"/>
              <a:ext cx="1490662" cy="323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4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EEF702C-6031-4092-AE62-550C80379CF7}"/>
              </a:ext>
            </a:extLst>
          </p:cNvPr>
          <p:cNvGrpSpPr/>
          <p:nvPr/>
        </p:nvGrpSpPr>
        <p:grpSpPr>
          <a:xfrm>
            <a:off x="1338800" y="3027270"/>
            <a:ext cx="4407695" cy="290852"/>
            <a:chOff x="1633538" y="6189969"/>
            <a:chExt cx="5876926" cy="387803"/>
          </a:xfrm>
        </p:grpSpPr>
        <p:sp>
          <p:nvSpPr>
            <p:cNvPr id="26" name="Line 300">
              <a:extLst>
                <a:ext uri="{FF2B5EF4-FFF2-40B4-BE49-F238E27FC236}">
                  <a16:creationId xmlns:a16="http://schemas.microsoft.com/office/drawing/2014/main" id="{FDBFAAE4-1447-4666-B0C0-5D9BC3020A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7000" y="6189969"/>
              <a:ext cx="3884196" cy="210831"/>
            </a:xfrm>
            <a:prstGeom prst="line">
              <a:avLst/>
            </a:prstGeom>
            <a:noFill/>
            <a:ln w="57150">
              <a:solidFill>
                <a:srgbClr val="0070C0"/>
              </a:solidFill>
              <a:prstDash val="lg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Text Box 307">
              <a:extLst>
                <a:ext uri="{FF2B5EF4-FFF2-40B4-BE49-F238E27FC236}">
                  <a16:creationId xmlns:a16="http://schemas.microsoft.com/office/drawing/2014/main" id="{E8F77037-18D4-453B-87B1-FD182B3886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1" y="6254606"/>
              <a:ext cx="1490663" cy="323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5</a:t>
              </a:r>
            </a:p>
          </p:txBody>
        </p:sp>
        <p:sp>
          <p:nvSpPr>
            <p:cNvPr id="28" name="Text Box 307">
              <a:extLst>
                <a:ext uri="{FF2B5EF4-FFF2-40B4-BE49-F238E27FC236}">
                  <a16:creationId xmlns:a16="http://schemas.microsoft.com/office/drawing/2014/main" id="{5A341924-C2A4-4069-A314-6B66C1A117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3538" y="6254606"/>
              <a:ext cx="1490662" cy="323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5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A991728-C832-4422-8DC5-E9B09BB3E912}"/>
              </a:ext>
            </a:extLst>
          </p:cNvPr>
          <p:cNvGrpSpPr/>
          <p:nvPr/>
        </p:nvGrpSpPr>
        <p:grpSpPr>
          <a:xfrm>
            <a:off x="1338800" y="2689246"/>
            <a:ext cx="4407695" cy="941919"/>
            <a:chOff x="1633538" y="5321880"/>
            <a:chExt cx="5876926" cy="1255892"/>
          </a:xfrm>
        </p:grpSpPr>
        <p:sp>
          <p:nvSpPr>
            <p:cNvPr id="30" name="Line 300">
              <a:extLst>
                <a:ext uri="{FF2B5EF4-FFF2-40B4-BE49-F238E27FC236}">
                  <a16:creationId xmlns:a16="http://schemas.microsoft.com/office/drawing/2014/main" id="{4622F730-6F72-4BAE-A82B-C2808FCEF0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7000" y="5321880"/>
              <a:ext cx="3884196" cy="1078920"/>
            </a:xfrm>
            <a:prstGeom prst="line">
              <a:avLst/>
            </a:prstGeom>
            <a:noFill/>
            <a:ln w="57150">
              <a:solidFill>
                <a:srgbClr val="6633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Text Box 307">
              <a:extLst>
                <a:ext uri="{FF2B5EF4-FFF2-40B4-BE49-F238E27FC236}">
                  <a16:creationId xmlns:a16="http://schemas.microsoft.com/office/drawing/2014/main" id="{83C1A1DB-B1F0-420A-AEB0-A3F9932FEC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1" y="6254607"/>
              <a:ext cx="1490663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7</a:t>
              </a:r>
            </a:p>
          </p:txBody>
        </p:sp>
        <p:sp>
          <p:nvSpPr>
            <p:cNvPr id="32" name="Text Box 307">
              <a:extLst>
                <a:ext uri="{FF2B5EF4-FFF2-40B4-BE49-F238E27FC236}">
                  <a16:creationId xmlns:a16="http://schemas.microsoft.com/office/drawing/2014/main" id="{ECB947DA-6816-4C3D-BCC8-B8B8FCE27B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3538" y="6254607"/>
              <a:ext cx="1490662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7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9193996-582A-41F1-9AB2-E1D86B445577}"/>
              </a:ext>
            </a:extLst>
          </p:cNvPr>
          <p:cNvGrpSpPr/>
          <p:nvPr/>
        </p:nvGrpSpPr>
        <p:grpSpPr>
          <a:xfrm>
            <a:off x="1338800" y="2537379"/>
            <a:ext cx="4407695" cy="1250306"/>
            <a:chOff x="1633538" y="4910698"/>
            <a:chExt cx="5876926" cy="1667073"/>
          </a:xfrm>
        </p:grpSpPr>
        <p:sp>
          <p:nvSpPr>
            <p:cNvPr id="34" name="Line 300">
              <a:extLst>
                <a:ext uri="{FF2B5EF4-FFF2-40B4-BE49-F238E27FC236}">
                  <a16:creationId xmlns:a16="http://schemas.microsoft.com/office/drawing/2014/main" id="{2BABF94A-8A0E-479B-92F1-063E5842DA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7000" y="4910698"/>
              <a:ext cx="3863268" cy="1490102"/>
            </a:xfrm>
            <a:prstGeom prst="line">
              <a:avLst/>
            </a:prstGeom>
            <a:noFill/>
            <a:ln w="57150">
              <a:solidFill>
                <a:srgbClr val="663300"/>
              </a:solidFill>
              <a:prstDash val="lg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Text Box 307">
              <a:extLst>
                <a:ext uri="{FF2B5EF4-FFF2-40B4-BE49-F238E27FC236}">
                  <a16:creationId xmlns:a16="http://schemas.microsoft.com/office/drawing/2014/main" id="{2FFB6340-21FD-4955-A366-EB850309F5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1" y="6254605"/>
              <a:ext cx="1490663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8</a:t>
              </a:r>
            </a:p>
          </p:txBody>
        </p:sp>
        <p:sp>
          <p:nvSpPr>
            <p:cNvPr id="36" name="Text Box 307">
              <a:extLst>
                <a:ext uri="{FF2B5EF4-FFF2-40B4-BE49-F238E27FC236}">
                  <a16:creationId xmlns:a16="http://schemas.microsoft.com/office/drawing/2014/main" id="{1322170F-7037-4A2D-90E3-6C79D80668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3538" y="6254606"/>
              <a:ext cx="1490662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685800" eaLnBrk="1" hangingPunct="1">
                <a:spcBef>
                  <a:spcPct val="50000"/>
                </a:spcBef>
                <a:defRPr/>
              </a:pPr>
              <a:r>
                <a:rPr lang="en-US" sz="975" b="1" kern="0" dirty="0">
                  <a:solidFill>
                    <a:srgbClr val="000000"/>
                  </a:solidFill>
                  <a:latin typeface="Calibri"/>
                  <a:cs typeface="Calibri"/>
                </a:rPr>
                <a:t>8</a:t>
              </a: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A4A6AF2C-8651-44A0-A18B-28417E694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2712" y="2964444"/>
            <a:ext cx="707330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96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7223B-AA27-40FF-8B66-8CF61CA1A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Termination Points</a:t>
            </a:r>
          </a:p>
        </p:txBody>
      </p:sp>
      <p:graphicFrame>
        <p:nvGraphicFramePr>
          <p:cNvPr id="4" name="Group 23">
            <a:extLst>
              <a:ext uri="{FF2B5EF4-FFF2-40B4-BE49-F238E27FC236}">
                <a16:creationId xmlns:a16="http://schemas.microsoft.com/office/drawing/2014/main" id="{4FA7C019-F00D-4CCC-85B4-27B31FDF3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950258"/>
              </p:ext>
            </p:extLst>
          </p:nvPr>
        </p:nvGraphicFramePr>
        <p:xfrm>
          <a:off x="1089151" y="1949511"/>
          <a:ext cx="7332955" cy="4526104"/>
        </p:xfrm>
        <a:graphic>
          <a:graphicData uri="http://schemas.openxmlformats.org/drawingml/2006/table">
            <a:tbl>
              <a:tblPr/>
              <a:tblGrid>
                <a:gridCol w="1686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6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208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/>
                          <a:cs typeface="Calibri"/>
                        </a:rPr>
                        <a:t>Termination Point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DDC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Description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8859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Punch down block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In wiring closets, connects groups of phone or network wires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66 block supports low bandwidth telecommunications transmissions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110 block supports higher bandwidth, data applications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37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Patch panel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Connection point for drop cables and patch cables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At least one row of RJ-45 connectors (ports)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Drop cables run from the ISP to the connectors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Patch cables run from the panel to network devices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978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Fiber distribution panel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Enables termination, storage, and splicing of fiber optic cable fibers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Adapters connect the cable to the network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40019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5" name="Picture 5">
            <a:extLst>
              <a:ext uri="{FF2B5EF4-FFF2-40B4-BE49-F238E27FC236}">
                <a16:creationId xmlns:a16="http://schemas.microsoft.com/office/drawing/2014/main" id="{89FC0841-0D64-45E5-A65E-B487125A0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106" y="0"/>
            <a:ext cx="14478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7" name="Picture 7">
            <a:extLst>
              <a:ext uri="{FF2B5EF4-FFF2-40B4-BE49-F238E27FC236}">
                <a16:creationId xmlns:a16="http://schemas.microsoft.com/office/drawing/2014/main" id="{498A1FD0-86EE-4BE2-8B11-AE43E95B6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540500"/>
            <a:ext cx="12954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C62697E-5540-71C3-09AD-73ABF8846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110 Block 	vs 	66 Block </a:t>
            </a:r>
          </a:p>
        </p:txBody>
      </p:sp>
      <p:pic>
        <p:nvPicPr>
          <p:cNvPr id="3076" name="Picture 4" descr="66 Punch Down 50 Pair Wiring Block SKU: ATDS103101 - American Teledata Store">
            <a:extLst>
              <a:ext uri="{FF2B5EF4-FFF2-40B4-BE49-F238E27FC236}">
                <a16:creationId xmlns:a16="http://schemas.microsoft.com/office/drawing/2014/main" id="{D84F26B8-D975-0FC5-5C01-0983E6A60CF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24668" y="1631950"/>
            <a:ext cx="3851483" cy="4388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110 Punch Down Block: What's It, How to Use It?">
            <a:extLst>
              <a:ext uri="{FF2B5EF4-FFF2-40B4-BE49-F238E27FC236}">
                <a16:creationId xmlns:a16="http://schemas.microsoft.com/office/drawing/2014/main" id="{9501E6B4-8DF1-C69A-A472-8FD78A6A4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106" y="1635369"/>
            <a:ext cx="4135832" cy="43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iber Distribution Panels by Epic Broadband Solutions">
            <a:extLst>
              <a:ext uri="{FF2B5EF4-FFF2-40B4-BE49-F238E27FC236}">
                <a16:creationId xmlns:a16="http://schemas.microsoft.com/office/drawing/2014/main" id="{4E19DBB3-A764-4D02-A401-07BF8C033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949" y="3762720"/>
            <a:ext cx="5224945" cy="293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at6 100 Rack Mount Punch Down 1RU Patch Panel | 24 Port | CAT624 ...">
            <a:extLst>
              <a:ext uri="{FF2B5EF4-FFF2-40B4-BE49-F238E27FC236}">
                <a16:creationId xmlns:a16="http://schemas.microsoft.com/office/drawing/2014/main" id="{FC242348-8B53-4AFA-B505-C0F342E17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250" y="162886"/>
            <a:ext cx="4899171" cy="3266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5489963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{A74C1714-5C0B-3846-B47C-6ECBC5836BBB}tf10001071</Template>
  <TotalTime>254</TotalTime>
  <Words>1370</Words>
  <Application>Microsoft Macintosh PowerPoint</Application>
  <PresentationFormat>On-screen Show (4:3)</PresentationFormat>
  <Paragraphs>258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Gill Sans MT</vt:lpstr>
      <vt:lpstr>Impact</vt:lpstr>
      <vt:lpstr>Times</vt:lpstr>
      <vt:lpstr>Badge</vt:lpstr>
      <vt:lpstr>Chapter 3</vt:lpstr>
      <vt:lpstr>Bounded Network Media</vt:lpstr>
      <vt:lpstr>Coaxial Cable</vt:lpstr>
      <vt:lpstr>Twisted Pair Cable</vt:lpstr>
      <vt:lpstr>Cat 5e UTP Cable</vt:lpstr>
      <vt:lpstr>RJ Connectors</vt:lpstr>
      <vt:lpstr>Twisted Pair Categories</vt:lpstr>
      <vt:lpstr>Fiber Optic Cable</vt:lpstr>
      <vt:lpstr>Fiber Optic Polishes</vt:lpstr>
      <vt:lpstr>APC vs UPC</vt:lpstr>
      <vt:lpstr>Fiber Optics Connectors</vt:lpstr>
      <vt:lpstr>Fiber Optic Transceivers</vt:lpstr>
      <vt:lpstr>Media Converters</vt:lpstr>
      <vt:lpstr>Media Converters (Cont.)</vt:lpstr>
      <vt:lpstr>PowerPoint Presentation</vt:lpstr>
      <vt:lpstr>Universal Serial Bus</vt:lpstr>
      <vt:lpstr>Cable Properties</vt:lpstr>
      <vt:lpstr>Wiring Standards</vt:lpstr>
      <vt:lpstr>Straight Through Cables</vt:lpstr>
      <vt:lpstr>Crossover Cable</vt:lpstr>
      <vt:lpstr>Rollover Cable</vt:lpstr>
      <vt:lpstr>Termination Points</vt:lpstr>
      <vt:lpstr>110 Block  vs  66 Block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</dc:title>
  <dc:creator>Sam Lee</dc:creator>
  <cp:lastModifiedBy>Adrienne Bailey</cp:lastModifiedBy>
  <cp:revision>23</cp:revision>
  <dcterms:created xsi:type="dcterms:W3CDTF">2018-10-30T16:42:32Z</dcterms:created>
  <dcterms:modified xsi:type="dcterms:W3CDTF">2022-09-19T15:51:34Z</dcterms:modified>
</cp:coreProperties>
</file>