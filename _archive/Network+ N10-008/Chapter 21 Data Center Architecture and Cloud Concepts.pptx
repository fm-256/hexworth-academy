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80" r:id="rId5"/>
    <p:sldId id="282" r:id="rId6"/>
    <p:sldId id="281" r:id="rId7"/>
    <p:sldId id="289" r:id="rId8"/>
    <p:sldId id="290" r:id="rId9"/>
    <p:sldId id="284" r:id="rId10"/>
    <p:sldId id="283" r:id="rId11"/>
    <p:sldId id="285" r:id="rId12"/>
    <p:sldId id="286" r:id="rId13"/>
    <p:sldId id="287" r:id="rId14"/>
    <p:sldId id="260" r:id="rId15"/>
    <p:sldId id="28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3" autoAdjust="0"/>
    <p:restoredTop sz="60602"/>
  </p:normalViewPr>
  <p:slideViewPr>
    <p:cSldViewPr snapToGrid="0">
      <p:cViewPr varScale="1">
        <p:scale>
          <a:sx n="67" d="100"/>
          <a:sy n="67" d="100"/>
        </p:scale>
        <p:origin x="2320" y="168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5DD1D8-180F-2048-BFAB-5E8AAFBB446F}" type="doc">
      <dgm:prSet loTypeId="urn:microsoft.com/office/officeart/2005/8/layout/vList5" loCatId="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zh-CN" altLang="en-US"/>
        </a:p>
      </dgm:t>
    </dgm:pt>
    <dgm:pt modelId="{7E456FF5-CCC9-1842-A13E-DD9153937BAC}">
      <dgm:prSet phldrT="[文本]" custT="1"/>
      <dgm:spPr/>
      <dgm:t>
        <a:bodyPr/>
        <a:lstStyle/>
        <a:p>
          <a:r>
            <a:rPr lang="en-GB" sz="2000" b="0" dirty="0">
              <a:latin typeface="+mn-lt"/>
            </a:rPr>
            <a:t>Public Cloud </a:t>
          </a:r>
          <a:endParaRPr lang="zh-CN" altLang="en-US" sz="2000" b="0" dirty="0">
            <a:latin typeface="+mn-lt"/>
          </a:endParaRPr>
        </a:p>
      </dgm:t>
    </dgm:pt>
    <dgm:pt modelId="{54FA3B30-8D6B-6548-A4F5-946773CA427C}" cxnId="{71F563CF-EE8E-7C44-B286-5200AF3F105A}" type="parTrans">
      <dgm:prSet/>
      <dgm:spPr/>
      <dgm:t>
        <a:bodyPr/>
        <a:lstStyle/>
        <a:p>
          <a:endParaRPr lang="zh-CN" altLang="en-US" sz="2000" b="0">
            <a:latin typeface="+mn-lt"/>
          </a:endParaRPr>
        </a:p>
      </dgm:t>
    </dgm:pt>
    <dgm:pt modelId="{243FCDE6-DD79-CF4F-9FAE-9BEC7DE93382}" cxnId="{71F563CF-EE8E-7C44-B286-5200AF3F105A}" type="sibTrans">
      <dgm:prSet/>
      <dgm:spPr/>
      <dgm:t>
        <a:bodyPr/>
        <a:lstStyle/>
        <a:p>
          <a:endParaRPr lang="zh-CN" altLang="en-US" sz="2000" b="0">
            <a:latin typeface="+mn-lt"/>
          </a:endParaRPr>
        </a:p>
      </dgm:t>
    </dgm:pt>
    <dgm:pt modelId="{C6FC7027-8A09-5E4F-94C0-C701F1BD4EA1}">
      <dgm:prSet phldrT="[文本]" custT="1"/>
      <dgm:spPr/>
      <dgm:t>
        <a:bodyPr/>
        <a:lstStyle/>
        <a:p>
          <a:pPr marL="0" indent="0" algn="l">
            <a:buFont typeface="Arial" panose="020B0604020202020204" pitchFamily="34" charset="0"/>
            <a:buNone/>
          </a:pPr>
          <a:r>
            <a:rPr lang="en-GB" sz="2000" b="0" dirty="0">
              <a:latin typeface="+mn-lt"/>
            </a:rPr>
            <a:t>Providers deploy infrastructure and then make it accessible to any customers who wish to take advantage of it in a multitenant model </a:t>
          </a:r>
          <a:endParaRPr lang="zh-CN" altLang="en-US" sz="2000" b="0" dirty="0">
            <a:latin typeface="+mn-lt"/>
          </a:endParaRPr>
        </a:p>
      </dgm:t>
    </dgm:pt>
    <dgm:pt modelId="{A7040C5B-2AB7-544E-854C-71237D3B4889}" cxnId="{51FEC1D5-541E-F842-9947-3B5E6F22B3FA}" type="parTrans">
      <dgm:prSet/>
      <dgm:spPr/>
      <dgm:t>
        <a:bodyPr/>
        <a:lstStyle/>
        <a:p>
          <a:endParaRPr lang="zh-CN" altLang="en-US" sz="2000" b="0">
            <a:latin typeface="+mn-lt"/>
          </a:endParaRPr>
        </a:p>
      </dgm:t>
    </dgm:pt>
    <dgm:pt modelId="{7B770EA8-8EBA-5245-95D3-46474A4214B6}" cxnId="{51FEC1D5-541E-F842-9947-3B5E6F22B3FA}" type="sibTrans">
      <dgm:prSet/>
      <dgm:spPr/>
      <dgm:t>
        <a:bodyPr/>
        <a:lstStyle/>
        <a:p>
          <a:endParaRPr lang="zh-CN" altLang="en-US" sz="2000" b="0">
            <a:latin typeface="+mn-lt"/>
          </a:endParaRPr>
        </a:p>
      </dgm:t>
    </dgm:pt>
    <dgm:pt modelId="{6D474DC8-D503-0C43-B8AD-B5D09DA804F0}">
      <dgm:prSet phldrT="[文本]" custT="1"/>
      <dgm:spPr/>
      <dgm:t>
        <a:bodyPr/>
        <a:lstStyle/>
        <a:p>
          <a:r>
            <a:rPr lang="en-GB" sz="2000" b="0" dirty="0">
              <a:latin typeface="+mn-lt"/>
            </a:rPr>
            <a:t>Private Cloud </a:t>
          </a:r>
          <a:endParaRPr lang="zh-CN" altLang="en-US" sz="2000" b="0" dirty="0">
            <a:latin typeface="+mn-lt"/>
          </a:endParaRPr>
        </a:p>
      </dgm:t>
    </dgm:pt>
    <dgm:pt modelId="{05494055-ABA4-2747-818E-17755E3931C4}" cxnId="{D5A182E1-BB23-C141-A342-0C400E3E1D28}" type="parTrans">
      <dgm:prSet/>
      <dgm:spPr/>
      <dgm:t>
        <a:bodyPr/>
        <a:lstStyle/>
        <a:p>
          <a:endParaRPr lang="zh-CN" altLang="en-US" sz="2000" b="0">
            <a:latin typeface="+mn-lt"/>
          </a:endParaRPr>
        </a:p>
      </dgm:t>
    </dgm:pt>
    <dgm:pt modelId="{E2FFE4D9-8702-A649-A83E-7F5CB217ED74}" cxnId="{D5A182E1-BB23-C141-A342-0C400E3E1D28}" type="sibTrans">
      <dgm:prSet/>
      <dgm:spPr/>
      <dgm:t>
        <a:bodyPr/>
        <a:lstStyle/>
        <a:p>
          <a:endParaRPr lang="zh-CN" altLang="en-US" sz="2000" b="0">
            <a:latin typeface="+mn-lt"/>
          </a:endParaRPr>
        </a:p>
      </dgm:t>
    </dgm:pt>
    <dgm:pt modelId="{6F2EAA06-6050-0248-9D66-46704A536F17}">
      <dgm:prSet phldrT="[文本]" custT="1"/>
      <dgm:spPr/>
      <dgm:t>
        <a:bodyPr/>
        <a:lstStyle/>
        <a:p>
          <a:pPr marL="0" indent="0">
            <a:buNone/>
          </a:pPr>
          <a:r>
            <a:rPr lang="en-GB" sz="2000" b="0" kern="1200" dirty="0">
              <a:latin typeface="+mn-lt"/>
              <a:ea typeface="+mn-ea"/>
              <a:cs typeface="+mn-cs"/>
            </a:rPr>
            <a:t>Used to describe any cloud infrastructure that is provisioned for use by a single customer </a:t>
          </a:r>
          <a:endParaRPr lang="zh-CN" altLang="en-US" sz="2000" b="0" kern="1200" dirty="0">
            <a:latin typeface="+mn-lt"/>
            <a:ea typeface="+mn-ea"/>
            <a:cs typeface="+mn-cs"/>
          </a:endParaRPr>
        </a:p>
      </dgm:t>
    </dgm:pt>
    <dgm:pt modelId="{070BB44C-9140-724F-83AC-35C5FCF64969}" cxnId="{0038456D-B52F-3647-BA3D-3971C50B0FAD}" type="parTrans">
      <dgm:prSet/>
      <dgm:spPr/>
      <dgm:t>
        <a:bodyPr/>
        <a:lstStyle/>
        <a:p>
          <a:endParaRPr lang="zh-CN" altLang="en-US" sz="2000" b="0">
            <a:latin typeface="+mn-lt"/>
          </a:endParaRPr>
        </a:p>
      </dgm:t>
    </dgm:pt>
    <dgm:pt modelId="{2F35CB2D-C2CA-5540-A387-3416FD407676}" cxnId="{0038456D-B52F-3647-BA3D-3971C50B0FAD}" type="sibTrans">
      <dgm:prSet/>
      <dgm:spPr/>
      <dgm:t>
        <a:bodyPr/>
        <a:lstStyle/>
        <a:p>
          <a:endParaRPr lang="zh-CN" altLang="en-US" sz="2000" b="0">
            <a:latin typeface="+mn-lt"/>
          </a:endParaRPr>
        </a:p>
      </dgm:t>
    </dgm:pt>
    <dgm:pt modelId="{E50F6799-88CC-A84C-9304-E00E6F5A0337}">
      <dgm:prSet phldrT="[文本]" custT="1"/>
      <dgm:spPr/>
      <dgm:t>
        <a:bodyPr/>
        <a:lstStyle/>
        <a:p>
          <a:r>
            <a:rPr lang="en-GB" sz="2000" b="0" dirty="0">
              <a:latin typeface="+mn-lt"/>
            </a:rPr>
            <a:t>Community Cloud </a:t>
          </a:r>
          <a:endParaRPr lang="zh-CN" altLang="en-US" sz="2000" b="0" dirty="0">
            <a:latin typeface="+mn-lt"/>
          </a:endParaRPr>
        </a:p>
      </dgm:t>
    </dgm:pt>
    <dgm:pt modelId="{89997765-DB59-EB44-91FB-64CF929EDF13}" cxnId="{08CC9C39-B137-654D-B454-6F2B269BFDD3}" type="parTrans">
      <dgm:prSet/>
      <dgm:spPr/>
      <dgm:t>
        <a:bodyPr/>
        <a:lstStyle/>
        <a:p>
          <a:endParaRPr lang="zh-CN" altLang="en-US" sz="2000" b="0">
            <a:latin typeface="+mn-lt"/>
          </a:endParaRPr>
        </a:p>
      </dgm:t>
    </dgm:pt>
    <dgm:pt modelId="{04D20E67-0C8E-C548-81F4-1CCD38D535CC}" cxnId="{08CC9C39-B137-654D-B454-6F2B269BFDD3}" type="sibTrans">
      <dgm:prSet/>
      <dgm:spPr/>
      <dgm:t>
        <a:bodyPr/>
        <a:lstStyle/>
        <a:p>
          <a:endParaRPr lang="zh-CN" altLang="en-US" sz="2000" b="0">
            <a:latin typeface="+mn-lt"/>
          </a:endParaRPr>
        </a:p>
      </dgm:t>
    </dgm:pt>
    <dgm:pt modelId="{1F8C67D9-2ABA-E640-9DE9-755266D69F0F}">
      <dgm:prSet phldrT="[文本]" custT="1"/>
      <dgm:spPr/>
      <dgm:t>
        <a:bodyPr/>
        <a:lstStyle/>
        <a:p>
          <a:pPr marL="0" indent="0">
            <a:buNone/>
          </a:pPr>
          <a:r>
            <a:rPr lang="en-GB" sz="2000" dirty="0">
              <a:latin typeface="+mn-lt"/>
            </a:rPr>
            <a:t>Run in a multitenant environment, but the tenants are limited to members of a specifically designed community </a:t>
          </a:r>
          <a:endParaRPr lang="zh-CN" altLang="en-US" sz="2000" b="0" dirty="0">
            <a:latin typeface="+mn-lt"/>
          </a:endParaRPr>
        </a:p>
      </dgm:t>
    </dgm:pt>
    <dgm:pt modelId="{2959FA0B-FFC7-BD48-9629-51F9F5ED54B9}" cxnId="{5D5DFBA6-0674-8F4D-9536-BC57967053D8}" type="parTrans">
      <dgm:prSet/>
      <dgm:spPr/>
      <dgm:t>
        <a:bodyPr/>
        <a:lstStyle/>
        <a:p>
          <a:endParaRPr lang="zh-CN" altLang="en-US" sz="2000" b="0">
            <a:latin typeface="+mn-lt"/>
          </a:endParaRPr>
        </a:p>
      </dgm:t>
    </dgm:pt>
    <dgm:pt modelId="{87F8F0D7-5F8F-ED47-A2F5-FBEE8BD215BF}" cxnId="{5D5DFBA6-0674-8F4D-9536-BC57967053D8}" type="sibTrans">
      <dgm:prSet/>
      <dgm:spPr/>
      <dgm:t>
        <a:bodyPr/>
        <a:lstStyle/>
        <a:p>
          <a:endParaRPr lang="zh-CN" altLang="en-US" sz="2000" b="0">
            <a:latin typeface="+mn-lt"/>
          </a:endParaRPr>
        </a:p>
      </dgm:t>
    </dgm:pt>
    <dgm:pt modelId="{CB2133D1-D520-C74C-8C5B-5ADE3E9B5821}">
      <dgm:prSet custT="1"/>
      <dgm:spPr/>
      <dgm:t>
        <a:bodyPr/>
        <a:lstStyle/>
        <a:p>
          <a:r>
            <a:rPr lang="en-GB" sz="2000" b="0" dirty="0">
              <a:latin typeface="+mn-lt"/>
            </a:rPr>
            <a:t>Hybrid Cloud </a:t>
          </a:r>
          <a:endParaRPr lang="zh-CN" altLang="en-US" sz="2000" b="0" dirty="0">
            <a:latin typeface="+mn-lt"/>
          </a:endParaRPr>
        </a:p>
      </dgm:t>
    </dgm:pt>
    <dgm:pt modelId="{98CAB5B6-533D-6C4C-A6E2-57AC29A5DD20}" cxnId="{7796982C-1CA5-B242-818C-27A18A2DA13A}" type="parTrans">
      <dgm:prSet/>
      <dgm:spPr/>
      <dgm:t>
        <a:bodyPr/>
        <a:lstStyle/>
        <a:p>
          <a:endParaRPr lang="zh-CN" altLang="en-US" sz="2000" b="0">
            <a:latin typeface="+mn-lt"/>
          </a:endParaRPr>
        </a:p>
      </dgm:t>
    </dgm:pt>
    <dgm:pt modelId="{F8EED44D-68FA-F247-9366-0D27B6C6DBD7}" cxnId="{7796982C-1CA5-B242-818C-27A18A2DA13A}" type="sibTrans">
      <dgm:prSet/>
      <dgm:spPr/>
      <dgm:t>
        <a:bodyPr/>
        <a:lstStyle/>
        <a:p>
          <a:endParaRPr lang="zh-CN" altLang="en-US" sz="2000" b="0">
            <a:latin typeface="+mn-lt"/>
          </a:endParaRPr>
        </a:p>
      </dgm:t>
    </dgm:pt>
    <dgm:pt modelId="{4048F9A7-D1C6-0445-8517-F65826DB8473}">
      <dgm:prSet custT="1"/>
      <dgm:spPr/>
      <dgm:t>
        <a:bodyPr/>
        <a:lstStyle/>
        <a:p>
          <a:pPr marL="71755" indent="0">
            <a:buNone/>
          </a:pPr>
          <a:r>
            <a:rPr lang="en-GB" sz="2000" dirty="0">
              <a:latin typeface="+mn-lt"/>
            </a:rPr>
            <a:t>A catch-all term used to describe cloud deployments that blend public, private, and/or community cloud services together </a:t>
          </a:r>
          <a:endParaRPr lang="zh-CN" altLang="en-US" sz="2000" dirty="0">
            <a:latin typeface="+mn-lt"/>
          </a:endParaRPr>
        </a:p>
      </dgm:t>
    </dgm:pt>
    <dgm:pt modelId="{C1B0D3CF-9016-6B44-ADD1-02CE7C87F922}" cxnId="{395FA54E-544C-684A-A5EE-CCB6C419855A}" type="parTrans">
      <dgm:prSet/>
      <dgm:spPr/>
      <dgm:t>
        <a:bodyPr/>
        <a:lstStyle/>
        <a:p>
          <a:endParaRPr lang="zh-CN" altLang="en-US" sz="2000">
            <a:latin typeface="+mn-lt"/>
          </a:endParaRPr>
        </a:p>
      </dgm:t>
    </dgm:pt>
    <dgm:pt modelId="{6CC32F3F-4CE4-6246-ACCE-719BC86E8AAC}" cxnId="{395FA54E-544C-684A-A5EE-CCB6C419855A}" type="sibTrans">
      <dgm:prSet/>
      <dgm:spPr/>
      <dgm:t>
        <a:bodyPr/>
        <a:lstStyle/>
        <a:p>
          <a:endParaRPr lang="zh-CN" altLang="en-US" sz="2000">
            <a:latin typeface="+mn-lt"/>
          </a:endParaRPr>
        </a:p>
      </dgm:t>
    </dgm:pt>
    <dgm:pt modelId="{E791449F-EF32-4941-9339-3B1B487432C7}" type="pres">
      <dgm:prSet presAssocID="{7D5DD1D8-180F-2048-BFAB-5E8AAFBB446F}" presName="Name0" presStyleCnt="0">
        <dgm:presLayoutVars>
          <dgm:dir/>
          <dgm:animLvl val="lvl"/>
          <dgm:resizeHandles val="exact"/>
        </dgm:presLayoutVars>
      </dgm:prSet>
      <dgm:spPr/>
    </dgm:pt>
    <dgm:pt modelId="{4CBDA956-28ED-A94C-A358-26679C411148}" type="pres">
      <dgm:prSet presAssocID="{7E456FF5-CCC9-1842-A13E-DD9153937BAC}" presName="linNode" presStyleCnt="0"/>
      <dgm:spPr/>
    </dgm:pt>
    <dgm:pt modelId="{1BE48A5F-5FC7-D34B-BEAE-30C12BFE14A2}" type="pres">
      <dgm:prSet presAssocID="{7E456FF5-CCC9-1842-A13E-DD9153937BAC}" presName="parentText" presStyleLbl="node1" presStyleIdx="0" presStyleCnt="4" custScaleX="60261" custScaleY="75261">
        <dgm:presLayoutVars>
          <dgm:chMax val="1"/>
          <dgm:bulletEnabled val="1"/>
        </dgm:presLayoutVars>
      </dgm:prSet>
      <dgm:spPr/>
    </dgm:pt>
    <dgm:pt modelId="{4042A264-D006-5045-9624-E5345A02C671}" type="pres">
      <dgm:prSet presAssocID="{7E456FF5-CCC9-1842-A13E-DD9153937BAC}" presName="descendantText" presStyleLbl="alignAccFollowNode1" presStyleIdx="0" presStyleCnt="4" custScaleX="114489" custScaleY="89134">
        <dgm:presLayoutVars>
          <dgm:bulletEnabled val="1"/>
        </dgm:presLayoutVars>
      </dgm:prSet>
      <dgm:spPr/>
    </dgm:pt>
    <dgm:pt modelId="{DD02F52F-625D-1D47-9F16-4774006C8082}" type="pres">
      <dgm:prSet presAssocID="{243FCDE6-DD79-CF4F-9FAE-9BEC7DE93382}" presName="sp" presStyleCnt="0"/>
      <dgm:spPr/>
    </dgm:pt>
    <dgm:pt modelId="{29B38BFC-A57B-6D4F-B5A5-C308E1C1B543}" type="pres">
      <dgm:prSet presAssocID="{6D474DC8-D503-0C43-B8AD-B5D09DA804F0}" presName="linNode" presStyleCnt="0"/>
      <dgm:spPr/>
    </dgm:pt>
    <dgm:pt modelId="{AF6860D7-C030-0C43-8779-A6C4BC925151}" type="pres">
      <dgm:prSet presAssocID="{6D474DC8-D503-0C43-B8AD-B5D09DA804F0}" presName="parentText" presStyleLbl="node1" presStyleIdx="1" presStyleCnt="4" custScaleX="60261" custScaleY="75261">
        <dgm:presLayoutVars>
          <dgm:chMax val="1"/>
          <dgm:bulletEnabled val="1"/>
        </dgm:presLayoutVars>
      </dgm:prSet>
      <dgm:spPr/>
    </dgm:pt>
    <dgm:pt modelId="{83816CBE-3672-5547-9996-5A20678F4AF4}" type="pres">
      <dgm:prSet presAssocID="{6D474DC8-D503-0C43-B8AD-B5D09DA804F0}" presName="descendantText" presStyleLbl="alignAccFollowNode1" presStyleIdx="1" presStyleCnt="4" custScaleX="114489" custScaleY="89134">
        <dgm:presLayoutVars>
          <dgm:bulletEnabled val="1"/>
        </dgm:presLayoutVars>
      </dgm:prSet>
      <dgm:spPr/>
    </dgm:pt>
    <dgm:pt modelId="{63A6CD06-85BE-244E-AE2E-B30E74F5F299}" type="pres">
      <dgm:prSet presAssocID="{E2FFE4D9-8702-A649-A83E-7F5CB217ED74}" presName="sp" presStyleCnt="0"/>
      <dgm:spPr/>
    </dgm:pt>
    <dgm:pt modelId="{63E534D8-B79E-4349-BB31-D208FAC9C5E2}" type="pres">
      <dgm:prSet presAssocID="{E50F6799-88CC-A84C-9304-E00E6F5A0337}" presName="linNode" presStyleCnt="0"/>
      <dgm:spPr/>
    </dgm:pt>
    <dgm:pt modelId="{199C26DA-F112-B34D-A9F9-E31E20A8358F}" type="pres">
      <dgm:prSet presAssocID="{E50F6799-88CC-A84C-9304-E00E6F5A0337}" presName="parentText" presStyleLbl="node1" presStyleIdx="2" presStyleCnt="4" custScaleX="60261" custScaleY="75261">
        <dgm:presLayoutVars>
          <dgm:chMax val="1"/>
          <dgm:bulletEnabled val="1"/>
        </dgm:presLayoutVars>
      </dgm:prSet>
      <dgm:spPr/>
    </dgm:pt>
    <dgm:pt modelId="{20D791CD-3FEB-1D41-9BA9-BDA1BF1E7553}" type="pres">
      <dgm:prSet presAssocID="{E50F6799-88CC-A84C-9304-E00E6F5A0337}" presName="descendantText" presStyleLbl="alignAccFollowNode1" presStyleIdx="2" presStyleCnt="4" custScaleX="114489" custScaleY="89134">
        <dgm:presLayoutVars>
          <dgm:bulletEnabled val="1"/>
        </dgm:presLayoutVars>
      </dgm:prSet>
      <dgm:spPr/>
    </dgm:pt>
    <dgm:pt modelId="{AAD6D186-8536-034F-A08A-00570BFC757C}" type="pres">
      <dgm:prSet presAssocID="{04D20E67-0C8E-C548-81F4-1CCD38D535CC}" presName="sp" presStyleCnt="0"/>
      <dgm:spPr/>
    </dgm:pt>
    <dgm:pt modelId="{B995BE12-D7E7-B24E-995D-D0C8B1C9554E}" type="pres">
      <dgm:prSet presAssocID="{CB2133D1-D520-C74C-8C5B-5ADE3E9B5821}" presName="linNode" presStyleCnt="0"/>
      <dgm:spPr/>
    </dgm:pt>
    <dgm:pt modelId="{F80D649C-791C-2C40-9906-1355303216BD}" type="pres">
      <dgm:prSet presAssocID="{CB2133D1-D520-C74C-8C5B-5ADE3E9B5821}" presName="parentText" presStyleLbl="node1" presStyleIdx="3" presStyleCnt="4" custScaleX="60261" custScaleY="75261">
        <dgm:presLayoutVars>
          <dgm:chMax val="1"/>
          <dgm:bulletEnabled val="1"/>
        </dgm:presLayoutVars>
      </dgm:prSet>
      <dgm:spPr/>
    </dgm:pt>
    <dgm:pt modelId="{06C35CE4-22C2-9346-9FF5-AA6DD04F92F2}" type="pres">
      <dgm:prSet presAssocID="{CB2133D1-D520-C74C-8C5B-5ADE3E9B5821}" presName="descendantText" presStyleLbl="alignAccFollowNode1" presStyleIdx="3" presStyleCnt="4" custScaleX="113816" custScaleY="89134">
        <dgm:presLayoutVars>
          <dgm:bulletEnabled val="1"/>
        </dgm:presLayoutVars>
      </dgm:prSet>
      <dgm:spPr/>
    </dgm:pt>
  </dgm:ptLst>
  <dgm:cxnLst>
    <dgm:cxn modelId="{B875CF03-36B0-8E45-B2C1-7DEE3D9752ED}" type="presOf" srcId="{7D5DD1D8-180F-2048-BFAB-5E8AAFBB446F}" destId="{E791449F-EF32-4941-9339-3B1B487432C7}" srcOrd="0" destOrd="0" presId="urn:microsoft.com/office/officeart/2005/8/layout/vList5"/>
    <dgm:cxn modelId="{D25A500E-B442-244A-BC3E-CDD913799784}" type="presOf" srcId="{C6FC7027-8A09-5E4F-94C0-C701F1BD4EA1}" destId="{4042A264-D006-5045-9624-E5345A02C671}" srcOrd="0" destOrd="0" presId="urn:microsoft.com/office/officeart/2005/8/layout/vList5"/>
    <dgm:cxn modelId="{BF21C91C-800F-ED41-887D-9532B959E34A}" type="presOf" srcId="{CB2133D1-D520-C74C-8C5B-5ADE3E9B5821}" destId="{F80D649C-791C-2C40-9906-1355303216BD}" srcOrd="0" destOrd="0" presId="urn:microsoft.com/office/officeart/2005/8/layout/vList5"/>
    <dgm:cxn modelId="{1DD0FF22-FE34-394B-9001-C7BC2931876B}" type="presOf" srcId="{6F2EAA06-6050-0248-9D66-46704A536F17}" destId="{83816CBE-3672-5547-9996-5A20678F4AF4}" srcOrd="0" destOrd="0" presId="urn:microsoft.com/office/officeart/2005/8/layout/vList5"/>
    <dgm:cxn modelId="{7796982C-1CA5-B242-818C-27A18A2DA13A}" srcId="{7D5DD1D8-180F-2048-BFAB-5E8AAFBB446F}" destId="{CB2133D1-D520-C74C-8C5B-5ADE3E9B5821}" srcOrd="3" destOrd="0" parTransId="{98CAB5B6-533D-6C4C-A6E2-57AC29A5DD20}" sibTransId="{F8EED44D-68FA-F247-9366-0D27B6C6DBD7}"/>
    <dgm:cxn modelId="{08CC9C39-B137-654D-B454-6F2B269BFDD3}" srcId="{7D5DD1D8-180F-2048-BFAB-5E8AAFBB446F}" destId="{E50F6799-88CC-A84C-9304-E00E6F5A0337}" srcOrd="2" destOrd="0" parTransId="{89997765-DB59-EB44-91FB-64CF929EDF13}" sibTransId="{04D20E67-0C8E-C548-81F4-1CCD38D535CC}"/>
    <dgm:cxn modelId="{395FA54E-544C-684A-A5EE-CCB6C419855A}" srcId="{CB2133D1-D520-C74C-8C5B-5ADE3E9B5821}" destId="{4048F9A7-D1C6-0445-8517-F65826DB8473}" srcOrd="0" destOrd="0" parTransId="{C1B0D3CF-9016-6B44-ADD1-02CE7C87F922}" sibTransId="{6CC32F3F-4CE4-6246-ACCE-719BC86E8AAC}"/>
    <dgm:cxn modelId="{0038456D-B52F-3647-BA3D-3971C50B0FAD}" srcId="{6D474DC8-D503-0C43-B8AD-B5D09DA804F0}" destId="{6F2EAA06-6050-0248-9D66-46704A536F17}" srcOrd="0" destOrd="0" parTransId="{070BB44C-9140-724F-83AC-35C5FCF64969}" sibTransId="{2F35CB2D-C2CA-5540-A387-3416FD407676}"/>
    <dgm:cxn modelId="{F3777A89-957E-584B-A6EB-79B7029767EE}" type="presOf" srcId="{1F8C67D9-2ABA-E640-9DE9-755266D69F0F}" destId="{20D791CD-3FEB-1D41-9BA9-BDA1BF1E7553}" srcOrd="0" destOrd="0" presId="urn:microsoft.com/office/officeart/2005/8/layout/vList5"/>
    <dgm:cxn modelId="{A3D361A1-5DBA-B249-8CA5-24BAD5651DC8}" type="presOf" srcId="{4048F9A7-D1C6-0445-8517-F65826DB8473}" destId="{06C35CE4-22C2-9346-9FF5-AA6DD04F92F2}" srcOrd="0" destOrd="0" presId="urn:microsoft.com/office/officeart/2005/8/layout/vList5"/>
    <dgm:cxn modelId="{5D5DFBA6-0674-8F4D-9536-BC57967053D8}" srcId="{E50F6799-88CC-A84C-9304-E00E6F5A0337}" destId="{1F8C67D9-2ABA-E640-9DE9-755266D69F0F}" srcOrd="0" destOrd="0" parTransId="{2959FA0B-FFC7-BD48-9629-51F9F5ED54B9}" sibTransId="{87F8F0D7-5F8F-ED47-A2F5-FBEE8BD215BF}"/>
    <dgm:cxn modelId="{AB4735B8-2A25-CA45-9F76-DFFB9B533A3D}" type="presOf" srcId="{6D474DC8-D503-0C43-B8AD-B5D09DA804F0}" destId="{AF6860D7-C030-0C43-8779-A6C4BC925151}" srcOrd="0" destOrd="0" presId="urn:microsoft.com/office/officeart/2005/8/layout/vList5"/>
    <dgm:cxn modelId="{71F563CF-EE8E-7C44-B286-5200AF3F105A}" srcId="{7D5DD1D8-180F-2048-BFAB-5E8AAFBB446F}" destId="{7E456FF5-CCC9-1842-A13E-DD9153937BAC}" srcOrd="0" destOrd="0" parTransId="{54FA3B30-8D6B-6548-A4F5-946773CA427C}" sibTransId="{243FCDE6-DD79-CF4F-9FAE-9BEC7DE93382}"/>
    <dgm:cxn modelId="{51FEC1D5-541E-F842-9947-3B5E6F22B3FA}" srcId="{7E456FF5-CCC9-1842-A13E-DD9153937BAC}" destId="{C6FC7027-8A09-5E4F-94C0-C701F1BD4EA1}" srcOrd="0" destOrd="0" parTransId="{A7040C5B-2AB7-544E-854C-71237D3B4889}" sibTransId="{7B770EA8-8EBA-5245-95D3-46474A4214B6}"/>
    <dgm:cxn modelId="{F5CD2DDE-1310-F541-BF10-6C30C3B43B48}" type="presOf" srcId="{E50F6799-88CC-A84C-9304-E00E6F5A0337}" destId="{199C26DA-F112-B34D-A9F9-E31E20A8358F}" srcOrd="0" destOrd="0" presId="urn:microsoft.com/office/officeart/2005/8/layout/vList5"/>
    <dgm:cxn modelId="{D5A182E1-BB23-C141-A342-0C400E3E1D28}" srcId="{7D5DD1D8-180F-2048-BFAB-5E8AAFBB446F}" destId="{6D474DC8-D503-0C43-B8AD-B5D09DA804F0}" srcOrd="1" destOrd="0" parTransId="{05494055-ABA4-2747-818E-17755E3931C4}" sibTransId="{E2FFE4D9-8702-A649-A83E-7F5CB217ED74}"/>
    <dgm:cxn modelId="{1B8985FD-1437-914D-B25A-217E2360E766}" type="presOf" srcId="{7E456FF5-CCC9-1842-A13E-DD9153937BAC}" destId="{1BE48A5F-5FC7-D34B-BEAE-30C12BFE14A2}" srcOrd="0" destOrd="0" presId="urn:microsoft.com/office/officeart/2005/8/layout/vList5"/>
    <dgm:cxn modelId="{CF9DE8A2-CDBA-C84F-B62A-5B9C2707B02A}" type="presParOf" srcId="{E791449F-EF32-4941-9339-3B1B487432C7}" destId="{4CBDA956-28ED-A94C-A358-26679C411148}" srcOrd="0" destOrd="0" presId="urn:microsoft.com/office/officeart/2005/8/layout/vList5"/>
    <dgm:cxn modelId="{B489BD4C-6F03-E04A-89F4-39D33FB939C1}" type="presParOf" srcId="{4CBDA956-28ED-A94C-A358-26679C411148}" destId="{1BE48A5F-5FC7-D34B-BEAE-30C12BFE14A2}" srcOrd="0" destOrd="0" presId="urn:microsoft.com/office/officeart/2005/8/layout/vList5"/>
    <dgm:cxn modelId="{30EF6F0A-DDB9-B64D-BFF4-0F49AC6C2512}" type="presParOf" srcId="{4CBDA956-28ED-A94C-A358-26679C411148}" destId="{4042A264-D006-5045-9624-E5345A02C671}" srcOrd="1" destOrd="0" presId="urn:microsoft.com/office/officeart/2005/8/layout/vList5"/>
    <dgm:cxn modelId="{23923330-0339-D842-944C-957238CC10B1}" type="presParOf" srcId="{E791449F-EF32-4941-9339-3B1B487432C7}" destId="{DD02F52F-625D-1D47-9F16-4774006C8082}" srcOrd="1" destOrd="0" presId="urn:microsoft.com/office/officeart/2005/8/layout/vList5"/>
    <dgm:cxn modelId="{348CD650-2FC3-E546-8D25-B0179D4E0687}" type="presParOf" srcId="{E791449F-EF32-4941-9339-3B1B487432C7}" destId="{29B38BFC-A57B-6D4F-B5A5-C308E1C1B543}" srcOrd="2" destOrd="0" presId="urn:microsoft.com/office/officeart/2005/8/layout/vList5"/>
    <dgm:cxn modelId="{1F9B9EC8-3E82-B745-B3FB-136CC6F8E068}" type="presParOf" srcId="{29B38BFC-A57B-6D4F-B5A5-C308E1C1B543}" destId="{AF6860D7-C030-0C43-8779-A6C4BC925151}" srcOrd="0" destOrd="0" presId="urn:microsoft.com/office/officeart/2005/8/layout/vList5"/>
    <dgm:cxn modelId="{EE059E60-0755-3E45-A5E1-22ADD330C696}" type="presParOf" srcId="{29B38BFC-A57B-6D4F-B5A5-C308E1C1B543}" destId="{83816CBE-3672-5547-9996-5A20678F4AF4}" srcOrd="1" destOrd="0" presId="urn:microsoft.com/office/officeart/2005/8/layout/vList5"/>
    <dgm:cxn modelId="{55C26A96-AE66-D248-906A-537AF2665F0B}" type="presParOf" srcId="{E791449F-EF32-4941-9339-3B1B487432C7}" destId="{63A6CD06-85BE-244E-AE2E-B30E74F5F299}" srcOrd="3" destOrd="0" presId="urn:microsoft.com/office/officeart/2005/8/layout/vList5"/>
    <dgm:cxn modelId="{6E3F82FB-1F6B-6C45-B2AE-0CA7D20ACA62}" type="presParOf" srcId="{E791449F-EF32-4941-9339-3B1B487432C7}" destId="{63E534D8-B79E-4349-BB31-D208FAC9C5E2}" srcOrd="4" destOrd="0" presId="urn:microsoft.com/office/officeart/2005/8/layout/vList5"/>
    <dgm:cxn modelId="{28A9AF0B-71C9-8E47-9A7C-BB86172BA6B6}" type="presParOf" srcId="{63E534D8-B79E-4349-BB31-D208FAC9C5E2}" destId="{199C26DA-F112-B34D-A9F9-E31E20A8358F}" srcOrd="0" destOrd="0" presId="urn:microsoft.com/office/officeart/2005/8/layout/vList5"/>
    <dgm:cxn modelId="{22902282-93DF-DF42-8A7B-3262C54A25E8}" type="presParOf" srcId="{63E534D8-B79E-4349-BB31-D208FAC9C5E2}" destId="{20D791CD-3FEB-1D41-9BA9-BDA1BF1E7553}" srcOrd="1" destOrd="0" presId="urn:microsoft.com/office/officeart/2005/8/layout/vList5"/>
    <dgm:cxn modelId="{708F4B9A-A2C1-3E4A-971B-4DCF6E157932}" type="presParOf" srcId="{E791449F-EF32-4941-9339-3B1B487432C7}" destId="{AAD6D186-8536-034F-A08A-00570BFC757C}" srcOrd="5" destOrd="0" presId="urn:microsoft.com/office/officeart/2005/8/layout/vList5"/>
    <dgm:cxn modelId="{76F901AB-B70A-EA45-AFFC-2C5D5B464A38}" type="presParOf" srcId="{E791449F-EF32-4941-9339-3B1B487432C7}" destId="{B995BE12-D7E7-B24E-995D-D0C8B1C9554E}" srcOrd="6" destOrd="0" presId="urn:microsoft.com/office/officeart/2005/8/layout/vList5"/>
    <dgm:cxn modelId="{5F57A194-F6BE-6646-88E8-5FDD48D44011}" type="presParOf" srcId="{B995BE12-D7E7-B24E-995D-D0C8B1C9554E}" destId="{F80D649C-791C-2C40-9906-1355303216BD}" srcOrd="0" destOrd="0" presId="urn:microsoft.com/office/officeart/2005/8/layout/vList5"/>
    <dgm:cxn modelId="{FA76B185-E541-6340-BBDC-80AAA3728BA0}" type="presParOf" srcId="{B995BE12-D7E7-B24E-995D-D0C8B1C9554E}" destId="{06C35CE4-22C2-9346-9FF5-AA6DD04F92F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756755" cy="5033818"/>
        <a:chOff x="0" y="0"/>
        <a:chExt cx="10756755" cy="5033818"/>
      </a:xfrm>
    </dsp:grpSpPr>
    <dsp:sp modelId="{4042A264-D006-5045-9624-E5345A02C671}">
      <dsp:nvSpPr>
        <dsp:cNvPr id="4" name="Round Same Side Corner Rectangle 3"/>
        <dsp:cNvSpPr/>
      </dsp:nvSpPr>
      <dsp:spPr bwMode="white">
        <a:xfrm rot="5400000">
          <a:off x="5977285" y="-3341533"/>
          <a:ext cx="1135752" cy="7881793"/>
        </a:xfrm>
        <a:prstGeom prst="round2SameRect">
          <a:avLst/>
        </a:prstGeom>
      </dsp:spPr>
      <dsp:style>
        <a:lnRef idx="2">
          <a:schemeClr val="accent2">
            <a:alpha val="90000"/>
            <a:tint val="40000"/>
          </a:schemeClr>
        </a:lnRef>
        <a:fillRef idx="1">
          <a:schemeClr val="accent2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lIns="76200" tIns="38100" rIns="76200" bIns="3810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2000" b="0" dirty="0">
              <a:solidFill>
                <a:schemeClr val="dk1"/>
              </a:solidFill>
              <a:latin typeface="+mn-lt"/>
            </a:rPr>
            <a:t>Providers deploy infrastructure and then make it accessible to any customers who wish to take advantage of it in a multitenant model </a:t>
          </a:r>
          <a:endParaRPr lang="zh-CN" altLang="en-US" sz="2000" b="0" dirty="0">
            <a:solidFill>
              <a:schemeClr val="dk1"/>
            </a:solidFill>
            <a:latin typeface="+mn-lt"/>
          </a:endParaRPr>
        </a:p>
      </dsp:txBody>
      <dsp:txXfrm rot="5400000">
        <a:off x="5977285" y="-3341533"/>
        <a:ext cx="1135752" cy="7881793"/>
      </dsp:txXfrm>
    </dsp:sp>
    <dsp:sp modelId="{1BE48A5F-5FC7-D34B-BEAE-30C12BFE14A2}">
      <dsp:nvSpPr>
        <dsp:cNvPr id="3" name="Rounded Rectangle 2"/>
        <dsp:cNvSpPr/>
      </dsp:nvSpPr>
      <dsp:spPr bwMode="white">
        <a:xfrm>
          <a:off x="270698" y="0"/>
          <a:ext cx="2333566" cy="1198726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lIns="76200" tIns="38100" rIns="76200" bIns="381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2000" b="0" dirty="0">
              <a:latin typeface="+mn-lt"/>
            </a:rPr>
            <a:t>Public Cloud </a:t>
          </a:r>
          <a:endParaRPr lang="zh-CN" altLang="en-US" sz="2000" b="0" dirty="0">
            <a:latin typeface="+mn-lt"/>
          </a:endParaRPr>
        </a:p>
      </dsp:txBody>
      <dsp:txXfrm>
        <a:off x="270698" y="0"/>
        <a:ext cx="2333566" cy="1198726"/>
      </dsp:txXfrm>
    </dsp:sp>
    <dsp:sp modelId="{83816CBE-3672-5547-9996-5A20678F4AF4}">
      <dsp:nvSpPr>
        <dsp:cNvPr id="6" name="Round Same Side Corner Rectangle 5"/>
        <dsp:cNvSpPr/>
      </dsp:nvSpPr>
      <dsp:spPr bwMode="white">
        <a:xfrm rot="5400000">
          <a:off x="5977285" y="-2063169"/>
          <a:ext cx="1135752" cy="7881793"/>
        </a:xfrm>
        <a:prstGeom prst="round2SameRect">
          <a:avLst/>
        </a:prstGeom>
      </dsp:spPr>
      <dsp:style>
        <a:lnRef idx="2">
          <a:schemeClr val="accent2">
            <a:alpha val="90000"/>
            <a:tint val="40000"/>
          </a:schemeClr>
        </a:lnRef>
        <a:fillRef idx="1">
          <a:schemeClr val="accent2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lIns="76200" tIns="38100" rIns="76200" bIns="3810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b="0" kern="1200" dirty="0">
              <a:solidFill>
                <a:schemeClr val="dk1"/>
              </a:solidFill>
              <a:latin typeface="+mn-lt"/>
              <a:ea typeface="+mn-ea"/>
              <a:cs typeface="+mn-cs"/>
            </a:rPr>
            <a:t>Used to describe any cloud infrastructure that is provisioned for use by a single customer </a:t>
          </a:r>
          <a:endParaRPr lang="zh-CN" altLang="en-US" sz="2000" b="0" kern="1200" dirty="0">
            <a:solidFill>
              <a:schemeClr val="dk1"/>
            </a:solidFill>
            <a:latin typeface="+mn-lt"/>
            <a:ea typeface="+mn-ea"/>
            <a:cs typeface="+mn-cs"/>
          </a:endParaRPr>
        </a:p>
      </dsp:txBody>
      <dsp:txXfrm rot="5400000">
        <a:off x="5977285" y="-2063169"/>
        <a:ext cx="1135752" cy="7881793"/>
      </dsp:txXfrm>
    </dsp:sp>
    <dsp:sp modelId="{AF6860D7-C030-0C43-8779-A6C4BC925151}">
      <dsp:nvSpPr>
        <dsp:cNvPr id="5" name="Rounded Rectangle 4"/>
        <dsp:cNvSpPr/>
      </dsp:nvSpPr>
      <dsp:spPr bwMode="white">
        <a:xfrm>
          <a:off x="270698" y="1278364"/>
          <a:ext cx="2333566" cy="1198726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lIns="76200" tIns="38100" rIns="76200" bIns="381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2000" b="0" dirty="0">
              <a:latin typeface="+mn-lt"/>
            </a:rPr>
            <a:t>Private Cloud </a:t>
          </a:r>
          <a:endParaRPr lang="zh-CN" altLang="en-US" sz="2000" b="0" dirty="0">
            <a:latin typeface="+mn-lt"/>
          </a:endParaRPr>
        </a:p>
      </dsp:txBody>
      <dsp:txXfrm>
        <a:off x="270698" y="1278364"/>
        <a:ext cx="2333566" cy="1198726"/>
      </dsp:txXfrm>
    </dsp:sp>
    <dsp:sp modelId="{20D791CD-3FEB-1D41-9BA9-BDA1BF1E7553}">
      <dsp:nvSpPr>
        <dsp:cNvPr id="8" name="Round Same Side Corner Rectangle 7"/>
        <dsp:cNvSpPr/>
      </dsp:nvSpPr>
      <dsp:spPr bwMode="white">
        <a:xfrm rot="5400000">
          <a:off x="5977285" y="-784805"/>
          <a:ext cx="1135752" cy="7881793"/>
        </a:xfrm>
        <a:prstGeom prst="round2SameRect">
          <a:avLst/>
        </a:prstGeom>
      </dsp:spPr>
      <dsp:style>
        <a:lnRef idx="2">
          <a:schemeClr val="accent2">
            <a:alpha val="90000"/>
            <a:tint val="40000"/>
          </a:schemeClr>
        </a:lnRef>
        <a:fillRef idx="1">
          <a:schemeClr val="accent2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lIns="76200" tIns="38100" rIns="76200" bIns="3810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dirty="0">
              <a:solidFill>
                <a:schemeClr val="dk1"/>
              </a:solidFill>
              <a:latin typeface="+mn-lt"/>
            </a:rPr>
            <a:t>Run in a multitenant environment, but the tenants are limited to members of a specifically designed community </a:t>
          </a:r>
          <a:endParaRPr lang="zh-CN" altLang="en-US" sz="2000" b="0" dirty="0">
            <a:solidFill>
              <a:schemeClr val="dk1"/>
            </a:solidFill>
            <a:latin typeface="+mn-lt"/>
          </a:endParaRPr>
        </a:p>
      </dsp:txBody>
      <dsp:txXfrm rot="5400000">
        <a:off x="5977285" y="-784805"/>
        <a:ext cx="1135752" cy="7881793"/>
      </dsp:txXfrm>
    </dsp:sp>
    <dsp:sp modelId="{199C26DA-F112-B34D-A9F9-E31E20A8358F}">
      <dsp:nvSpPr>
        <dsp:cNvPr id="7" name="Rounded Rectangle 6"/>
        <dsp:cNvSpPr/>
      </dsp:nvSpPr>
      <dsp:spPr bwMode="white">
        <a:xfrm>
          <a:off x="270698" y="2556728"/>
          <a:ext cx="2333566" cy="1198726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lIns="76200" tIns="38100" rIns="76200" bIns="381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2000" b="0" dirty="0">
              <a:latin typeface="+mn-lt"/>
            </a:rPr>
            <a:t>Community Cloud </a:t>
          </a:r>
          <a:endParaRPr lang="zh-CN" altLang="en-US" sz="2000" b="0" dirty="0">
            <a:latin typeface="+mn-lt"/>
          </a:endParaRPr>
        </a:p>
      </dsp:txBody>
      <dsp:txXfrm>
        <a:off x="270698" y="2556728"/>
        <a:ext cx="2333566" cy="1198726"/>
      </dsp:txXfrm>
    </dsp:sp>
    <dsp:sp modelId="{06C35CE4-22C2-9346-9FF5-AA6DD04F92F2}">
      <dsp:nvSpPr>
        <dsp:cNvPr id="10" name="Round Same Side Corner Rectangle 9"/>
        <dsp:cNvSpPr/>
      </dsp:nvSpPr>
      <dsp:spPr bwMode="white">
        <a:xfrm rot="5400000">
          <a:off x="5954119" y="516724"/>
          <a:ext cx="1135752" cy="7835461"/>
        </a:xfrm>
        <a:prstGeom prst="round2SameRect">
          <a:avLst/>
        </a:prstGeom>
      </dsp:spPr>
      <dsp:style>
        <a:lnRef idx="2">
          <a:schemeClr val="accent2">
            <a:alpha val="90000"/>
            <a:tint val="40000"/>
          </a:schemeClr>
        </a:lnRef>
        <a:fillRef idx="1">
          <a:schemeClr val="accent2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lIns="76200" tIns="38100" rIns="76200" bIns="3810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dirty="0">
              <a:solidFill>
                <a:schemeClr val="dk1"/>
              </a:solidFill>
              <a:latin typeface="+mn-lt"/>
            </a:rPr>
            <a:t>A catch-all term used to describe cloud deployments that blend public, private, and/or community cloud services together </a:t>
          </a:r>
          <a:endParaRPr lang="zh-CN" altLang="en-US" sz="2000" dirty="0">
            <a:solidFill>
              <a:schemeClr val="dk1"/>
            </a:solidFill>
            <a:latin typeface="+mn-lt"/>
          </a:endParaRPr>
        </a:p>
      </dsp:txBody>
      <dsp:txXfrm rot="5400000">
        <a:off x="5954119" y="516724"/>
        <a:ext cx="1135752" cy="7835461"/>
      </dsp:txXfrm>
    </dsp:sp>
    <dsp:sp modelId="{F80D649C-791C-2C40-9906-1355303216BD}">
      <dsp:nvSpPr>
        <dsp:cNvPr id="9" name="Rounded Rectangle 8"/>
        <dsp:cNvSpPr/>
      </dsp:nvSpPr>
      <dsp:spPr bwMode="white">
        <a:xfrm>
          <a:off x="270698" y="3835092"/>
          <a:ext cx="2333566" cy="1198726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lIns="76200" tIns="38100" rIns="76200" bIns="381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2000" b="0" dirty="0">
              <a:latin typeface="+mn-lt"/>
            </a:rPr>
            <a:t>Hybrid Cloud </a:t>
          </a:r>
          <a:endParaRPr lang="zh-CN" altLang="en-US" sz="2000" b="0" dirty="0">
            <a:latin typeface="+mn-lt"/>
          </a:endParaRPr>
        </a:p>
      </dsp:txBody>
      <dsp:txXfrm>
        <a:off x="270698" y="3835092"/>
        <a:ext cx="2333566" cy="11987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type="round2SameRect" r:blip="" rot="90">
                    <dgm:adjLst/>
                  </dgm:shape>
                </dgm:if>
                <dgm:else name="Name12">
                  <dgm:shape xmlns:r="http://schemas.openxmlformats.org/officeDocument/2006/relationships" type="round2SameRect" r:blip="" rot="-90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770A77-0322-144B-A442-185C78F8F8D1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B1B272-4631-6D43-8F54-E9CCF47A9DA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Core</a:t>
            </a:r>
            <a:r>
              <a:rPr lang="en-US" dirty="0"/>
              <a:t>: the center of the network; web servers, databases, and applications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Many people need access to this layer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Distribution Layer</a:t>
            </a:r>
            <a:r>
              <a:rPr lang="en-US" dirty="0"/>
              <a:t>: midpoint between the core and the users; manages the path of the network to the users. COMMUNICATION BETWEEN SWITCHES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Access/Edge</a:t>
            </a:r>
            <a:r>
              <a:rPr lang="en-US" dirty="0"/>
              <a:t>: where the users are located; workstations and printers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1B272-4631-6D43-8F54-E9CCF47A9DA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North-South traffic is entering or leaving the data center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East-West is traffic and data that is being sent between devices within the data center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1B272-4631-6D43-8F54-E9CCF47A9DA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SDN</a:t>
            </a:r>
            <a:r>
              <a:rPr lang="en-US" dirty="0"/>
              <a:t>: combines the functionality of data, control, and management to one centralized device or controller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Takes all the different functions of different devices and combines them into one to operate separately logically</a:t>
            </a: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b="1" u="sng" dirty="0"/>
              <a:t>Application layer</a:t>
            </a:r>
            <a:r>
              <a:rPr lang="en-US" b="0" u="none" dirty="0"/>
              <a:t>: includes firewalls, IDS/IPS, Load balancers</a:t>
            </a:r>
            <a:endParaRPr lang="en-US" b="1" u="sng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b="1" u="sng" dirty="0"/>
              <a:t>Control layer</a:t>
            </a:r>
            <a:r>
              <a:rPr lang="en-US" dirty="0"/>
              <a:t>: acts as the SDN controller, manages the traffic flow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Infrastructure layer</a:t>
            </a:r>
            <a:r>
              <a:rPr lang="en-US" dirty="0"/>
              <a:t>: made up of the physical switches and routers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1B272-4631-6D43-8F54-E9CCF47A9DA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Each leaf switch connects to each spine switch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Leaf switches and spine switches don’t connect directly to each other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1B272-4631-6D43-8F54-E9CCF47A9DA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Top-rack switching</a:t>
            </a:r>
            <a:r>
              <a:rPr lang="en-US" dirty="0"/>
              <a:t>: each leaf switch is on top of a physical network rack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Good for cabling, its redundant, and fast. When adding to your network its costly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1B272-4631-6D43-8F54-E9CCF47A9DA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SAN</a:t>
            </a:r>
            <a:r>
              <a:rPr lang="en-US" dirty="0"/>
              <a:t>: high-capacity storage devices that are connected by a high-speed private network separate from the LAN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Data collection, data management, and the use of data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Very efficient at reading and writing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Block-level access so if you have a large file, you can rewrite part of the data without having to overwrite the entire file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Requires a lot of bandwidth, usually has it own network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Fibre Channel</a:t>
            </a:r>
            <a:r>
              <a:rPr lang="en-US" dirty="0"/>
              <a:t>: Allows you to connect servers and storage together at very high speeds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You need a Fibre channel switch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FCoE</a:t>
            </a:r>
            <a:r>
              <a:rPr lang="en-US" dirty="0"/>
              <a:t>: If you don’t have a Fibre channel interface on a server, usually integrates with an existing Fibre channel infrastructure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Not routable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iSCSI</a:t>
            </a:r>
            <a:r>
              <a:rPr lang="en-US" dirty="0"/>
              <a:t>: Makes a remote disk, look and operate like a local disk; can be managed in software instead of hardware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1B272-4631-6D43-8F54-E9CCF47A9DA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1B272-4631-6D43-8F54-E9CCF47A9DA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1B272-4631-6D43-8F54-E9CCF47A9DA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You use coding to build the infrastructure of your servers, routers, and networks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When you make updates, you just update the code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You can use the same code to make multiple instances of the same application, switch, or router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Copy-paste-create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AUTOMATE EVERYTHING!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1B272-4631-6D43-8F54-E9CCF47A9DA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Direct Connect: a dedicated circuit can be ordered and installed between your data center and an interconnection provider or directly to the </a:t>
            </a:r>
            <a:r>
              <a:rPr lang="en-US"/>
              <a:t>cloud company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1B272-4631-6D43-8F54-E9CCF47A9DA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42A54C80-263E-416B-A8E0-580EDEADCBDC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519954A3-9DFD-4C44-94BA-B95130A3BA1C}" type="slidenum">
              <a:rPr lang="en-US" smtClean="0"/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21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 Center Architecture and Cloud Concepts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382385"/>
            <a:ext cx="10839450" cy="1492132"/>
          </a:xfrm>
        </p:spPr>
        <p:txBody>
          <a:bodyPr/>
          <a:lstStyle/>
          <a:p>
            <a:pPr algn="ctr"/>
            <a:r>
              <a:rPr lang="en-US" dirty="0"/>
              <a:t>Three-tiered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00" y="1488613"/>
            <a:ext cx="8596668" cy="3880773"/>
          </a:xfrm>
        </p:spPr>
        <p:txBody>
          <a:bodyPr/>
          <a:lstStyle/>
          <a:p>
            <a:r>
              <a:rPr lang="en-US" dirty="0"/>
              <a:t>Core</a:t>
            </a:r>
            <a:endParaRPr lang="en-US" dirty="0"/>
          </a:p>
          <a:p>
            <a:pPr lvl="1"/>
            <a:r>
              <a:rPr lang="en-US" dirty="0"/>
              <a:t>Provides interconnectivity between all network pods in the data center</a:t>
            </a:r>
            <a:endParaRPr lang="en-US" dirty="0"/>
          </a:p>
          <a:p>
            <a:r>
              <a:rPr lang="en-US" dirty="0"/>
              <a:t>Distribution/aggregation</a:t>
            </a:r>
            <a:endParaRPr lang="en-US" dirty="0"/>
          </a:p>
          <a:p>
            <a:pPr lvl="1"/>
            <a:r>
              <a:rPr lang="en-US" dirty="0"/>
              <a:t>Provide redundant connection, connect to the core, and implement security, access control and layer 3 routing</a:t>
            </a:r>
            <a:endParaRPr lang="en-US" dirty="0"/>
          </a:p>
          <a:p>
            <a:r>
              <a:rPr lang="en-US" dirty="0"/>
              <a:t>Access/edge</a:t>
            </a:r>
            <a:endParaRPr lang="en-US" dirty="0"/>
          </a:p>
          <a:p>
            <a:pPr lvl="1"/>
            <a:r>
              <a:rPr lang="en-US" dirty="0"/>
              <a:t>Devices attach to the network</a:t>
            </a:r>
            <a:endParaRPr lang="en-US" dirty="0"/>
          </a:p>
        </p:txBody>
      </p:sp>
      <p:pic>
        <p:nvPicPr>
          <p:cNvPr id="4" name="Picture 1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267" y="3135634"/>
            <a:ext cx="5914883" cy="369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86622" y="123398"/>
            <a:ext cx="10178322" cy="1492132"/>
          </a:xfrm>
        </p:spPr>
        <p:txBody>
          <a:bodyPr/>
          <a:lstStyle/>
          <a:p>
            <a:pPr algn="ctr"/>
            <a:r>
              <a:rPr lang="en-US" dirty="0"/>
              <a:t>Traffic Flows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9734" y="1270000"/>
            <a:ext cx="11142132" cy="5588000"/>
          </a:xfrm>
        </p:spPr>
        <p:txBody>
          <a:bodyPr/>
          <a:lstStyle/>
          <a:p>
            <a:r>
              <a:rPr lang="en-US" dirty="0"/>
              <a:t>North-South</a:t>
            </a:r>
            <a:endParaRPr lang="en-US" dirty="0"/>
          </a:p>
          <a:p>
            <a:pPr lvl="1"/>
            <a:r>
              <a:rPr lang="en-US" dirty="0"/>
              <a:t>Refers to traffic entering and leaving the data center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East-West</a:t>
            </a:r>
            <a:endParaRPr lang="en-US" dirty="0"/>
          </a:p>
          <a:p>
            <a:pPr lvl="1"/>
            <a:r>
              <a:rPr lang="en-US" dirty="0"/>
              <a:t>Traffic that flows inside the data center between  devices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2806" y="313841"/>
            <a:ext cx="4616159" cy="3115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7106" y="3429000"/>
            <a:ext cx="4627557" cy="3122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350" y="382385"/>
            <a:ext cx="10960278" cy="1492132"/>
          </a:xfrm>
        </p:spPr>
        <p:txBody>
          <a:bodyPr/>
          <a:lstStyle/>
          <a:p>
            <a:pPr algn="ctr"/>
            <a:r>
              <a:rPr lang="en-US" dirty="0"/>
              <a:t>Software-defined Networking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6342" y="1400696"/>
            <a:ext cx="11178294" cy="5074919"/>
          </a:xfrm>
        </p:spPr>
        <p:txBody>
          <a:bodyPr>
            <a:normAutofit/>
          </a:bodyPr>
          <a:lstStyle/>
          <a:p>
            <a:r>
              <a:rPr lang="en-US" dirty="0"/>
              <a:t>Network devices are managed as complete set and not individually from a central controller</a:t>
            </a:r>
            <a:endParaRPr lang="en-US" dirty="0"/>
          </a:p>
          <a:p>
            <a:pPr lvl="1"/>
            <a:r>
              <a:rPr lang="en-US" dirty="0"/>
              <a:t>Application Layer</a:t>
            </a:r>
            <a:endParaRPr lang="en-US" dirty="0"/>
          </a:p>
          <a:p>
            <a:pPr lvl="2"/>
            <a:r>
              <a:rPr lang="en-US" dirty="0"/>
              <a:t>Standard network applications like IDS/IPS, load balancers, proxy servers, </a:t>
            </a:r>
            <a:r>
              <a:rPr lang="en-US" dirty="0" err="1"/>
              <a:t>etc</a:t>
            </a:r>
            <a:endParaRPr lang="en-US" dirty="0"/>
          </a:p>
          <a:p>
            <a:pPr lvl="2"/>
            <a:r>
              <a:rPr lang="en-US" dirty="0"/>
              <a:t>Explicitly or programmatically communicate to the SDN Controller</a:t>
            </a:r>
            <a:endParaRPr lang="en-US" dirty="0"/>
          </a:p>
          <a:p>
            <a:pPr lvl="1"/>
            <a:r>
              <a:rPr lang="en-US" dirty="0"/>
              <a:t>Control layer</a:t>
            </a:r>
            <a:endParaRPr lang="en-US" dirty="0"/>
          </a:p>
          <a:p>
            <a:pPr lvl="2"/>
            <a:r>
              <a:rPr lang="en-US" dirty="0"/>
              <a:t>Management Plane</a:t>
            </a:r>
            <a:endParaRPr lang="en-US" dirty="0"/>
          </a:p>
          <a:p>
            <a:pPr lvl="2"/>
            <a:r>
              <a:rPr lang="en-US" dirty="0"/>
              <a:t>Processes configuration, monitoring, and other application-specific information between the application and infrastructure layers</a:t>
            </a:r>
            <a:endParaRPr lang="en-US" dirty="0"/>
          </a:p>
          <a:p>
            <a:pPr lvl="1"/>
            <a:r>
              <a:rPr lang="en-US" dirty="0"/>
              <a:t>Infrastructure Layer</a:t>
            </a:r>
            <a:endParaRPr lang="en-US" dirty="0"/>
          </a:p>
          <a:p>
            <a:pPr lvl="2"/>
            <a:r>
              <a:rPr lang="en-US" dirty="0"/>
              <a:t>Forwarding Plan</a:t>
            </a:r>
            <a:endParaRPr lang="en-US" dirty="0"/>
          </a:p>
          <a:p>
            <a:pPr lvl="2"/>
            <a:r>
              <a:rPr lang="en-US" dirty="0"/>
              <a:t>Consists of network hardware controlling the forwarding and processing for the network</a:t>
            </a:r>
            <a:endParaRPr lang="en-US" dirty="0"/>
          </a:p>
          <a:p>
            <a:pPr lvl="2"/>
            <a:r>
              <a:rPr lang="en-US" dirty="0"/>
              <a:t>Collects network health information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952500" y="382385"/>
            <a:ext cx="10953750" cy="1492132"/>
          </a:xfrm>
        </p:spPr>
        <p:txBody>
          <a:bodyPr/>
          <a:lstStyle/>
          <a:p>
            <a:pPr algn="ctr"/>
            <a:r>
              <a:rPr lang="en-US" dirty="0"/>
              <a:t>Spine and Leaf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7956" y="1128451"/>
            <a:ext cx="11178294" cy="3272099"/>
          </a:xfrm>
        </p:spPr>
        <p:txBody>
          <a:bodyPr>
            <a:noAutofit/>
          </a:bodyPr>
          <a:lstStyle/>
          <a:p>
            <a:pPr lvl="1"/>
            <a:r>
              <a:rPr lang="en-US" sz="1100" dirty="0"/>
              <a:t>Datacenters are evolving to a two-tier architecture</a:t>
            </a:r>
            <a:endParaRPr lang="en-US" sz="1100" dirty="0"/>
          </a:p>
          <a:p>
            <a:pPr lvl="1"/>
            <a:r>
              <a:rPr lang="en-US" altLang="en-US" sz="1100" dirty="0"/>
              <a:t>The two-tier architecture offers the following advantages over the traditional three tier designs.</a:t>
            </a:r>
            <a:endParaRPr lang="en-US" altLang="en-US" sz="1100" dirty="0"/>
          </a:p>
          <a:p>
            <a:pPr lvl="2"/>
            <a:r>
              <a:rPr lang="en-US" sz="1100" dirty="0"/>
              <a:t>Resiliency</a:t>
            </a:r>
            <a:endParaRPr lang="en-US" sz="1100" dirty="0"/>
          </a:p>
          <a:p>
            <a:pPr lvl="3"/>
            <a:r>
              <a:rPr lang="en-US" sz="1100" dirty="0"/>
              <a:t>Each leaf switch connects to every spine switch</a:t>
            </a:r>
            <a:endParaRPr lang="en-US" sz="1100" dirty="0"/>
          </a:p>
          <a:p>
            <a:pPr lvl="2"/>
            <a:r>
              <a:rPr lang="en-US" sz="1100" dirty="0"/>
              <a:t>Latency</a:t>
            </a:r>
            <a:endParaRPr lang="en-US" sz="1100" dirty="0"/>
          </a:p>
          <a:p>
            <a:pPr lvl="3"/>
            <a:r>
              <a:rPr lang="en-US" sz="1100" dirty="0"/>
              <a:t>Ultra low</a:t>
            </a:r>
            <a:endParaRPr lang="en-US" sz="1100" dirty="0"/>
          </a:p>
          <a:p>
            <a:pPr lvl="3"/>
            <a:r>
              <a:rPr lang="en-US" sz="1100" dirty="0"/>
              <a:t>Maximum 2 hops over a high-speed network for east-west traffic</a:t>
            </a:r>
            <a:endParaRPr lang="en-US" sz="1100" dirty="0"/>
          </a:p>
          <a:p>
            <a:pPr lvl="2"/>
            <a:r>
              <a:rPr lang="en-US" sz="1100" dirty="0"/>
              <a:t>Performance</a:t>
            </a:r>
            <a:endParaRPr lang="en-US" sz="1100" dirty="0"/>
          </a:p>
          <a:p>
            <a:pPr lvl="3"/>
            <a:r>
              <a:rPr lang="en-US" sz="1100" dirty="0"/>
              <a:t>Active-active up-links allow traffic to flow over the least congested available link</a:t>
            </a:r>
            <a:endParaRPr lang="en-US" sz="1100" dirty="0"/>
          </a:p>
          <a:p>
            <a:pPr lvl="2"/>
            <a:r>
              <a:rPr lang="en-US" sz="1100" dirty="0"/>
              <a:t>Scalability</a:t>
            </a:r>
            <a:endParaRPr lang="en-US" sz="1100" dirty="0"/>
          </a:p>
          <a:p>
            <a:pPr lvl="3"/>
            <a:r>
              <a:rPr lang="en-US" sz="1100" dirty="0"/>
              <a:t>Easy to add leaf switches for port capacity and spine switches for uplinks</a:t>
            </a:r>
            <a:endParaRPr lang="en-US" sz="1100" dirty="0"/>
          </a:p>
          <a:p>
            <a:pPr lvl="2"/>
            <a:r>
              <a:rPr lang="en-US" sz="1100" dirty="0"/>
              <a:t>Adaptability</a:t>
            </a:r>
            <a:endParaRPr lang="en-US" sz="1100" dirty="0"/>
          </a:p>
          <a:p>
            <a:pPr lvl="3"/>
            <a:r>
              <a:rPr lang="en-US" sz="1100" dirty="0"/>
              <a:t>Multiple networks are often managed from SDN controllers</a:t>
            </a:r>
            <a:endParaRPr lang="en-US" sz="1100" dirty="0"/>
          </a:p>
        </p:txBody>
      </p:sp>
      <p:pic>
        <p:nvPicPr>
          <p:cNvPr id="5" name="Picture 1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221836"/>
            <a:ext cx="5810250" cy="2594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604" y="891540"/>
            <a:ext cx="11178294" cy="5074919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Top-rack switching</a:t>
            </a:r>
            <a:endParaRPr lang="en-US" dirty="0"/>
          </a:p>
          <a:p>
            <a:pPr lvl="2"/>
            <a:r>
              <a:rPr lang="en-US" dirty="0"/>
              <a:t>Place access switches at the top of the rack </a:t>
            </a:r>
            <a:endParaRPr lang="en-US" dirty="0"/>
          </a:p>
          <a:p>
            <a:pPr lvl="2"/>
            <a:r>
              <a:rPr lang="en-US" dirty="0"/>
              <a:t>Connects to distribution or spine and leaf with high-speed links from 10G up to 100G</a:t>
            </a:r>
            <a:endParaRPr lang="en-US" dirty="0"/>
          </a:p>
          <a:p>
            <a:pPr lvl="2"/>
            <a:r>
              <a:rPr lang="en-US" dirty="0"/>
              <a:t>Advantage is lower-cost copper or coaxial cable is used and confined to the rack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Picture 1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405" y="2544201"/>
            <a:ext cx="5685847" cy="2055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33927"/>
            <a:ext cx="10858500" cy="1320800"/>
          </a:xfrm>
        </p:spPr>
        <p:txBody>
          <a:bodyPr/>
          <a:lstStyle/>
          <a:p>
            <a:pPr algn="ctr"/>
            <a:r>
              <a:rPr lang="en-US" dirty="0"/>
              <a:t>Storage Area Networks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3941" y="1393971"/>
            <a:ext cx="9981430" cy="5330102"/>
          </a:xfrm>
        </p:spPr>
        <p:txBody>
          <a:bodyPr/>
          <a:lstStyle/>
          <a:p>
            <a:r>
              <a:rPr lang="en-US" dirty="0"/>
              <a:t>Separate private network of storage devices</a:t>
            </a:r>
            <a:endParaRPr lang="en-US" dirty="0"/>
          </a:p>
          <a:p>
            <a:r>
              <a:rPr lang="en-US" dirty="0"/>
              <a:t>Connection Types</a:t>
            </a:r>
            <a:endParaRPr lang="en-US" dirty="0"/>
          </a:p>
          <a:p>
            <a:pPr lvl="1"/>
            <a:r>
              <a:rPr lang="en-US" dirty="0"/>
              <a:t>Fiber Channel over Ethernet (FCoE)</a:t>
            </a:r>
            <a:endParaRPr lang="en-US" dirty="0"/>
          </a:p>
          <a:p>
            <a:pPr lvl="2"/>
            <a:r>
              <a:rPr lang="en-US" dirty="0"/>
              <a:t>Encapsulates fiber channel frames within ethernet frames</a:t>
            </a:r>
            <a:endParaRPr lang="en-US" dirty="0"/>
          </a:p>
          <a:p>
            <a:pPr lvl="2"/>
            <a:r>
              <a:rPr lang="en-US" dirty="0"/>
              <a:t>Allows traffic on the IP network</a:t>
            </a:r>
            <a:endParaRPr lang="en-US" dirty="0"/>
          </a:p>
          <a:p>
            <a:pPr lvl="1"/>
            <a:r>
              <a:rPr lang="en-US" dirty="0"/>
              <a:t>Fiber Channel</a:t>
            </a:r>
            <a:endParaRPr lang="en-US" dirty="0"/>
          </a:p>
          <a:p>
            <a:pPr lvl="2"/>
            <a:r>
              <a:rPr lang="en-US" dirty="0"/>
              <a:t>Used to connect computer data storage</a:t>
            </a:r>
            <a:endParaRPr lang="en-US" dirty="0"/>
          </a:p>
          <a:p>
            <a:pPr lvl="2"/>
            <a:r>
              <a:rPr lang="en-US" dirty="0"/>
              <a:t>2, 4, 8, 16Gbps</a:t>
            </a:r>
            <a:endParaRPr lang="en-US" dirty="0"/>
          </a:p>
          <a:p>
            <a:pPr lvl="2"/>
            <a:r>
              <a:rPr lang="en-US" dirty="0"/>
              <a:t>Not compatible with the regular IP based data network</a:t>
            </a:r>
            <a:endParaRPr lang="en-US" dirty="0"/>
          </a:p>
          <a:p>
            <a:pPr lvl="1"/>
            <a:r>
              <a:rPr lang="en-US" dirty="0"/>
              <a:t>Internet Small Computer Systems Interface (iSCSI)</a:t>
            </a:r>
            <a:endParaRPr lang="en-US" dirty="0"/>
          </a:p>
          <a:p>
            <a:pPr lvl="2"/>
            <a:r>
              <a:rPr lang="en-US" dirty="0"/>
              <a:t>IP-based standard method for encapsulating SCSI commands within IP Packets</a:t>
            </a:r>
            <a:endParaRPr lang="en-US" dirty="0"/>
          </a:p>
          <a:p>
            <a:pPr lvl="2"/>
            <a:r>
              <a:rPr lang="en-US" dirty="0"/>
              <a:t>Can use the same network for storage and data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499" y="1034473"/>
            <a:ext cx="4800601" cy="3135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448" y="609600"/>
            <a:ext cx="11330552" cy="13208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Branch Office vs. on-premises datacenter vs co-location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Deciding to where to place a datacenter can be a daunting task.</a:t>
            </a:r>
            <a:endParaRPr lang="en-US" dirty="0"/>
          </a:p>
          <a:p>
            <a:r>
              <a:rPr lang="en-US" dirty="0"/>
              <a:t>Do I want it closer to the user, do I want to build and manage a datacenter or do I want to lease space</a:t>
            </a:r>
            <a:endParaRPr lang="en-US" dirty="0"/>
          </a:p>
          <a:p>
            <a:r>
              <a:rPr lang="en-US" dirty="0"/>
              <a:t>Branch Office</a:t>
            </a:r>
            <a:endParaRPr lang="en-US" dirty="0"/>
          </a:p>
          <a:p>
            <a:pPr lvl="1"/>
            <a:r>
              <a:rPr lang="en-US" dirty="0"/>
              <a:t>Puts data closest to the user.</a:t>
            </a:r>
            <a:endParaRPr lang="en-US" dirty="0"/>
          </a:p>
          <a:p>
            <a:pPr lvl="1"/>
            <a:r>
              <a:rPr lang="en-US" dirty="0"/>
              <a:t>No remote links</a:t>
            </a:r>
            <a:endParaRPr lang="en-US" dirty="0"/>
          </a:p>
          <a:p>
            <a:r>
              <a:rPr lang="en-US" dirty="0"/>
              <a:t>On premise</a:t>
            </a:r>
            <a:endParaRPr lang="en-US" dirty="0"/>
          </a:p>
          <a:p>
            <a:pPr lvl="1"/>
            <a:r>
              <a:rPr lang="en-US" dirty="0"/>
              <a:t>Separate datacenter that has its own staff </a:t>
            </a:r>
            <a:endParaRPr lang="en-US" dirty="0"/>
          </a:p>
          <a:p>
            <a:pPr lvl="1"/>
            <a:r>
              <a:rPr lang="en-US" dirty="0"/>
              <a:t>Can be resilient to environmental considerations(backup Datacenter)</a:t>
            </a:r>
            <a:endParaRPr lang="en-US" dirty="0"/>
          </a:p>
          <a:p>
            <a:r>
              <a:rPr lang="en-US" dirty="0"/>
              <a:t>Co-location </a:t>
            </a:r>
            <a:endParaRPr lang="en-US" dirty="0"/>
          </a:p>
          <a:p>
            <a:pPr lvl="1"/>
            <a:r>
              <a:rPr lang="en-US" dirty="0"/>
              <a:t>Provider builds out datacenter and leases space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382385"/>
            <a:ext cx="10972800" cy="1492132"/>
          </a:xfrm>
        </p:spPr>
        <p:txBody>
          <a:bodyPr/>
          <a:lstStyle/>
          <a:p>
            <a:pPr algn="ctr"/>
            <a:r>
              <a:rPr lang="en-US" dirty="0"/>
              <a:t>Cloud Deployment Models</a:t>
            </a:r>
            <a:endParaRPr lang="en-US" dirty="0"/>
          </a:p>
        </p:txBody>
      </p:sp>
      <p:graphicFrame>
        <p:nvGraphicFramePr>
          <p:cNvPr id="4" name="内容占位符 4"/>
          <p:cNvGraphicFramePr>
            <a:graphicFrameLocks noGrp="1"/>
          </p:cNvGraphicFramePr>
          <p:nvPr>
            <p:ph idx="1"/>
          </p:nvPr>
        </p:nvGraphicFramePr>
        <p:xfrm>
          <a:off x="876300" y="1441797"/>
          <a:ext cx="10756755" cy="50338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288" y="382385"/>
            <a:ext cx="10526712" cy="1492132"/>
          </a:xfrm>
        </p:spPr>
        <p:txBody>
          <a:bodyPr/>
          <a:lstStyle/>
          <a:p>
            <a:pPr algn="ctr"/>
            <a:r>
              <a:rPr lang="en-US" dirty="0"/>
              <a:t>Service Models</a:t>
            </a:r>
            <a:endParaRPr lang="en-US" dirty="0"/>
          </a:p>
        </p:txBody>
      </p:sp>
      <p:sp>
        <p:nvSpPr>
          <p:cNvPr id="4" name="CustomShape 1"/>
          <p:cNvSpPr>
            <a:spLocks noGrp="1"/>
          </p:cNvSpPr>
          <p:nvPr>
            <p:ph idx="1"/>
          </p:nvPr>
        </p:nvSpPr>
        <p:spPr>
          <a:xfrm>
            <a:off x="903288" y="1397202"/>
            <a:ext cx="10526712" cy="507841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800" spc="-1" dirty="0">
                <a:solidFill>
                  <a:srgbClr val="000000"/>
                </a:solidFill>
                <a:latin typeface="Arial" panose="020B0604020202020204"/>
                <a:ea typeface="DejaVu Sans"/>
              </a:rPr>
              <a:t>IaaS – Infrastructure as a Service</a:t>
            </a:r>
            <a:endParaRPr lang="en-US" sz="2800" spc="-1" dirty="0">
              <a:solidFill>
                <a:srgbClr val="000000"/>
              </a:solidFill>
              <a:latin typeface="Arial" panose="020B0604020202020204"/>
              <a:ea typeface="DejaVu Sans"/>
            </a:endParaRPr>
          </a:p>
          <a:p>
            <a:pPr marL="914400" lvl="1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spc="-1" dirty="0">
                <a:solidFill>
                  <a:srgbClr val="000000"/>
                </a:solidFill>
                <a:latin typeface="Arial" panose="020B0604020202020204"/>
                <a:ea typeface="DejaVu Sans"/>
              </a:rPr>
              <a:t>Building blocks for IT</a:t>
            </a:r>
            <a:endParaRPr lang="en-US" sz="2800" spc="-1" dirty="0">
              <a:solidFill>
                <a:srgbClr val="000000"/>
              </a:solidFill>
              <a:latin typeface="Arial" panose="020B0604020202020204"/>
              <a:ea typeface="DejaVu Sans"/>
            </a:endParaRPr>
          </a:p>
          <a:p>
            <a:pPr marL="914400" lvl="1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spc="-1" dirty="0">
                <a:solidFill>
                  <a:srgbClr val="000000"/>
                </a:solidFill>
                <a:latin typeface="Arial" panose="020B0604020202020204"/>
                <a:ea typeface="DejaVu Sans"/>
              </a:rPr>
              <a:t>Network, Compute, Storage</a:t>
            </a:r>
            <a:endParaRPr lang="en-US" sz="2800" spc="-1" dirty="0">
              <a:solidFill>
                <a:srgbClr val="000000"/>
              </a:solidFill>
              <a:latin typeface="Arial" panose="020B0604020202020204"/>
              <a:ea typeface="DejaVu Sans"/>
            </a:endParaRPr>
          </a:p>
          <a:p>
            <a:pPr marL="914400" lvl="1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spc="-1" dirty="0">
                <a:solidFill>
                  <a:srgbClr val="000000"/>
                </a:solidFill>
                <a:latin typeface="Arial" panose="020B0604020202020204"/>
                <a:ea typeface="DejaVu Sans"/>
              </a:rPr>
              <a:t>Very Flexible</a:t>
            </a:r>
            <a:endParaRPr lang="en-US" sz="2800" spc="-1" dirty="0">
              <a:solidFill>
                <a:srgbClr val="000000"/>
              </a:solidFill>
              <a:latin typeface="Arial" panose="020B0604020202020204"/>
              <a:ea typeface="DejaVu San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800" spc="-1" dirty="0">
                <a:solidFill>
                  <a:srgbClr val="000000"/>
                </a:solidFill>
                <a:latin typeface="Arial" panose="020B0604020202020204"/>
                <a:ea typeface="DejaVu Sans"/>
              </a:rPr>
              <a:t>PaaS – Platform as a Service</a:t>
            </a:r>
            <a:endParaRPr lang="en-US" sz="2800" spc="-1" dirty="0">
              <a:solidFill>
                <a:srgbClr val="000000"/>
              </a:solidFill>
              <a:latin typeface="Arial" panose="020B0604020202020204"/>
              <a:ea typeface="DejaVu Sans"/>
            </a:endParaRPr>
          </a:p>
          <a:p>
            <a:pPr marL="914400" lvl="1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spc="-1" dirty="0">
                <a:solidFill>
                  <a:srgbClr val="000000"/>
                </a:solidFill>
                <a:latin typeface="Arial" panose="020B0604020202020204"/>
                <a:ea typeface="DejaVu Sans"/>
              </a:rPr>
              <a:t>No need to manage underlying infrastructure</a:t>
            </a:r>
            <a:endParaRPr lang="en-US" sz="2800" spc="-1" dirty="0">
              <a:solidFill>
                <a:srgbClr val="000000"/>
              </a:solidFill>
              <a:latin typeface="Arial" panose="020B0604020202020204"/>
              <a:ea typeface="DejaVu Sans"/>
            </a:endParaRPr>
          </a:p>
          <a:p>
            <a:pPr marL="914400" lvl="1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spc="-1" dirty="0">
                <a:solidFill>
                  <a:srgbClr val="000000"/>
                </a:solidFill>
                <a:latin typeface="Arial" panose="020B0604020202020204"/>
                <a:ea typeface="DejaVu Sans"/>
              </a:rPr>
              <a:t>Focus on deployment and management</a:t>
            </a:r>
            <a:endParaRPr lang="en-US" sz="2800" spc="-1" dirty="0">
              <a:solidFill>
                <a:srgbClr val="000000"/>
              </a:solidFill>
              <a:latin typeface="Arial" panose="020B0604020202020204"/>
              <a:ea typeface="DejaVu San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2800" b="0" i="0" u="none" strike="noStrike" kern="1200" cap="none" spc="-1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DejaVu Sans"/>
              </a:rPr>
              <a:t>Saa</a:t>
            </a:r>
            <a:r>
              <a:rPr lang="en-US" sz="2800" spc="-1" dirty="0">
                <a:solidFill>
                  <a:srgbClr val="000000"/>
                </a:solidFill>
                <a:latin typeface="Arial" panose="020B0604020202020204"/>
                <a:ea typeface="DejaVu Sans"/>
              </a:rPr>
              <a:t>S – Software as a Service</a:t>
            </a:r>
            <a:endParaRPr lang="en-US" sz="2800" spc="-1" dirty="0">
              <a:solidFill>
                <a:srgbClr val="000000"/>
              </a:solidFill>
              <a:latin typeface="Arial" panose="020B0604020202020204"/>
              <a:ea typeface="DejaVu Sans"/>
            </a:endParaRPr>
          </a:p>
          <a:p>
            <a:pPr marL="914400" lvl="1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spc="-1" dirty="0">
                <a:solidFill>
                  <a:srgbClr val="000000"/>
                </a:solidFill>
                <a:latin typeface="Arial" panose="020B0604020202020204"/>
                <a:ea typeface="DejaVu Sans"/>
              </a:rPr>
              <a:t>Ran and managed by the service provider</a:t>
            </a:r>
            <a:endParaRPr lang="en-US" sz="2800" spc="-1" dirty="0">
              <a:solidFill>
                <a:srgbClr val="000000"/>
              </a:solidFill>
              <a:latin typeface="Arial" panose="020B0604020202020204"/>
              <a:ea typeface="DejaVu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450" y="272473"/>
            <a:ext cx="10940907" cy="1492132"/>
          </a:xfrm>
        </p:spPr>
        <p:txBody>
          <a:bodyPr/>
          <a:lstStyle/>
          <a:p>
            <a:r>
              <a:rPr lang="en-US" dirty="0"/>
              <a:t>Infrastructure as Code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933450" y="1396856"/>
            <a:ext cx="10378065" cy="4979121"/>
          </a:xfrm>
        </p:spPr>
        <p:txBody>
          <a:bodyPr>
            <a:normAutofit/>
          </a:bodyPr>
          <a:lstStyle/>
          <a:p>
            <a:r>
              <a:rPr lang="en-US" dirty="0"/>
              <a:t>Process of automating the provisioning, management, and deprovisioning of infrastructure services through scripted code rather than human intervention.</a:t>
            </a:r>
            <a:endParaRPr lang="en-US" dirty="0"/>
          </a:p>
          <a:p>
            <a:r>
              <a:rPr lang="en-US" dirty="0"/>
              <a:t>The major advantages to using an </a:t>
            </a:r>
            <a:r>
              <a:rPr lang="en-US" dirty="0" err="1"/>
              <a:t>IaC</a:t>
            </a:r>
            <a:r>
              <a:rPr lang="en-US" dirty="0"/>
              <a:t> approach</a:t>
            </a:r>
            <a:endParaRPr lang="en-US" dirty="0"/>
          </a:p>
          <a:p>
            <a:pPr lvl="1"/>
            <a:r>
              <a:rPr lang="en-US" dirty="0"/>
              <a:t>Increasing the reusability of code </a:t>
            </a:r>
            <a:endParaRPr lang="en-US" dirty="0"/>
          </a:p>
          <a:p>
            <a:pPr lvl="1"/>
            <a:r>
              <a:rPr lang="en-US" dirty="0"/>
              <a:t>Reducing the time spent by operations team creating infrastructure components </a:t>
            </a:r>
            <a:endParaRPr lang="en-US" dirty="0"/>
          </a:p>
          <a:p>
            <a:pPr lvl="1"/>
            <a:r>
              <a:rPr lang="en-US" dirty="0"/>
              <a:t>Increasing the speed of infrastructure creation</a:t>
            </a:r>
            <a:endParaRPr lang="en-US" dirty="0"/>
          </a:p>
          <a:p>
            <a:pPr lvl="1"/>
            <a:r>
              <a:rPr lang="en-US" dirty="0"/>
              <a:t>Reducing the likelihood of configuration errors by leveraging common templates</a:t>
            </a:r>
            <a:endParaRPr lang="en-US" dirty="0"/>
          </a:p>
          <a:p>
            <a:endParaRPr lang="en-US" dirty="0"/>
          </a:p>
        </p:txBody>
      </p:sp>
      <p:pic>
        <p:nvPicPr>
          <p:cNvPr id="5" name="内容占位符 4" descr="手机屏幕截图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766" y="4244109"/>
            <a:ext cx="6659414" cy="244963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CustomShape 1"/>
          <p:cNvSpPr/>
          <p:nvPr/>
        </p:nvSpPr>
        <p:spPr>
          <a:xfrm>
            <a:off x="2508142" y="235934"/>
            <a:ext cx="6399360" cy="114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 defTabSz="914400">
              <a:defRPr/>
            </a:pPr>
            <a:r>
              <a:rPr lang="en-US" sz="2400" spc="-1" dirty="0">
                <a:solidFill>
                  <a:srgbClr val="000000"/>
                </a:solidFill>
                <a:latin typeface="Calibri" panose="020F0502020204030204"/>
                <a:ea typeface="DejaVu Sans"/>
              </a:rPr>
              <a:t>The breakdown of responsibility across multiple cloud models</a:t>
            </a:r>
            <a:endParaRPr lang="en-US" sz="2400" spc="-1" dirty="0">
              <a:solidFill>
                <a:prstClr val="black"/>
              </a:solidFill>
              <a:latin typeface="Arial" panose="020B0604020202020204"/>
            </a:endParaRPr>
          </a:p>
        </p:txBody>
      </p:sp>
      <p:pic>
        <p:nvPicPr>
          <p:cNvPr id="230" name="Picture 229"/>
          <p:cNvPicPr/>
          <p:nvPr/>
        </p:nvPicPr>
        <p:blipFill>
          <a:blip r:embed="rId1"/>
          <a:stretch>
            <a:fillRect/>
          </a:stretch>
        </p:blipFill>
        <p:spPr>
          <a:xfrm>
            <a:off x="1152053" y="1449179"/>
            <a:ext cx="8185676" cy="4982617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8423" y="650929"/>
            <a:ext cx="9221491" cy="5556142"/>
          </a:xfrm>
        </p:spPr>
        <p:txBody>
          <a:bodyPr/>
          <a:lstStyle/>
          <a:p>
            <a:r>
              <a:rPr lang="en-US" dirty="0"/>
              <a:t>Connectivity Options</a:t>
            </a:r>
            <a:endParaRPr lang="en-US" dirty="0"/>
          </a:p>
          <a:p>
            <a:pPr lvl="1"/>
            <a:r>
              <a:rPr lang="en-US" dirty="0"/>
              <a:t>VPN</a:t>
            </a:r>
            <a:endParaRPr lang="en-US" dirty="0"/>
          </a:p>
          <a:p>
            <a:pPr lvl="1"/>
            <a:r>
              <a:rPr lang="en-US" dirty="0"/>
              <a:t>Direct Connect</a:t>
            </a:r>
            <a:endParaRPr lang="en-US" dirty="0"/>
          </a:p>
          <a:p>
            <a:r>
              <a:rPr lang="en-US" dirty="0"/>
              <a:t>Multitenancy</a:t>
            </a:r>
            <a:endParaRPr lang="en-US" dirty="0"/>
          </a:p>
          <a:p>
            <a:r>
              <a:rPr lang="en-US" dirty="0"/>
              <a:t>Elasticity</a:t>
            </a:r>
            <a:endParaRPr lang="en-US" dirty="0"/>
          </a:p>
          <a:p>
            <a:r>
              <a:rPr lang="en-US" dirty="0"/>
              <a:t>Scalability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{A74C1714-5C0B-3846-B47C-6ECBC5836BBB}tf10001071</Template>
  <TotalTime>0</TotalTime>
  <Words>3656</Words>
  <Application>WPS Presentation</Application>
  <PresentationFormat>Widescreen</PresentationFormat>
  <Paragraphs>134</Paragraphs>
  <Slides>13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SimSun</vt:lpstr>
      <vt:lpstr>Wingdings</vt:lpstr>
      <vt:lpstr>Gill Sans MT</vt:lpstr>
      <vt:lpstr>Arial</vt:lpstr>
      <vt:lpstr>DejaVu Sans</vt:lpstr>
      <vt:lpstr>Calibri</vt:lpstr>
      <vt:lpstr>Calibri</vt:lpstr>
      <vt:lpstr>Impact</vt:lpstr>
      <vt:lpstr>Microsoft YaHei</vt:lpstr>
      <vt:lpstr>Arial Unicode MS</vt:lpstr>
      <vt:lpstr>Badge</vt:lpstr>
      <vt:lpstr>Chapter 21</vt:lpstr>
      <vt:lpstr>Three-tiered</vt:lpstr>
      <vt:lpstr>Traffic Flows</vt:lpstr>
      <vt:lpstr>Software-defined Networking</vt:lpstr>
      <vt:lpstr>Spine and Leaf</vt:lpstr>
      <vt:lpstr>PowerPoint 演示文稿</vt:lpstr>
      <vt:lpstr>Storage Area Networks</vt:lpstr>
      <vt:lpstr>Branch Office vs. on-premises datacenter vs co-location </vt:lpstr>
      <vt:lpstr>Cloud Deployment Models</vt:lpstr>
      <vt:lpstr>Service Models</vt:lpstr>
      <vt:lpstr>Infrastructure as Code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Sam Lee</dc:creator>
  <cp:lastModifiedBy>Student</cp:lastModifiedBy>
  <cp:revision>27</cp:revision>
  <dcterms:created xsi:type="dcterms:W3CDTF">2018-10-29T14:49:00Z</dcterms:created>
  <dcterms:modified xsi:type="dcterms:W3CDTF">2022-09-23T00:30:42Z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417CA66804B648D898741C48213540DA</vt:lpwstr>
  </property>
  <property fmtid="{D5CDD505-2E9C-101B-9397-08002B2CF9AE}" pid="3" name="KSOProductBuildVer">
    <vt:lpwstr>1033-11.2.0.11306</vt:lpwstr>
  </property>
</Properties>
</file>