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18"/>
  </p:notesMasterIdLst>
  <p:sldIdLst>
    <p:sldId id="256" r:id="rId2"/>
    <p:sldId id="370" r:id="rId3"/>
    <p:sldId id="359" r:id="rId4"/>
    <p:sldId id="360" r:id="rId5"/>
    <p:sldId id="354" r:id="rId6"/>
    <p:sldId id="336" r:id="rId7"/>
    <p:sldId id="337" r:id="rId8"/>
    <p:sldId id="338" r:id="rId9"/>
    <p:sldId id="339" r:id="rId10"/>
    <p:sldId id="361" r:id="rId11"/>
    <p:sldId id="341" r:id="rId12"/>
    <p:sldId id="345" r:id="rId13"/>
    <p:sldId id="358" r:id="rId14"/>
    <p:sldId id="348" r:id="rId15"/>
    <p:sldId id="349" r:id="rId16"/>
    <p:sldId id="3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3" autoAdjust="0"/>
    <p:restoredTop sz="63383"/>
  </p:normalViewPr>
  <p:slideViewPr>
    <p:cSldViewPr snapToGrid="0">
      <p:cViewPr varScale="1">
        <p:scale>
          <a:sx n="70" d="100"/>
          <a:sy n="70" d="100"/>
        </p:scale>
        <p:origin x="2152" y="18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72C67-58AB-7747-86E9-F28964C9E93C}" type="datetimeFigureOut">
              <a:rPr lang="en-US" smtClean="0"/>
              <a:t>9/23/22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1F2BA-2847-5D4F-9027-7BBB52DA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27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see Wi-Fi coverage in an area and use that information for optimal access-point placement to get complete coverage and avoid dead spots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1F2BA-2847-5D4F-9027-7BBB52DA0A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31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Wireshark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1F2BA-2847-5D4F-9027-7BBB52DA0A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Speedtest.net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1F2BA-2847-5D4F-9027-7BBB52DA0A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0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Bad guys use port scanners to use them to find a network’s vulnerabilities and compromise them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Port sweeping is looking for vulnerabilities on multiple hosts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1F2BA-2847-5D4F-9027-7BBB52DA0A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60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Arp –a: Displays current ARP entries by interrogating the current protocol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1F2BA-2847-5D4F-9027-7BBB52DA0A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32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Displays all TCP connections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1F2BA-2847-5D4F-9027-7BBB52DA0A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54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Displays all active connections including UDP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1F2BA-2847-5D4F-9027-7BBB52DA0A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36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1F2BA-2847-5D4F-9027-7BBB52DA0A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18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interface: displays stats for network interfaces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config: shows the current router, switch, and firewall configuration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Show route: displays the IP routing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1F2BA-2847-5D4F-9027-7BBB52DA0A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63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A069CB8-F204-4D06-B913-C5A26A89888A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36662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4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6F077B-A50F-4D64-8574-E2D6A98A5553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579829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25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483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90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08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4271A48-F18A-45B3-BC05-1E27DA3F88AF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22991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5B747F8-9654-4282-85D2-65F41AAE7A75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66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8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49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DC5B261-8843-42D1-AAFC-05E20E2D9B97}" type="datetimeFigureOut">
              <a:rPr lang="en-US" smtClean="0"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6051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Network Software tools and Commands</a:t>
            </a:r>
          </a:p>
        </p:txBody>
      </p:sp>
    </p:spTree>
    <p:extLst>
      <p:ext uri="{BB962C8B-B14F-4D97-AF65-F5344CB8AC3E}">
        <p14:creationId xmlns:p14="http://schemas.microsoft.com/office/powerpoint/2010/main" val="301088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4" descr="http://www.petri.com/images/Sept%202007%20-%206%20-%20Cisco%20-%20Five%20things%20you%20should%20know%20before%20hooking%20up%20your%20wireless%20network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248" y="1013886"/>
            <a:ext cx="6538912" cy="5030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0CACE9-A70B-4BFA-812C-82070E02F89D}"/>
              </a:ext>
            </a:extLst>
          </p:cNvPr>
          <p:cNvSpPr/>
          <p:nvPr/>
        </p:nvSpPr>
        <p:spPr>
          <a:xfrm>
            <a:off x="986119" y="306000"/>
            <a:ext cx="109369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  <a:latin typeface="+mj-lt"/>
              </a:rPr>
              <a:t>Wifi Analyzer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8"/>
          <p:cNvSpPr>
            <a:spLocks noGrp="1"/>
          </p:cNvSpPr>
          <p:nvPr>
            <p:ph type="title"/>
          </p:nvPr>
        </p:nvSpPr>
        <p:spPr>
          <a:xfrm>
            <a:off x="950259" y="76201"/>
            <a:ext cx="10954870" cy="868363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Protocol Analyzers</a:t>
            </a:r>
          </a:p>
        </p:txBody>
      </p:sp>
      <p:sp>
        <p:nvSpPr>
          <p:cNvPr id="6151" name="Rectangle 9"/>
          <p:cNvSpPr>
            <a:spLocks noGrp="1"/>
          </p:cNvSpPr>
          <p:nvPr>
            <p:ph idx="1"/>
          </p:nvPr>
        </p:nvSpPr>
        <p:spPr>
          <a:xfrm>
            <a:off x="1187823" y="1603999"/>
            <a:ext cx="6858000" cy="3650001"/>
          </a:xfrm>
          <a:ln/>
        </p:spPr>
        <p:txBody>
          <a:bodyPr vert="horz" wrap="square" lIns="91440" tIns="45720" rIns="91440" bIns="45720" rtlCol="0" anchor="t">
            <a:normAutofit/>
          </a:bodyPr>
          <a:lstStyle/>
          <a:p>
            <a:endParaRPr lang="en-US" altLang="en-US" sz="1800" b="1" dirty="0"/>
          </a:p>
          <a:p>
            <a:pPr>
              <a:buNone/>
            </a:pPr>
            <a:r>
              <a:rPr lang="en-US" altLang="en-US" sz="2800" dirty="0"/>
              <a:t>Used to capture packets in their raw format as they cross the network</a:t>
            </a:r>
          </a:p>
          <a:p>
            <a:pPr lvl="1"/>
            <a:r>
              <a:rPr lang="en-US" dirty="0"/>
              <a:t>Analyze DHCP Packets</a:t>
            </a:r>
          </a:p>
          <a:p>
            <a:pPr lvl="2"/>
            <a:r>
              <a:rPr lang="en-US" dirty="0"/>
              <a:t>Discover</a:t>
            </a:r>
          </a:p>
          <a:p>
            <a:pPr lvl="2"/>
            <a:r>
              <a:rPr lang="en-US" dirty="0"/>
              <a:t>Offer</a:t>
            </a:r>
          </a:p>
          <a:p>
            <a:pPr lvl="2"/>
            <a:r>
              <a:rPr lang="en-US" dirty="0"/>
              <a:t>Request</a:t>
            </a:r>
          </a:p>
          <a:p>
            <a:pPr lvl="2"/>
            <a:r>
              <a:rPr lang="en-US" dirty="0"/>
              <a:t>Acknowledgement</a:t>
            </a:r>
          </a:p>
          <a:p>
            <a:pPr>
              <a:buNone/>
            </a:pPr>
            <a:endParaRPr lang="en-US" altLang="en-US" sz="2800" b="1" dirty="0"/>
          </a:p>
          <a:p>
            <a:endParaRPr lang="en-US" altLang="en-US" sz="1600" i="1" u="sng" dirty="0"/>
          </a:p>
        </p:txBody>
      </p:sp>
      <p:pic>
        <p:nvPicPr>
          <p:cNvPr id="615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757" y="2988128"/>
            <a:ext cx="6553200" cy="1868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8"/>
          <p:cNvSpPr>
            <a:spLocks noGrp="1"/>
          </p:cNvSpPr>
          <p:nvPr>
            <p:ph type="title"/>
          </p:nvPr>
        </p:nvSpPr>
        <p:spPr>
          <a:xfrm>
            <a:off x="932329" y="76201"/>
            <a:ext cx="10991384" cy="868363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Throughput Testers</a:t>
            </a:r>
          </a:p>
        </p:txBody>
      </p:sp>
      <p:sp>
        <p:nvSpPr>
          <p:cNvPr id="7175" name="Rectangle 9"/>
          <p:cNvSpPr>
            <a:spLocks noGrp="1"/>
          </p:cNvSpPr>
          <p:nvPr>
            <p:ph idx="1"/>
          </p:nvPr>
        </p:nvSpPr>
        <p:spPr>
          <a:xfrm>
            <a:off x="2850776" y="1460034"/>
            <a:ext cx="6858000" cy="1676400"/>
          </a:xfrm>
          <a:ln/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altLang="en-US" sz="2400" dirty="0"/>
              <a:t>Work much like a protocol analyzer in that they measure the traffic seen on the network and can also classify the types of traffic that are eating up bandwidth</a:t>
            </a:r>
            <a:endParaRPr lang="en-US" altLang="en-US" sz="2400" b="1" dirty="0"/>
          </a:p>
        </p:txBody>
      </p:sp>
      <p:pic>
        <p:nvPicPr>
          <p:cNvPr id="717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938462"/>
            <a:ext cx="4837113" cy="39195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8"/>
          <p:cNvSpPr>
            <a:spLocks noGrp="1"/>
          </p:cNvSpPr>
          <p:nvPr>
            <p:ph type="title" idx="4294967295"/>
          </p:nvPr>
        </p:nvSpPr>
        <p:spPr>
          <a:xfrm>
            <a:off x="1004048" y="274638"/>
            <a:ext cx="10865224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Network Scanners</a:t>
            </a:r>
          </a:p>
        </p:txBody>
      </p:sp>
      <p:sp>
        <p:nvSpPr>
          <p:cNvPr id="11273" name="Content Placeholder 9"/>
          <p:cNvSpPr>
            <a:spLocks noGrp="1"/>
          </p:cNvSpPr>
          <p:nvPr>
            <p:ph idx="4294967295"/>
          </p:nvPr>
        </p:nvSpPr>
        <p:spPr>
          <a:xfrm>
            <a:off x="3388660" y="1417638"/>
            <a:ext cx="6096000" cy="37338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2400" dirty="0"/>
              <a:t>Port Scanners</a:t>
            </a:r>
          </a:p>
          <a:p>
            <a:pPr lvl="1"/>
            <a:r>
              <a:rPr lang="en-US" altLang="en-US" sz="2000" dirty="0"/>
              <a:t>A </a:t>
            </a:r>
            <a:r>
              <a:rPr lang="en-US" altLang="en-US" sz="2000" i="1" dirty="0"/>
              <a:t>port scanner</a:t>
            </a:r>
            <a:r>
              <a:rPr lang="en-US" altLang="en-US" sz="2000" dirty="0"/>
              <a:t> is a software tool designed to search a host for open ports.</a:t>
            </a:r>
          </a:p>
          <a:p>
            <a:pPr lvl="1"/>
            <a:r>
              <a:rPr lang="en-US" altLang="en-US" sz="2000" dirty="0"/>
              <a:t>A </a:t>
            </a:r>
            <a:r>
              <a:rPr lang="en-US" altLang="en-US" sz="2000" i="1" dirty="0"/>
              <a:t>portscan</a:t>
            </a:r>
            <a:r>
              <a:rPr lang="en-US" altLang="en-US" sz="2000" dirty="0"/>
              <a:t> is the act of scanning for Transport Control Protocol (TCP) and UDP open ports on a single target host.</a:t>
            </a:r>
          </a:p>
          <a:p>
            <a:pPr lvl="1"/>
            <a:r>
              <a:rPr lang="en-US" altLang="en-US" sz="2000" i="1" dirty="0"/>
              <a:t>Port sweeping</a:t>
            </a:r>
            <a:r>
              <a:rPr lang="en-US" altLang="en-US" sz="2000" dirty="0"/>
              <a:t> means scanning multiple hosts on a network for a specific listening TCP or UDP port.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1127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8"/>
          <p:cNvSpPr>
            <a:spLocks noGrp="1"/>
          </p:cNvSpPr>
          <p:nvPr>
            <p:ph type="title" idx="4294967295"/>
          </p:nvPr>
        </p:nvSpPr>
        <p:spPr>
          <a:xfrm>
            <a:off x="914400" y="274638"/>
            <a:ext cx="109728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Command-Line Tools</a:t>
            </a:r>
          </a:p>
        </p:txBody>
      </p:sp>
      <p:sp>
        <p:nvSpPr>
          <p:cNvPr id="10249" name="Content Placeholder 9"/>
          <p:cNvSpPr>
            <a:spLocks noGrp="1"/>
          </p:cNvSpPr>
          <p:nvPr>
            <p:ph idx="4294967295"/>
          </p:nvPr>
        </p:nvSpPr>
        <p:spPr>
          <a:xfrm>
            <a:off x="1420905" y="1417638"/>
            <a:ext cx="6934200" cy="23622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i="1" dirty="0"/>
              <a:t>traceroute</a:t>
            </a:r>
            <a:r>
              <a:rPr lang="en-US" altLang="en-US" sz="1800" dirty="0"/>
              <a:t> / </a:t>
            </a:r>
            <a:r>
              <a:rPr lang="en-US" altLang="en-US" sz="1800" i="1" dirty="0"/>
              <a:t>tracert</a:t>
            </a:r>
          </a:p>
          <a:p>
            <a:pPr lvl="1"/>
            <a:r>
              <a:rPr lang="en-US" altLang="en-US" dirty="0"/>
              <a:t>Traceroute (trace for short) displays the path a packet takes to get to a remote device by using</a:t>
            </a:r>
          </a:p>
          <a:p>
            <a:pPr lvl="2"/>
            <a:r>
              <a:rPr lang="en-US" altLang="en-US" sz="1600" dirty="0"/>
              <a:t>Time-To-Live (TTL) </a:t>
            </a:r>
          </a:p>
          <a:p>
            <a:pPr lvl="2"/>
            <a:r>
              <a:rPr lang="en-US" altLang="en-US" sz="1600" dirty="0"/>
              <a:t>Time-outs </a:t>
            </a:r>
          </a:p>
          <a:p>
            <a:pPr lvl="2"/>
            <a:r>
              <a:rPr lang="en-US" altLang="en-US" sz="1600" dirty="0"/>
              <a:t>Internet Control Message Protocol (ICMP) error messages</a:t>
            </a:r>
            <a:endParaRPr lang="en-US" altLang="en-US" dirty="0"/>
          </a:p>
        </p:txBody>
      </p:sp>
      <p:sp>
        <p:nvSpPr>
          <p:cNvPr id="1024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025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3779838"/>
            <a:ext cx="5962650" cy="2216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8"/>
          <p:cNvSpPr>
            <a:spLocks noGrp="1"/>
          </p:cNvSpPr>
          <p:nvPr>
            <p:ph type="title" idx="4294967295"/>
          </p:nvPr>
        </p:nvSpPr>
        <p:spPr>
          <a:xfrm>
            <a:off x="914400" y="274638"/>
            <a:ext cx="109728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Command-Line Tools</a:t>
            </a:r>
          </a:p>
        </p:txBody>
      </p:sp>
      <p:sp>
        <p:nvSpPr>
          <p:cNvPr id="11273" name="Content Placeholder 9"/>
          <p:cNvSpPr>
            <a:spLocks noGrp="1"/>
          </p:cNvSpPr>
          <p:nvPr>
            <p:ph idx="4294967295"/>
          </p:nvPr>
        </p:nvSpPr>
        <p:spPr>
          <a:xfrm>
            <a:off x="3429000" y="1469232"/>
            <a:ext cx="6553200" cy="2514600"/>
          </a:xfrm>
          <a:ln/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r>
              <a:rPr lang="en-US" altLang="en-US" sz="1800" i="1" dirty="0"/>
              <a:t>ipconfig</a:t>
            </a:r>
            <a:r>
              <a:rPr lang="en-US" altLang="en-US" sz="1800" dirty="0"/>
              <a:t> and </a:t>
            </a:r>
            <a:r>
              <a:rPr lang="en-US" altLang="en-US" sz="1800" i="1" dirty="0"/>
              <a:t>ifconfig</a:t>
            </a:r>
          </a:p>
          <a:p>
            <a:pPr lvl="1"/>
            <a:r>
              <a:rPr lang="en-US" altLang="en-US" dirty="0"/>
              <a:t>The utilities known as ipconfig (in Windows), and ifconfig (in Unix/Linux/Mac) will display the current configuration of TCP/IP on a given workstation.</a:t>
            </a:r>
          </a:p>
          <a:p>
            <a:pPr lvl="2"/>
            <a:r>
              <a:rPr lang="en-US" altLang="en-US" sz="1600" dirty="0"/>
              <a:t>Current IP address</a:t>
            </a:r>
          </a:p>
          <a:p>
            <a:pPr lvl="2"/>
            <a:r>
              <a:rPr lang="en-US" altLang="en-US" sz="1600" dirty="0"/>
              <a:t>DNS configuration</a:t>
            </a:r>
          </a:p>
          <a:p>
            <a:pPr lvl="2"/>
            <a:r>
              <a:rPr lang="en-US" altLang="en-US" sz="1600" dirty="0"/>
              <a:t>Windows Internet Naming Service (WINS) configuration</a:t>
            </a:r>
          </a:p>
          <a:p>
            <a:pPr lvl="2"/>
            <a:r>
              <a:rPr lang="en-US" altLang="en-US" sz="1600" dirty="0"/>
              <a:t>Default gateway </a:t>
            </a:r>
          </a:p>
        </p:txBody>
      </p:sp>
      <p:sp>
        <p:nvSpPr>
          <p:cNvPr id="11271" name="Rectangle 11"/>
          <p:cNvSpPr/>
          <p:nvPr/>
        </p:nvSpPr>
        <p:spPr>
          <a:xfrm>
            <a:off x="9220200" y="62484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en-US" altLang="en-US" sz="1400" dirty="0">
                <a:latin typeface="Times" pitchFamily="-108" charset="0"/>
              </a:rPr>
              <a:pPr marL="0" indent="0" algn="r">
                <a:spcBef>
                  <a:spcPct val="0"/>
                </a:spcBef>
                <a:buNone/>
              </a:pPr>
              <a:t>7</a:t>
            </a:fld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1127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1274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983832"/>
            <a:ext cx="5105400" cy="2517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8"/>
          <p:cNvSpPr>
            <a:spLocks noGrp="1"/>
          </p:cNvSpPr>
          <p:nvPr>
            <p:ph type="title" idx="4294967295"/>
          </p:nvPr>
        </p:nvSpPr>
        <p:spPr>
          <a:xfrm>
            <a:off x="896472" y="274638"/>
            <a:ext cx="10972800" cy="792162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Command-Line Tools</a:t>
            </a:r>
          </a:p>
        </p:txBody>
      </p:sp>
      <p:sp>
        <p:nvSpPr>
          <p:cNvPr id="12297" name="Content Placeholder 9"/>
          <p:cNvSpPr>
            <a:spLocks noGrp="1"/>
          </p:cNvSpPr>
          <p:nvPr>
            <p:ph idx="4294967295"/>
          </p:nvPr>
        </p:nvSpPr>
        <p:spPr>
          <a:xfrm>
            <a:off x="1147483" y="1739153"/>
            <a:ext cx="2895600" cy="38862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IPConfig Options</a:t>
            </a:r>
          </a:p>
          <a:p>
            <a:pPr lvl="1"/>
            <a:r>
              <a:rPr lang="en-US" altLang="en-US" dirty="0"/>
              <a:t>Ipconfig /all</a:t>
            </a:r>
          </a:p>
          <a:p>
            <a:pPr lvl="1"/>
            <a:r>
              <a:rPr lang="en-US" altLang="en-US" dirty="0"/>
              <a:t>Ipconfig /release</a:t>
            </a:r>
          </a:p>
          <a:p>
            <a:pPr lvl="1"/>
            <a:r>
              <a:rPr lang="en-US" altLang="en-US" dirty="0"/>
              <a:t>Ipconfig /renew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sz="1800" dirty="0"/>
              <a:t>To release your current DHCP TCP/IP information in Vista, you must elevate your command prompt.</a:t>
            </a:r>
            <a:endParaRPr lang="en-US" altLang="en-US" dirty="0"/>
          </a:p>
        </p:txBody>
      </p:sp>
      <p:sp>
        <p:nvSpPr>
          <p:cNvPr id="12295" name="Rectangle 11"/>
          <p:cNvSpPr/>
          <p:nvPr/>
        </p:nvSpPr>
        <p:spPr>
          <a:xfrm>
            <a:off x="9220200" y="62484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en-US" altLang="en-US" sz="1400" dirty="0">
                <a:latin typeface="Times" pitchFamily="-108" charset="0"/>
              </a:rPr>
              <a:pPr marL="0" indent="0" algn="r">
                <a:spcBef>
                  <a:spcPct val="0"/>
                </a:spcBef>
                <a:buNone/>
              </a:pPr>
              <a:t>8</a:t>
            </a:fld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1229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12298" name="Object 2"/>
          <p:cNvGraphicFramePr>
            <a:graphicFrameLocks noChangeAspect="1"/>
          </p:cNvGraphicFramePr>
          <p:nvPr/>
        </p:nvGraphicFramePr>
        <p:xfrm>
          <a:off x="6829426" y="1457326"/>
          <a:ext cx="3686175" cy="524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86175" imgH="5248275" progId="Photoshop.Image.10">
                  <p:embed/>
                </p:oleObj>
              </mc:Choice>
              <mc:Fallback>
                <p:oleObj r:id="rId2" imgW="3686175" imgH="5248275" progId="Photoshop.Image.10">
                  <p:embed/>
                  <p:pic>
                    <p:nvPicPr>
                      <p:cNvPr id="12298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29426" y="1457326"/>
                        <a:ext cx="3686175" cy="5248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/>
          </p:cNvSpPr>
          <p:nvPr>
            <p:ph type="title" idx="4294967295"/>
          </p:nvPr>
        </p:nvSpPr>
        <p:spPr>
          <a:xfrm>
            <a:off x="932330" y="274638"/>
            <a:ext cx="109728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Command-Line Tools</a:t>
            </a:r>
          </a:p>
        </p:txBody>
      </p:sp>
      <p:sp>
        <p:nvSpPr>
          <p:cNvPr id="13321" name="Content Placeholder 9"/>
          <p:cNvSpPr>
            <a:spLocks noGrp="1"/>
          </p:cNvSpPr>
          <p:nvPr>
            <p:ph idx="4294967295"/>
          </p:nvPr>
        </p:nvSpPr>
        <p:spPr>
          <a:xfrm>
            <a:off x="2989730" y="1600201"/>
            <a:ext cx="6858000" cy="2743200"/>
          </a:xfrm>
          <a:ln/>
        </p:spPr>
        <p:txBody>
          <a:bodyPr vert="horz" wrap="square" lIns="91440" tIns="45720" rIns="91440" bIns="45720" anchor="t">
            <a:normAutofit lnSpcReduction="10000"/>
          </a:bodyPr>
          <a:lstStyle/>
          <a:p>
            <a:r>
              <a:rPr lang="en-US" altLang="en-US" sz="1800" dirty="0"/>
              <a:t>The </a:t>
            </a:r>
            <a:r>
              <a:rPr lang="en-US" altLang="en-US" sz="1800" i="1" dirty="0"/>
              <a:t>ping</a:t>
            </a:r>
            <a:r>
              <a:rPr lang="en-US" altLang="en-US" sz="1800" dirty="0"/>
              <a:t> Utility</a:t>
            </a:r>
          </a:p>
          <a:p>
            <a:pPr lvl="1"/>
            <a:r>
              <a:rPr lang="en-US" altLang="en-US" dirty="0"/>
              <a:t>Ping is the most basic TCP/IP utility, and it’s included with most TCP/IP stacks for most platforms. </a:t>
            </a:r>
          </a:p>
          <a:p>
            <a:pPr lvl="1"/>
            <a:r>
              <a:rPr lang="en-US" altLang="en-US" dirty="0"/>
              <a:t>In most cases, ping is a command-line utility, although there are many GUI implementations available. </a:t>
            </a:r>
          </a:p>
          <a:p>
            <a:pPr lvl="1"/>
            <a:r>
              <a:rPr lang="en-US" altLang="en-US" dirty="0"/>
              <a:t>You use the ping utility for two primary purposes:</a:t>
            </a:r>
          </a:p>
          <a:p>
            <a:pPr lvl="2"/>
            <a:r>
              <a:rPr lang="en-US" altLang="en-US" sz="1600" dirty="0"/>
              <a:t>To find out if a host is responding</a:t>
            </a:r>
          </a:p>
          <a:p>
            <a:pPr lvl="2"/>
            <a:r>
              <a:rPr lang="en-US" altLang="en-US" sz="1600" dirty="0"/>
              <a:t>To find out if you can reach a host</a:t>
            </a:r>
          </a:p>
        </p:txBody>
      </p:sp>
      <p:sp>
        <p:nvSpPr>
          <p:cNvPr id="13320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3322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4343401"/>
            <a:ext cx="4724400" cy="1522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BA0272-9F50-4232-A46E-D7069AEBAA23}"/>
              </a:ext>
            </a:extLst>
          </p:cNvPr>
          <p:cNvSpPr>
            <a:spLocks noGrp="1"/>
          </p:cNvSpPr>
          <p:nvPr/>
        </p:nvSpPr>
        <p:spPr>
          <a:xfrm>
            <a:off x="1004047" y="0"/>
            <a:ext cx="10811435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000" dirty="0"/>
              <a:t>Command-Line</a:t>
            </a:r>
            <a:r>
              <a:rPr lang="en-US" altLang="en-US" dirty="0"/>
              <a:t> Tools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798F4CBA-86FB-4FAC-96CA-AB78EC8D8D78}"/>
              </a:ext>
            </a:extLst>
          </p:cNvPr>
          <p:cNvSpPr>
            <a:spLocks noGrp="1"/>
          </p:cNvSpPr>
          <p:nvPr/>
        </p:nvSpPr>
        <p:spPr>
          <a:xfrm>
            <a:off x="2781300" y="971210"/>
            <a:ext cx="6629400" cy="3535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1800" dirty="0"/>
              <a:t>Address Resolution Protocol (ARP)</a:t>
            </a:r>
          </a:p>
          <a:p>
            <a:pPr lvl="1"/>
            <a:r>
              <a:rPr lang="en-US" altLang="en-US" sz="1800" dirty="0"/>
              <a:t>The </a:t>
            </a:r>
            <a:r>
              <a:rPr lang="en-US" altLang="en-US" sz="1800" i="1" dirty="0"/>
              <a:t>Address Resolution Protocol (ARP)</a:t>
            </a:r>
            <a:r>
              <a:rPr lang="en-US" altLang="en-US" sz="1800" dirty="0"/>
              <a:t> is part of the TCP/IP protocol stack. </a:t>
            </a:r>
          </a:p>
          <a:p>
            <a:pPr lvl="1"/>
            <a:r>
              <a:rPr lang="en-US" altLang="en-US" sz="1800" dirty="0"/>
              <a:t>Uses broadcasts to translate TCP/IP addresses to MAC addresses.</a:t>
            </a:r>
          </a:p>
          <a:p>
            <a:r>
              <a:rPr lang="en-US" altLang="en-US" sz="1800" dirty="0"/>
              <a:t>The </a:t>
            </a:r>
            <a:r>
              <a:rPr lang="en-US" altLang="en-US" sz="1800" i="1" dirty="0"/>
              <a:t>ARP table</a:t>
            </a:r>
            <a:r>
              <a:rPr lang="en-US" altLang="en-US" sz="1800" dirty="0"/>
              <a:t> in Windows includes a list of TCP/IP addresses and their associated physical (MAC) addresses.</a:t>
            </a:r>
          </a:p>
          <a:p>
            <a:r>
              <a:rPr lang="en-US" altLang="en-US" sz="1800" dirty="0"/>
              <a:t>The ARP table contains two kinds of entries:</a:t>
            </a:r>
          </a:p>
          <a:p>
            <a:pPr lvl="1"/>
            <a:r>
              <a:rPr lang="en-US" altLang="en-US" sz="1600" dirty="0"/>
              <a:t>Dynamic</a:t>
            </a:r>
          </a:p>
          <a:p>
            <a:pPr lvl="1"/>
            <a:r>
              <a:rPr lang="en-US" altLang="en-US" sz="1600" dirty="0"/>
              <a:t>Static</a:t>
            </a:r>
          </a:p>
          <a:p>
            <a:r>
              <a:rPr lang="en-US" altLang="en-US" sz="1800" dirty="0"/>
              <a:t>The </a:t>
            </a:r>
            <a:r>
              <a:rPr lang="en-US" altLang="en-US" sz="1800" i="1" dirty="0"/>
              <a:t>arp</a:t>
            </a:r>
            <a:r>
              <a:rPr lang="en-US" altLang="en-US" sz="1800" dirty="0"/>
              <a:t> Utility (using “</a:t>
            </a:r>
            <a:r>
              <a:rPr lang="en-US" altLang="ja-JP" sz="1800" dirty="0"/>
              <a:t>arp –a</a:t>
            </a:r>
            <a:r>
              <a:rPr lang="en-US" altLang="en-US" sz="1800" dirty="0"/>
              <a:t>”</a:t>
            </a:r>
            <a:r>
              <a:rPr lang="en-US" altLang="ja-JP" sz="1800" dirty="0"/>
              <a:t>)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4A17BEF7-F63F-4A9A-97D3-9B732D74D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146"/>
          <a:stretch/>
        </p:blipFill>
        <p:spPr>
          <a:xfrm>
            <a:off x="6096001" y="4107941"/>
            <a:ext cx="5719482" cy="2739684"/>
          </a:xfrm>
          <a:prstGeom prst="rect">
            <a:avLst/>
          </a:prstGeom>
          <a:noFill/>
          <a:ln w="38100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616448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8"/>
          <p:cNvSpPr>
            <a:spLocks noGrp="1"/>
          </p:cNvSpPr>
          <p:nvPr>
            <p:ph type="title" idx="4294967295"/>
          </p:nvPr>
        </p:nvSpPr>
        <p:spPr>
          <a:xfrm>
            <a:off x="914400" y="274638"/>
            <a:ext cx="10793506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Command-Line Tools</a:t>
            </a:r>
          </a:p>
        </p:txBody>
      </p:sp>
      <p:sp>
        <p:nvSpPr>
          <p:cNvPr id="15369" name="Content Placeholder 9"/>
          <p:cNvSpPr>
            <a:spLocks noGrp="1"/>
          </p:cNvSpPr>
          <p:nvPr>
            <p:ph idx="4294967295"/>
          </p:nvPr>
        </p:nvSpPr>
        <p:spPr>
          <a:xfrm>
            <a:off x="3294529" y="1147762"/>
            <a:ext cx="6477000" cy="3048000"/>
          </a:xfrm>
          <a:ln/>
        </p:spPr>
        <p:txBody>
          <a:bodyPr vert="horz" wrap="square" lIns="91440" tIns="45720" rIns="91440" bIns="45720" anchor="t">
            <a:normAutofit lnSpcReduction="10000"/>
          </a:bodyPr>
          <a:lstStyle/>
          <a:p>
            <a:r>
              <a:rPr lang="en-US" altLang="en-US" sz="1800" dirty="0"/>
              <a:t>The </a:t>
            </a:r>
            <a:r>
              <a:rPr lang="en-US" altLang="en-US" sz="1800" i="1" dirty="0"/>
              <a:t>nslookup</a:t>
            </a:r>
            <a:r>
              <a:rPr lang="en-US" altLang="en-US" sz="1800" dirty="0"/>
              <a:t> Utility</a:t>
            </a:r>
          </a:p>
          <a:p>
            <a:pPr lvl="1"/>
            <a:r>
              <a:rPr lang="en-US" altLang="en-US" dirty="0"/>
              <a:t>A command-line utility that allows you to perform a single DNS lookup for a specific entity.</a:t>
            </a:r>
          </a:p>
          <a:p>
            <a:pPr lvl="1"/>
            <a:r>
              <a:rPr lang="en-US" altLang="en-US" dirty="0"/>
              <a:t>The nslookup utility comes with Windows NT and later, as well as most versions of Unix and Linux, but not with Windows 95/98. </a:t>
            </a:r>
          </a:p>
          <a:p>
            <a:pPr lvl="1"/>
            <a:r>
              <a:rPr lang="en-US" altLang="en-US" dirty="0"/>
              <a:t>It is run from a Windows command prompt. </a:t>
            </a:r>
          </a:p>
          <a:p>
            <a:pPr lvl="1"/>
            <a:r>
              <a:rPr lang="en-US" altLang="en-US" dirty="0"/>
              <a:t>At the command prompt, you can start the nslookup utility by typing </a:t>
            </a:r>
            <a:r>
              <a:rPr lang="en-US" altLang="en-US" b="1" dirty="0"/>
              <a:t>nslookup</a:t>
            </a:r>
            <a:r>
              <a:rPr lang="en-US" altLang="en-US" dirty="0"/>
              <a:t> and pressing &lt;enter&gt;. </a:t>
            </a:r>
          </a:p>
        </p:txBody>
      </p:sp>
      <p:sp>
        <p:nvSpPr>
          <p:cNvPr id="15367" name="Rectangle 11"/>
          <p:cNvSpPr/>
          <p:nvPr/>
        </p:nvSpPr>
        <p:spPr>
          <a:xfrm>
            <a:off x="9220200" y="62484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r">
              <a:spcBef>
                <a:spcPct val="0"/>
              </a:spcBef>
              <a:buNone/>
            </a:pPr>
            <a:fld id="{9A0DB2DC-4C9A-4742-B13C-FB6460FD3503}" type="slidenum">
              <a:rPr lang="en-US" altLang="en-US" sz="1400" dirty="0">
                <a:latin typeface="Times" pitchFamily="-108" charset="0"/>
              </a:rPr>
              <a:pPr marL="0" indent="0" algn="r">
                <a:spcBef>
                  <a:spcPct val="0"/>
                </a:spcBef>
                <a:buNone/>
              </a:pPr>
              <a:t>11</a:t>
            </a:fld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1536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537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13211"/>
            <a:ext cx="38862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7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13211"/>
            <a:ext cx="3352800" cy="1470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8"/>
          <p:cNvSpPr>
            <a:spLocks noGrp="1"/>
          </p:cNvSpPr>
          <p:nvPr>
            <p:ph type="title" idx="4294967295"/>
          </p:nvPr>
        </p:nvSpPr>
        <p:spPr>
          <a:xfrm>
            <a:off x="896472" y="274638"/>
            <a:ext cx="109728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Command-Line Tools</a:t>
            </a:r>
          </a:p>
        </p:txBody>
      </p:sp>
      <p:sp>
        <p:nvSpPr>
          <p:cNvPr id="24585" name="Content Placeholder 9"/>
          <p:cNvSpPr>
            <a:spLocks noGrp="1"/>
          </p:cNvSpPr>
          <p:nvPr>
            <p:ph idx="4294967295"/>
          </p:nvPr>
        </p:nvSpPr>
        <p:spPr>
          <a:xfrm>
            <a:off x="3106272" y="1417638"/>
            <a:ext cx="6553200" cy="19050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The </a:t>
            </a:r>
            <a:r>
              <a:rPr lang="en-US" altLang="en-US" sz="1800" i="1" dirty="0"/>
              <a:t>netstat </a:t>
            </a:r>
            <a:r>
              <a:rPr lang="en-US" altLang="en-US" sz="1800" dirty="0"/>
              <a:t>Utility</a:t>
            </a:r>
          </a:p>
          <a:p>
            <a:pPr lvl="1"/>
            <a:r>
              <a:rPr lang="en-US" altLang="en-US" dirty="0"/>
              <a:t>netstat is a great way to check out the inbound and outbound TCP/IP connections on your machine. </a:t>
            </a:r>
          </a:p>
          <a:p>
            <a:pPr lvl="1"/>
            <a:r>
              <a:rPr lang="en-US" altLang="en-US" dirty="0"/>
              <a:t>Packet statistics like how many packets have been sent and received, the number of errors, etc. can be viewed.</a:t>
            </a:r>
          </a:p>
        </p:txBody>
      </p:sp>
      <p:sp>
        <p:nvSpPr>
          <p:cNvPr id="2458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2458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997" y="3535363"/>
            <a:ext cx="6467475" cy="1263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8"/>
          <p:cNvSpPr>
            <a:spLocks noGrp="1"/>
          </p:cNvSpPr>
          <p:nvPr>
            <p:ph type="title" idx="4294967295"/>
          </p:nvPr>
        </p:nvSpPr>
        <p:spPr>
          <a:xfrm>
            <a:off x="896472" y="274638"/>
            <a:ext cx="11026588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NetStat</a:t>
            </a:r>
          </a:p>
        </p:txBody>
      </p:sp>
      <p:sp>
        <p:nvSpPr>
          <p:cNvPr id="25609" name="Content Placeholder 9"/>
          <p:cNvSpPr>
            <a:spLocks noGrp="1"/>
          </p:cNvSpPr>
          <p:nvPr>
            <p:ph idx="4294967295"/>
          </p:nvPr>
        </p:nvSpPr>
        <p:spPr>
          <a:xfrm>
            <a:off x="3765176" y="2002235"/>
            <a:ext cx="6400800" cy="3810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The netstat –a command:</a:t>
            </a:r>
          </a:p>
        </p:txBody>
      </p:sp>
      <p:sp>
        <p:nvSpPr>
          <p:cNvPr id="2560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25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089221"/>
              </p:ext>
            </p:extLst>
          </p:nvPr>
        </p:nvGraphicFramePr>
        <p:xfrm>
          <a:off x="4173071" y="2586831"/>
          <a:ext cx="5181600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486785" imgH="1420495" progId="Photoshop.Image.10">
                  <p:embed/>
                </p:oleObj>
              </mc:Choice>
              <mc:Fallback>
                <p:oleObj r:id="rId3" imgW="3486785" imgH="1420495" progId="Photoshop.Image.10">
                  <p:embed/>
                  <p:pic>
                    <p:nvPicPr>
                      <p:cNvPr id="25610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3071" y="2586831"/>
                        <a:ext cx="5181600" cy="211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Rectangle 8"/>
          <p:cNvSpPr>
            <a:spLocks noGrp="1"/>
          </p:cNvSpPr>
          <p:nvPr>
            <p:ph type="title" idx="4294967295"/>
          </p:nvPr>
        </p:nvSpPr>
        <p:spPr>
          <a:xfrm>
            <a:off x="986118" y="76200"/>
            <a:ext cx="10919011" cy="792163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Command-Line Tools</a:t>
            </a:r>
          </a:p>
        </p:txBody>
      </p:sp>
      <p:sp>
        <p:nvSpPr>
          <p:cNvPr id="27657" name="Content Placeholder 9"/>
          <p:cNvSpPr>
            <a:spLocks noGrp="1"/>
          </p:cNvSpPr>
          <p:nvPr>
            <p:ph idx="4294967295"/>
          </p:nvPr>
        </p:nvSpPr>
        <p:spPr>
          <a:xfrm>
            <a:off x="3541059" y="868363"/>
            <a:ext cx="6096000" cy="2667000"/>
          </a:xfrm>
          <a:ln/>
        </p:spPr>
        <p:txBody>
          <a:bodyPr vert="horz" wrap="square" lIns="91440" tIns="45720" rIns="91440" bIns="45720" anchor="t">
            <a:normAutofit lnSpcReduction="10000"/>
          </a:bodyPr>
          <a:lstStyle/>
          <a:p>
            <a:r>
              <a:rPr lang="en-US" altLang="en-US" sz="1800" dirty="0"/>
              <a:t>The </a:t>
            </a:r>
            <a:r>
              <a:rPr lang="en-US" altLang="en-US" sz="1800" i="1" dirty="0"/>
              <a:t>Telnet</a:t>
            </a:r>
            <a:r>
              <a:rPr lang="en-US" altLang="en-US" sz="1800" dirty="0"/>
              <a:t> Utility</a:t>
            </a:r>
          </a:p>
          <a:p>
            <a:pPr lvl="1"/>
            <a:r>
              <a:rPr lang="en-US" altLang="en-US" dirty="0"/>
              <a:t>Part of the TCP/IP protocol suite </a:t>
            </a:r>
          </a:p>
          <a:p>
            <a:pPr lvl="1"/>
            <a:r>
              <a:rPr lang="en-US" altLang="en-US" dirty="0"/>
              <a:t>Telnet is a Terminal Emulation program designed to be used over the network.</a:t>
            </a:r>
          </a:p>
          <a:p>
            <a:pPr lvl="1"/>
            <a:r>
              <a:rPr lang="en-US" altLang="en-US" i="1" dirty="0"/>
              <a:t>Telnet </a:t>
            </a:r>
            <a:r>
              <a:rPr lang="en-US" altLang="en-US" dirty="0"/>
              <a:t>allows you to make connections to remote devices, gather information, and run programs. </a:t>
            </a:r>
          </a:p>
          <a:p>
            <a:pPr lvl="1"/>
            <a:r>
              <a:rPr lang="en-US" altLang="en-US" dirty="0"/>
              <a:t>Telnet was originally developed to open terminal sessions from Unix workstations to Unix servers. </a:t>
            </a:r>
          </a:p>
        </p:txBody>
      </p:sp>
      <p:sp>
        <p:nvSpPr>
          <p:cNvPr id="2765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276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12079"/>
              </p:ext>
            </p:extLst>
          </p:nvPr>
        </p:nvGraphicFramePr>
        <p:xfrm>
          <a:off x="3944472" y="3570287"/>
          <a:ext cx="4678363" cy="321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11880" imgH="2480310" progId="Photoshop.Image.10">
                  <p:embed/>
                </p:oleObj>
              </mc:Choice>
              <mc:Fallback>
                <p:oleObj r:id="rId3" imgW="3611880" imgH="2480310" progId="Photoshop.Image.10">
                  <p:embed/>
                  <p:pic>
                    <p:nvPicPr>
                      <p:cNvPr id="27658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44472" y="3570287"/>
                        <a:ext cx="4678363" cy="3211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Rectangle 8"/>
          <p:cNvSpPr>
            <a:spLocks noGrp="1"/>
          </p:cNvSpPr>
          <p:nvPr>
            <p:ph type="title" idx="4294967295"/>
          </p:nvPr>
        </p:nvSpPr>
        <p:spPr>
          <a:xfrm>
            <a:off x="950259" y="274638"/>
            <a:ext cx="109728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Command-Line Tools</a:t>
            </a:r>
          </a:p>
        </p:txBody>
      </p:sp>
      <p:sp>
        <p:nvSpPr>
          <p:cNvPr id="28680" name="Content Placeholder 9"/>
          <p:cNvSpPr>
            <a:spLocks noGrp="1"/>
          </p:cNvSpPr>
          <p:nvPr>
            <p:ph idx="4294967295"/>
          </p:nvPr>
        </p:nvSpPr>
        <p:spPr>
          <a:xfrm>
            <a:off x="950259" y="1329205"/>
            <a:ext cx="6477000" cy="4525963"/>
          </a:xfrm>
          <a:ln/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r>
              <a:rPr lang="en-US" altLang="en-US" sz="1800" dirty="0"/>
              <a:t>Don’t Use Telnet, Use Secure Shell (SSH).</a:t>
            </a:r>
          </a:p>
          <a:p>
            <a:pPr lvl="1"/>
            <a:r>
              <a:rPr lang="en-US" altLang="en-US" dirty="0"/>
              <a:t>Telnet is totally unsecure.</a:t>
            </a:r>
          </a:p>
          <a:p>
            <a:pPr lvl="1"/>
            <a:r>
              <a:rPr lang="en-US" altLang="en-US" dirty="0"/>
              <a:t>Telnet sends all data in clear text including your name and password. </a:t>
            </a:r>
          </a:p>
          <a:p>
            <a:pPr lvl="1"/>
            <a:r>
              <a:rPr lang="en-US" altLang="en-US" dirty="0"/>
              <a:t>It has to be a really bad thing these days; consider Microsoft doesn’t even enable it on their latest Oss</a:t>
            </a:r>
            <a:br>
              <a:rPr lang="en-US" altLang="en-US" dirty="0"/>
            </a:br>
            <a:r>
              <a:rPr lang="en-US" altLang="en-US" dirty="0"/>
              <a:t>(you know it really must be unsecure).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sz="1800" dirty="0"/>
              <a:t>SSH is the tool to use.</a:t>
            </a:r>
          </a:p>
          <a:p>
            <a:r>
              <a:rPr lang="en-US" altLang="en-US" sz="1800" dirty="0"/>
              <a:t>SSH provides the same options as Telnet, plus a lot more.</a:t>
            </a:r>
          </a:p>
          <a:p>
            <a:pPr lvl="1"/>
            <a:r>
              <a:rPr lang="en-US" altLang="en-US" sz="1600" dirty="0"/>
              <a:t>It doesn’t send any data in clear text.</a:t>
            </a:r>
          </a:p>
          <a:p>
            <a:r>
              <a:rPr lang="en-US" altLang="en-US" sz="1800" dirty="0"/>
              <a:t>Your servers, routers, and other devices need to be enabled with SSH.</a:t>
            </a:r>
          </a:p>
          <a:p>
            <a:r>
              <a:rPr lang="en-US" altLang="en-US" sz="1800" dirty="0"/>
              <a:t>SSH is not configured by default on most devices.</a:t>
            </a:r>
            <a:endParaRPr lang="en-US" altLang="en-US" dirty="0"/>
          </a:p>
        </p:txBody>
      </p:sp>
      <p:pic>
        <p:nvPicPr>
          <p:cNvPr id="1026" name="Picture 2" descr="ssh command in Linux with Examples - GeeksforGeeks">
            <a:extLst>
              <a:ext uri="{FF2B5EF4-FFF2-40B4-BE49-F238E27FC236}">
                <a16:creationId xmlns:a16="http://schemas.microsoft.com/office/drawing/2014/main" id="{96FF1CB4-257E-24C0-72BA-B8D9A9925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041" y="1723652"/>
            <a:ext cx="3770700" cy="222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DCAEC-26FD-446A-9800-85177531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382385"/>
            <a:ext cx="10990728" cy="1492132"/>
          </a:xfrm>
        </p:spPr>
        <p:txBody>
          <a:bodyPr/>
          <a:lstStyle/>
          <a:p>
            <a:pPr algn="ctr"/>
            <a:r>
              <a:rPr lang="en-US" dirty="0"/>
              <a:t>Basic Commands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CC18-5040-48B8-9C4B-DB3744A92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13647"/>
            <a:ext cx="10178322" cy="4265945"/>
          </a:xfrm>
        </p:spPr>
        <p:txBody>
          <a:bodyPr>
            <a:normAutofit/>
          </a:bodyPr>
          <a:lstStyle/>
          <a:p>
            <a:pPr marL="486918" lvl="1" indent="-285750"/>
            <a:r>
              <a:rPr lang="en-US" sz="2800" dirty="0"/>
              <a:t>Show interface</a:t>
            </a:r>
          </a:p>
          <a:p>
            <a:pPr marL="486918" lvl="1" indent="-285750"/>
            <a:r>
              <a:rPr lang="en-US" sz="2800" dirty="0"/>
              <a:t>Show Config</a:t>
            </a:r>
          </a:p>
          <a:p>
            <a:pPr marL="486918" lvl="1" indent="-285750"/>
            <a:r>
              <a:rPr lang="en-US" sz="2800" dirty="0"/>
              <a:t>Show route</a:t>
            </a:r>
          </a:p>
        </p:txBody>
      </p:sp>
    </p:spTree>
    <p:extLst>
      <p:ext uri="{BB962C8B-B14F-4D97-AF65-F5344CB8AC3E}">
        <p14:creationId xmlns:p14="http://schemas.microsoft.com/office/powerpoint/2010/main" val="207077096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285</TotalTime>
  <Words>836</Words>
  <Application>Microsoft Macintosh PowerPoint</Application>
  <PresentationFormat>Widescreen</PresentationFormat>
  <Paragraphs>108</Paragraphs>
  <Slides>16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Gill Sans MT</vt:lpstr>
      <vt:lpstr>Impact</vt:lpstr>
      <vt:lpstr>Times</vt:lpstr>
      <vt:lpstr>Badge</vt:lpstr>
      <vt:lpstr>Photoshop.Image.10</vt:lpstr>
      <vt:lpstr>Chapter 25</vt:lpstr>
      <vt:lpstr>PowerPoint Presentation</vt:lpstr>
      <vt:lpstr>Protocol Analyzers</vt:lpstr>
      <vt:lpstr>Throughput Testers</vt:lpstr>
      <vt:lpstr>Network Scanners</vt:lpstr>
      <vt:lpstr>Command-Line Tools</vt:lpstr>
      <vt:lpstr>Command-Line Tools</vt:lpstr>
      <vt:lpstr>Command-Line Tools</vt:lpstr>
      <vt:lpstr>Command-Line Tools</vt:lpstr>
      <vt:lpstr>PowerPoint Presentation</vt:lpstr>
      <vt:lpstr>Command-Line Tools</vt:lpstr>
      <vt:lpstr>Command-Line Tools</vt:lpstr>
      <vt:lpstr>NetStat</vt:lpstr>
      <vt:lpstr>Command-Line Tools</vt:lpstr>
      <vt:lpstr>Command-Line Tools</vt:lpstr>
      <vt:lpstr>Basic Commands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</dc:title>
  <dc:creator>Student</dc:creator>
  <cp:lastModifiedBy>Adrienne Bailey</cp:lastModifiedBy>
  <cp:revision>15</cp:revision>
  <dcterms:created xsi:type="dcterms:W3CDTF">2018-11-01T21:10:22Z</dcterms:created>
  <dcterms:modified xsi:type="dcterms:W3CDTF">2022-09-23T16:03:37Z</dcterms:modified>
</cp:coreProperties>
</file>