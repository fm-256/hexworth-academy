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  <p:sldId id="260" r:id="rId8"/>
    <p:sldId id="261" r:id="rId9"/>
    <p:sldId id="262" r:id="rId10"/>
    <p:sldId id="269" r:id="rId11"/>
    <p:sldId id="270" r:id="rId12"/>
    <p:sldId id="279" r:id="rId13"/>
    <p:sldId id="263" r:id="rId14"/>
    <p:sldId id="265" r:id="rId15"/>
    <p:sldId id="264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63780"/>
  </p:normalViewPr>
  <p:slideViewPr>
    <p:cSldViewPr snapToGrid="0">
      <p:cViewPr varScale="1">
        <p:scale>
          <a:sx n="70" d="100"/>
          <a:sy n="70" d="100"/>
        </p:scale>
        <p:origin x="2216" y="19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9979C-6B93-C74B-AE99-AF606977A50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Hosts talk to each other in something in a language known as “binary”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Binary is a bunch of 1s and 0s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End-users usually use workstations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Workstations are more powerful and run more than one CPU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Servers tend to be job-specific, really good at their jobs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Hosts are any network device with an IP address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Your home is a LAN. It is the combination of all you devices being connected and being able to communicate with one another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way this is setup, Marketing can access its own resources and servers, Sales can access its own resources and servers as well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Marketing and Sales, based on this graphic are no able to connect to the other’s resources without a router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Collection of Local Area Networks (2 or more)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internet is a WAN (the largest)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Usually operated and managed by a service provider like Verizon, AT&amp;T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Routers are the key to connecting different LANs to each other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Distributed is the internet; millions of users in different places that are all interconnected accessing resources on the web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An example of centralized is remote workers logging into their company owned computers and being able to have access to the company’s network and resources from their own home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MPLS allows you to create a private link between different sites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Usually done through a ISP (internet service provider)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best thing about this is speed, Quality of Service, and interface independent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Interface independent means all your networks could communicate regardless of the type of connection they have (DSL, Fiber, </a:t>
            </a:r>
            <a:r>
              <a:rPr lang="en-US" dirty="0" err="1"/>
              <a:t>etc</a:t>
            </a:r>
            <a:r>
              <a:rPr lang="en-US" dirty="0"/>
              <a:t>)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add labels to each packet traversing the network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Traditionally your router sent data and made decisions of where to send data based on its IP address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MPLS allows the router to put a 32-bit label on your data, which would make your data reach its destination quicker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Peer-to-Peer networks is when you connect one client to another client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client being a computer, they have a direct connection.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Internet is not needed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Client-to-server networks are when there is 1 or more computers connecting to one or more servers that hold all the services and resources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you go to </a:t>
            </a:r>
            <a:r>
              <a:rPr lang="en-US" dirty="0" err="1"/>
              <a:t>google.com</a:t>
            </a:r>
            <a:r>
              <a:rPr lang="en-US" dirty="0"/>
              <a:t> your client is talking to the web server that has </a:t>
            </a:r>
            <a:r>
              <a:rPr lang="en-US" dirty="0" err="1"/>
              <a:t>google’s</a:t>
            </a:r>
            <a:r>
              <a:rPr lang="en-US" dirty="0"/>
              <a:t> web application running on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order for each computer to get resources, it must speak directly to the computer it needs resources from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the Client-server network, everyone is pulling resources the server, the server holds and manages all resources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need to learn the differences among all these topologies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Every thing is connected via ONE cable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Single-point of failure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the network goes down, it is hard to figure out how or why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Also known as Hub-and-Spoke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devices are connected to one centralized device, instead of one cable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also has a single-point of failure, can somebody tell me where that is?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Much easier to expand out using this topology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Basically the same as the Bus topology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Not very common anymore primarily because it has a single-point of failure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Imagine having to connect each computer directly to every computer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 lets say you have 20 computers, how many connections would you need?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You’d need 190 connections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one has fault tolerance, but it comes at a very high price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Very rare to see this topology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Point-to-point is a direct connection between 2 routers or switches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Remember the way these objects look, all these items are representative of routers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link between a computer and a switch or a hub is also considered a point-to-point connection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Point-to-multipoint is when each router is part of the same network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hybrid topology is simply a combination of two or more different physical or logical network topologies operating within the same network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Think of the word “logical” like virtual. They are interchangeable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backbone of a network is like your spine, if your spine is damaged you cannot operate normally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the main line that all your devices and segments are connected to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Segments are the lines that connect your devices on your network to the backbone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18C16-2494-4047-83A6-9BCA74A61B4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wmf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wmf"/><Relationship Id="rId4" Type="http://schemas.openxmlformats.org/officeDocument/2006/relationships/image" Target="../media/image11.png"/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Networks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626" y="2122490"/>
            <a:ext cx="8596668" cy="955676"/>
          </a:xfrm>
        </p:spPr>
        <p:txBody>
          <a:bodyPr/>
          <a:lstStyle/>
          <a:p>
            <a:r>
              <a:rPr lang="en-US" dirty="0"/>
              <a:t>Anytime you connect two or more systems together, you have a network</a:t>
            </a:r>
            <a:endParaRPr lang="en-US" dirty="0"/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 flipH="1">
            <a:off x="2166649" y="3650821"/>
            <a:ext cx="2691677" cy="116320"/>
          </a:xfrm>
          <a:prstGeom prst="line">
            <a:avLst/>
          </a:prstGeom>
          <a:noFill/>
          <a:ln w="762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4"/>
          <p:cNvCxnSpPr>
            <a:cxnSpLocks noChangeShapeType="1"/>
          </p:cNvCxnSpPr>
          <p:nvPr/>
        </p:nvCxnSpPr>
        <p:spPr bwMode="auto">
          <a:xfrm>
            <a:off x="4754273" y="3465516"/>
            <a:ext cx="1573212" cy="0"/>
          </a:xfrm>
          <a:prstGeom prst="line">
            <a:avLst/>
          </a:prstGeom>
          <a:noFill/>
          <a:ln w="762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810" y="3344866"/>
            <a:ext cx="95567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698" y="3344866"/>
            <a:ext cx="95726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460" y="3116266"/>
            <a:ext cx="18034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20"/>
          <p:cNvSpPr txBox="1">
            <a:spLocks noChangeArrowheads="1"/>
          </p:cNvSpPr>
          <p:nvPr/>
        </p:nvSpPr>
        <p:spPr bwMode="auto">
          <a:xfrm>
            <a:off x="6143335" y="3821116"/>
            <a:ext cx="7889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Printer</a:t>
            </a:r>
            <a:endParaRPr lang="en-US" altLang="en-US" sz="1600"/>
          </a:p>
        </p:txBody>
      </p:sp>
      <p:sp>
        <p:nvSpPr>
          <p:cNvPr id="10" name="TextBox 20"/>
          <p:cNvSpPr txBox="1">
            <a:spLocks noChangeArrowheads="1"/>
          </p:cNvSpPr>
          <p:nvPr/>
        </p:nvSpPr>
        <p:spPr bwMode="auto">
          <a:xfrm>
            <a:off x="4358985" y="4300541"/>
            <a:ext cx="6064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Host</a:t>
            </a:r>
            <a:endParaRPr lang="en-US" altLang="en-US" sz="1600"/>
          </a:p>
        </p:txBody>
      </p:sp>
      <p:sp>
        <p:nvSpPr>
          <p:cNvPr id="11" name="TextBox 20"/>
          <p:cNvSpPr txBox="1">
            <a:spLocks noChangeArrowheads="1"/>
          </p:cNvSpPr>
          <p:nvPr/>
        </p:nvSpPr>
        <p:spPr bwMode="auto">
          <a:xfrm>
            <a:off x="2023773" y="4294191"/>
            <a:ext cx="6064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Host</a:t>
            </a:r>
            <a:endParaRPr lang="en-US" alt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688" y="382385"/>
            <a:ext cx="10917936" cy="1492132"/>
          </a:xfrm>
        </p:spPr>
        <p:txBody>
          <a:bodyPr/>
          <a:lstStyle/>
          <a:p>
            <a:pPr algn="ctr"/>
            <a:r>
              <a:rPr lang="en-US" dirty="0"/>
              <a:t>Network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389893"/>
            <a:ext cx="10178322" cy="35935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Workstations</a:t>
            </a:r>
            <a:endParaRPr lang="en-US" dirty="0"/>
          </a:p>
          <a:p>
            <a:pPr lvl="1"/>
            <a:r>
              <a:rPr lang="en-US" dirty="0"/>
              <a:t>Beefy desktops – think CAD machines</a:t>
            </a:r>
            <a:endParaRPr lang="en-US" dirty="0"/>
          </a:p>
          <a:p>
            <a:r>
              <a:rPr lang="en-US" dirty="0"/>
              <a:t>Servers</a:t>
            </a:r>
            <a:endParaRPr lang="en-US" dirty="0"/>
          </a:p>
          <a:p>
            <a:pPr lvl="1"/>
            <a:r>
              <a:rPr lang="en-US" dirty="0"/>
              <a:t>Power horses that provide specific services to the network</a:t>
            </a:r>
            <a:endParaRPr lang="en-US" dirty="0"/>
          </a:p>
          <a:p>
            <a:pPr lvl="1"/>
            <a:r>
              <a:rPr lang="en-US" dirty="0"/>
              <a:t>Examples</a:t>
            </a:r>
            <a:endParaRPr lang="en-US" dirty="0"/>
          </a:p>
          <a:p>
            <a:pPr lvl="2"/>
            <a:r>
              <a:rPr lang="en-US" dirty="0"/>
              <a:t>Mail</a:t>
            </a:r>
            <a:endParaRPr lang="en-US" dirty="0"/>
          </a:p>
          <a:p>
            <a:pPr lvl="2"/>
            <a:r>
              <a:rPr lang="en-US" dirty="0"/>
              <a:t>File</a:t>
            </a:r>
            <a:endParaRPr lang="en-US" dirty="0"/>
          </a:p>
          <a:p>
            <a:pPr lvl="2"/>
            <a:r>
              <a:rPr lang="en-US" dirty="0"/>
              <a:t>Web</a:t>
            </a:r>
            <a:endParaRPr lang="en-US" dirty="0"/>
          </a:p>
          <a:p>
            <a:r>
              <a:rPr lang="en-US" dirty="0"/>
              <a:t>Hosts</a:t>
            </a:r>
            <a:endParaRPr lang="en-US" dirty="0"/>
          </a:p>
          <a:p>
            <a:pPr lvl="1"/>
            <a:r>
              <a:rPr lang="en-US" dirty="0"/>
              <a:t>Anything that connects to a network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897" y="382385"/>
            <a:ext cx="10882015" cy="92254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What is a Local Area Network (LAN)</a:t>
            </a:r>
            <a:endParaRPr lang="en-US" dirty="0"/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5809722" y="3687762"/>
            <a:ext cx="560387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Hub</a:t>
            </a:r>
            <a:endParaRPr lang="en-US" altLang="en-US" sz="1600"/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4195234" y="3668712"/>
            <a:ext cx="787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Switch</a:t>
            </a:r>
            <a:endParaRPr lang="en-US" altLang="en-US" sz="1600"/>
          </a:p>
        </p:txBody>
      </p:sp>
      <p:sp>
        <p:nvSpPr>
          <p:cNvPr id="6" name="TextBox 20"/>
          <p:cNvSpPr txBox="1">
            <a:spLocks noChangeArrowheads="1"/>
          </p:cNvSpPr>
          <p:nvPr/>
        </p:nvSpPr>
        <p:spPr bwMode="auto">
          <a:xfrm>
            <a:off x="1512359" y="1933575"/>
            <a:ext cx="8905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Servers</a:t>
            </a:r>
            <a:endParaRPr lang="en-US" altLang="en-US" sz="1600"/>
          </a:p>
        </p:txBody>
      </p:sp>
      <p:sp>
        <p:nvSpPr>
          <p:cNvPr id="7" name="TextBox 20"/>
          <p:cNvSpPr txBox="1">
            <a:spLocks noChangeArrowheads="1"/>
          </p:cNvSpPr>
          <p:nvPr/>
        </p:nvSpPr>
        <p:spPr bwMode="auto">
          <a:xfrm>
            <a:off x="7713134" y="1930400"/>
            <a:ext cx="8905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Servers</a:t>
            </a:r>
            <a:endParaRPr lang="en-US" altLang="en-US" sz="1600"/>
          </a:p>
        </p:txBody>
      </p:sp>
      <p:grpSp>
        <p:nvGrpSpPr>
          <p:cNvPr id="8" name="Group 7"/>
          <p:cNvGrpSpPr/>
          <p:nvPr/>
        </p:nvGrpSpPr>
        <p:grpSpPr bwMode="auto">
          <a:xfrm>
            <a:off x="1550892" y="2393950"/>
            <a:ext cx="647057" cy="2392362"/>
            <a:chOff x="1162266" y="2570163"/>
            <a:chExt cx="647057" cy="2392362"/>
          </a:xfrm>
        </p:grpSpPr>
        <p:cxnSp>
          <p:nvCxnSpPr>
            <p:cNvPr id="38" name="Straight Connector 37"/>
            <p:cNvCxnSpPr>
              <a:cxnSpLocks noChangeShapeType="1"/>
            </p:cNvCxnSpPr>
            <p:nvPr/>
          </p:nvCxnSpPr>
          <p:spPr bwMode="auto">
            <a:xfrm>
              <a:off x="1809323" y="2570163"/>
              <a:ext cx="0" cy="2392362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Straight Connector 38"/>
            <p:cNvCxnSpPr>
              <a:cxnSpLocks noChangeShapeType="1"/>
            </p:cNvCxnSpPr>
            <p:nvPr/>
          </p:nvCxnSpPr>
          <p:spPr bwMode="auto">
            <a:xfrm>
              <a:off x="1162266" y="2878138"/>
              <a:ext cx="647057" cy="0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Straight Connector 39"/>
            <p:cNvCxnSpPr>
              <a:cxnSpLocks noChangeShapeType="1"/>
            </p:cNvCxnSpPr>
            <p:nvPr/>
          </p:nvCxnSpPr>
          <p:spPr bwMode="auto">
            <a:xfrm>
              <a:off x="1162266" y="4303713"/>
              <a:ext cx="647057" cy="0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>
            <a:off x="1348847" y="4281487"/>
            <a:ext cx="0" cy="132397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5434012"/>
            <a:ext cx="140652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97" y="3519487"/>
            <a:ext cx="725487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/>
          <p:cNvCxnSpPr>
            <a:cxnSpLocks noChangeShapeType="1"/>
          </p:cNvCxnSpPr>
          <p:nvPr/>
        </p:nvCxnSpPr>
        <p:spPr bwMode="auto">
          <a:xfrm>
            <a:off x="2571222" y="4413250"/>
            <a:ext cx="18923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12"/>
          <p:cNvCxnSpPr>
            <a:cxnSpLocks noChangeShapeType="1"/>
          </p:cNvCxnSpPr>
          <p:nvPr/>
        </p:nvCxnSpPr>
        <p:spPr bwMode="auto">
          <a:xfrm>
            <a:off x="2587097" y="4397375"/>
            <a:ext cx="0" cy="66357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Connector 13"/>
          <p:cNvCxnSpPr>
            <a:cxnSpLocks noChangeShapeType="1"/>
          </p:cNvCxnSpPr>
          <p:nvPr/>
        </p:nvCxnSpPr>
        <p:spPr bwMode="auto">
          <a:xfrm>
            <a:off x="3437997" y="3400425"/>
            <a:ext cx="0" cy="1681162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Connector 14"/>
          <p:cNvCxnSpPr>
            <a:cxnSpLocks noChangeShapeType="1"/>
          </p:cNvCxnSpPr>
          <p:nvPr/>
        </p:nvCxnSpPr>
        <p:spPr bwMode="auto">
          <a:xfrm>
            <a:off x="4461934" y="4397375"/>
            <a:ext cx="0" cy="66357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434" y="4597400"/>
            <a:ext cx="835025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459" y="4597400"/>
            <a:ext cx="836613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009" y="4597400"/>
            <a:ext cx="835025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8"/>
          <p:cNvGrpSpPr/>
          <p:nvPr/>
        </p:nvGrpSpPr>
        <p:grpSpPr bwMode="auto">
          <a:xfrm flipH="1">
            <a:off x="8013382" y="2205037"/>
            <a:ext cx="647057" cy="2392363"/>
            <a:chOff x="1162266" y="2570163"/>
            <a:chExt cx="647057" cy="2392362"/>
          </a:xfrm>
        </p:grpSpPr>
        <p:cxnSp>
          <p:nvCxnSpPr>
            <p:cNvPr id="35" name="Straight Connector 34"/>
            <p:cNvCxnSpPr>
              <a:cxnSpLocks noChangeShapeType="1"/>
            </p:cNvCxnSpPr>
            <p:nvPr/>
          </p:nvCxnSpPr>
          <p:spPr bwMode="auto">
            <a:xfrm>
              <a:off x="1809323" y="2570163"/>
              <a:ext cx="0" cy="2392362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Straight Connector 35"/>
            <p:cNvCxnSpPr>
              <a:cxnSpLocks noChangeShapeType="1"/>
            </p:cNvCxnSpPr>
            <p:nvPr/>
          </p:nvCxnSpPr>
          <p:spPr bwMode="auto">
            <a:xfrm>
              <a:off x="1162266" y="2878138"/>
              <a:ext cx="647057" cy="0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Straight Connector 36"/>
            <p:cNvCxnSpPr>
              <a:cxnSpLocks noChangeShapeType="1"/>
            </p:cNvCxnSpPr>
            <p:nvPr/>
          </p:nvCxnSpPr>
          <p:spPr bwMode="auto">
            <a:xfrm>
              <a:off x="1162266" y="4303713"/>
              <a:ext cx="647057" cy="0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0" name="Straight Connector 19"/>
          <p:cNvCxnSpPr>
            <a:cxnSpLocks noChangeShapeType="1"/>
          </p:cNvCxnSpPr>
          <p:nvPr/>
        </p:nvCxnSpPr>
        <p:spPr bwMode="auto">
          <a:xfrm>
            <a:off x="6000222" y="4413250"/>
            <a:ext cx="18923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20"/>
          <p:cNvCxnSpPr>
            <a:cxnSpLocks noChangeShapeType="1"/>
          </p:cNvCxnSpPr>
          <p:nvPr/>
        </p:nvCxnSpPr>
        <p:spPr bwMode="auto">
          <a:xfrm>
            <a:off x="6016097" y="4397375"/>
            <a:ext cx="0" cy="66357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Connector 21"/>
          <p:cNvCxnSpPr>
            <a:cxnSpLocks noChangeShapeType="1"/>
          </p:cNvCxnSpPr>
          <p:nvPr/>
        </p:nvCxnSpPr>
        <p:spPr bwMode="auto">
          <a:xfrm>
            <a:off x="6865409" y="3400425"/>
            <a:ext cx="1588" cy="1681162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</p:cNvCxnSpPr>
          <p:nvPr/>
        </p:nvCxnSpPr>
        <p:spPr bwMode="auto">
          <a:xfrm>
            <a:off x="7890934" y="4397375"/>
            <a:ext cx="0" cy="66357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759" y="4597400"/>
            <a:ext cx="836613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897" y="4597400"/>
            <a:ext cx="836612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09" y="4597400"/>
            <a:ext cx="835025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7" name="Straight Connector 26"/>
          <p:cNvCxnSpPr>
            <a:cxnSpLocks noChangeShapeType="1"/>
          </p:cNvCxnSpPr>
          <p:nvPr/>
        </p:nvCxnSpPr>
        <p:spPr bwMode="auto">
          <a:xfrm>
            <a:off x="2199747" y="3400425"/>
            <a:ext cx="18923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8" name="Picture 2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459" y="3770312"/>
            <a:ext cx="11207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Connector 28"/>
          <p:cNvCxnSpPr>
            <a:cxnSpLocks noChangeShapeType="1"/>
          </p:cNvCxnSpPr>
          <p:nvPr/>
        </p:nvCxnSpPr>
        <p:spPr bwMode="auto">
          <a:xfrm>
            <a:off x="6119284" y="3397250"/>
            <a:ext cx="18923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0" name="Picture 2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384" y="3784600"/>
            <a:ext cx="11636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634" y="2141537"/>
            <a:ext cx="725488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20"/>
          <p:cNvSpPr txBox="1">
            <a:spLocks noChangeArrowheads="1"/>
          </p:cNvSpPr>
          <p:nvPr/>
        </p:nvSpPr>
        <p:spPr bwMode="auto">
          <a:xfrm>
            <a:off x="1617134" y="5856287"/>
            <a:ext cx="7889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Printer</a:t>
            </a:r>
            <a:endParaRPr lang="en-US" altLang="en-US" sz="1600"/>
          </a:p>
        </p:txBody>
      </p:sp>
      <p:sp>
        <p:nvSpPr>
          <p:cNvPr id="33" name="TextBox 20"/>
          <p:cNvSpPr txBox="1">
            <a:spLocks noChangeArrowheads="1"/>
          </p:cNvSpPr>
          <p:nvPr/>
        </p:nvSpPr>
        <p:spPr bwMode="auto">
          <a:xfrm>
            <a:off x="3290359" y="5448300"/>
            <a:ext cx="10858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Marketing</a:t>
            </a:r>
            <a:endParaRPr lang="en-US" altLang="en-US" sz="1600"/>
          </a:p>
        </p:txBody>
      </p:sp>
      <p:sp>
        <p:nvSpPr>
          <p:cNvPr id="34" name="TextBox 20"/>
          <p:cNvSpPr txBox="1">
            <a:spLocks noChangeArrowheads="1"/>
          </p:cNvSpPr>
          <p:nvPr/>
        </p:nvSpPr>
        <p:spPr bwMode="auto">
          <a:xfrm>
            <a:off x="6765397" y="5472112"/>
            <a:ext cx="69691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Sales</a:t>
            </a:r>
            <a:endParaRPr lang="en-US" altLang="en-US" sz="160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076" y="3371055"/>
            <a:ext cx="725488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0439" y="1942305"/>
            <a:ext cx="725487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2402947" y="1269891"/>
            <a:ext cx="6098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A </a:t>
            </a:r>
            <a:r>
              <a:rPr lang="en-US" altLang="en-US" sz="1800" i="1" dirty="0"/>
              <a:t>local area network (LAN)</a:t>
            </a:r>
            <a:r>
              <a:rPr lang="en-US" altLang="en-US" sz="1800" dirty="0"/>
              <a:t> is usually restricted to spanning a particular geographic location 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688" y="382385"/>
            <a:ext cx="10991088" cy="1492132"/>
          </a:xfrm>
        </p:spPr>
        <p:txBody>
          <a:bodyPr/>
          <a:lstStyle/>
          <a:p>
            <a:pPr algn="ctr"/>
            <a:r>
              <a:rPr lang="en-US" dirty="0"/>
              <a:t>Wide Area Networks (WANs)</a:t>
            </a:r>
            <a:endParaRPr lang="en-US" dirty="0"/>
          </a:p>
        </p:txBody>
      </p:sp>
      <p:sp>
        <p:nvSpPr>
          <p:cNvPr id="4" name="TextBox 20"/>
          <p:cNvSpPr txBox="1">
            <a:spLocks noChangeArrowheads="1"/>
          </p:cNvSpPr>
          <p:nvPr/>
        </p:nvSpPr>
        <p:spPr bwMode="auto">
          <a:xfrm>
            <a:off x="6403685" y="2312411"/>
            <a:ext cx="8905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Servers</a:t>
            </a:r>
            <a:endParaRPr lang="en-US" altLang="en-US" sz="1600"/>
          </a:p>
        </p:txBody>
      </p:sp>
      <p:grpSp>
        <p:nvGrpSpPr>
          <p:cNvPr id="5" name="Group 4"/>
          <p:cNvGrpSpPr/>
          <p:nvPr/>
        </p:nvGrpSpPr>
        <p:grpSpPr bwMode="auto">
          <a:xfrm flipH="1">
            <a:off x="6703933" y="2587048"/>
            <a:ext cx="647057" cy="2392363"/>
            <a:chOff x="1162266" y="2570163"/>
            <a:chExt cx="647057" cy="2392362"/>
          </a:xfrm>
        </p:grpSpPr>
        <p:cxnSp>
          <p:nvCxnSpPr>
            <p:cNvPr id="32" name="Straight Connector 31"/>
            <p:cNvCxnSpPr>
              <a:cxnSpLocks noChangeShapeType="1"/>
            </p:cNvCxnSpPr>
            <p:nvPr/>
          </p:nvCxnSpPr>
          <p:spPr bwMode="auto">
            <a:xfrm>
              <a:off x="1809323" y="2570163"/>
              <a:ext cx="0" cy="2392362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Straight Connector 32"/>
            <p:cNvCxnSpPr>
              <a:cxnSpLocks noChangeShapeType="1"/>
            </p:cNvCxnSpPr>
            <p:nvPr/>
          </p:nvCxnSpPr>
          <p:spPr bwMode="auto">
            <a:xfrm>
              <a:off x="1162266" y="2878138"/>
              <a:ext cx="647057" cy="0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Straight Connector 33"/>
            <p:cNvCxnSpPr>
              <a:cxnSpLocks noChangeShapeType="1"/>
            </p:cNvCxnSpPr>
            <p:nvPr/>
          </p:nvCxnSpPr>
          <p:spPr bwMode="auto">
            <a:xfrm>
              <a:off x="1162266" y="4303713"/>
              <a:ext cx="647057" cy="0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885" y="3901498"/>
            <a:ext cx="725488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248" y="2472748"/>
            <a:ext cx="725487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3246148" y="3660198"/>
            <a:ext cx="3455987" cy="4445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 rot="16200000" flipH="1">
            <a:off x="1715798" y="2809298"/>
            <a:ext cx="6477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1380835" y="2485448"/>
            <a:ext cx="1230313" cy="1270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 rot="16200000" flipH="1">
            <a:off x="1263360" y="2174298"/>
            <a:ext cx="6477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/>
          <p:cNvCxnSpPr>
            <a:cxnSpLocks noChangeShapeType="1"/>
          </p:cNvCxnSpPr>
          <p:nvPr/>
        </p:nvCxnSpPr>
        <p:spPr bwMode="auto">
          <a:xfrm rot="16200000" flipH="1">
            <a:off x="1998373" y="2174298"/>
            <a:ext cx="6477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885" y="1572636"/>
            <a:ext cx="7429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923" y="1567873"/>
            <a:ext cx="7429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298" y="3442711"/>
            <a:ext cx="9080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Connector 15"/>
          <p:cNvCxnSpPr>
            <a:cxnSpLocks noChangeShapeType="1"/>
          </p:cNvCxnSpPr>
          <p:nvPr/>
        </p:nvCxnSpPr>
        <p:spPr bwMode="auto">
          <a:xfrm rot="16200000" flipH="1">
            <a:off x="1696748" y="5165148"/>
            <a:ext cx="6477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16"/>
          <p:cNvCxnSpPr>
            <a:cxnSpLocks noChangeShapeType="1"/>
          </p:cNvCxnSpPr>
          <p:nvPr/>
        </p:nvCxnSpPr>
        <p:spPr bwMode="auto">
          <a:xfrm>
            <a:off x="1415760" y="4853998"/>
            <a:ext cx="10414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/>
          <p:cNvCxnSpPr>
            <a:cxnSpLocks noChangeShapeType="1"/>
          </p:cNvCxnSpPr>
          <p:nvPr/>
        </p:nvCxnSpPr>
        <p:spPr bwMode="auto">
          <a:xfrm rot="16200000" flipH="1">
            <a:off x="1244310" y="4530148"/>
            <a:ext cx="6477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/>
          <p:cNvCxnSpPr>
            <a:cxnSpLocks noChangeShapeType="1"/>
          </p:cNvCxnSpPr>
          <p:nvPr/>
        </p:nvCxnSpPr>
        <p:spPr bwMode="auto">
          <a:xfrm rot="16200000" flipH="1">
            <a:off x="1977735" y="4530148"/>
            <a:ext cx="6477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935" y="3858636"/>
            <a:ext cx="7429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898" y="3931661"/>
            <a:ext cx="7429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Straight Connector 21"/>
          <p:cNvCxnSpPr>
            <a:cxnSpLocks noChangeShapeType="1"/>
          </p:cNvCxnSpPr>
          <p:nvPr/>
        </p:nvCxnSpPr>
        <p:spPr bwMode="auto">
          <a:xfrm flipV="1">
            <a:off x="2298410" y="3901498"/>
            <a:ext cx="1330325" cy="135572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2"/>
          <p:cNvCxnSpPr>
            <a:cxnSpLocks noChangeShapeType="1"/>
            <a:endCxn id="31" idx="0"/>
          </p:cNvCxnSpPr>
          <p:nvPr/>
        </p:nvCxnSpPr>
        <p:spPr bwMode="auto">
          <a:xfrm>
            <a:off x="2361910" y="3155373"/>
            <a:ext cx="1373188" cy="3698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4" name="Group 23"/>
          <p:cNvGrpSpPr/>
          <p:nvPr/>
        </p:nvGrpSpPr>
        <p:grpSpPr bwMode="auto">
          <a:xfrm>
            <a:off x="3033423" y="3279198"/>
            <a:ext cx="1323975" cy="787400"/>
            <a:chOff x="3952191" y="3774446"/>
            <a:chExt cx="1325027" cy="78785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191" y="3774446"/>
              <a:ext cx="1325027" cy="787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TextBox 20"/>
            <p:cNvSpPr txBox="1">
              <a:spLocks noChangeArrowheads="1"/>
            </p:cNvSpPr>
            <p:nvPr/>
          </p:nvSpPr>
          <p:spPr bwMode="auto">
            <a:xfrm>
              <a:off x="4213472" y="4021494"/>
              <a:ext cx="881973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Internet</a:t>
              </a:r>
              <a:endParaRPr lang="en-US" altLang="en-US" sz="1600"/>
            </a:p>
          </p:txBody>
        </p:sp>
      </p:grpSp>
      <p:pic>
        <p:nvPicPr>
          <p:cNvPr id="25" name="Picture 2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373" y="5090536"/>
            <a:ext cx="906462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360" y="2731511"/>
            <a:ext cx="906463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0"/>
          <p:cNvSpPr txBox="1">
            <a:spLocks noChangeArrowheads="1"/>
          </p:cNvSpPr>
          <p:nvPr/>
        </p:nvSpPr>
        <p:spPr bwMode="auto">
          <a:xfrm>
            <a:off x="5051135" y="3899911"/>
            <a:ext cx="62865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Corp</a:t>
            </a:r>
            <a:endParaRPr lang="en-US" altLang="en-US" sz="1600"/>
          </a:p>
        </p:txBody>
      </p:sp>
      <p:sp>
        <p:nvSpPr>
          <p:cNvPr id="28" name="TextBox 20"/>
          <p:cNvSpPr txBox="1">
            <a:spLocks noChangeArrowheads="1"/>
          </p:cNvSpPr>
          <p:nvPr/>
        </p:nvSpPr>
        <p:spPr bwMode="auto">
          <a:xfrm>
            <a:off x="1644360" y="5622348"/>
            <a:ext cx="9477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Branch2</a:t>
            </a:r>
            <a:endParaRPr lang="en-US" altLang="en-US" sz="1600"/>
          </a:p>
        </p:txBody>
      </p:sp>
      <p:sp>
        <p:nvSpPr>
          <p:cNvPr id="29" name="TextBox 20"/>
          <p:cNvSpPr txBox="1">
            <a:spLocks noChangeArrowheads="1"/>
          </p:cNvSpPr>
          <p:nvPr/>
        </p:nvSpPr>
        <p:spPr bwMode="auto">
          <a:xfrm>
            <a:off x="1607848" y="3209348"/>
            <a:ext cx="947737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Branch1</a:t>
            </a:r>
            <a:endParaRPr lang="en-US" altLang="en-US" sz="1600"/>
          </a:p>
        </p:txBody>
      </p:sp>
      <p:sp>
        <p:nvSpPr>
          <p:cNvPr id="3" name="TextBox 2"/>
          <p:cNvSpPr txBox="1"/>
          <p:nvPr/>
        </p:nvSpPr>
        <p:spPr>
          <a:xfrm>
            <a:off x="8306934" y="1128451"/>
            <a:ext cx="37818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Usually need a router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Span geographical locations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Usually slower than a LAN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use public or private media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Distributed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lot of different computers in different areas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Centralized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Central computer remote computers connect to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Remote offices to central office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Multi-Protocol Label Switching (MPLS)</a:t>
            </a:r>
            <a:endParaRPr lang="en-US" dirty="0"/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5662612" y="3570287"/>
            <a:ext cx="1373188" cy="3698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4"/>
          <p:cNvCxnSpPr>
            <a:cxnSpLocks noChangeShapeType="1"/>
          </p:cNvCxnSpPr>
          <p:nvPr/>
        </p:nvCxnSpPr>
        <p:spPr bwMode="auto">
          <a:xfrm flipV="1">
            <a:off x="5465762" y="2517775"/>
            <a:ext cx="1279525" cy="547687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Connector 5"/>
          <p:cNvCxnSpPr>
            <a:cxnSpLocks noChangeShapeType="1"/>
          </p:cNvCxnSpPr>
          <p:nvPr/>
        </p:nvCxnSpPr>
        <p:spPr bwMode="auto">
          <a:xfrm>
            <a:off x="2278062" y="3292475"/>
            <a:ext cx="4806950" cy="4445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Group 6"/>
          <p:cNvGrpSpPr/>
          <p:nvPr/>
        </p:nvGrpSpPr>
        <p:grpSpPr bwMode="auto">
          <a:xfrm>
            <a:off x="3117850" y="2382837"/>
            <a:ext cx="2978150" cy="1773238"/>
            <a:chOff x="3952191" y="3774446"/>
            <a:chExt cx="1325027" cy="787854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191" y="3774446"/>
              <a:ext cx="1325027" cy="787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Box 20"/>
            <p:cNvSpPr txBox="1">
              <a:spLocks noChangeArrowheads="1"/>
            </p:cNvSpPr>
            <p:nvPr/>
          </p:nvSpPr>
          <p:spPr bwMode="auto">
            <a:xfrm>
              <a:off x="4213472" y="4021494"/>
              <a:ext cx="902589" cy="336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MPLS Network</a:t>
              </a:r>
              <a:br>
                <a:rPr lang="en-US" altLang="en-US" sz="1600"/>
              </a:br>
              <a:r>
                <a:rPr lang="en-US" altLang="en-US" sz="1600"/>
                <a:t>Logical Connections</a:t>
              </a:r>
              <a:br>
                <a:rPr lang="en-US" altLang="en-US" sz="1600"/>
              </a:br>
              <a:r>
                <a:rPr lang="en-US" altLang="en-US" sz="1600"/>
                <a:t>Between Sites</a:t>
              </a:r>
              <a:endParaRPr lang="en-US" altLang="en-US" sz="1600"/>
            </a:p>
          </p:txBody>
        </p:sp>
      </p:grpSp>
      <p:pic>
        <p:nvPicPr>
          <p:cNvPr id="8" name="Picture 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25" y="3673475"/>
            <a:ext cx="906462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3027362"/>
            <a:ext cx="906462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25" y="3065462"/>
            <a:ext cx="906462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20"/>
          <p:cNvSpPr txBox="1">
            <a:spLocks noChangeArrowheads="1"/>
          </p:cNvSpPr>
          <p:nvPr/>
        </p:nvSpPr>
        <p:spPr bwMode="auto">
          <a:xfrm>
            <a:off x="1179512" y="2678112"/>
            <a:ext cx="1687513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Corporate Office</a:t>
            </a:r>
            <a:endParaRPr lang="en-US" altLang="en-US" sz="1600"/>
          </a:p>
        </p:txBody>
      </p:sp>
      <p:sp>
        <p:nvSpPr>
          <p:cNvPr id="12" name="TextBox 20"/>
          <p:cNvSpPr txBox="1">
            <a:spLocks noChangeArrowheads="1"/>
          </p:cNvSpPr>
          <p:nvPr/>
        </p:nvSpPr>
        <p:spPr bwMode="auto">
          <a:xfrm>
            <a:off x="6057900" y="1930400"/>
            <a:ext cx="15287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Branch Offices</a:t>
            </a:r>
            <a:endParaRPr lang="en-US" altLang="en-US" sz="1600"/>
          </a:p>
        </p:txBody>
      </p:sp>
      <p:cxnSp>
        <p:nvCxnSpPr>
          <p:cNvPr id="13" name="Straight Arrow Connector 12"/>
          <p:cNvCxnSpPr>
            <a:cxnSpLocks noChangeShapeType="1"/>
          </p:cNvCxnSpPr>
          <p:nvPr/>
        </p:nvCxnSpPr>
        <p:spPr bwMode="auto">
          <a:xfrm flipV="1">
            <a:off x="2867025" y="3382962"/>
            <a:ext cx="0" cy="730250"/>
          </a:xfrm>
          <a:prstGeom prst="straightConnector1">
            <a:avLst/>
          </a:prstGeom>
          <a:noFill/>
          <a:ln w="28575" algn="ctr">
            <a:solidFill>
              <a:schemeClr val="bg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" name="Picture 1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25" y="2251075"/>
            <a:ext cx="9080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20"/>
          <p:cNvSpPr txBox="1">
            <a:spLocks noChangeArrowheads="1"/>
          </p:cNvSpPr>
          <p:nvPr/>
        </p:nvSpPr>
        <p:spPr bwMode="auto">
          <a:xfrm>
            <a:off x="955675" y="4203612"/>
            <a:ext cx="38227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/>
              <a:t>Each router assigns labels to data when</a:t>
            </a:r>
            <a:br>
              <a:rPr lang="en-US" altLang="en-US" sz="1600" dirty="0"/>
            </a:br>
            <a:r>
              <a:rPr lang="en-US" altLang="en-US" sz="1600" dirty="0"/>
              <a:t>the data heads toward the MPLS cloud</a:t>
            </a:r>
            <a:endParaRPr lang="en-US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902107" y="5005066"/>
            <a:ext cx="80153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altLang="en-US" dirty="0"/>
              <a:t>MPLS is a switching mechanism that imposes labels (numbers) to data and then uses those labels to forward data when the data arrives at the MPLS network .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12" y="382385"/>
            <a:ext cx="10972800" cy="1492132"/>
          </a:xfrm>
        </p:spPr>
        <p:txBody>
          <a:bodyPr/>
          <a:lstStyle/>
          <a:p>
            <a:pPr algn="ctr"/>
            <a:r>
              <a:rPr lang="en-US" dirty="0"/>
              <a:t>Peer-to-Peer vs Client-to-server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118" y="1389893"/>
            <a:ext cx="4472466" cy="3593591"/>
          </a:xfrm>
        </p:spPr>
        <p:txBody>
          <a:bodyPr/>
          <a:lstStyle/>
          <a:p>
            <a:r>
              <a:rPr lang="en-US" dirty="0"/>
              <a:t>Peer to Peer</a:t>
            </a:r>
            <a:endParaRPr lang="en-US" dirty="0"/>
          </a:p>
          <a:p>
            <a:pPr lvl="1"/>
            <a:r>
              <a:rPr lang="en-US" dirty="0"/>
              <a:t>Think direct connection</a:t>
            </a:r>
            <a:endParaRPr lang="en-US" dirty="0"/>
          </a:p>
          <a:p>
            <a:r>
              <a:rPr lang="en-US" dirty="0"/>
              <a:t>Client Server</a:t>
            </a:r>
            <a:endParaRPr lang="en-US" dirty="0"/>
          </a:p>
          <a:p>
            <a:pPr lvl="1"/>
            <a:r>
              <a:rPr lang="en-US" dirty="0"/>
              <a:t>Internet today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3513"/>
            <a:ext cx="1447800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6" name="Rectangle 8"/>
          <p:cNvSpPr>
            <a:spLocks noGrp="1"/>
          </p:cNvSpPr>
          <p:nvPr>
            <p:ph type="title"/>
          </p:nvPr>
        </p:nvSpPr>
        <p:spPr>
          <a:xfrm>
            <a:off x="1010830" y="274638"/>
            <a:ext cx="10912946" cy="114300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Peer-to-Peer Networking</a:t>
            </a:r>
            <a:endParaRPr lang="en-US" altLang="en-US" dirty="0"/>
          </a:p>
        </p:txBody>
      </p:sp>
      <p:sp>
        <p:nvSpPr>
          <p:cNvPr id="10247" name="Rectangle 11"/>
          <p:cNvSpPr/>
          <p:nvPr/>
        </p:nvSpPr>
        <p:spPr>
          <a:xfrm>
            <a:off x="9220200" y="62484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en-US" altLang="en-US" sz="1400" dirty="0">
                <a:latin typeface="Times" pitchFamily="-108" charset="0"/>
              </a:rPr>
            </a:fld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1024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cxnSp>
        <p:nvCxnSpPr>
          <p:cNvPr id="10249" name="Straight Connector 40"/>
          <p:cNvCxnSpPr/>
          <p:nvPr/>
        </p:nvCxnSpPr>
        <p:spPr>
          <a:xfrm flipH="1">
            <a:off x="4391344" y="4602798"/>
            <a:ext cx="1501775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250" name="Straight Connector 40"/>
          <p:cNvCxnSpPr/>
          <p:nvPr/>
        </p:nvCxnSpPr>
        <p:spPr>
          <a:xfrm>
            <a:off x="5940425" y="3854450"/>
            <a:ext cx="0" cy="750888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251" name="Straight Connector 40"/>
          <p:cNvCxnSpPr/>
          <p:nvPr/>
        </p:nvCxnSpPr>
        <p:spPr>
          <a:xfrm flipH="1">
            <a:off x="6491288" y="4601210"/>
            <a:ext cx="136525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252" name="Straight Connector 40"/>
          <p:cNvCxnSpPr/>
          <p:nvPr/>
        </p:nvCxnSpPr>
        <p:spPr>
          <a:xfrm>
            <a:off x="6484620" y="3852863"/>
            <a:ext cx="0" cy="7493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253" name="Straight Connector 40"/>
          <p:cNvCxnSpPr/>
          <p:nvPr/>
        </p:nvCxnSpPr>
        <p:spPr>
          <a:xfrm flipH="1" flipV="1">
            <a:off x="6463984" y="3299460"/>
            <a:ext cx="1500187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254" name="Straight Connector 40"/>
          <p:cNvCxnSpPr/>
          <p:nvPr/>
        </p:nvCxnSpPr>
        <p:spPr>
          <a:xfrm flipV="1">
            <a:off x="6464618" y="3283585"/>
            <a:ext cx="0" cy="7493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255" name="Straight Connector 40"/>
          <p:cNvCxnSpPr/>
          <p:nvPr/>
        </p:nvCxnSpPr>
        <p:spPr>
          <a:xfrm>
            <a:off x="4402455" y="3299460"/>
            <a:ext cx="1500188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256" name="Straight Connector 40"/>
          <p:cNvCxnSpPr/>
          <p:nvPr/>
        </p:nvCxnSpPr>
        <p:spPr>
          <a:xfrm flipV="1">
            <a:off x="5883593" y="3285173"/>
            <a:ext cx="0" cy="7493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257" name="TextBox 7"/>
          <p:cNvSpPr txBox="1"/>
          <p:nvPr/>
        </p:nvSpPr>
        <p:spPr>
          <a:xfrm>
            <a:off x="6105525" y="3711576"/>
            <a:ext cx="560388" cy="314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Hub</a:t>
            </a:r>
            <a:endParaRPr lang="en-US" altLang="en-US" sz="1600" dirty="0"/>
          </a:p>
        </p:txBody>
      </p:sp>
      <p:pic>
        <p:nvPicPr>
          <p:cNvPr id="10258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773" y="4296411"/>
            <a:ext cx="836612" cy="836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9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218" y="2866073"/>
            <a:ext cx="836612" cy="836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6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01" y="4326574"/>
            <a:ext cx="835025" cy="835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61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669" y="3742374"/>
            <a:ext cx="1163637" cy="496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62" name="TextBox 20"/>
          <p:cNvSpPr txBox="1"/>
          <p:nvPr/>
        </p:nvSpPr>
        <p:spPr>
          <a:xfrm>
            <a:off x="5875655" y="4239261"/>
            <a:ext cx="560388" cy="314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Hub</a:t>
            </a:r>
            <a:endParaRPr lang="en-US" altLang="en-US" sz="1600" dirty="0"/>
          </a:p>
        </p:txBody>
      </p:sp>
      <p:pic>
        <p:nvPicPr>
          <p:cNvPr id="10263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108" y="2837498"/>
            <a:ext cx="836612" cy="83661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583056" y="2577149"/>
          <a:ext cx="2443164" cy="1097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573"/>
                <a:gridCol w="972793"/>
                <a:gridCol w="767798"/>
              </a:tblGrid>
              <a:tr h="274241">
                <a:tc>
                  <a:txBody>
                    <a:bodyPr/>
                    <a:lstStyle/>
                    <a:p>
                      <a:r>
                        <a:rPr lang="en-US" sz="1200" b="1" dirty="0"/>
                        <a:t>Users</a:t>
                      </a:r>
                      <a:endParaRPr lang="en-US" sz="1200" b="1" dirty="0"/>
                    </a:p>
                  </a:txBody>
                  <a:tcPr marL="91465" marR="91465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Password</a:t>
                      </a:r>
                      <a:endParaRPr lang="en-US" sz="1200" b="1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Access</a:t>
                      </a:r>
                      <a:endParaRPr lang="en-US" sz="1200" b="1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Mickey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!Tails?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Full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Pluto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</a:t>
                      </a:r>
                      <a:r>
                        <a:rPr lang="en-US" sz="1200" dirty="0" err="1"/>
                        <a:t>NoKats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Read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lang="en-US" sz="1200" dirty="0"/>
                        <a:t>Louie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^Wet#!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Read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583056" y="4120199"/>
          <a:ext cx="2441575" cy="1096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116"/>
                <a:gridCol w="972160"/>
                <a:gridCol w="767299"/>
              </a:tblGrid>
              <a:tr h="274241">
                <a:tc>
                  <a:txBody>
                    <a:bodyPr/>
                    <a:lstStyle/>
                    <a:p>
                      <a:r>
                        <a:rPr lang="en-US" sz="1200" b="1" dirty="0"/>
                        <a:t>Users</a:t>
                      </a:r>
                      <a:endParaRPr lang="en-US" sz="1200" b="1" dirty="0"/>
                    </a:p>
                  </a:txBody>
                  <a:tcPr marL="91406" marR="91406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Password</a:t>
                      </a:r>
                      <a:endParaRPr lang="en-US" sz="1200" b="1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Access</a:t>
                      </a:r>
                      <a:endParaRPr lang="en-US" sz="1200" b="1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Millie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#Shorts?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Read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Pluto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&amp;</a:t>
                      </a:r>
                      <a:r>
                        <a:rPr lang="en-US" sz="1200" dirty="0" err="1"/>
                        <a:t>LittleTail</a:t>
                      </a:r>
                      <a:r>
                        <a:rPr lang="en-US" sz="1200" dirty="0"/>
                        <a:t>!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Full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Louie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^Wet#!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Full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068311" y="2586039"/>
          <a:ext cx="2443164" cy="1096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573"/>
                <a:gridCol w="972793"/>
                <a:gridCol w="767798"/>
              </a:tblGrid>
              <a:tr h="274241">
                <a:tc>
                  <a:txBody>
                    <a:bodyPr/>
                    <a:lstStyle/>
                    <a:p>
                      <a:r>
                        <a:rPr lang="en-US" sz="1200" b="1" dirty="0"/>
                        <a:t>Users</a:t>
                      </a:r>
                      <a:endParaRPr lang="en-US" sz="1200" b="1" dirty="0"/>
                    </a:p>
                  </a:txBody>
                  <a:tcPr marL="91465" marR="91465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Password</a:t>
                      </a:r>
                      <a:endParaRPr lang="en-US" sz="1200" b="1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Access</a:t>
                      </a:r>
                      <a:endParaRPr lang="en-US" sz="1200" b="1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Millie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#Shorts?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Read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Mickey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My!Ears</a:t>
                      </a:r>
                      <a:r>
                        <a:rPr lang="en-US" sz="1200" dirty="0"/>
                        <a:t>?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Read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Louie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^Wet#!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Full</a:t>
                      </a:r>
                      <a:endParaRPr lang="en-US" sz="1200" dirty="0"/>
                    </a:p>
                  </a:txBody>
                  <a:tcPr marL="91465" marR="91465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068311" y="4129089"/>
          <a:ext cx="2441575" cy="1096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116"/>
                <a:gridCol w="972160"/>
                <a:gridCol w="767299"/>
              </a:tblGrid>
              <a:tr h="274241">
                <a:tc>
                  <a:txBody>
                    <a:bodyPr/>
                    <a:lstStyle/>
                    <a:p>
                      <a:r>
                        <a:rPr lang="en-US" sz="1200" b="1" dirty="0"/>
                        <a:t>Users</a:t>
                      </a:r>
                      <a:endParaRPr lang="en-US" sz="1200" b="1" dirty="0"/>
                    </a:p>
                  </a:txBody>
                  <a:tcPr marL="91406" marR="91406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Password</a:t>
                      </a:r>
                      <a:endParaRPr lang="en-US" sz="1200" b="1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Access</a:t>
                      </a:r>
                      <a:endParaRPr lang="en-US" sz="1200" b="1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Millie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#Shorts?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Read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Pluto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&amp;</a:t>
                      </a:r>
                      <a:r>
                        <a:rPr lang="en-US" sz="1200" dirty="0" err="1"/>
                        <a:t>LittleTail</a:t>
                      </a:r>
                      <a:r>
                        <a:rPr lang="en-US" sz="1200" dirty="0"/>
                        <a:t>!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Full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241">
                <a:tc>
                  <a:txBody>
                    <a:bodyPr/>
                    <a:lstStyle/>
                    <a:p>
                      <a:r>
                        <a:rPr lang="en-US" sz="1200" dirty="0"/>
                        <a:t>Mickey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&amp;&amp;Boss!@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Full</a:t>
                      </a:r>
                      <a:endParaRPr lang="en-US" sz="1200" dirty="0"/>
                    </a:p>
                  </a:txBody>
                  <a:tcPr marL="91406" marR="91406" marT="45683" marB="456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0332" name="TextBox 20"/>
          <p:cNvSpPr txBox="1"/>
          <p:nvPr/>
        </p:nvSpPr>
        <p:spPr>
          <a:xfrm>
            <a:off x="4620895" y="2837498"/>
            <a:ext cx="683200" cy="3139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Millie</a:t>
            </a:r>
            <a:endParaRPr lang="en-US" altLang="en-US" sz="1600" dirty="0"/>
          </a:p>
        </p:txBody>
      </p:sp>
      <p:sp>
        <p:nvSpPr>
          <p:cNvPr id="10333" name="TextBox 20"/>
          <p:cNvSpPr txBox="1"/>
          <p:nvPr/>
        </p:nvSpPr>
        <p:spPr>
          <a:xfrm>
            <a:off x="4620896" y="4120515"/>
            <a:ext cx="823913" cy="3127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Mickey</a:t>
            </a:r>
            <a:endParaRPr lang="en-US" altLang="en-US" sz="1600" dirty="0"/>
          </a:p>
        </p:txBody>
      </p:sp>
      <p:sp>
        <p:nvSpPr>
          <p:cNvPr id="10334" name="TextBox 20"/>
          <p:cNvSpPr txBox="1"/>
          <p:nvPr/>
        </p:nvSpPr>
        <p:spPr>
          <a:xfrm>
            <a:off x="6864033" y="2841625"/>
            <a:ext cx="663964" cy="3139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Pluto</a:t>
            </a:r>
            <a:endParaRPr lang="en-US" altLang="en-US" sz="1600" dirty="0"/>
          </a:p>
        </p:txBody>
      </p:sp>
      <p:sp>
        <p:nvSpPr>
          <p:cNvPr id="10335" name="TextBox 20"/>
          <p:cNvSpPr txBox="1"/>
          <p:nvPr/>
        </p:nvSpPr>
        <p:spPr>
          <a:xfrm>
            <a:off x="6822758" y="4266249"/>
            <a:ext cx="684212" cy="314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Louie</a:t>
            </a:r>
            <a:endParaRPr lang="en-US" altLang="en-US" sz="1600" dirty="0"/>
          </a:p>
        </p:txBody>
      </p:sp>
      <p:grpSp>
        <p:nvGrpSpPr>
          <p:cNvPr id="2" name="Group 1"/>
          <p:cNvGrpSpPr/>
          <p:nvPr/>
        </p:nvGrpSpPr>
        <p:grpSpPr>
          <a:xfrm>
            <a:off x="2988628" y="2392204"/>
            <a:ext cx="5828030" cy="3197225"/>
            <a:chOff x="2536" y="3723"/>
            <a:chExt cx="9178" cy="5035"/>
          </a:xfrm>
        </p:grpSpPr>
        <p:cxnSp>
          <p:nvCxnSpPr>
            <p:cNvPr id="10349" name="Straight Arrow Connector 10255"/>
            <p:cNvCxnSpPr/>
            <p:nvPr/>
          </p:nvCxnSpPr>
          <p:spPr>
            <a:xfrm>
              <a:off x="4512" y="3731"/>
              <a:ext cx="4" cy="739"/>
            </a:xfrm>
            <a:prstGeom prst="straightConnector1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350" name="Straight Connector 10257"/>
            <p:cNvCxnSpPr/>
            <p:nvPr/>
          </p:nvCxnSpPr>
          <p:spPr>
            <a:xfrm flipH="1">
              <a:off x="2536" y="3735"/>
              <a:ext cx="1980" cy="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351" name="Straight Connector 10259"/>
            <p:cNvCxnSpPr/>
            <p:nvPr/>
          </p:nvCxnSpPr>
          <p:spPr>
            <a:xfrm>
              <a:off x="2539" y="3728"/>
              <a:ext cx="0" cy="30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346" name="Straight Arrow Connector 66"/>
            <p:cNvCxnSpPr/>
            <p:nvPr/>
          </p:nvCxnSpPr>
          <p:spPr>
            <a:xfrm flipH="1">
              <a:off x="9734" y="3726"/>
              <a:ext cx="4" cy="739"/>
            </a:xfrm>
            <a:prstGeom prst="straightConnector1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347" name="Straight Connector 67"/>
            <p:cNvCxnSpPr/>
            <p:nvPr/>
          </p:nvCxnSpPr>
          <p:spPr>
            <a:xfrm>
              <a:off x="9734" y="3730"/>
              <a:ext cx="1980" cy="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348" name="Straight Connector 68"/>
            <p:cNvCxnSpPr/>
            <p:nvPr/>
          </p:nvCxnSpPr>
          <p:spPr>
            <a:xfrm flipH="1">
              <a:off x="11710" y="3723"/>
              <a:ext cx="0" cy="30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343" name="Straight Arrow Connector 70"/>
            <p:cNvCxnSpPr/>
            <p:nvPr/>
          </p:nvCxnSpPr>
          <p:spPr>
            <a:xfrm flipV="1">
              <a:off x="4519" y="8015"/>
              <a:ext cx="4" cy="739"/>
            </a:xfrm>
            <a:prstGeom prst="straightConnector1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344" name="Straight Connector 71"/>
            <p:cNvCxnSpPr/>
            <p:nvPr/>
          </p:nvCxnSpPr>
          <p:spPr>
            <a:xfrm flipH="1" flipV="1">
              <a:off x="2543" y="8750"/>
              <a:ext cx="1980" cy="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345" name="Straight Connector 72"/>
            <p:cNvCxnSpPr/>
            <p:nvPr/>
          </p:nvCxnSpPr>
          <p:spPr>
            <a:xfrm flipV="1">
              <a:off x="2547" y="8458"/>
              <a:ext cx="0" cy="30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340" name="Straight Arrow Connector 74"/>
            <p:cNvCxnSpPr/>
            <p:nvPr/>
          </p:nvCxnSpPr>
          <p:spPr>
            <a:xfrm flipH="1" flipV="1">
              <a:off x="9649" y="8010"/>
              <a:ext cx="4" cy="741"/>
            </a:xfrm>
            <a:prstGeom prst="straightConnector1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0341" name="Straight Connector 75"/>
            <p:cNvCxnSpPr/>
            <p:nvPr/>
          </p:nvCxnSpPr>
          <p:spPr>
            <a:xfrm flipV="1">
              <a:off x="9649" y="8747"/>
              <a:ext cx="1980" cy="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342" name="Straight Connector 76"/>
            <p:cNvCxnSpPr/>
            <p:nvPr/>
          </p:nvCxnSpPr>
          <p:spPr>
            <a:xfrm flipH="1" flipV="1">
              <a:off x="11625" y="8454"/>
              <a:ext cx="0" cy="301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3" name="Rectangle 2"/>
          <p:cNvSpPr/>
          <p:nvPr/>
        </p:nvSpPr>
        <p:spPr>
          <a:xfrm>
            <a:off x="1010830" y="1573570"/>
            <a:ext cx="3108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dirty="0"/>
              <a:t>Think direct connection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3513"/>
            <a:ext cx="1447800" cy="411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6464300"/>
            <a:ext cx="1295400" cy="317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Rectangle 8"/>
          <p:cNvSpPr>
            <a:spLocks noGrp="1"/>
          </p:cNvSpPr>
          <p:nvPr>
            <p:ph type="title"/>
          </p:nvPr>
        </p:nvSpPr>
        <p:spPr>
          <a:xfrm>
            <a:off x="859537" y="274638"/>
            <a:ext cx="11009365" cy="114300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Client Server Networks</a:t>
            </a:r>
            <a:endParaRPr lang="en-US" altLang="en-US" dirty="0"/>
          </a:p>
        </p:txBody>
      </p:sp>
      <p:sp>
        <p:nvSpPr>
          <p:cNvPr id="11271" name="Rectangle 11"/>
          <p:cNvSpPr/>
          <p:nvPr/>
        </p:nvSpPr>
        <p:spPr>
          <a:xfrm>
            <a:off x="9220200" y="62484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en-US" altLang="en-US" sz="1400" dirty="0">
                <a:latin typeface="Times" pitchFamily="-108" charset="0"/>
              </a:rPr>
            </a:fld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1127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cxnSp>
        <p:nvCxnSpPr>
          <p:cNvPr id="11273" name="Straight Connector 40"/>
          <p:cNvCxnSpPr/>
          <p:nvPr/>
        </p:nvCxnSpPr>
        <p:spPr>
          <a:xfrm>
            <a:off x="5888038" y="3592513"/>
            <a:ext cx="16637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74" name="Straight Connector 40"/>
          <p:cNvCxnSpPr/>
          <p:nvPr/>
        </p:nvCxnSpPr>
        <p:spPr>
          <a:xfrm flipH="1">
            <a:off x="3641726" y="4203700"/>
            <a:ext cx="1501775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75" name="Straight Connector 40"/>
          <p:cNvCxnSpPr/>
          <p:nvPr/>
        </p:nvCxnSpPr>
        <p:spPr>
          <a:xfrm>
            <a:off x="5126038" y="3446464"/>
            <a:ext cx="0" cy="750887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76" name="Straight Connector 40"/>
          <p:cNvCxnSpPr/>
          <p:nvPr/>
        </p:nvCxnSpPr>
        <p:spPr>
          <a:xfrm flipH="1">
            <a:off x="5676900" y="4202113"/>
            <a:ext cx="1366838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77" name="Straight Connector 40"/>
          <p:cNvCxnSpPr/>
          <p:nvPr/>
        </p:nvCxnSpPr>
        <p:spPr>
          <a:xfrm>
            <a:off x="5697538" y="3444875"/>
            <a:ext cx="0" cy="7493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78" name="Straight Connector 40"/>
          <p:cNvCxnSpPr/>
          <p:nvPr/>
        </p:nvCxnSpPr>
        <p:spPr>
          <a:xfrm flipH="1" flipV="1">
            <a:off x="5676900" y="2900363"/>
            <a:ext cx="1500188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79" name="Straight Connector 40"/>
          <p:cNvCxnSpPr/>
          <p:nvPr/>
        </p:nvCxnSpPr>
        <p:spPr>
          <a:xfrm flipV="1">
            <a:off x="5695950" y="2884488"/>
            <a:ext cx="0" cy="7493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80" name="Straight Connector 40"/>
          <p:cNvCxnSpPr/>
          <p:nvPr/>
        </p:nvCxnSpPr>
        <p:spPr>
          <a:xfrm>
            <a:off x="3643314" y="2900363"/>
            <a:ext cx="1500187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81" name="Straight Connector 40"/>
          <p:cNvCxnSpPr/>
          <p:nvPr/>
        </p:nvCxnSpPr>
        <p:spPr>
          <a:xfrm flipV="1">
            <a:off x="5124450" y="2886075"/>
            <a:ext cx="0" cy="7493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282" name="TextBox 7"/>
          <p:cNvSpPr txBox="1"/>
          <p:nvPr/>
        </p:nvSpPr>
        <p:spPr>
          <a:xfrm>
            <a:off x="5291139" y="3303589"/>
            <a:ext cx="560387" cy="314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Hub</a:t>
            </a:r>
            <a:endParaRPr lang="en-US" altLang="en-US" sz="1600" dirty="0"/>
          </a:p>
        </p:txBody>
      </p:sp>
      <p:pic>
        <p:nvPicPr>
          <p:cNvPr id="11283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388" y="3897313"/>
            <a:ext cx="836612" cy="836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84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1" y="2466976"/>
            <a:ext cx="836613" cy="836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85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839" y="3927476"/>
            <a:ext cx="835025" cy="835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86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589" y="3343275"/>
            <a:ext cx="1163637" cy="496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87" name="TextBox 20"/>
          <p:cNvSpPr txBox="1"/>
          <p:nvPr/>
        </p:nvSpPr>
        <p:spPr>
          <a:xfrm>
            <a:off x="5116514" y="3795714"/>
            <a:ext cx="560387" cy="314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Hub</a:t>
            </a:r>
            <a:endParaRPr lang="en-US" altLang="en-US" sz="1600" dirty="0"/>
          </a:p>
        </p:txBody>
      </p:sp>
      <p:pic>
        <p:nvPicPr>
          <p:cNvPr id="11288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26" y="2438401"/>
            <a:ext cx="836613" cy="83661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118476" y="2884488"/>
          <a:ext cx="244316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573"/>
                <a:gridCol w="972793"/>
                <a:gridCol w="767798"/>
              </a:tblGrid>
              <a:tr h="253363">
                <a:tc>
                  <a:txBody>
                    <a:bodyPr/>
                    <a:lstStyle/>
                    <a:p>
                      <a:r>
                        <a:rPr lang="en-US" sz="1200" b="1" dirty="0"/>
                        <a:t>Users</a:t>
                      </a:r>
                      <a:endParaRPr lang="en-US" sz="1200" b="1" dirty="0"/>
                    </a:p>
                  </a:txBody>
                  <a:tcPr marL="91465" marR="91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Password</a:t>
                      </a:r>
                      <a:endParaRPr lang="en-US" sz="1200" b="1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Access</a:t>
                      </a:r>
                      <a:endParaRPr lang="en-US" sz="1200" b="1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3363">
                <a:tc>
                  <a:txBody>
                    <a:bodyPr/>
                    <a:lstStyle/>
                    <a:p>
                      <a:r>
                        <a:rPr lang="en-US" sz="1200" dirty="0"/>
                        <a:t>Millie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#Shorts?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Read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2018">
                <a:tc>
                  <a:txBody>
                    <a:bodyPr/>
                    <a:lstStyle/>
                    <a:p>
                      <a:r>
                        <a:rPr lang="en-US" sz="1200" dirty="0"/>
                        <a:t>Pluto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&amp;</a:t>
                      </a:r>
                      <a:r>
                        <a:rPr lang="en-US" sz="1200" dirty="0" err="1"/>
                        <a:t>LittleTail</a:t>
                      </a:r>
                      <a:r>
                        <a:rPr lang="en-US" sz="1200" dirty="0"/>
                        <a:t>!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Full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2018">
                <a:tc>
                  <a:txBody>
                    <a:bodyPr/>
                    <a:lstStyle/>
                    <a:p>
                      <a:r>
                        <a:rPr lang="en-US" sz="1200" dirty="0"/>
                        <a:t>Louie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^Wet#!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Full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2018">
                <a:tc>
                  <a:txBody>
                    <a:bodyPr/>
                    <a:lstStyle/>
                    <a:p>
                      <a:r>
                        <a:rPr lang="en-US" sz="1200" dirty="0"/>
                        <a:t>Mickey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--Earls?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Write</a:t>
                      </a:r>
                      <a:endParaRPr lang="en-US" sz="1200" dirty="0"/>
                    </a:p>
                  </a:txBody>
                  <a:tcPr marL="91465" marR="9146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1309" name="TextBox 20"/>
          <p:cNvSpPr txBox="1"/>
          <p:nvPr/>
        </p:nvSpPr>
        <p:spPr>
          <a:xfrm>
            <a:off x="3835400" y="2438400"/>
            <a:ext cx="683200" cy="3139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Millie</a:t>
            </a:r>
            <a:endParaRPr lang="en-US" altLang="en-US" sz="1600" dirty="0"/>
          </a:p>
        </p:txBody>
      </p:sp>
      <p:sp>
        <p:nvSpPr>
          <p:cNvPr id="11310" name="TextBox 20"/>
          <p:cNvSpPr txBox="1"/>
          <p:nvPr/>
        </p:nvSpPr>
        <p:spPr>
          <a:xfrm>
            <a:off x="3835401" y="3770314"/>
            <a:ext cx="822325" cy="3127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Mickey</a:t>
            </a:r>
            <a:endParaRPr lang="en-US" altLang="en-US" sz="1600" dirty="0"/>
          </a:p>
        </p:txBody>
      </p:sp>
      <p:sp>
        <p:nvSpPr>
          <p:cNvPr id="11311" name="TextBox 20"/>
          <p:cNvSpPr txBox="1"/>
          <p:nvPr/>
        </p:nvSpPr>
        <p:spPr>
          <a:xfrm>
            <a:off x="6076950" y="2433638"/>
            <a:ext cx="663964" cy="3139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Pluto</a:t>
            </a:r>
            <a:endParaRPr lang="en-US" altLang="en-US" sz="1600" dirty="0"/>
          </a:p>
        </p:txBody>
      </p:sp>
      <p:sp>
        <p:nvSpPr>
          <p:cNvPr id="11312" name="TextBox 20"/>
          <p:cNvSpPr txBox="1"/>
          <p:nvPr/>
        </p:nvSpPr>
        <p:spPr>
          <a:xfrm>
            <a:off x="6035676" y="3867151"/>
            <a:ext cx="684213" cy="314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Louie</a:t>
            </a:r>
            <a:endParaRPr lang="en-US" altLang="en-US" sz="1600" dirty="0"/>
          </a:p>
        </p:txBody>
      </p:sp>
      <p:pic>
        <p:nvPicPr>
          <p:cNvPr id="11313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614" y="2998789"/>
            <a:ext cx="725487" cy="1025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314" name="TextBox 20"/>
          <p:cNvSpPr txBox="1"/>
          <p:nvPr/>
        </p:nvSpPr>
        <p:spPr>
          <a:xfrm>
            <a:off x="7299325" y="3963989"/>
            <a:ext cx="788988" cy="314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dirty="0"/>
              <a:t>Server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3513"/>
            <a:ext cx="14478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6464300"/>
            <a:ext cx="12954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8"/>
          <p:cNvSpPr>
            <a:spLocks noGrp="1" noChangeArrowheads="1"/>
          </p:cNvSpPr>
          <p:nvPr>
            <p:ph type="title"/>
          </p:nvPr>
        </p:nvSpPr>
        <p:spPr>
          <a:xfrm>
            <a:off x="3657600" y="274638"/>
            <a:ext cx="6553200" cy="1143000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ea typeface="MS PGothic" panose="020B0600070205080204" pitchFamily="34" charset="-128"/>
              </a:rPr>
              <a:t>Physical Topologies</a:t>
            </a:r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23560" name="Content Placeholder 9"/>
          <p:cNvSpPr>
            <a:spLocks noGrp="1" noChangeArrowheads="1"/>
          </p:cNvSpPr>
          <p:nvPr>
            <p:ph idx="1"/>
          </p:nvPr>
        </p:nvSpPr>
        <p:spPr>
          <a:xfrm>
            <a:off x="1747007" y="1219199"/>
            <a:ext cx="7371825" cy="513965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Here is a list of the various topologies you’re most likely to run in to these days: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800" dirty="0">
                <a:ea typeface="MS PGothic" panose="020B0600070205080204" pitchFamily="34" charset="-128"/>
              </a:rPr>
              <a:t>Bus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800" dirty="0">
                <a:ea typeface="MS PGothic" panose="020B0600070205080204" pitchFamily="34" charset="-128"/>
              </a:rPr>
              <a:t>Star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800" dirty="0">
                <a:ea typeface="MS PGothic" panose="020B0600070205080204" pitchFamily="34" charset="-128"/>
              </a:rPr>
              <a:t>Ring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800" dirty="0">
                <a:ea typeface="MS PGothic" panose="020B0600070205080204" pitchFamily="34" charset="-128"/>
              </a:rPr>
              <a:t>Mesh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800" dirty="0">
                <a:ea typeface="MS PGothic" panose="020B0600070205080204" pitchFamily="34" charset="-128"/>
              </a:rPr>
              <a:t>Point-to-point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800" dirty="0">
                <a:ea typeface="MS PGothic" panose="020B0600070205080204" pitchFamily="34" charset="-128"/>
              </a:rPr>
              <a:t>Point-to-multipoint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1800" dirty="0">
                <a:ea typeface="MS PGothic" panose="020B0600070205080204" pitchFamily="34" charset="-128"/>
              </a:rPr>
              <a:t>Hybrid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23559" name="Rectangle 12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208" y="198906"/>
            <a:ext cx="10533886" cy="1492132"/>
          </a:xfrm>
        </p:spPr>
        <p:txBody>
          <a:bodyPr/>
          <a:lstStyle/>
          <a:p>
            <a:pPr algn="ctr"/>
            <a:r>
              <a:rPr lang="en-US" dirty="0"/>
              <a:t>Bus Topology</a:t>
            </a:r>
            <a:endParaRPr lang="en-US" dirty="0"/>
          </a:p>
        </p:txBody>
      </p:sp>
      <p:cxnSp>
        <p:nvCxnSpPr>
          <p:cNvPr id="5" name="Straight Connector 40"/>
          <p:cNvCxnSpPr>
            <a:cxnSpLocks noChangeShapeType="1"/>
          </p:cNvCxnSpPr>
          <p:nvPr/>
        </p:nvCxnSpPr>
        <p:spPr bwMode="auto">
          <a:xfrm>
            <a:off x="4213802" y="2046578"/>
            <a:ext cx="0" cy="95885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Connector 40"/>
          <p:cNvCxnSpPr>
            <a:cxnSpLocks noChangeShapeType="1"/>
          </p:cNvCxnSpPr>
          <p:nvPr/>
        </p:nvCxnSpPr>
        <p:spPr bwMode="auto">
          <a:xfrm>
            <a:off x="3875665" y="3227678"/>
            <a:ext cx="0" cy="80803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Box 19"/>
          <p:cNvSpPr txBox="1">
            <a:spLocks noChangeArrowheads="1"/>
          </p:cNvSpPr>
          <p:nvPr/>
        </p:nvSpPr>
        <p:spPr bwMode="auto">
          <a:xfrm>
            <a:off x="3402590" y="4656428"/>
            <a:ext cx="1095375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Server S1</a:t>
            </a:r>
            <a:endParaRPr lang="en-US" altLang="en-US" sz="1600"/>
          </a:p>
        </p:txBody>
      </p:sp>
      <p:cxnSp>
        <p:nvCxnSpPr>
          <p:cNvPr id="8" name="Straight Connector 40"/>
          <p:cNvCxnSpPr>
            <a:cxnSpLocks noChangeShapeType="1"/>
          </p:cNvCxnSpPr>
          <p:nvPr/>
        </p:nvCxnSpPr>
        <p:spPr bwMode="auto">
          <a:xfrm>
            <a:off x="2589790" y="3227678"/>
            <a:ext cx="0" cy="47942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40"/>
          <p:cNvCxnSpPr>
            <a:cxnSpLocks noChangeShapeType="1"/>
          </p:cNvCxnSpPr>
          <p:nvPr/>
        </p:nvCxnSpPr>
        <p:spPr bwMode="auto">
          <a:xfrm rot="16200000">
            <a:off x="5123440" y="2695866"/>
            <a:ext cx="6477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0" name="Picture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002" y="2203741"/>
            <a:ext cx="140652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715" y="3621378"/>
            <a:ext cx="725487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40"/>
          <p:cNvCxnSpPr>
            <a:cxnSpLocks noChangeShapeType="1"/>
          </p:cNvCxnSpPr>
          <p:nvPr/>
        </p:nvCxnSpPr>
        <p:spPr bwMode="auto">
          <a:xfrm>
            <a:off x="2407227" y="3227678"/>
            <a:ext cx="1620838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40"/>
          <p:cNvCxnSpPr>
            <a:cxnSpLocks noChangeShapeType="1"/>
          </p:cNvCxnSpPr>
          <p:nvPr/>
        </p:nvCxnSpPr>
        <p:spPr bwMode="auto">
          <a:xfrm>
            <a:off x="2426277" y="2783178"/>
            <a:ext cx="0" cy="44450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Connector 40"/>
          <p:cNvCxnSpPr>
            <a:cxnSpLocks noChangeShapeType="1"/>
          </p:cNvCxnSpPr>
          <p:nvPr/>
        </p:nvCxnSpPr>
        <p:spPr bwMode="auto">
          <a:xfrm>
            <a:off x="1605540" y="2140241"/>
            <a:ext cx="0" cy="66357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40" y="3518191"/>
            <a:ext cx="835025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665" y="1786228"/>
            <a:ext cx="83661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590" y="1789403"/>
            <a:ext cx="83502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Straight Connector 40"/>
          <p:cNvCxnSpPr>
            <a:cxnSpLocks noChangeShapeType="1"/>
          </p:cNvCxnSpPr>
          <p:nvPr/>
        </p:nvCxnSpPr>
        <p:spPr bwMode="auto">
          <a:xfrm>
            <a:off x="1289627" y="2797466"/>
            <a:ext cx="1152525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20"/>
          <p:cNvSpPr txBox="1">
            <a:spLocks noChangeArrowheads="1"/>
          </p:cNvSpPr>
          <p:nvPr/>
        </p:nvSpPr>
        <p:spPr bwMode="auto">
          <a:xfrm>
            <a:off x="4978977" y="1943391"/>
            <a:ext cx="135890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Laser Printer</a:t>
            </a:r>
            <a:endParaRPr lang="en-US" altLang="en-US" sz="1600"/>
          </a:p>
        </p:txBody>
      </p:sp>
      <p:cxnSp>
        <p:nvCxnSpPr>
          <p:cNvPr id="20" name="Straight Connector 40"/>
          <p:cNvCxnSpPr>
            <a:cxnSpLocks noChangeShapeType="1"/>
          </p:cNvCxnSpPr>
          <p:nvPr/>
        </p:nvCxnSpPr>
        <p:spPr bwMode="auto">
          <a:xfrm>
            <a:off x="4007427" y="3005428"/>
            <a:ext cx="0" cy="227013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40"/>
          <p:cNvCxnSpPr>
            <a:cxnSpLocks noChangeShapeType="1"/>
          </p:cNvCxnSpPr>
          <p:nvPr/>
        </p:nvCxnSpPr>
        <p:spPr bwMode="auto">
          <a:xfrm>
            <a:off x="3989965" y="3019716"/>
            <a:ext cx="1620837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TextBox 3"/>
          <p:cNvSpPr txBox="1"/>
          <p:nvPr/>
        </p:nvSpPr>
        <p:spPr>
          <a:xfrm>
            <a:off x="8316336" y="1620225"/>
            <a:ext cx="38891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Advantages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Easy to install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 expensive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Minimal Cabling</a:t>
            </a:r>
            <a:endParaRPr lang="en-US" dirty="0"/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Disadvantages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Difficult to troubleshoot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Difficult to change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Difficult to move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fault tolerance</a:t>
            </a:r>
            <a:endParaRPr lang="en-US" dirty="0"/>
          </a:p>
          <a:p>
            <a:r>
              <a:rPr lang="en-US" dirty="0"/>
              <a:t>	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476" y="343883"/>
            <a:ext cx="10735048" cy="1492132"/>
          </a:xfrm>
        </p:spPr>
        <p:txBody>
          <a:bodyPr/>
          <a:lstStyle/>
          <a:p>
            <a:pPr algn="ctr"/>
            <a:r>
              <a:rPr lang="en-US" dirty="0"/>
              <a:t>Star Topology</a:t>
            </a:r>
            <a:endParaRPr lang="en-US" dirty="0"/>
          </a:p>
        </p:txBody>
      </p:sp>
      <p:cxnSp>
        <p:nvCxnSpPr>
          <p:cNvPr id="4" name="Straight Connector 40"/>
          <p:cNvCxnSpPr>
            <a:cxnSpLocks noChangeShapeType="1"/>
          </p:cNvCxnSpPr>
          <p:nvPr/>
        </p:nvCxnSpPr>
        <p:spPr bwMode="auto">
          <a:xfrm>
            <a:off x="2762972" y="2585315"/>
            <a:ext cx="2346325" cy="15890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40"/>
          <p:cNvCxnSpPr>
            <a:cxnSpLocks noChangeShapeType="1"/>
          </p:cNvCxnSpPr>
          <p:nvPr/>
        </p:nvCxnSpPr>
        <p:spPr bwMode="auto">
          <a:xfrm flipH="1">
            <a:off x="2745509" y="2585315"/>
            <a:ext cx="2363788" cy="161607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Connector 40"/>
          <p:cNvCxnSpPr>
            <a:cxnSpLocks noChangeShapeType="1"/>
          </p:cNvCxnSpPr>
          <p:nvPr/>
        </p:nvCxnSpPr>
        <p:spPr bwMode="auto">
          <a:xfrm>
            <a:off x="3936134" y="2045565"/>
            <a:ext cx="0" cy="2747963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247" y="2259878"/>
            <a:ext cx="817562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522" y="3764828"/>
            <a:ext cx="817562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472" y="3764828"/>
            <a:ext cx="817562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059" y="4506190"/>
            <a:ext cx="817563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059" y="1635990"/>
            <a:ext cx="817563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722" y="2259878"/>
            <a:ext cx="817562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4425084" y="3240953"/>
            <a:ext cx="5603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Hub</a:t>
            </a:r>
            <a:endParaRPr lang="en-US" altLang="en-US" sz="1600"/>
          </a:p>
        </p:txBody>
      </p:sp>
      <p:pic>
        <p:nvPicPr>
          <p:cNvPr id="14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022" y="3240953"/>
            <a:ext cx="1163637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54662" y="1836015"/>
            <a:ext cx="42969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Advantages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Moving or adding stations is easy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single failure will not break network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Easy to troubleshoot</a:t>
            </a:r>
            <a:endParaRPr lang="en-US" dirty="0"/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Disadvantages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cost to install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Has a single point of failure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2385"/>
            <a:ext cx="10972800" cy="1492132"/>
          </a:xfrm>
        </p:spPr>
        <p:txBody>
          <a:bodyPr/>
          <a:lstStyle/>
          <a:p>
            <a:pPr algn="ctr"/>
            <a:r>
              <a:rPr lang="en-US" dirty="0"/>
              <a:t>Ring Topology</a:t>
            </a:r>
            <a:endParaRPr lang="en-US" dirty="0"/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2214275" y="2146354"/>
            <a:ext cx="2505507" cy="2743345"/>
          </a:xfrm>
          <a:prstGeom prst="ellipse">
            <a:avLst/>
          </a:prstGeom>
          <a:noFill/>
          <a:ln w="28575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pic>
        <p:nvPicPr>
          <p:cNvPr id="5" name="Picture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262" y="3216275"/>
            <a:ext cx="851099" cy="85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387" y="3216275"/>
            <a:ext cx="851099" cy="85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237" y="4600575"/>
            <a:ext cx="851099" cy="85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237" y="1930400"/>
            <a:ext cx="851099" cy="85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ircular Arrow 15"/>
          <p:cNvSpPr/>
          <p:nvPr/>
        </p:nvSpPr>
        <p:spPr bwMode="auto">
          <a:xfrm rot="5400000">
            <a:off x="2559538" y="2747741"/>
            <a:ext cx="1844319" cy="1750622"/>
          </a:xfrm>
          <a:prstGeom prst="circularArrow">
            <a:avLst/>
          </a:prstGeom>
          <a:solidFill>
            <a:schemeClr val="accent1"/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82124" tIns="41061" rIns="82124" bIns="41061" anchor="ctr">
            <a:spAutoFit/>
          </a:bodyPr>
          <a:lstStyle/>
          <a:p>
            <a:pPr algn="ctr" defTabSz="814705" eaLnBrk="1" hangingPunct="1">
              <a:lnSpc>
                <a:spcPct val="90000"/>
              </a:lnSpc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620217" y="1997476"/>
            <a:ext cx="2756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 to a Bus Topology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34274"/>
            <a:ext cx="10972800" cy="1492132"/>
          </a:xfrm>
        </p:spPr>
        <p:txBody>
          <a:bodyPr/>
          <a:lstStyle/>
          <a:p>
            <a:pPr algn="ctr"/>
            <a:r>
              <a:rPr lang="en-US" dirty="0"/>
              <a:t>Mesh Topology</a:t>
            </a:r>
            <a:endParaRPr lang="en-US" dirty="0"/>
          </a:p>
        </p:txBody>
      </p:sp>
      <p:cxnSp>
        <p:nvCxnSpPr>
          <p:cNvPr id="4" name="Straight Connector 37"/>
          <p:cNvCxnSpPr>
            <a:cxnSpLocks noChangeShapeType="1"/>
          </p:cNvCxnSpPr>
          <p:nvPr/>
        </p:nvCxnSpPr>
        <p:spPr bwMode="auto">
          <a:xfrm>
            <a:off x="3578225" y="2640013"/>
            <a:ext cx="3160713" cy="208915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6"/>
          <p:cNvCxnSpPr>
            <a:cxnSpLocks noChangeShapeType="1"/>
          </p:cNvCxnSpPr>
          <p:nvPr/>
        </p:nvCxnSpPr>
        <p:spPr bwMode="auto">
          <a:xfrm flipH="1">
            <a:off x="3578225" y="2640013"/>
            <a:ext cx="3168650" cy="2093912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578225" y="2640013"/>
            <a:ext cx="3168650" cy="2093912"/>
          </a:xfrm>
          <a:prstGeom prst="rect">
            <a:avLst/>
          </a:prstGeom>
          <a:noFill/>
          <a:ln w="2857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pic>
        <p:nvPicPr>
          <p:cNvPr id="7" name="Picture 5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2266950"/>
            <a:ext cx="817563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4324350"/>
            <a:ext cx="817563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232025"/>
            <a:ext cx="817563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324350"/>
            <a:ext cx="817563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12381" y="547752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n(n-1)/2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771138" y="1930400"/>
            <a:ext cx="2526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Robust Fault tolerance</a:t>
            </a:r>
            <a:endParaRPr lang="en-US" dirty="0"/>
          </a:p>
          <a:p>
            <a:endParaRPr lang="en-US" dirty="0"/>
          </a:p>
          <a:p>
            <a:r>
              <a:rPr lang="en-US" dirty="0"/>
              <a:t>Very costly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914" y="217924"/>
            <a:ext cx="11214191" cy="1492132"/>
          </a:xfrm>
        </p:spPr>
        <p:txBody>
          <a:bodyPr/>
          <a:lstStyle/>
          <a:p>
            <a:pPr algn="ctr"/>
            <a:r>
              <a:rPr lang="en-US" dirty="0"/>
              <a:t>Other Topologies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to Point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Point to Multi-point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Hybrid Topologies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759360" y="1724026"/>
            <a:ext cx="4364355" cy="873125"/>
            <a:chOff x="4470" y="3668"/>
            <a:chExt cx="6873" cy="137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85" y="4343"/>
              <a:ext cx="4943" cy="7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" name="Picture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710" y="4203"/>
              <a:ext cx="1430" cy="8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" name="Picture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060" y="4203"/>
              <a:ext cx="1430" cy="8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TextBox 20"/>
            <p:cNvSpPr txBox="1"/>
            <p:nvPr/>
          </p:nvSpPr>
          <p:spPr>
            <a:xfrm>
              <a:off x="4470" y="3668"/>
              <a:ext cx="6873" cy="4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dirty="0"/>
                <a:t>Serial Connection, Like a T1 between Routers</a:t>
              </a:r>
              <a:endParaRPr lang="en-US" altLang="en-US" sz="1600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029234" y="3050983"/>
            <a:ext cx="4269105" cy="3321050"/>
            <a:chOff x="4514" y="3574"/>
            <a:chExt cx="6723" cy="5230"/>
          </a:xfrm>
        </p:grpSpPr>
        <p:grpSp>
          <p:nvGrpSpPr>
            <p:cNvPr id="11" name="Group 10"/>
            <p:cNvGrpSpPr/>
            <p:nvPr/>
          </p:nvGrpSpPr>
          <p:grpSpPr>
            <a:xfrm>
              <a:off x="4719" y="3574"/>
              <a:ext cx="6518" cy="5230"/>
              <a:chOff x="4675" y="3575"/>
              <a:chExt cx="6518" cy="5230"/>
            </a:xfrm>
          </p:grpSpPr>
          <p:pic>
            <p:nvPicPr>
              <p:cNvPr id="13" name="Picture 12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63" y="4306"/>
                <a:ext cx="1430" cy="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14" name="Group 13"/>
              <p:cNvGrpSpPr/>
              <p:nvPr/>
            </p:nvGrpSpPr>
            <p:grpSpPr>
              <a:xfrm>
                <a:off x="4675" y="3575"/>
                <a:ext cx="6518" cy="5230"/>
                <a:chOff x="4675" y="3575"/>
                <a:chExt cx="6518" cy="5230"/>
              </a:xfrm>
            </p:grpSpPr>
            <p:cxnSp>
              <p:nvCxnSpPr>
                <p:cNvPr id="15" name="Straight Connector 14"/>
                <p:cNvCxnSpPr/>
                <p:nvPr/>
              </p:nvCxnSpPr>
              <p:spPr>
                <a:xfrm flipV="1">
                  <a:off x="5813" y="4920"/>
                  <a:ext cx="4027" cy="1618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5628" y="6538"/>
                  <a:ext cx="4665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5675" y="6538"/>
                  <a:ext cx="4803" cy="1847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pic>
              <p:nvPicPr>
                <p:cNvPr id="18" name="Picture 17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710" y="6128"/>
                  <a:ext cx="1430" cy="8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9" name="Picture 18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675" y="6128"/>
                  <a:ext cx="1430" cy="8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0" name="Picture 19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763" y="7965"/>
                  <a:ext cx="1430" cy="8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1" name="TextBox 20"/>
                <p:cNvSpPr txBox="1"/>
                <p:nvPr/>
              </p:nvSpPr>
              <p:spPr>
                <a:xfrm>
                  <a:off x="9618" y="3575"/>
                  <a:ext cx="1312" cy="84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dirty="0"/>
                    <a:t>Branch</a:t>
                  </a:r>
                  <a:br>
                    <a:rPr lang="en-US" altLang="en-US" sz="1600" dirty="0"/>
                  </a:br>
                  <a:r>
                    <a:rPr lang="en-US" altLang="en-US" sz="1600" dirty="0"/>
                    <a:t>Offices</a:t>
                  </a:r>
                  <a:endParaRPr lang="en-US" altLang="en-US" sz="1600" dirty="0"/>
                </a:p>
              </p:txBody>
            </p:sp>
          </p:grpSp>
        </p:grpSp>
        <p:sp>
          <p:nvSpPr>
            <p:cNvPr id="12" name="TextBox 20"/>
            <p:cNvSpPr txBox="1"/>
            <p:nvPr/>
          </p:nvSpPr>
          <p:spPr>
            <a:xfrm>
              <a:off x="4514" y="5260"/>
              <a:ext cx="1727" cy="8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dirty="0"/>
                <a:t>Corporate</a:t>
              </a:r>
              <a:br>
                <a:rPr lang="en-US" altLang="en-US" sz="1600" dirty="0"/>
              </a:br>
              <a:r>
                <a:rPr lang="en-US" altLang="en-US" sz="1600" dirty="0"/>
                <a:t>Office</a:t>
              </a:r>
              <a:endParaRPr lang="en-US" altLang="en-US" sz="16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072" y="125532"/>
            <a:ext cx="10936217" cy="1492132"/>
          </a:xfrm>
        </p:spPr>
        <p:txBody>
          <a:bodyPr/>
          <a:lstStyle/>
          <a:p>
            <a:pPr algn="ctr"/>
            <a:r>
              <a:rPr lang="en-US" dirty="0"/>
              <a:t>Backbones and Segments</a:t>
            </a:r>
            <a:endParaRPr lang="en-US" dirty="0"/>
          </a:p>
        </p:txBody>
      </p:sp>
      <p:sp>
        <p:nvSpPr>
          <p:cNvPr id="4" name="TextBox 19"/>
          <p:cNvSpPr txBox="1">
            <a:spLocks noChangeArrowheads="1"/>
          </p:cNvSpPr>
          <p:nvPr/>
        </p:nvSpPr>
        <p:spPr bwMode="auto">
          <a:xfrm>
            <a:off x="5343381" y="4581525"/>
            <a:ext cx="10858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Marketing</a:t>
            </a:r>
            <a:endParaRPr lang="en-US" altLang="en-US" sz="1600"/>
          </a:p>
        </p:txBody>
      </p:sp>
      <p:sp>
        <p:nvSpPr>
          <p:cNvPr id="5" name="TextBox 20"/>
          <p:cNvSpPr txBox="1">
            <a:spLocks noChangeArrowheads="1"/>
          </p:cNvSpPr>
          <p:nvPr/>
        </p:nvSpPr>
        <p:spPr bwMode="auto">
          <a:xfrm>
            <a:off x="3133581" y="4581525"/>
            <a:ext cx="6953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Sales</a:t>
            </a:r>
            <a:endParaRPr lang="en-US" altLang="en-US" sz="1600"/>
          </a:p>
        </p:txBody>
      </p:sp>
      <p:cxnSp>
        <p:nvCxnSpPr>
          <p:cNvPr id="6" name="Straight Connector 40"/>
          <p:cNvCxnSpPr>
            <a:cxnSpLocks noChangeShapeType="1"/>
          </p:cNvCxnSpPr>
          <p:nvPr/>
        </p:nvCxnSpPr>
        <p:spPr bwMode="auto">
          <a:xfrm>
            <a:off x="2095356" y="2663825"/>
            <a:ext cx="15875" cy="2424113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Straight Connector 40"/>
          <p:cNvCxnSpPr>
            <a:cxnSpLocks noChangeShapeType="1"/>
          </p:cNvCxnSpPr>
          <p:nvPr/>
        </p:nvCxnSpPr>
        <p:spPr bwMode="auto">
          <a:xfrm>
            <a:off x="1487343" y="3282950"/>
            <a:ext cx="608013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Connector 40"/>
          <p:cNvCxnSpPr>
            <a:cxnSpLocks noChangeShapeType="1"/>
          </p:cNvCxnSpPr>
          <p:nvPr/>
        </p:nvCxnSpPr>
        <p:spPr bwMode="auto">
          <a:xfrm>
            <a:off x="1487343" y="3986213"/>
            <a:ext cx="608013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40"/>
          <p:cNvCxnSpPr>
            <a:cxnSpLocks noChangeShapeType="1"/>
          </p:cNvCxnSpPr>
          <p:nvPr/>
        </p:nvCxnSpPr>
        <p:spPr bwMode="auto">
          <a:xfrm>
            <a:off x="2955781" y="3705225"/>
            <a:ext cx="1376362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Connector 40"/>
          <p:cNvCxnSpPr>
            <a:cxnSpLocks noChangeShapeType="1"/>
          </p:cNvCxnSpPr>
          <p:nvPr/>
        </p:nvCxnSpPr>
        <p:spPr bwMode="auto">
          <a:xfrm>
            <a:off x="2955781" y="3689350"/>
            <a:ext cx="0" cy="43180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40"/>
          <p:cNvCxnSpPr>
            <a:cxnSpLocks noChangeShapeType="1"/>
          </p:cNvCxnSpPr>
          <p:nvPr/>
        </p:nvCxnSpPr>
        <p:spPr bwMode="auto">
          <a:xfrm>
            <a:off x="3646343" y="2663825"/>
            <a:ext cx="0" cy="140017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40"/>
          <p:cNvCxnSpPr>
            <a:cxnSpLocks noChangeShapeType="1"/>
          </p:cNvCxnSpPr>
          <p:nvPr/>
        </p:nvCxnSpPr>
        <p:spPr bwMode="auto">
          <a:xfrm>
            <a:off x="4332143" y="3689350"/>
            <a:ext cx="0" cy="45402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40"/>
          <p:cNvCxnSpPr>
            <a:cxnSpLocks noChangeShapeType="1"/>
          </p:cNvCxnSpPr>
          <p:nvPr/>
        </p:nvCxnSpPr>
        <p:spPr bwMode="auto">
          <a:xfrm>
            <a:off x="6719743" y="1824038"/>
            <a:ext cx="0" cy="201612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Connector 40"/>
          <p:cNvCxnSpPr>
            <a:cxnSpLocks noChangeShapeType="1"/>
          </p:cNvCxnSpPr>
          <p:nvPr/>
        </p:nvCxnSpPr>
        <p:spPr bwMode="auto">
          <a:xfrm flipH="1">
            <a:off x="6719743" y="2132013"/>
            <a:ext cx="6477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Connector 40"/>
          <p:cNvCxnSpPr>
            <a:cxnSpLocks noChangeShapeType="1"/>
          </p:cNvCxnSpPr>
          <p:nvPr/>
        </p:nvCxnSpPr>
        <p:spPr bwMode="auto">
          <a:xfrm flipH="1">
            <a:off x="6719743" y="3557588"/>
            <a:ext cx="64770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40"/>
          <p:cNvCxnSpPr>
            <a:cxnSpLocks noChangeShapeType="1"/>
          </p:cNvCxnSpPr>
          <p:nvPr/>
        </p:nvCxnSpPr>
        <p:spPr bwMode="auto">
          <a:xfrm flipV="1">
            <a:off x="5202093" y="3705225"/>
            <a:ext cx="1301750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40"/>
          <p:cNvCxnSpPr>
            <a:cxnSpLocks noChangeShapeType="1"/>
          </p:cNvCxnSpPr>
          <p:nvPr/>
        </p:nvCxnSpPr>
        <p:spPr bwMode="auto">
          <a:xfrm>
            <a:off x="5222731" y="3689350"/>
            <a:ext cx="15875" cy="46355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40"/>
          <p:cNvCxnSpPr>
            <a:cxnSpLocks noChangeShapeType="1"/>
          </p:cNvCxnSpPr>
          <p:nvPr/>
        </p:nvCxnSpPr>
        <p:spPr bwMode="auto">
          <a:xfrm>
            <a:off x="5873606" y="2663825"/>
            <a:ext cx="0" cy="146843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40"/>
          <p:cNvCxnSpPr>
            <a:cxnSpLocks noChangeShapeType="1"/>
          </p:cNvCxnSpPr>
          <p:nvPr/>
        </p:nvCxnSpPr>
        <p:spPr bwMode="auto">
          <a:xfrm>
            <a:off x="6487968" y="3689350"/>
            <a:ext cx="0" cy="663575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" name="Picture 4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106" y="3216275"/>
            <a:ext cx="72072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40"/>
          <p:cNvCxnSpPr>
            <a:cxnSpLocks noChangeShapeType="1"/>
          </p:cNvCxnSpPr>
          <p:nvPr/>
        </p:nvCxnSpPr>
        <p:spPr bwMode="auto">
          <a:xfrm>
            <a:off x="1549256" y="2663825"/>
            <a:ext cx="5170487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2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856" y="3230563"/>
            <a:ext cx="720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906" y="3019425"/>
            <a:ext cx="471487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856" y="3117850"/>
            <a:ext cx="558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40"/>
          <p:cNvCxnSpPr>
            <a:cxnSpLocks noChangeShapeType="1"/>
          </p:cNvCxnSpPr>
          <p:nvPr/>
        </p:nvCxnSpPr>
        <p:spPr bwMode="auto">
          <a:xfrm>
            <a:off x="1487343" y="4738688"/>
            <a:ext cx="623888" cy="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6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506" y="3784600"/>
            <a:ext cx="558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506" y="4527550"/>
            <a:ext cx="5588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893" y="3863975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868" y="3852863"/>
            <a:ext cx="5588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493" y="38735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718" y="3852863"/>
            <a:ext cx="5588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081" y="3840163"/>
            <a:ext cx="5588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81" y="38735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068" y="1930400"/>
            <a:ext cx="4714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20"/>
          <p:cNvSpPr txBox="1">
            <a:spLocks noChangeArrowheads="1"/>
          </p:cNvSpPr>
          <p:nvPr/>
        </p:nvSpPr>
        <p:spPr bwMode="auto">
          <a:xfrm>
            <a:off x="4363893" y="2708275"/>
            <a:ext cx="11080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Segments</a:t>
            </a:r>
            <a:endParaRPr lang="en-US" altLang="en-US" sz="1600"/>
          </a:p>
        </p:txBody>
      </p:sp>
      <p:cxnSp>
        <p:nvCxnSpPr>
          <p:cNvPr id="36" name="Straight Arrow Connector 80"/>
          <p:cNvCxnSpPr>
            <a:cxnSpLocks noChangeShapeType="1"/>
          </p:cNvCxnSpPr>
          <p:nvPr/>
        </p:nvCxnSpPr>
        <p:spPr bwMode="auto">
          <a:xfrm flipH="1">
            <a:off x="3809856" y="2865438"/>
            <a:ext cx="522287" cy="252412"/>
          </a:xfrm>
          <a:prstGeom prst="straightConnector1">
            <a:avLst/>
          </a:prstGeom>
          <a:noFill/>
          <a:ln w="28575" algn="ctr">
            <a:solidFill>
              <a:schemeClr val="bg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Arrow Connector 91"/>
          <p:cNvCxnSpPr>
            <a:cxnSpLocks noChangeShapeType="1"/>
          </p:cNvCxnSpPr>
          <p:nvPr/>
        </p:nvCxnSpPr>
        <p:spPr bwMode="auto">
          <a:xfrm>
            <a:off x="5440218" y="2865438"/>
            <a:ext cx="290513" cy="311150"/>
          </a:xfrm>
          <a:prstGeom prst="straightConnector1">
            <a:avLst/>
          </a:prstGeom>
          <a:noFill/>
          <a:ln w="28575" algn="ctr">
            <a:solidFill>
              <a:schemeClr val="bg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20"/>
          <p:cNvSpPr txBox="1">
            <a:spLocks noChangeArrowheads="1"/>
          </p:cNvSpPr>
          <p:nvPr/>
        </p:nvSpPr>
        <p:spPr bwMode="auto">
          <a:xfrm>
            <a:off x="3681268" y="2301875"/>
            <a:ext cx="10953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Backbone</a:t>
            </a:r>
            <a:endParaRPr lang="en-US" altLang="en-US" sz="1600"/>
          </a:p>
        </p:txBody>
      </p:sp>
      <p:cxnSp>
        <p:nvCxnSpPr>
          <p:cNvPr id="39" name="Straight Arrow Connector 94"/>
          <p:cNvCxnSpPr>
            <a:cxnSpLocks noChangeShapeType="1"/>
          </p:cNvCxnSpPr>
          <p:nvPr/>
        </p:nvCxnSpPr>
        <p:spPr bwMode="auto">
          <a:xfrm flipH="1">
            <a:off x="2235056" y="2827338"/>
            <a:ext cx="2205037" cy="0"/>
          </a:xfrm>
          <a:prstGeom prst="straightConnector1">
            <a:avLst/>
          </a:prstGeom>
          <a:noFill/>
          <a:ln w="28575" algn="ctr">
            <a:solidFill>
              <a:schemeClr val="bg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97"/>
          <p:cNvCxnSpPr>
            <a:cxnSpLocks noChangeShapeType="1"/>
          </p:cNvCxnSpPr>
          <p:nvPr/>
        </p:nvCxnSpPr>
        <p:spPr bwMode="auto">
          <a:xfrm>
            <a:off x="5427518" y="2824163"/>
            <a:ext cx="1233488" cy="7937"/>
          </a:xfrm>
          <a:prstGeom prst="straightConnector1">
            <a:avLst/>
          </a:prstGeom>
          <a:noFill/>
          <a:ln w="28575" algn="ctr">
            <a:solidFill>
              <a:schemeClr val="bg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0</TotalTime>
  <Words>2547</Words>
  <Application>WPS Presentation</Application>
  <PresentationFormat>Widescreen</PresentationFormat>
  <Paragraphs>330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Gill Sans MT</vt:lpstr>
      <vt:lpstr>MS PGothic</vt:lpstr>
      <vt:lpstr>Times</vt:lpstr>
      <vt:lpstr>Impact</vt:lpstr>
      <vt:lpstr>Microsoft YaHei</vt:lpstr>
      <vt:lpstr>Arial Unicode MS</vt:lpstr>
      <vt:lpstr>Calibri</vt:lpstr>
      <vt:lpstr>Times New Roman</vt:lpstr>
      <vt:lpstr>Badge</vt:lpstr>
      <vt:lpstr>Chapter 1</vt:lpstr>
      <vt:lpstr>What is a Network</vt:lpstr>
      <vt:lpstr>Network Terms</vt:lpstr>
      <vt:lpstr>What is a Local Area Network (LAN)</vt:lpstr>
      <vt:lpstr>Wide Area Networks (WANs)</vt:lpstr>
      <vt:lpstr>Multi-Protocol Label Switching (MPLS)</vt:lpstr>
      <vt:lpstr>Peer-to-Peer vs Client-to-server</vt:lpstr>
      <vt:lpstr>Peer-to-Peer Networking</vt:lpstr>
      <vt:lpstr>Client Server Networks</vt:lpstr>
      <vt:lpstr>Physical Topologies</vt:lpstr>
      <vt:lpstr>Bus Topology</vt:lpstr>
      <vt:lpstr>Star Topology</vt:lpstr>
      <vt:lpstr>Ring Topology</vt:lpstr>
      <vt:lpstr>Mesh Topology</vt:lpstr>
      <vt:lpstr>Other Topologies</vt:lpstr>
      <vt:lpstr>Backbones and Segments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Sam Lee</dc:creator>
  <cp:lastModifiedBy>Student</cp:lastModifiedBy>
  <cp:revision>23</cp:revision>
  <dcterms:created xsi:type="dcterms:W3CDTF">2018-10-29T14:49:00Z</dcterms:created>
  <dcterms:modified xsi:type="dcterms:W3CDTF">2022-09-20T01:09:58Z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737B10F780424DCF944C233F3611C508</vt:lpwstr>
  </property>
  <property fmtid="{D5CDD505-2E9C-101B-9397-08002B2CF9AE}" pid="3" name="KSOProductBuildVer">
    <vt:lpwstr>1033-11.2.0.11306</vt:lpwstr>
  </property>
</Properties>
</file>