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0" r:id="rId4"/>
    <p:sldId id="261" r:id="rId6"/>
    <p:sldId id="257" r:id="rId7"/>
    <p:sldId id="263" r:id="rId8"/>
    <p:sldId id="258" r:id="rId9"/>
    <p:sldId id="264" r:id="rId10"/>
    <p:sldId id="265" r:id="rId11"/>
    <p:sldId id="266" r:id="rId12"/>
    <p:sldId id="259" r:id="rId13"/>
    <p:sldId id="267" r:id="rId14"/>
    <p:sldId id="270" r:id="rId15"/>
    <p:sldId id="268" r:id="rId16"/>
    <p:sldId id="269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71203"/>
  </p:normalViewPr>
  <p:slideViewPr>
    <p:cSldViewPr snapToGrid="0">
      <p:cViewPr varScale="1">
        <p:scale>
          <a:sx n="80" d="100"/>
          <a:sy n="80" d="100"/>
        </p:scale>
        <p:origin x="1840" y="17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66D66-832E-344D-9748-4C5327C7B82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8446E-ABE9-1949-8651-DC65521E0CE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Condensed version of the OSI model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turns the 7 layers into 4 layers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8446E-ABE9-1949-8651-DC65521E0CE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FTP(21): lets you transfer files across an IP network, it’s a program and a protocol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SSH(22):  sets up a secure Telnet session over a standard TCP/IP connection; helps log into other systems and run programs on remote systems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Telnet(23): is a non-secure way to get on a remote client, DON’T use it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SMTP(25): Used to send mail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POP3(110): Used to receive mail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DNS(53): resolves hostnames and URLs to IP addresses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DHCP(UDP 67/68): assigns IP addresses to hosts; provides IP address, subnet mask, domain name, default gateway, and DNS)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8446E-ABE9-1949-8651-DC65521E0CE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FTP</a:t>
            </a:r>
            <a:r>
              <a:rPr lang="en-US" dirty="0"/>
              <a:t>: transfers files between systems, username &amp; password authentication 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Telnet</a:t>
            </a:r>
            <a:r>
              <a:rPr lang="en-US" dirty="0"/>
              <a:t>: unencrypted way to gain access to remote devices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SSH</a:t>
            </a:r>
            <a:r>
              <a:rPr lang="en-US" dirty="0"/>
              <a:t>: Same as Telnet, encrypted version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TFTP</a:t>
            </a:r>
            <a:r>
              <a:rPr lang="en-US" dirty="0"/>
              <a:t>: stock version of FTP, it does nothing but send and receive files.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ability to browse a directory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need to know the exact name of the file to retrieve it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Don’t just learn the port numbers, also learn what each port is responsible for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SMTP</a:t>
            </a:r>
            <a:r>
              <a:rPr lang="en-US" dirty="0"/>
              <a:t>: Send mail from server to server; can send mail from a device to a mail server; TLS port 587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POP3</a:t>
            </a:r>
            <a:r>
              <a:rPr lang="en-US" dirty="0"/>
              <a:t>: Receive emails from a mail server; TLS port 995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IMAP4</a:t>
            </a:r>
            <a:r>
              <a:rPr lang="en-US" dirty="0"/>
              <a:t>: More management of your inbox across all devices; TLS port 993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SNMP</a:t>
            </a:r>
            <a:r>
              <a:rPr lang="en-US" dirty="0"/>
              <a:t>: Gather stats from network devices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8446E-ABE9-1949-8651-DC65521E0CE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TCP:</a:t>
            </a:r>
            <a:r>
              <a:rPr lang="en-US" b="0" u="none" dirty="0"/>
              <a:t> </a:t>
            </a:r>
            <a:r>
              <a:rPr lang="en-US" dirty="0"/>
              <a:t>takes large blocks of information from an app and breaks it into segments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Has to setup a 3-way handshake prior to data transmission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Full-duplex, connection-oriented, and reliable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Time-consuming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UDP:</a:t>
            </a:r>
            <a:r>
              <a:rPr lang="en-US" b="0" u="none" dirty="0"/>
              <a:t> </a:t>
            </a:r>
            <a:r>
              <a:rPr lang="en-US" dirty="0"/>
              <a:t>Used primarily for real-time video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Doesn’t take up much bandwidth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UDP isn’t a bad protocol because reliability of data delivery can be handled at a different layer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8446E-ABE9-1949-8651-DC65521E0CE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Source port: port number of the application of the host sending the data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Destination port: port number of the application of the destination host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Sequence number: A number used by TCP to put data back in the correct order or retransmit missing data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Acknowledgement number: TCP octet that is expected next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Header length: 32-bits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Payload(data): Handed down to the TCP protocol at the Transport layer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8446E-ABE9-1949-8651-DC65521E0CE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Low overhead, using far less resources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8446E-ABE9-1949-8651-DC65521E0CE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8446E-ABE9-1949-8651-DC65521E0CE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IP</a:t>
            </a:r>
            <a:r>
              <a:rPr lang="en-US" dirty="0"/>
              <a:t>: Looks at each packet’s destination address, then using a routing table, it decides where a packet gets sent next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ICMP</a:t>
            </a:r>
            <a:r>
              <a:rPr lang="en-US" dirty="0"/>
              <a:t>: Acts as text messaging between devices, no data transfer; using the PING command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ARP</a:t>
            </a:r>
            <a:r>
              <a:rPr lang="en-US" dirty="0"/>
              <a:t>: Finds the hardware address of a host from the known IP address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RARP</a:t>
            </a:r>
            <a:r>
              <a:rPr lang="en-US" b="0" u="none" dirty="0"/>
              <a:t>: </a:t>
            </a:r>
            <a:r>
              <a:rPr lang="en-US" dirty="0"/>
              <a:t>Discovers the identity of the IP address for diskless machines by sending out a packet including the MAC address to find out the IP address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8446E-ABE9-1949-8651-DC65521E0CE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Information about the data that has been sent or received in the layers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8446E-ABE9-1949-8651-DC65521E0CE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Host A sends a packet for Host B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Lab B router sends an ICMP destination unreachable message back to the sending device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ICMP error message is sent</a:t>
            </a:r>
            <a:br>
              <a:rPr lang="en-US" dirty="0"/>
            </a:br>
            <a:r>
              <a:rPr lang="en-US" dirty="0"/>
              <a:t>ICMP: Its messages are carried as IP packets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5 common events of ICMP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1. Destination unreachable: if a router cant send an IP datagram any further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2. Buffer full: If a router’s memory buffer for receiving incoming datagrams is full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3. Hops: Each datagram has a certain number of hops (movement to another router) when it runs out, the last router to receive it will delete the data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4. Ping: sending an echo request to see if an IP address can be reached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5. Traceroute: TTL to discover the path a packer takes to reach its destination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8446E-ABE9-1949-8651-DC65521E0CE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Let’s review data encapsulation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1. User info is converted to data to be transmitted over the network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2. Data is converted to segments and a reliable connection is setup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3. Segments get converted into a packet, an IP address is placed in the header to be routed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4. Packets get converted to frames to be transmitted over the local network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5. Frames get converted into bits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8446E-ABE9-1949-8651-DC65521E0CE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a better breakdown of what units are at which levels of the DOD model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8446E-ABE9-1949-8651-DC65521E0CE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6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 to </a:t>
            </a:r>
            <a:r>
              <a:rPr lang="en-US"/>
              <a:t>Internet protocol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478" y="174469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DoD Model</a:t>
            </a:r>
            <a:br>
              <a:rPr lang="en-US" altLang="en-US" dirty="0"/>
            </a:br>
            <a:endParaRPr lang="en-US" dirty="0"/>
          </a:p>
        </p:txBody>
      </p:sp>
      <p:grpSp>
        <p:nvGrpSpPr>
          <p:cNvPr id="58" name="Group 57"/>
          <p:cNvGrpSpPr/>
          <p:nvPr/>
        </p:nvGrpSpPr>
        <p:grpSpPr>
          <a:xfrm>
            <a:off x="2743200" y="1078524"/>
            <a:ext cx="6025662" cy="4478214"/>
            <a:chOff x="5048" y="3000"/>
            <a:chExt cx="7317" cy="5502"/>
          </a:xfrm>
        </p:grpSpPr>
        <p:sp>
          <p:nvSpPr>
            <p:cNvPr id="59" name="TextBox 30"/>
            <p:cNvSpPr txBox="1"/>
            <p:nvPr/>
          </p:nvSpPr>
          <p:spPr>
            <a:xfrm>
              <a:off x="10320" y="3000"/>
              <a:ext cx="2045" cy="5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2000" b="1" dirty="0">
                  <a:latin typeface="Calibri" panose="020F0502020204030204" pitchFamily="34" charset="0"/>
                </a:rPr>
                <a:t>OSI Model</a:t>
              </a:r>
              <a:endParaRPr lang="en-US" altLang="en-US" sz="2000" b="1" dirty="0">
                <a:latin typeface="Calibri" panose="020F0502020204030204" pitchFamily="34" charset="0"/>
              </a:endParaRP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5048" y="3000"/>
              <a:ext cx="7245" cy="5502"/>
              <a:chOff x="5048" y="3000"/>
              <a:chExt cx="7245" cy="5502"/>
            </a:xfrm>
          </p:grpSpPr>
          <p:sp>
            <p:nvSpPr>
              <p:cNvPr id="61" name="TextBox 29"/>
              <p:cNvSpPr txBox="1"/>
              <p:nvPr/>
            </p:nvSpPr>
            <p:spPr>
              <a:xfrm>
                <a:off x="5048" y="3000"/>
                <a:ext cx="2200" cy="58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2000" b="1" dirty="0">
                    <a:latin typeface="Calibri" panose="020F0502020204030204" pitchFamily="34" charset="0"/>
                  </a:rPr>
                  <a:t>DoD Model</a:t>
                </a:r>
                <a:endParaRPr lang="en-US" altLang="en-US" sz="2000" b="1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62" name="TextBox 31"/>
              <p:cNvSpPr txBox="1"/>
              <p:nvPr/>
            </p:nvSpPr>
            <p:spPr>
              <a:xfrm>
                <a:off x="5228" y="3650"/>
                <a:ext cx="1840" cy="1440"/>
              </a:xfrm>
              <a:prstGeom prst="rect">
                <a:avLst/>
              </a:prstGeom>
              <a:solidFill>
                <a:srgbClr val="92D050"/>
              </a:solidFill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Process/</a:t>
                </a:r>
                <a:br>
                  <a: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</a:br>
                <a:r>
                  <a: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Application</a:t>
                </a:r>
                <a:endPara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63" name="TextBox 32"/>
              <p:cNvSpPr txBox="1"/>
              <p:nvPr/>
            </p:nvSpPr>
            <p:spPr>
              <a:xfrm>
                <a:off x="5240" y="5398"/>
                <a:ext cx="1843" cy="850"/>
              </a:xfrm>
              <a:prstGeom prst="rect">
                <a:avLst/>
              </a:prstGeom>
              <a:solidFill>
                <a:srgbClr val="99FF66"/>
              </a:solidFill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Host-to-Host</a:t>
                </a:r>
                <a:endPara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64" name="TextBox 33"/>
              <p:cNvSpPr txBox="1"/>
              <p:nvPr/>
            </p:nvSpPr>
            <p:spPr>
              <a:xfrm>
                <a:off x="5225" y="6450"/>
                <a:ext cx="1843" cy="850"/>
              </a:xfrm>
              <a:prstGeom prst="rect">
                <a:avLst/>
              </a:prstGeom>
              <a:solidFill>
                <a:srgbClr val="CCFF33"/>
              </a:solidFill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Internet</a:t>
                </a:r>
                <a:endPara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65" name="TextBox 34"/>
              <p:cNvSpPr txBox="1"/>
              <p:nvPr/>
            </p:nvSpPr>
            <p:spPr>
              <a:xfrm>
                <a:off x="5240" y="7615"/>
                <a:ext cx="1843" cy="850"/>
              </a:xfrm>
              <a:prstGeom prst="rect">
                <a:avLst/>
              </a:prstGeom>
              <a:gradFill rotWithShape="1">
                <a:gsLst>
                  <a:gs pos="0">
                    <a:srgbClr val="FF9933"/>
                  </a:gs>
                  <a:gs pos="100000">
                    <a:srgbClr val="FF0000"/>
                  </a:gs>
                </a:gsLst>
                <a:lin ang="5400000" scaled="1"/>
                <a:tileRect/>
              </a:gradFill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Network</a:t>
                </a:r>
                <a:br>
                  <a: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</a:br>
                <a:r>
                  <a: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Access</a:t>
                </a:r>
                <a:endPara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66" name="TextBox 35"/>
              <p:cNvSpPr txBox="1"/>
              <p:nvPr/>
            </p:nvSpPr>
            <p:spPr>
              <a:xfrm>
                <a:off x="10450" y="3650"/>
                <a:ext cx="1843" cy="490"/>
              </a:xfrm>
              <a:prstGeom prst="rect">
                <a:avLst/>
              </a:prstGeom>
              <a:solidFill>
                <a:srgbClr val="92D050"/>
              </a:solidFill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Application</a:t>
                </a:r>
                <a:endPara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67" name="TextBox 36"/>
              <p:cNvSpPr txBox="1"/>
              <p:nvPr/>
            </p:nvSpPr>
            <p:spPr>
              <a:xfrm>
                <a:off x="10435" y="4133"/>
                <a:ext cx="1843" cy="495"/>
              </a:xfrm>
              <a:prstGeom prst="rect">
                <a:avLst/>
              </a:prstGeom>
              <a:solidFill>
                <a:srgbClr val="92D050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Presentation</a:t>
                </a:r>
                <a:endPara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68" name="TextBox 37"/>
              <p:cNvSpPr txBox="1"/>
              <p:nvPr/>
            </p:nvSpPr>
            <p:spPr>
              <a:xfrm>
                <a:off x="10435" y="4657"/>
                <a:ext cx="1843" cy="495"/>
              </a:xfrm>
              <a:prstGeom prst="rect">
                <a:avLst/>
              </a:prstGeom>
              <a:solidFill>
                <a:srgbClr val="92D050"/>
              </a:solidFill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Session</a:t>
                </a:r>
                <a:endPara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69" name="TextBox 38"/>
              <p:cNvSpPr txBox="1"/>
              <p:nvPr/>
            </p:nvSpPr>
            <p:spPr>
              <a:xfrm>
                <a:off x="10443" y="5459"/>
                <a:ext cx="1842" cy="850"/>
              </a:xfrm>
              <a:prstGeom prst="rect">
                <a:avLst/>
              </a:prstGeom>
              <a:solidFill>
                <a:srgbClr val="99FF66"/>
              </a:solidFill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Transport</a:t>
                </a:r>
                <a:endPara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70" name="TextBox 39"/>
              <p:cNvSpPr txBox="1"/>
              <p:nvPr/>
            </p:nvSpPr>
            <p:spPr>
              <a:xfrm>
                <a:off x="10443" y="6450"/>
                <a:ext cx="1842" cy="850"/>
              </a:xfrm>
              <a:prstGeom prst="rect">
                <a:avLst/>
              </a:prstGeom>
              <a:solidFill>
                <a:srgbClr val="CCFF33"/>
              </a:solidFill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Network</a:t>
                </a:r>
                <a:endParaRPr lang="en-US" altLang="en-US" sz="1600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71" name="Group 70"/>
              <p:cNvGrpSpPr/>
              <p:nvPr/>
            </p:nvGrpSpPr>
            <p:grpSpPr>
              <a:xfrm>
                <a:off x="10443" y="7636"/>
                <a:ext cx="1842" cy="866"/>
                <a:chOff x="5520303" y="5843490"/>
                <a:chExt cx="1170432" cy="548640"/>
              </a:xfrm>
            </p:grpSpPr>
            <p:sp>
              <p:nvSpPr>
                <p:cNvPr id="76" name="TextBox 40"/>
                <p:cNvSpPr txBox="1"/>
                <p:nvPr/>
              </p:nvSpPr>
              <p:spPr>
                <a:xfrm>
                  <a:off x="5520303" y="5843490"/>
                  <a:ext cx="1170432" cy="274320"/>
                </a:xfrm>
                <a:prstGeom prst="rect">
                  <a:avLst/>
                </a:prstGeom>
                <a:solidFill>
                  <a:srgbClr val="FF9933"/>
                </a:solidFill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600" b="1" dirty="0">
                      <a:solidFill>
                        <a:schemeClr val="bg1"/>
                      </a:solidFill>
                      <a:latin typeface="Calibri" panose="020F0502020204030204" pitchFamily="34" charset="0"/>
                    </a:rPr>
                    <a:t>Data Link</a:t>
                  </a:r>
                  <a:endPara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77" name="TextBox 41"/>
                <p:cNvSpPr txBox="1"/>
                <p:nvPr/>
              </p:nvSpPr>
              <p:spPr>
                <a:xfrm>
                  <a:off x="5520303" y="6117810"/>
                  <a:ext cx="1170432" cy="274320"/>
                </a:xfrm>
                <a:prstGeom prst="rect">
                  <a:avLst/>
                </a:prstGeom>
                <a:solidFill>
                  <a:srgbClr val="FF0000"/>
                </a:solidFill>
                <a:ln w="19050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600" b="1" dirty="0">
                      <a:solidFill>
                        <a:schemeClr val="bg1"/>
                      </a:solidFill>
                      <a:latin typeface="Calibri" panose="020F0502020204030204" pitchFamily="34" charset="0"/>
                    </a:rPr>
                    <a:t>Physical</a:t>
                  </a:r>
                  <a:endParaRPr lang="en-US" alt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</a:endParaRPr>
                </a:p>
              </p:txBody>
            </p:sp>
          </p:grpSp>
          <p:cxnSp>
            <p:nvCxnSpPr>
              <p:cNvPr id="72" name="Straight Arrow Connector 71"/>
              <p:cNvCxnSpPr/>
              <p:nvPr/>
            </p:nvCxnSpPr>
            <p:spPr>
              <a:xfrm>
                <a:off x="7283" y="4355"/>
                <a:ext cx="2790" cy="0"/>
              </a:xfrm>
              <a:prstGeom prst="straightConnector1">
                <a:avLst/>
              </a:prstGeom>
              <a:ln w="57150" cap="flat" cmpd="sng">
                <a:solidFill>
                  <a:schemeClr val="bg2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73" name="Straight Arrow Connector 72"/>
              <p:cNvCxnSpPr/>
              <p:nvPr/>
            </p:nvCxnSpPr>
            <p:spPr>
              <a:xfrm>
                <a:off x="7370" y="5828"/>
                <a:ext cx="2790" cy="0"/>
              </a:xfrm>
              <a:prstGeom prst="straightConnector1">
                <a:avLst/>
              </a:prstGeom>
              <a:ln w="57150" cap="flat" cmpd="sng">
                <a:solidFill>
                  <a:schemeClr val="bg2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74" name="Straight Arrow Connector 73"/>
              <p:cNvCxnSpPr/>
              <p:nvPr/>
            </p:nvCxnSpPr>
            <p:spPr>
              <a:xfrm>
                <a:off x="7298" y="6845"/>
                <a:ext cx="2790" cy="0"/>
              </a:xfrm>
              <a:prstGeom prst="straightConnector1">
                <a:avLst/>
              </a:prstGeom>
              <a:ln w="57150" cap="flat" cmpd="sng">
                <a:solidFill>
                  <a:schemeClr val="bg2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75" name="Straight Arrow Connector 74"/>
              <p:cNvCxnSpPr/>
              <p:nvPr/>
            </p:nvCxnSpPr>
            <p:spPr>
              <a:xfrm>
                <a:off x="7338" y="8048"/>
                <a:ext cx="2790" cy="0"/>
              </a:xfrm>
              <a:prstGeom prst="straightConnector1">
                <a:avLst/>
              </a:prstGeom>
              <a:ln w="57150" cap="flat" cmpd="sng">
                <a:solidFill>
                  <a:schemeClr val="bg2"/>
                </a:solidFill>
                <a:prstDash val="solid"/>
                <a:headEnd type="none" w="med" len="med"/>
                <a:tailEnd type="triangle" w="med" len="med"/>
              </a:ln>
            </p:spPr>
          </p:cxn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41937" y="153687"/>
            <a:ext cx="9905998" cy="1478570"/>
          </a:xfrm>
        </p:spPr>
        <p:txBody>
          <a:bodyPr/>
          <a:lstStyle/>
          <a:p>
            <a:pPr algn="ctr"/>
            <a:r>
              <a:rPr lang="en-US" altLang="en-US" dirty="0"/>
              <a:t>TCP/IP Protocol Suite</a:t>
            </a:r>
            <a:endParaRPr lang="en-US" dirty="0"/>
          </a:p>
        </p:txBody>
      </p:sp>
      <p:grpSp>
        <p:nvGrpSpPr>
          <p:cNvPr id="32" name="Group 31"/>
          <p:cNvGrpSpPr/>
          <p:nvPr/>
        </p:nvGrpSpPr>
        <p:grpSpPr>
          <a:xfrm>
            <a:off x="2297723" y="1383323"/>
            <a:ext cx="7432431" cy="4360985"/>
            <a:chOff x="3640" y="3183"/>
            <a:chExt cx="10250" cy="5367"/>
          </a:xfrm>
        </p:grpSpPr>
        <p:sp>
          <p:nvSpPr>
            <p:cNvPr id="33" name="TextBox 3"/>
            <p:cNvSpPr txBox="1"/>
            <p:nvPr/>
          </p:nvSpPr>
          <p:spPr>
            <a:xfrm>
              <a:off x="3640" y="3183"/>
              <a:ext cx="2200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DoD Model</a:t>
              </a:r>
              <a:endPara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4" name="TextBox 5"/>
            <p:cNvSpPr txBox="1"/>
            <p:nvPr/>
          </p:nvSpPr>
          <p:spPr>
            <a:xfrm>
              <a:off x="3830" y="3915"/>
              <a:ext cx="1842" cy="843"/>
            </a:xfrm>
            <a:prstGeom prst="rect">
              <a:avLst/>
            </a:prstGeom>
            <a:solidFill>
              <a:srgbClr val="92D050"/>
            </a:solidFill>
            <a:ln w="19050" cap="flat" cmpd="sng">
              <a:solidFill>
                <a:srgbClr val="8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Process/</a:t>
              </a:r>
              <a:b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</a:b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Application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5" name="TextBox 6"/>
            <p:cNvSpPr txBox="1"/>
            <p:nvPr/>
          </p:nvSpPr>
          <p:spPr>
            <a:xfrm>
              <a:off x="3830" y="5238"/>
              <a:ext cx="1842" cy="850"/>
            </a:xfrm>
            <a:prstGeom prst="rect">
              <a:avLst/>
            </a:prstGeom>
            <a:solidFill>
              <a:srgbClr val="99FF66"/>
            </a:solidFill>
            <a:ln w="19050" cap="flat" cmpd="sng">
              <a:solidFill>
                <a:srgbClr val="8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Host-to-Host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6" name="TextBox 7"/>
            <p:cNvSpPr txBox="1"/>
            <p:nvPr/>
          </p:nvSpPr>
          <p:spPr>
            <a:xfrm>
              <a:off x="3817" y="6310"/>
              <a:ext cx="1845" cy="850"/>
            </a:xfrm>
            <a:prstGeom prst="rect">
              <a:avLst/>
            </a:prstGeom>
            <a:solidFill>
              <a:srgbClr val="CCFF33"/>
            </a:solidFill>
            <a:ln w="19050" cap="flat" cmpd="sng">
              <a:solidFill>
                <a:srgbClr val="8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Internet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" name="TextBox 8"/>
            <p:cNvSpPr txBox="1"/>
            <p:nvPr/>
          </p:nvSpPr>
          <p:spPr>
            <a:xfrm>
              <a:off x="3830" y="7705"/>
              <a:ext cx="1842" cy="845"/>
            </a:xfrm>
            <a:prstGeom prst="rect">
              <a:avLst/>
            </a:prstGeom>
            <a:gradFill rotWithShape="1">
              <a:gsLst>
                <a:gs pos="0">
                  <a:srgbClr val="FF9933"/>
                </a:gs>
                <a:gs pos="100000">
                  <a:srgbClr val="FF0000"/>
                </a:gs>
              </a:gsLst>
              <a:lin ang="5400000" scaled="1"/>
              <a:tileRect/>
            </a:gradFill>
            <a:ln w="19050" cap="flat" cmpd="sng">
              <a:solidFill>
                <a:srgbClr val="8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Network</a:t>
              </a:r>
              <a:b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</a:b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Access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8" name="TextBox 13"/>
            <p:cNvSpPr txBox="1"/>
            <p:nvPr/>
          </p:nvSpPr>
          <p:spPr>
            <a:xfrm>
              <a:off x="7198" y="6280"/>
              <a:ext cx="2230" cy="430"/>
            </a:xfrm>
            <a:prstGeom prst="rect">
              <a:avLst/>
            </a:prstGeom>
            <a:solidFill>
              <a:srgbClr val="CCFF33"/>
            </a:solidFill>
            <a:ln w="19050" cap="flat" cmpd="sng">
              <a:solidFill>
                <a:srgbClr val="8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ICMP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7198" y="3853"/>
              <a:ext cx="6692" cy="866"/>
              <a:chOff x="4084637" y="2655888"/>
              <a:chExt cx="4249180" cy="548640"/>
            </a:xfrm>
          </p:grpSpPr>
          <p:sp>
            <p:nvSpPr>
              <p:cNvPr id="50" name="TextBox 9"/>
              <p:cNvSpPr txBox="1"/>
              <p:nvPr/>
            </p:nvSpPr>
            <p:spPr>
              <a:xfrm>
                <a:off x="4084637" y="2655888"/>
                <a:ext cx="1060704" cy="274320"/>
              </a:xfrm>
              <a:prstGeom prst="rect">
                <a:avLst/>
              </a:prstGeom>
              <a:solidFill>
                <a:srgbClr val="92D050"/>
              </a:solidFill>
              <a:ln w="19050" cap="flat" cmpd="sng">
                <a:solidFill>
                  <a:srgbClr val="80808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</a:rPr>
                  <a:t>Telnet</a:t>
                </a:r>
                <a:endPara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51" name="TextBox 11"/>
              <p:cNvSpPr txBox="1"/>
              <p:nvPr/>
            </p:nvSpPr>
            <p:spPr>
              <a:xfrm>
                <a:off x="4086136" y="2927711"/>
                <a:ext cx="1060704" cy="274320"/>
              </a:xfrm>
              <a:prstGeom prst="rect">
                <a:avLst/>
              </a:prstGeom>
              <a:solidFill>
                <a:srgbClr val="92D050"/>
              </a:solidFill>
              <a:ln w="19050" cap="flat" cmpd="sng">
                <a:solidFill>
                  <a:srgbClr val="80808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</a:rPr>
                  <a:t>TFTP</a:t>
                </a:r>
                <a:endPara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52" name="TextBox 20"/>
              <p:cNvSpPr txBox="1"/>
              <p:nvPr/>
            </p:nvSpPr>
            <p:spPr>
              <a:xfrm>
                <a:off x="5145341" y="2655888"/>
                <a:ext cx="1060704" cy="274320"/>
              </a:xfrm>
              <a:prstGeom prst="rect">
                <a:avLst/>
              </a:prstGeom>
              <a:solidFill>
                <a:srgbClr val="92D050"/>
              </a:solidFill>
              <a:ln w="19050" cap="flat" cmpd="sng">
                <a:solidFill>
                  <a:srgbClr val="80808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</a:rPr>
                  <a:t>FTP</a:t>
                </a:r>
                <a:endPara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53" name="TextBox 21"/>
              <p:cNvSpPr txBox="1"/>
              <p:nvPr/>
            </p:nvSpPr>
            <p:spPr>
              <a:xfrm>
                <a:off x="5148135" y="2927711"/>
                <a:ext cx="1060704" cy="274320"/>
              </a:xfrm>
              <a:prstGeom prst="rect">
                <a:avLst/>
              </a:prstGeom>
              <a:solidFill>
                <a:srgbClr val="92D050"/>
              </a:solidFill>
              <a:ln w="19050" cap="flat" cmpd="sng">
                <a:solidFill>
                  <a:srgbClr val="80808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</a:rPr>
                  <a:t>SMTP</a:t>
                </a:r>
                <a:endPara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54" name="TextBox 22"/>
              <p:cNvSpPr txBox="1"/>
              <p:nvPr/>
            </p:nvSpPr>
            <p:spPr>
              <a:xfrm>
                <a:off x="6206045" y="2655888"/>
                <a:ext cx="1060704" cy="274320"/>
              </a:xfrm>
              <a:prstGeom prst="rect">
                <a:avLst/>
              </a:prstGeom>
              <a:solidFill>
                <a:srgbClr val="92D050"/>
              </a:solidFill>
              <a:ln w="19050" cap="flat" cmpd="sng">
                <a:solidFill>
                  <a:srgbClr val="80808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</a:rPr>
                  <a:t>LPD</a:t>
                </a:r>
                <a:endPara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55" name="TextBox 23"/>
              <p:cNvSpPr txBox="1"/>
              <p:nvPr/>
            </p:nvSpPr>
            <p:spPr>
              <a:xfrm>
                <a:off x="6206045" y="2930208"/>
                <a:ext cx="1060704" cy="274320"/>
              </a:xfrm>
              <a:prstGeom prst="rect">
                <a:avLst/>
              </a:prstGeom>
              <a:solidFill>
                <a:srgbClr val="92D050"/>
              </a:solidFill>
              <a:ln w="19050" cap="flat" cmpd="sng">
                <a:solidFill>
                  <a:srgbClr val="80808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</a:rPr>
                  <a:t>NFS</a:t>
                </a:r>
                <a:endPara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56" name="TextBox 24"/>
              <p:cNvSpPr txBox="1"/>
              <p:nvPr/>
            </p:nvSpPr>
            <p:spPr>
              <a:xfrm>
                <a:off x="7268930" y="2655888"/>
                <a:ext cx="1060704" cy="274320"/>
              </a:xfrm>
              <a:prstGeom prst="rect">
                <a:avLst/>
              </a:prstGeom>
              <a:solidFill>
                <a:srgbClr val="92D050"/>
              </a:solidFill>
              <a:ln w="19050" cap="flat" cmpd="sng">
                <a:solidFill>
                  <a:srgbClr val="80808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</a:rPr>
                  <a:t>SNMP</a:t>
                </a:r>
                <a:endPara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57" name="TextBox 25"/>
              <p:cNvSpPr txBox="1"/>
              <p:nvPr/>
            </p:nvSpPr>
            <p:spPr>
              <a:xfrm>
                <a:off x="7273113" y="2930208"/>
                <a:ext cx="1060704" cy="274320"/>
              </a:xfrm>
              <a:prstGeom prst="rect">
                <a:avLst/>
              </a:prstGeom>
              <a:solidFill>
                <a:srgbClr val="92D050"/>
              </a:solidFill>
              <a:ln w="19050" cap="flat" cmpd="sng">
                <a:solidFill>
                  <a:srgbClr val="80808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</a:rPr>
                  <a:t>X Window</a:t>
                </a:r>
                <a:endPara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7198" y="5210"/>
              <a:ext cx="6667" cy="865"/>
              <a:chOff x="4082557" y="3299896"/>
              <a:chExt cx="4234373" cy="548640"/>
            </a:xfrm>
          </p:grpSpPr>
          <p:sp>
            <p:nvSpPr>
              <p:cNvPr id="48" name="TextBox 12"/>
              <p:cNvSpPr txBox="1"/>
              <p:nvPr/>
            </p:nvSpPr>
            <p:spPr>
              <a:xfrm>
                <a:off x="4082557" y="3299896"/>
                <a:ext cx="2122487" cy="548640"/>
              </a:xfrm>
              <a:prstGeom prst="rect">
                <a:avLst/>
              </a:prstGeom>
              <a:solidFill>
                <a:srgbClr val="99FF66"/>
              </a:solidFill>
              <a:ln w="19050" cap="flat" cmpd="sng">
                <a:solidFill>
                  <a:srgbClr val="80808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</a:rPr>
                  <a:t>TCP</a:t>
                </a:r>
                <a:endPara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49" name="TextBox 27"/>
              <p:cNvSpPr txBox="1"/>
              <p:nvPr/>
            </p:nvSpPr>
            <p:spPr>
              <a:xfrm>
                <a:off x="6196030" y="3299896"/>
                <a:ext cx="2120900" cy="548640"/>
              </a:xfrm>
              <a:prstGeom prst="rect">
                <a:avLst/>
              </a:prstGeom>
              <a:solidFill>
                <a:srgbClr val="99FF66"/>
              </a:solidFill>
              <a:ln w="19050" cap="flat" cmpd="sng">
                <a:solidFill>
                  <a:srgbClr val="80808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</a:rPr>
                  <a:t>UDP</a:t>
                </a:r>
                <a:endPara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41" name="TextBox 28"/>
            <p:cNvSpPr txBox="1"/>
            <p:nvPr/>
          </p:nvSpPr>
          <p:spPr>
            <a:xfrm>
              <a:off x="7142" y="7703"/>
              <a:ext cx="1670" cy="847"/>
            </a:xfrm>
            <a:prstGeom prst="rect">
              <a:avLst/>
            </a:prstGeom>
            <a:gradFill rotWithShape="1">
              <a:gsLst>
                <a:gs pos="0">
                  <a:srgbClr val="FF9933"/>
                </a:gs>
                <a:gs pos="100000">
                  <a:srgbClr val="FF0000"/>
                </a:gs>
              </a:gsLst>
              <a:lin ang="5400000" scaled="1"/>
              <a:tileRect/>
            </a:gradFill>
            <a:ln w="19050" cap="flat" cmpd="sng">
              <a:solidFill>
                <a:srgbClr val="8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Ethernet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2" name="TextBox 29"/>
            <p:cNvSpPr txBox="1"/>
            <p:nvPr/>
          </p:nvSpPr>
          <p:spPr>
            <a:xfrm>
              <a:off x="8797" y="7705"/>
              <a:ext cx="1670" cy="845"/>
            </a:xfrm>
            <a:prstGeom prst="rect">
              <a:avLst/>
            </a:prstGeom>
            <a:gradFill rotWithShape="1">
              <a:gsLst>
                <a:gs pos="0">
                  <a:srgbClr val="FF9933"/>
                </a:gs>
                <a:gs pos="100000">
                  <a:srgbClr val="FF0000"/>
                </a:gs>
              </a:gsLst>
              <a:lin ang="5400000" scaled="1"/>
              <a:tileRect/>
            </a:gradFill>
            <a:ln w="19050" cap="flat" cmpd="sng">
              <a:solidFill>
                <a:srgbClr val="8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Fast</a:t>
              </a:r>
              <a:b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</a:b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Ethernet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3" name="TextBox 30"/>
            <p:cNvSpPr txBox="1"/>
            <p:nvPr/>
          </p:nvSpPr>
          <p:spPr>
            <a:xfrm>
              <a:off x="10482" y="7705"/>
              <a:ext cx="1640" cy="845"/>
            </a:xfrm>
            <a:prstGeom prst="rect">
              <a:avLst/>
            </a:prstGeom>
            <a:gradFill rotWithShape="1">
              <a:gsLst>
                <a:gs pos="0">
                  <a:srgbClr val="FF9933"/>
                </a:gs>
                <a:gs pos="100000">
                  <a:srgbClr val="FF0000"/>
                </a:gs>
              </a:gsLst>
              <a:lin ang="5400000" scaled="1"/>
              <a:tileRect/>
            </a:gradFill>
            <a:ln w="19050" cap="flat" cmpd="sng">
              <a:solidFill>
                <a:srgbClr val="8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Gigabit 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Ethernet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4" name="TextBox 31"/>
            <p:cNvSpPr txBox="1"/>
            <p:nvPr/>
          </p:nvSpPr>
          <p:spPr>
            <a:xfrm>
              <a:off x="12155" y="7705"/>
              <a:ext cx="1542" cy="845"/>
            </a:xfrm>
            <a:prstGeom prst="rect">
              <a:avLst/>
            </a:prstGeom>
            <a:gradFill rotWithShape="1">
              <a:gsLst>
                <a:gs pos="0">
                  <a:srgbClr val="FF9933"/>
                </a:gs>
                <a:gs pos="100000">
                  <a:srgbClr val="FF0000"/>
                </a:gs>
              </a:gsLst>
              <a:lin ang="5400000" scaled="1"/>
              <a:tileRect/>
            </a:gradFill>
            <a:ln w="19050" cap="flat" cmpd="sng">
              <a:solidFill>
                <a:srgbClr val="8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Wireless/802.11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5" name="TextBox 32"/>
            <p:cNvSpPr txBox="1"/>
            <p:nvPr/>
          </p:nvSpPr>
          <p:spPr>
            <a:xfrm>
              <a:off x="9428" y="6278"/>
              <a:ext cx="2232" cy="432"/>
            </a:xfrm>
            <a:prstGeom prst="rect">
              <a:avLst/>
            </a:prstGeom>
            <a:solidFill>
              <a:srgbClr val="CCFF33"/>
            </a:solidFill>
            <a:ln w="19050" cap="flat" cmpd="sng">
              <a:solidFill>
                <a:srgbClr val="8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ARP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6" name="TextBox 33"/>
            <p:cNvSpPr txBox="1"/>
            <p:nvPr/>
          </p:nvSpPr>
          <p:spPr>
            <a:xfrm>
              <a:off x="11605" y="6275"/>
              <a:ext cx="2215" cy="433"/>
            </a:xfrm>
            <a:prstGeom prst="rect">
              <a:avLst/>
            </a:prstGeom>
            <a:solidFill>
              <a:srgbClr val="CCFF33"/>
            </a:solidFill>
            <a:ln w="19050" cap="flat" cmpd="sng">
              <a:solidFill>
                <a:srgbClr val="8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RARP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7" name="TextBox 34"/>
            <p:cNvSpPr txBox="1"/>
            <p:nvPr/>
          </p:nvSpPr>
          <p:spPr>
            <a:xfrm>
              <a:off x="7140" y="6718"/>
              <a:ext cx="6680" cy="432"/>
            </a:xfrm>
            <a:prstGeom prst="rect">
              <a:avLst/>
            </a:prstGeom>
            <a:solidFill>
              <a:srgbClr val="CCFF33"/>
            </a:solidFill>
            <a:ln w="19050" cap="flat" cmpd="sng">
              <a:solidFill>
                <a:srgbClr val="8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</a:rPr>
                <a:t>IP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Ports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214220" y="1476679"/>
          <a:ext cx="9763559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0559"/>
                <a:gridCol w="4953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Protocol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Port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File Transfer Protocol (FTP)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20/21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Telnet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Trivial File Transfer Protocol (TFTP)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Simple Mail Transfer Protocol (SMTP)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Post Office Protocol v3 (POP3)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Internet Message Access Protocol v4 (IMAP4)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HTTP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HTTPS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Simple Network Management Protocol (SNMP)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Remote Desktop Protocol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3389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8"/>
          <p:cNvSpPr>
            <a:spLocks noGrp="1"/>
          </p:cNvSpPr>
          <p:nvPr>
            <p:ph type="title"/>
          </p:nvPr>
        </p:nvSpPr>
        <p:spPr>
          <a:xfrm>
            <a:off x="753978" y="165418"/>
            <a:ext cx="10892589" cy="1143000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DHCP Client four-step process</a:t>
            </a:r>
            <a:endParaRPr lang="en-US" alt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4686763" y="1308418"/>
            <a:ext cx="4842544" cy="4940050"/>
            <a:chOff x="4430" y="3220"/>
            <a:chExt cx="6935" cy="7265"/>
          </a:xfrm>
        </p:grpSpPr>
        <p:pic>
          <p:nvPicPr>
            <p:cNvPr id="14345" name="Picture 2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435" y="3220"/>
              <a:ext cx="1250" cy="124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346" name="Pictur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65" y="4593"/>
              <a:ext cx="1143" cy="161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347" name="Picture 3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430" y="6125"/>
              <a:ext cx="1248" cy="125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348" name="Picture 3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465" y="9235"/>
              <a:ext cx="1250" cy="125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349" name="Picture 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23" y="7840"/>
              <a:ext cx="1142" cy="1613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14350" name="Straight Arrow Connector 35"/>
            <p:cNvCxnSpPr/>
            <p:nvPr/>
          </p:nvCxnSpPr>
          <p:spPr>
            <a:xfrm>
              <a:off x="5685" y="3845"/>
              <a:ext cx="4480" cy="1555"/>
            </a:xfrm>
            <a:prstGeom prst="straightConnector1">
              <a:avLst/>
            </a:prstGeom>
            <a:ln w="381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4351" name="Straight Arrow Connector 36"/>
            <p:cNvCxnSpPr/>
            <p:nvPr/>
          </p:nvCxnSpPr>
          <p:spPr>
            <a:xfrm flipH="1">
              <a:off x="5678" y="5520"/>
              <a:ext cx="4435" cy="1230"/>
            </a:xfrm>
            <a:prstGeom prst="straightConnector1">
              <a:avLst/>
            </a:prstGeom>
            <a:ln w="381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4352" name="Straight Arrow Connector 40"/>
            <p:cNvCxnSpPr/>
            <p:nvPr/>
          </p:nvCxnSpPr>
          <p:spPr>
            <a:xfrm>
              <a:off x="5738" y="6990"/>
              <a:ext cx="4480" cy="1555"/>
            </a:xfrm>
            <a:prstGeom prst="straightConnector1">
              <a:avLst/>
            </a:prstGeom>
            <a:ln w="381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4353" name="Straight Arrow Connector 41"/>
            <p:cNvCxnSpPr/>
            <p:nvPr/>
          </p:nvCxnSpPr>
          <p:spPr>
            <a:xfrm flipH="1">
              <a:off x="5730" y="8665"/>
              <a:ext cx="4435" cy="1233"/>
            </a:xfrm>
            <a:prstGeom prst="straightConnector1">
              <a:avLst/>
            </a:prstGeom>
            <a:ln w="381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14354" name="TextBox 42"/>
            <p:cNvSpPr txBox="1"/>
            <p:nvPr/>
          </p:nvSpPr>
          <p:spPr>
            <a:xfrm>
              <a:off x="7208" y="3738"/>
              <a:ext cx="2467" cy="8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Client Broadcast</a:t>
              </a:r>
              <a:br>
                <a:rPr lang="en-US" altLang="en-US" sz="1600" b="1" dirty="0">
                  <a:latin typeface="Calibri" panose="020F0502020204030204" pitchFamily="34" charset="0"/>
                </a:rPr>
              </a:br>
              <a:r>
                <a:rPr lang="en-US" altLang="en-US" sz="1600" b="1" dirty="0">
                  <a:latin typeface="Calibri" panose="020F0502020204030204" pitchFamily="34" charset="0"/>
                </a:rPr>
                <a:t>DHCPDiscover</a:t>
              </a:r>
              <a:endParaRPr lang="en-US" altLang="en-US" sz="1600" b="1" dirty="0">
                <a:latin typeface="Calibri" panose="020F0502020204030204" pitchFamily="34" charset="0"/>
              </a:endParaRPr>
            </a:p>
          </p:txBody>
        </p:sp>
        <p:sp>
          <p:nvSpPr>
            <p:cNvPr id="14355" name="TextBox 43"/>
            <p:cNvSpPr txBox="1"/>
            <p:nvPr/>
          </p:nvSpPr>
          <p:spPr>
            <a:xfrm>
              <a:off x="6475" y="5310"/>
              <a:ext cx="2220" cy="8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Server Unicast</a:t>
              </a:r>
              <a:br>
                <a:rPr lang="en-US" altLang="en-US" sz="1600" b="1" dirty="0">
                  <a:latin typeface="Calibri" panose="020F0502020204030204" pitchFamily="34" charset="0"/>
                </a:rPr>
              </a:br>
              <a:r>
                <a:rPr lang="en-US" altLang="en-US" sz="1600" b="1" dirty="0">
                  <a:latin typeface="Calibri" panose="020F0502020204030204" pitchFamily="34" charset="0"/>
                </a:rPr>
                <a:t>DHCPOffer</a:t>
              </a:r>
              <a:endParaRPr lang="en-US" altLang="en-US" sz="1600" b="1" dirty="0">
                <a:latin typeface="Calibri" panose="020F0502020204030204" pitchFamily="34" charset="0"/>
              </a:endParaRPr>
            </a:p>
          </p:txBody>
        </p:sp>
        <p:sp>
          <p:nvSpPr>
            <p:cNvPr id="14356" name="TextBox 44"/>
            <p:cNvSpPr txBox="1"/>
            <p:nvPr/>
          </p:nvSpPr>
          <p:spPr>
            <a:xfrm>
              <a:off x="7474" y="6798"/>
              <a:ext cx="1935" cy="7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Client Unicast</a:t>
              </a:r>
              <a:br>
                <a:rPr lang="en-US" altLang="en-US" sz="1600" b="1" dirty="0">
                  <a:latin typeface="Calibri" panose="020F0502020204030204" pitchFamily="34" charset="0"/>
                </a:rPr>
              </a:br>
              <a:r>
                <a:rPr lang="en-US" altLang="en-US" sz="1600" b="1" dirty="0">
                  <a:latin typeface="Calibri" panose="020F0502020204030204" pitchFamily="34" charset="0"/>
                </a:rPr>
                <a:t>DHCPRequest</a:t>
              </a:r>
              <a:endParaRPr lang="en-US" altLang="en-US" sz="1600" b="1" dirty="0">
                <a:latin typeface="Calibri" panose="020F0502020204030204" pitchFamily="34" charset="0"/>
              </a:endParaRPr>
            </a:p>
          </p:txBody>
        </p:sp>
        <p:sp>
          <p:nvSpPr>
            <p:cNvPr id="14357" name="TextBox 45"/>
            <p:cNvSpPr txBox="1"/>
            <p:nvPr/>
          </p:nvSpPr>
          <p:spPr>
            <a:xfrm>
              <a:off x="6630" y="8430"/>
              <a:ext cx="2220" cy="8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Server Unicast</a:t>
              </a:r>
              <a:br>
                <a:rPr lang="en-US" altLang="en-US" sz="1600" b="1" dirty="0">
                  <a:latin typeface="Calibri" panose="020F0502020204030204" pitchFamily="34" charset="0"/>
                </a:rPr>
              </a:br>
              <a:r>
                <a:rPr lang="en-US" altLang="en-US" sz="1600" b="1" dirty="0">
                  <a:latin typeface="Calibri" panose="020F0502020204030204" pitchFamily="34" charset="0"/>
                </a:rPr>
                <a:t>DHCPACK</a:t>
              </a:r>
              <a:endParaRPr lang="en-US" altLang="en-US" sz="1600" b="1" dirty="0">
                <a:latin typeface="Calibri" panose="020F0502020204030204" pitchFamily="34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007057" y="1950255"/>
            <a:ext cx="33762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IP Address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Subnet Mask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Domain Name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Default Gateway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DNS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WINS Server Information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Transport Layer Protocols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Transmission Control Protocol (TCP)</a:t>
            </a:r>
            <a:endParaRPr lang="en-US" dirty="0"/>
          </a:p>
          <a:p>
            <a:r>
              <a:rPr lang="en-US" dirty="0"/>
              <a:t>User Datagram Protocol (UDP)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136" y="0"/>
            <a:ext cx="11431896" cy="1478570"/>
          </a:xfrm>
        </p:spPr>
        <p:txBody>
          <a:bodyPr/>
          <a:lstStyle/>
          <a:p>
            <a:pPr algn="ctr"/>
            <a:r>
              <a:rPr lang="en-US" altLang="en-US" dirty="0"/>
              <a:t>TCP Segment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5012" y="1159241"/>
            <a:ext cx="7540677" cy="51243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445" y="265592"/>
            <a:ext cx="11034544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UDP Segment</a:t>
            </a:r>
            <a:br>
              <a:rPr lang="en-US" alt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058" y="1950141"/>
            <a:ext cx="9368070" cy="29577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655" y="54799"/>
            <a:ext cx="9905998" cy="1478570"/>
          </a:xfrm>
        </p:spPr>
        <p:txBody>
          <a:bodyPr/>
          <a:lstStyle/>
          <a:p>
            <a:pPr algn="ctr"/>
            <a:r>
              <a:rPr lang="en-US" altLang="en-US" dirty="0"/>
              <a:t>TCP and UDP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737" y="1967047"/>
            <a:ext cx="9626526" cy="39685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Internet/Network Layer Protocols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Internet Protocol (IP)</a:t>
            </a:r>
            <a:endParaRPr lang="en-US" dirty="0"/>
          </a:p>
          <a:p>
            <a:r>
              <a:rPr lang="en-US" dirty="0"/>
              <a:t>Internet Control Message Protocol (ICMP)</a:t>
            </a:r>
            <a:endParaRPr lang="en-US" dirty="0"/>
          </a:p>
          <a:p>
            <a:r>
              <a:rPr lang="en-US" dirty="0"/>
              <a:t>Address Resolution Protocol (ARP)</a:t>
            </a:r>
            <a:endParaRPr lang="en-US" dirty="0"/>
          </a:p>
          <a:p>
            <a:r>
              <a:rPr lang="en-US" dirty="0"/>
              <a:t>Reverse Address </a:t>
            </a:r>
            <a:r>
              <a:rPr lang="en-US"/>
              <a:t>Resolution Protocol (RARP)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486" y="207386"/>
            <a:ext cx="11162881" cy="104389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IP Header</a:t>
            </a:r>
            <a:br>
              <a:rPr lang="en-US" alt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573" y="996145"/>
            <a:ext cx="9858854" cy="45535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4" name="Rectangle 8"/>
          <p:cNvSpPr>
            <a:spLocks noGrp="1"/>
          </p:cNvSpPr>
          <p:nvPr>
            <p:ph type="title"/>
          </p:nvPr>
        </p:nvSpPr>
        <p:spPr>
          <a:xfrm>
            <a:off x="994611" y="97337"/>
            <a:ext cx="10796335" cy="1143000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ICMP Example</a:t>
            </a:r>
            <a:endParaRPr lang="en-US" altLang="en-US" dirty="0"/>
          </a:p>
        </p:txBody>
      </p:sp>
      <p:sp>
        <p:nvSpPr>
          <p:cNvPr id="22536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cxnSp>
        <p:nvCxnSpPr>
          <p:cNvPr id="12" name="Straight Connector 11"/>
          <p:cNvCxnSpPr/>
          <p:nvPr/>
        </p:nvCxnSpPr>
        <p:spPr bwMode="auto">
          <a:xfrm>
            <a:off x="7258135" y="2901156"/>
            <a:ext cx="0" cy="1768475"/>
          </a:xfrm>
          <a:prstGeom prst="line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2294021" y="1361280"/>
            <a:ext cx="6948488" cy="4135439"/>
            <a:chOff x="3657600" y="1765300"/>
            <a:chExt cx="6948488" cy="4135439"/>
          </a:xfrm>
        </p:grpSpPr>
        <p:pic>
          <p:nvPicPr>
            <p:cNvPr id="22537" name="Pictur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016500" y="2727325"/>
              <a:ext cx="3138488" cy="44450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11" name="Straight Connector 10"/>
            <p:cNvCxnSpPr/>
            <p:nvPr/>
          </p:nvCxnSpPr>
          <p:spPr bwMode="auto">
            <a:xfrm>
              <a:off x="4602163" y="3094039"/>
              <a:ext cx="0" cy="1768475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2540" name="Pictur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98913" y="2592389"/>
              <a:ext cx="1206500" cy="71278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2541" name="Pictur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6713" y="4448175"/>
              <a:ext cx="1104900" cy="110490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2542" name="Pictur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54988" y="4448175"/>
              <a:ext cx="1104900" cy="110490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2543" name="Pictur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53388" y="2592389"/>
              <a:ext cx="1206500" cy="71278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44" name="TextBox 39"/>
            <p:cNvSpPr txBox="1"/>
            <p:nvPr/>
          </p:nvSpPr>
          <p:spPr>
            <a:xfrm>
              <a:off x="5908675" y="3592514"/>
              <a:ext cx="598488" cy="31432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icmp</a:t>
              </a:r>
              <a:endParaRPr lang="en-US" altLang="en-US" sz="1600" b="1" dirty="0">
                <a:latin typeface="Calibri" panose="020F0502020204030204" pitchFamily="34" charset="0"/>
              </a:endParaRPr>
            </a:p>
          </p:txBody>
        </p:sp>
        <p:sp>
          <p:nvSpPr>
            <p:cNvPr id="22545" name="TextBox 40"/>
            <p:cNvSpPr txBox="1"/>
            <p:nvPr/>
          </p:nvSpPr>
          <p:spPr>
            <a:xfrm>
              <a:off x="4246563" y="2251076"/>
              <a:ext cx="709612" cy="31432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Lab_A</a:t>
              </a:r>
              <a:endParaRPr lang="en-US" altLang="en-US" sz="1600" b="1" dirty="0">
                <a:latin typeface="Calibri" panose="020F0502020204030204" pitchFamily="34" charset="0"/>
              </a:endParaRPr>
            </a:p>
          </p:txBody>
        </p:sp>
        <p:sp>
          <p:nvSpPr>
            <p:cNvPr id="22546" name="TextBox 41"/>
            <p:cNvSpPr txBox="1"/>
            <p:nvPr/>
          </p:nvSpPr>
          <p:spPr>
            <a:xfrm>
              <a:off x="8305801" y="2246314"/>
              <a:ext cx="701675" cy="31432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Lab_B</a:t>
              </a:r>
              <a:endParaRPr lang="en-US" altLang="en-US" sz="1600" b="1" dirty="0">
                <a:latin typeface="Calibri" panose="020F0502020204030204" pitchFamily="34" charset="0"/>
              </a:endParaRPr>
            </a:p>
          </p:txBody>
        </p:sp>
        <p:sp>
          <p:nvSpPr>
            <p:cNvPr id="22547" name="TextBox 42"/>
            <p:cNvSpPr txBox="1"/>
            <p:nvPr/>
          </p:nvSpPr>
          <p:spPr>
            <a:xfrm>
              <a:off x="4256089" y="5586414"/>
              <a:ext cx="746125" cy="31432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Host A</a:t>
              </a:r>
              <a:endParaRPr lang="en-US" altLang="en-US" sz="1600" b="1" dirty="0">
                <a:latin typeface="Calibri" panose="020F0502020204030204" pitchFamily="34" charset="0"/>
              </a:endParaRPr>
            </a:p>
          </p:txBody>
        </p:sp>
        <p:sp>
          <p:nvSpPr>
            <p:cNvPr id="22548" name="TextBox 43"/>
            <p:cNvSpPr txBox="1"/>
            <p:nvPr/>
          </p:nvSpPr>
          <p:spPr>
            <a:xfrm>
              <a:off x="8420100" y="5562601"/>
              <a:ext cx="736600" cy="31432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Host B</a:t>
              </a:r>
              <a:endParaRPr lang="en-US" altLang="en-US" sz="1600" b="1" dirty="0">
                <a:latin typeface="Calibri" panose="020F0502020204030204" pitchFamily="34" charset="0"/>
              </a:endParaRPr>
            </a:p>
          </p:txBody>
        </p:sp>
        <p:sp>
          <p:nvSpPr>
            <p:cNvPr id="22549" name="TextBox 44"/>
            <p:cNvSpPr txBox="1"/>
            <p:nvPr/>
          </p:nvSpPr>
          <p:spPr>
            <a:xfrm>
              <a:off x="8420101" y="3654426"/>
              <a:ext cx="466725" cy="64611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40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X</a:t>
              </a:r>
              <a:endParaRPr lang="en-US" altLang="en-US" sz="40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2550" name="TextBox 45"/>
            <p:cNvSpPr txBox="1"/>
            <p:nvPr/>
          </p:nvSpPr>
          <p:spPr>
            <a:xfrm>
              <a:off x="8621714" y="3263901"/>
              <a:ext cx="390525" cy="31432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e0</a:t>
              </a:r>
              <a:endParaRPr lang="en-US" altLang="en-US" sz="1600" b="1" dirty="0">
                <a:latin typeface="Calibri" panose="020F0502020204030204" pitchFamily="34" charset="0"/>
              </a:endParaRPr>
            </a:p>
          </p:txBody>
        </p:sp>
        <p:sp>
          <p:nvSpPr>
            <p:cNvPr id="22551" name="TextBox 46"/>
            <p:cNvSpPr txBox="1"/>
            <p:nvPr/>
          </p:nvSpPr>
          <p:spPr>
            <a:xfrm>
              <a:off x="4621214" y="3278189"/>
              <a:ext cx="390525" cy="31432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e0</a:t>
              </a:r>
              <a:endParaRPr lang="en-US" altLang="en-US" sz="1600" b="1" dirty="0">
                <a:latin typeface="Calibri" panose="020F0502020204030204" pitchFamily="34" charset="0"/>
              </a:endParaRPr>
            </a:p>
          </p:txBody>
        </p:sp>
        <p:sp>
          <p:nvSpPr>
            <p:cNvPr id="22552" name="TextBox 21"/>
            <p:cNvSpPr txBox="1"/>
            <p:nvPr/>
          </p:nvSpPr>
          <p:spPr>
            <a:xfrm>
              <a:off x="3657600" y="1765300"/>
              <a:ext cx="6948488" cy="31273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e0 on Lab_B is down. Host A is trying to communicate to Host B. What happens?</a:t>
              </a:r>
              <a:endParaRPr lang="en-US" altLang="en-US" sz="1600" b="1" dirty="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516" y="265592"/>
            <a:ext cx="11357809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ARP Example</a:t>
            </a:r>
            <a:br>
              <a:rPr lang="en-US" altLang="en-US" dirty="0"/>
            </a:br>
            <a:endParaRPr lang="en-US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8636" y="1194371"/>
            <a:ext cx="8507680" cy="47082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621" y="89155"/>
            <a:ext cx="10471483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Reverse ARP Example</a:t>
            </a:r>
            <a:br>
              <a:rPr lang="en-US" altLang="en-US" dirty="0"/>
            </a:b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1973179" y="1583054"/>
            <a:ext cx="7956884" cy="4946083"/>
            <a:chOff x="3600" y="3069"/>
            <a:chExt cx="10560" cy="5814"/>
          </a:xfrm>
        </p:grpSpPr>
        <p:grpSp>
          <p:nvGrpSpPr>
            <p:cNvPr id="7" name="Group 6"/>
            <p:cNvGrpSpPr/>
            <p:nvPr/>
          </p:nvGrpSpPr>
          <p:grpSpPr>
            <a:xfrm>
              <a:off x="3600" y="3069"/>
              <a:ext cx="10560" cy="5814"/>
              <a:chOff x="3600" y="3069"/>
              <a:chExt cx="10560" cy="5814"/>
            </a:xfrm>
          </p:grpSpPr>
          <p:cxnSp>
            <p:nvCxnSpPr>
              <p:cNvPr id="9" name="Straight Connector 8"/>
              <p:cNvCxnSpPr/>
              <p:nvPr/>
            </p:nvCxnSpPr>
            <p:spPr bwMode="auto">
              <a:xfrm>
                <a:off x="3600" y="6485"/>
                <a:ext cx="10560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 bwMode="auto">
              <a:xfrm rot="5400000">
                <a:off x="4169" y="5911"/>
                <a:ext cx="1148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 bwMode="auto">
              <a:xfrm rot="5400000">
                <a:off x="12009" y="5911"/>
                <a:ext cx="1148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>
                <a:off x="4498" y="7058"/>
                <a:ext cx="1112" cy="0"/>
              </a:xfrm>
              <a:prstGeom prst="straightConnector1">
                <a:avLst/>
              </a:prstGeom>
              <a:ln w="38100" cap="flat" cmpd="sng">
                <a:solidFill>
                  <a:srgbClr val="C00000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13" name="Straight Arrow Connector 12"/>
              <p:cNvCxnSpPr/>
              <p:nvPr/>
            </p:nvCxnSpPr>
            <p:spPr>
              <a:xfrm flipV="1">
                <a:off x="12193" y="6118"/>
                <a:ext cx="0" cy="1087"/>
              </a:xfrm>
              <a:prstGeom prst="straightConnector1">
                <a:avLst/>
              </a:prstGeom>
              <a:ln w="38100" cap="flat" cmpd="sng">
                <a:solidFill>
                  <a:srgbClr val="C00000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14" name="Straight Arrow Connector 13"/>
              <p:cNvCxnSpPr/>
              <p:nvPr/>
            </p:nvCxnSpPr>
            <p:spPr>
              <a:xfrm rot="-5400000" flipV="1">
                <a:off x="12318" y="7915"/>
                <a:ext cx="0" cy="1090"/>
              </a:xfrm>
              <a:prstGeom prst="straightConnector1">
                <a:avLst/>
              </a:prstGeom>
              <a:ln w="38100" cap="flat" cmpd="sng">
                <a:solidFill>
                  <a:srgbClr val="C00000"/>
                </a:solidFill>
                <a:prstDash val="solid"/>
                <a:headEnd type="none" w="med" len="med"/>
                <a:tailEnd type="triangle" w="med" len="med"/>
              </a:ln>
            </p:spPr>
          </p:cxnSp>
          <p:cxnSp>
            <p:nvCxnSpPr>
              <p:cNvPr id="15" name="Straight Arrow Connector 14"/>
              <p:cNvCxnSpPr/>
              <p:nvPr/>
            </p:nvCxnSpPr>
            <p:spPr>
              <a:xfrm flipV="1">
                <a:off x="12833" y="5638"/>
                <a:ext cx="0" cy="2847"/>
              </a:xfrm>
              <a:prstGeom prst="straightConnector1">
                <a:avLst/>
              </a:prstGeom>
              <a:ln w="38100" cap="flat" cmpd="sng">
                <a:solidFill>
                  <a:srgbClr val="C00000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6" name="TextBox 10"/>
              <p:cNvSpPr txBox="1"/>
              <p:nvPr/>
            </p:nvSpPr>
            <p:spPr>
              <a:xfrm>
                <a:off x="5513" y="6815"/>
                <a:ext cx="4960" cy="493"/>
              </a:xfrm>
              <a:prstGeom prst="rect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b="1" dirty="0">
                    <a:latin typeface="Calibri" panose="020F0502020204030204" pitchFamily="34" charset="0"/>
                  </a:rPr>
                  <a:t>Ethernet: 45:23:79:85:77:34 IP = ??</a:t>
                </a:r>
                <a:endParaRPr lang="en-US" altLang="en-US" sz="1600" b="1" dirty="0">
                  <a:latin typeface="Calibri" panose="020F0502020204030204" pitchFamily="34" charset="0"/>
                </a:endParaRPr>
              </a:p>
            </p:txBody>
          </p:sp>
          <p:cxnSp>
            <p:nvCxnSpPr>
              <p:cNvPr id="17" name="Straight Arrow Connector 16"/>
              <p:cNvCxnSpPr/>
              <p:nvPr/>
            </p:nvCxnSpPr>
            <p:spPr>
              <a:xfrm flipV="1">
                <a:off x="10533" y="7180"/>
                <a:ext cx="1680" cy="0"/>
              </a:xfrm>
              <a:prstGeom prst="straightConnector1">
                <a:avLst/>
              </a:prstGeom>
              <a:ln w="38100" cap="flat" cmpd="sng">
                <a:solidFill>
                  <a:srgbClr val="C00000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8" name="TextBox 12"/>
              <p:cNvSpPr txBox="1"/>
              <p:nvPr/>
            </p:nvSpPr>
            <p:spPr>
              <a:xfrm>
                <a:off x="7510" y="8038"/>
                <a:ext cx="4095" cy="845"/>
              </a:xfrm>
              <a:prstGeom prst="rect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b="1" dirty="0">
                    <a:latin typeface="Calibri" panose="020F0502020204030204" pitchFamily="34" charset="0"/>
                  </a:rPr>
                  <a:t>Ethernet:  45:23:79:85:77:34</a:t>
                </a:r>
                <a:endParaRPr lang="en-US" altLang="en-US" sz="1600" b="1" dirty="0">
                  <a:latin typeface="Calibri" panose="020F0502020204030204" pitchFamily="34" charset="0"/>
                </a:endParaRPr>
              </a:p>
              <a:p>
                <a:pPr marL="0" lv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b="1" dirty="0">
                    <a:latin typeface="Calibri" panose="020F0502020204030204" pitchFamily="34" charset="0"/>
                  </a:rPr>
                  <a:t>IP: 192.168.10.3</a:t>
                </a:r>
                <a:endParaRPr lang="en-US" altLang="en-US" sz="1600" b="1" dirty="0">
                  <a:latin typeface="Calibri" panose="020F0502020204030204" pitchFamily="34" charset="0"/>
                </a:endParaRPr>
              </a:p>
            </p:txBody>
          </p:sp>
          <p:cxnSp>
            <p:nvCxnSpPr>
              <p:cNvPr id="19" name="Straight Arrow Connector 18"/>
              <p:cNvCxnSpPr/>
              <p:nvPr/>
            </p:nvCxnSpPr>
            <p:spPr>
              <a:xfrm flipV="1">
                <a:off x="4525" y="5910"/>
                <a:ext cx="0" cy="1173"/>
              </a:xfrm>
              <a:prstGeom prst="straightConnector1">
                <a:avLst/>
              </a:prstGeom>
              <a:ln w="38100" cap="flat" cmpd="sng">
                <a:solidFill>
                  <a:srgbClr val="C00000"/>
                </a:solidFill>
                <a:prstDash val="solid"/>
                <a:headEnd type="none" w="med" len="med"/>
                <a:tailEnd type="none" w="med" len="med"/>
              </a:ln>
            </p:spPr>
          </p:cxnSp>
          <p:pic>
            <p:nvPicPr>
              <p:cNvPr id="20" name="Picture 1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815" y="4828"/>
                <a:ext cx="1290" cy="129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253" y="4828"/>
                <a:ext cx="1287" cy="129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grpSp>
            <p:nvGrpSpPr>
              <p:cNvPr id="22" name="Group 21"/>
              <p:cNvGrpSpPr/>
              <p:nvPr/>
            </p:nvGrpSpPr>
            <p:grpSpPr>
              <a:xfrm>
                <a:off x="5199" y="3185"/>
                <a:ext cx="2380" cy="1673"/>
                <a:chOff x="2379525" y="2381753"/>
                <a:chExt cx="1511507" cy="1062863"/>
              </a:xfrm>
            </p:grpSpPr>
            <p:sp>
              <p:nvSpPr>
                <p:cNvPr id="30" name="Oval 29"/>
                <p:cNvSpPr/>
                <p:nvPr/>
              </p:nvSpPr>
              <p:spPr>
                <a:xfrm>
                  <a:off x="2687075" y="3007598"/>
                  <a:ext cx="372114" cy="182880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82124" tIns="41061" rIns="82124" bIns="41061" anchor="ctr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 defTabSz="814705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endParaRPr lang="en-US" altLang="en-US" sz="2400" dirty="0"/>
                </a:p>
              </p:txBody>
            </p:sp>
            <p:sp>
              <p:nvSpPr>
                <p:cNvPr id="31" name="Oval 30"/>
                <p:cNvSpPr/>
                <p:nvPr/>
              </p:nvSpPr>
              <p:spPr>
                <a:xfrm>
                  <a:off x="2530001" y="3216773"/>
                  <a:ext cx="271143" cy="12444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82124" tIns="41061" rIns="82124" bIns="41061" anchor="ctr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 defTabSz="814705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endParaRPr lang="en-US" altLang="en-US" sz="2400" dirty="0"/>
                </a:p>
              </p:txBody>
            </p:sp>
            <p:sp>
              <p:nvSpPr>
                <p:cNvPr id="32" name="Oval 31"/>
                <p:cNvSpPr/>
                <p:nvPr/>
              </p:nvSpPr>
              <p:spPr>
                <a:xfrm>
                  <a:off x="2379525" y="3350563"/>
                  <a:ext cx="150598" cy="94053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82124" tIns="41061" rIns="82124" bIns="41061" anchor="ctr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 defTabSz="814705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endParaRPr lang="en-US" altLang="en-US" sz="2400" dirty="0"/>
                </a:p>
              </p:txBody>
            </p:sp>
            <p:grpSp>
              <p:nvGrpSpPr>
                <p:cNvPr id="33" name="Group 32"/>
                <p:cNvGrpSpPr/>
                <p:nvPr/>
              </p:nvGrpSpPr>
              <p:grpSpPr>
                <a:xfrm>
                  <a:off x="2497016" y="2381753"/>
                  <a:ext cx="1394016" cy="632959"/>
                  <a:chOff x="3107394" y="1674813"/>
                  <a:chExt cx="1394016" cy="632959"/>
                </a:xfrm>
              </p:grpSpPr>
              <p:grpSp>
                <p:nvGrpSpPr>
                  <p:cNvPr id="34" name="Group 33"/>
                  <p:cNvGrpSpPr/>
                  <p:nvPr/>
                </p:nvGrpSpPr>
                <p:grpSpPr>
                  <a:xfrm>
                    <a:off x="3107394" y="1674813"/>
                    <a:ext cx="1394016" cy="632959"/>
                    <a:chOff x="3107394" y="1674813"/>
                    <a:chExt cx="1394016" cy="632959"/>
                  </a:xfrm>
                </p:grpSpPr>
                <p:sp>
                  <p:nvSpPr>
                    <p:cNvPr id="36" name="Cloud 35"/>
                    <p:cNvSpPr/>
                    <p:nvPr/>
                  </p:nvSpPr>
                  <p:spPr bwMode="auto">
                    <a:xfrm>
                      <a:off x="3107394" y="1674813"/>
                      <a:ext cx="1394016" cy="632959"/>
                    </a:xfrm>
                    <a:prstGeom prst="cloud">
                      <a:avLst/>
                    </a:prstGeom>
                    <a:noFill/>
                    <a:ln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lIns="82124" tIns="41061" rIns="82124" bIns="41061" anchor="ctr">
                      <a:sp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81470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4149692" y="1857216"/>
                      <a:ext cx="231775" cy="27432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9525">
                      <a:noFill/>
                    </a:ln>
                  </p:spPr>
                  <p:txBody>
                    <a:bodyPr wrap="none" lIns="82124" tIns="41061" rIns="82124" bIns="41061" anchor="ctr">
                      <a:spAutoFit/>
                    </a:bodyPr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  <a:cs typeface="MS PGothic" panose="020B0600070205080204" pitchFamily="34" charset="-128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5pPr>
                    </a:lstStyle>
                    <a:p>
                      <a:pPr marL="0" lvl="0" indent="0" algn="ctr" defTabSz="814705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altLang="en-US" sz="2400" dirty="0"/>
                    </a:p>
                  </p:txBody>
                </p:sp>
              </p:grpSp>
              <p:sp>
                <p:nvSpPr>
                  <p:cNvPr id="35" name="TextBox 62"/>
                  <p:cNvSpPr txBox="1"/>
                  <p:nvPr/>
                </p:nvSpPr>
                <p:spPr>
                  <a:xfrm>
                    <a:off x="3409302" y="1773146"/>
                    <a:ext cx="888385" cy="369332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none" anchor="ctr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5pPr>
                  </a:lstStyle>
                  <a:p>
                    <a:pPr marL="0" lvl="0" indent="0" algn="ctr" eaLnBrk="1" hangingPunct="1">
                      <a:lnSpc>
                        <a:spcPct val="90000"/>
                      </a:lnSpc>
                      <a:spcBef>
                        <a:spcPct val="0"/>
                      </a:spcBef>
                      <a:buNone/>
                    </a:pPr>
                    <a:r>
                      <a:rPr lang="en-US" altLang="en-US" sz="1000" b="1" dirty="0">
                        <a:latin typeface="Calibri" panose="020F0502020204030204" pitchFamily="34" charset="0"/>
                      </a:rPr>
                      <a:t>What’s my IP</a:t>
                    </a:r>
                    <a:br>
                      <a:rPr lang="en-US" altLang="en-US" sz="1000" b="1" dirty="0">
                        <a:latin typeface="Calibri" panose="020F0502020204030204" pitchFamily="34" charset="0"/>
                      </a:rPr>
                    </a:br>
                    <a:r>
                      <a:rPr lang="en-US" altLang="en-US" sz="1000" b="1" dirty="0">
                        <a:latin typeface="Calibri" panose="020F0502020204030204" pitchFamily="34" charset="0"/>
                      </a:rPr>
                      <a:t>address?</a:t>
                    </a:r>
                    <a:endParaRPr lang="en-US" altLang="en-US" sz="1000" b="1" dirty="0">
                      <a:latin typeface="Calibri" panose="020F0502020204030204" pitchFamily="34" charset="0"/>
                    </a:endParaRPr>
                  </a:p>
                </p:txBody>
              </p:sp>
            </p:grpSp>
          </p:grpSp>
          <p:grpSp>
            <p:nvGrpSpPr>
              <p:cNvPr id="23" name="Group 22"/>
              <p:cNvGrpSpPr/>
              <p:nvPr/>
            </p:nvGrpSpPr>
            <p:grpSpPr>
              <a:xfrm>
                <a:off x="8788" y="3069"/>
                <a:ext cx="3275" cy="1835"/>
                <a:chOff x="4660043" y="2304305"/>
                <a:chExt cx="2078627" cy="1166606"/>
              </a:xfrm>
            </p:grpSpPr>
            <p:grpSp>
              <p:nvGrpSpPr>
                <p:cNvPr id="24" name="Group 23"/>
                <p:cNvGrpSpPr/>
                <p:nvPr/>
              </p:nvGrpSpPr>
              <p:grpSpPr>
                <a:xfrm>
                  <a:off x="4660043" y="2304305"/>
                  <a:ext cx="2004050" cy="794692"/>
                  <a:chOff x="3848100" y="1401967"/>
                  <a:chExt cx="1740527" cy="632357"/>
                </a:xfrm>
              </p:grpSpPr>
              <p:sp>
                <p:nvSpPr>
                  <p:cNvPr id="28" name="Cloud 27"/>
                  <p:cNvSpPr/>
                  <p:nvPr/>
                </p:nvSpPr>
                <p:spPr bwMode="auto">
                  <a:xfrm>
                    <a:off x="3848100" y="1401967"/>
                    <a:ext cx="1740527" cy="632357"/>
                  </a:xfrm>
                  <a:prstGeom prst="cloud">
                    <a:avLst/>
                  </a:prstGeom>
                  <a:noFill/>
                  <a:ln w="190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lIns="82124" tIns="41061" rIns="82124" bIns="41061" anchor="ctr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814705" rtl="0" eaLnBrk="1" fontAlgn="base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9" name="Oval 28"/>
                  <p:cNvSpPr/>
                  <p:nvPr/>
                </p:nvSpPr>
                <p:spPr>
                  <a:xfrm>
                    <a:off x="5093345" y="1527720"/>
                    <a:ext cx="307975" cy="365760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noFill/>
                  </a:ln>
                </p:spPr>
                <p:txBody>
                  <a:bodyPr lIns="82124" tIns="41061" rIns="82124" bIns="41061" anchor="ctr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5pPr>
                  </a:lstStyle>
                  <a:p>
                    <a:pPr marL="0" lvl="0" indent="0" algn="ctr" defTabSz="814705" eaLnBrk="1" hangingPunct="1">
                      <a:lnSpc>
                        <a:spcPct val="90000"/>
                      </a:lnSpc>
                      <a:spcBef>
                        <a:spcPct val="0"/>
                      </a:spcBef>
                      <a:buNone/>
                    </a:pPr>
                    <a:endParaRPr lang="en-US" altLang="en-US" sz="2400" dirty="0"/>
                  </a:p>
                </p:txBody>
              </p:sp>
            </p:grpSp>
            <p:sp>
              <p:nvSpPr>
                <p:cNvPr id="25" name="Oval 24"/>
                <p:cNvSpPr/>
                <p:nvPr/>
              </p:nvSpPr>
              <p:spPr>
                <a:xfrm>
                  <a:off x="6182674" y="3033893"/>
                  <a:ext cx="372114" cy="182880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82124" tIns="41061" rIns="82124" bIns="41061" anchor="ctr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 defTabSz="814705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endParaRPr lang="en-US" altLang="en-US" sz="2400" dirty="0"/>
                </a:p>
              </p:txBody>
            </p:sp>
            <p:sp>
              <p:nvSpPr>
                <p:cNvPr id="26" name="Oval 25"/>
                <p:cNvSpPr/>
                <p:nvPr/>
              </p:nvSpPr>
              <p:spPr>
                <a:xfrm>
                  <a:off x="6392228" y="3237207"/>
                  <a:ext cx="271143" cy="12444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82124" tIns="41061" rIns="82124" bIns="41061" anchor="ctr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 defTabSz="814705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endParaRPr lang="en-US" altLang="en-US" sz="2400" dirty="0"/>
                </a:p>
              </p:txBody>
            </p:sp>
            <p:sp>
              <p:nvSpPr>
                <p:cNvPr id="27" name="Oval 26"/>
                <p:cNvSpPr/>
                <p:nvPr/>
              </p:nvSpPr>
              <p:spPr>
                <a:xfrm>
                  <a:off x="6588072" y="3376858"/>
                  <a:ext cx="150598" cy="94053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lIns="82124" tIns="41061" rIns="82124" bIns="41061" anchor="ctr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 defTabSz="814705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endParaRPr lang="en-US" altLang="en-US" sz="2400" dirty="0"/>
                </a:p>
              </p:txBody>
            </p:sp>
          </p:grpSp>
        </p:grpSp>
        <p:sp>
          <p:nvSpPr>
            <p:cNvPr id="8" name="TextBox 27"/>
            <p:cNvSpPr txBox="1"/>
            <p:nvPr/>
          </p:nvSpPr>
          <p:spPr>
            <a:xfrm>
              <a:off x="9015" y="3273"/>
              <a:ext cx="2700" cy="800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000" b="1" dirty="0">
                  <a:latin typeface="Calibri" panose="020F0502020204030204" pitchFamily="34" charset="0"/>
                </a:rPr>
                <a:t>I heard that broadcast.</a:t>
              </a:r>
              <a:br>
                <a:rPr lang="en-US" altLang="en-US" sz="1000" b="1" dirty="0">
                  <a:latin typeface="Calibri" panose="020F0502020204030204" pitchFamily="34" charset="0"/>
                </a:rPr>
              </a:br>
              <a:r>
                <a:rPr lang="en-US" altLang="en-US" sz="1000" b="1" dirty="0">
                  <a:latin typeface="Calibri" panose="020F0502020204030204" pitchFamily="34" charset="0"/>
                </a:rPr>
                <a:t>Your IP address</a:t>
              </a:r>
              <a:br>
                <a:rPr lang="en-US" altLang="en-US" sz="1000" b="1" dirty="0">
                  <a:latin typeface="Calibri" panose="020F0502020204030204" pitchFamily="34" charset="0"/>
                </a:rPr>
              </a:br>
              <a:r>
                <a:rPr lang="en-US" altLang="en-US" sz="1000" b="1" dirty="0">
                  <a:latin typeface="Calibri" panose="020F0502020204030204" pitchFamily="34" charset="0"/>
                </a:rPr>
                <a:t>is 192.168.10.3</a:t>
              </a:r>
              <a:endParaRPr lang="en-US" altLang="en-US" sz="1000" b="1" dirty="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8"/>
          <p:cNvSpPr>
            <a:spLocks noGrp="1" noChangeArrowheads="1"/>
          </p:cNvSpPr>
          <p:nvPr>
            <p:ph type="title"/>
          </p:nvPr>
        </p:nvSpPr>
        <p:spPr>
          <a:xfrm>
            <a:off x="978568" y="274638"/>
            <a:ext cx="10892590" cy="1143000"/>
          </a:xfrm>
          <a:noFill/>
        </p:spPr>
        <p:txBody>
          <a:bodyPr/>
          <a:lstStyle/>
          <a:p>
            <a:pPr algn="ctr" eaLnBrk="1" hangingPunct="1"/>
            <a:r>
              <a:rPr lang="en-US" altLang="en-US" dirty="0">
                <a:ea typeface="MS PGothic" panose="020B0600070205080204" pitchFamily="34" charset="-128"/>
              </a:rPr>
              <a:t>Data Encapsulation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36871" name="Rectangle 12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>
              <a:latin typeface="Times" pitchFamily="-10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02225" y="2344739"/>
            <a:ext cx="1701800" cy="3143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anchor="ctr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panose="020B0604020202020204" pitchFamily="34" charset="0"/>
              </a:rPr>
              <a:t>Upper layer data</a:t>
            </a:r>
            <a:endParaRPr lang="en-US" sz="1600" dirty="0">
              <a:latin typeface="Arial" panose="020B0604020202020204" pitchFamily="34" charset="0"/>
            </a:endParaRPr>
          </a:p>
        </p:txBody>
      </p:sp>
      <p:pic>
        <p:nvPicPr>
          <p:cNvPr id="36873" name="Picture 2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650" y="1522413"/>
            <a:ext cx="7429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4" name="Down Arrow 22"/>
          <p:cNvSpPr>
            <a:spLocks noChangeArrowheads="1"/>
          </p:cNvSpPr>
          <p:nvPr/>
        </p:nvSpPr>
        <p:spPr bwMode="auto">
          <a:xfrm>
            <a:off x="5788025" y="1935163"/>
            <a:ext cx="330200" cy="495300"/>
          </a:xfrm>
          <a:prstGeom prst="downArrow">
            <a:avLst>
              <a:gd name="adj1" fmla="val 50000"/>
              <a:gd name="adj2" fmla="val 49868"/>
            </a:avLst>
          </a:prstGeom>
          <a:solidFill>
            <a:schemeClr val="bg1"/>
          </a:solidFill>
          <a:ln w="38100" algn="ctr">
            <a:solidFill>
              <a:srgbClr val="C00000"/>
            </a:solidFill>
            <a:round/>
          </a:ln>
        </p:spPr>
        <p:txBody>
          <a:bodyPr wrap="none" lIns="82124" tIns="41061" rIns="82124" bIns="41061" anchor="ctr">
            <a:spAutoFit/>
          </a:bodyPr>
          <a:lstStyle>
            <a:lvl1pPr defTabSz="81470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1470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1470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1470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1470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" name="TextBox 12"/>
          <p:cNvSpPr txBox="1"/>
          <p:nvPr/>
        </p:nvSpPr>
        <p:spPr>
          <a:xfrm>
            <a:off x="5105400" y="3048000"/>
            <a:ext cx="1701800" cy="31273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anchor="ctr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panose="020B0604020202020204" pitchFamily="34" charset="0"/>
              </a:rPr>
              <a:t>Upper layer data</a:t>
            </a:r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36876" name="TextBox 24"/>
          <p:cNvSpPr txBox="1">
            <a:spLocks noChangeArrowheads="1"/>
          </p:cNvSpPr>
          <p:nvPr/>
        </p:nvSpPr>
        <p:spPr bwMode="auto">
          <a:xfrm>
            <a:off x="3403601" y="3048000"/>
            <a:ext cx="1700213" cy="312738"/>
          </a:xfrm>
          <a:prstGeom prst="rect">
            <a:avLst/>
          </a:prstGeom>
          <a:solidFill>
            <a:srgbClr val="99FF66"/>
          </a:solidFill>
          <a:ln w="6350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TCP Header</a:t>
            </a:r>
            <a:endParaRPr lang="en-US" altLang="en-US" sz="1600"/>
          </a:p>
        </p:txBody>
      </p:sp>
      <p:sp>
        <p:nvSpPr>
          <p:cNvPr id="15" name="TextBox 14"/>
          <p:cNvSpPr txBox="1"/>
          <p:nvPr/>
        </p:nvSpPr>
        <p:spPr>
          <a:xfrm>
            <a:off x="5097463" y="3736975"/>
            <a:ext cx="1701800" cy="31273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anchor="ctr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panose="020B0604020202020204" pitchFamily="34" charset="0"/>
              </a:rPr>
              <a:t>Segment</a:t>
            </a:r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36878" name="TextBox 28"/>
          <p:cNvSpPr txBox="1">
            <a:spLocks noChangeArrowheads="1"/>
          </p:cNvSpPr>
          <p:nvPr/>
        </p:nvSpPr>
        <p:spPr bwMode="auto">
          <a:xfrm>
            <a:off x="3394076" y="3738564"/>
            <a:ext cx="1700213" cy="312737"/>
          </a:xfrm>
          <a:prstGeom prst="rect">
            <a:avLst/>
          </a:prstGeom>
          <a:solidFill>
            <a:srgbClr val="CCFF33"/>
          </a:solidFill>
          <a:ln w="6350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IP Header</a:t>
            </a:r>
            <a:endParaRPr lang="en-US" altLang="en-US" sz="1600"/>
          </a:p>
        </p:txBody>
      </p:sp>
      <p:sp>
        <p:nvSpPr>
          <p:cNvPr id="17" name="TextBox 16"/>
          <p:cNvSpPr txBox="1"/>
          <p:nvPr/>
        </p:nvSpPr>
        <p:spPr>
          <a:xfrm>
            <a:off x="5100638" y="4333876"/>
            <a:ext cx="1701800" cy="3143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anchor="ctr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panose="020B0604020202020204" pitchFamily="34" charset="0"/>
              </a:rPr>
              <a:t>Packet</a:t>
            </a:r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36880" name="TextBox 31"/>
          <p:cNvSpPr txBox="1">
            <a:spLocks noChangeArrowheads="1"/>
          </p:cNvSpPr>
          <p:nvPr/>
        </p:nvSpPr>
        <p:spPr bwMode="auto">
          <a:xfrm>
            <a:off x="3397251" y="4335464"/>
            <a:ext cx="1700213" cy="314325"/>
          </a:xfrm>
          <a:prstGeom prst="rect">
            <a:avLst/>
          </a:prstGeom>
          <a:solidFill>
            <a:srgbClr val="FF9933"/>
          </a:solidFill>
          <a:ln w="6350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LLC Header</a:t>
            </a:r>
            <a:endParaRPr lang="en-US" altLang="en-US" sz="1600"/>
          </a:p>
        </p:txBody>
      </p:sp>
      <p:sp>
        <p:nvSpPr>
          <p:cNvPr id="19" name="TextBox 18"/>
          <p:cNvSpPr txBox="1"/>
          <p:nvPr/>
        </p:nvSpPr>
        <p:spPr>
          <a:xfrm>
            <a:off x="5102225" y="4722814"/>
            <a:ext cx="1701800" cy="3143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txBody>
          <a:bodyPr anchor="ctr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sz="1600" dirty="0">
                <a:latin typeface="Arial" panose="020B0604020202020204" pitchFamily="34" charset="0"/>
              </a:rPr>
              <a:t>Packet</a:t>
            </a:r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36882" name="TextBox 33"/>
          <p:cNvSpPr txBox="1">
            <a:spLocks noChangeArrowheads="1"/>
          </p:cNvSpPr>
          <p:nvPr/>
        </p:nvSpPr>
        <p:spPr bwMode="auto">
          <a:xfrm>
            <a:off x="3398838" y="4724401"/>
            <a:ext cx="1700212" cy="314325"/>
          </a:xfrm>
          <a:prstGeom prst="rect">
            <a:avLst/>
          </a:prstGeom>
          <a:solidFill>
            <a:srgbClr val="FF9933"/>
          </a:solidFill>
          <a:ln w="6350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MAC Header</a:t>
            </a:r>
            <a:endParaRPr lang="en-US" altLang="en-US" sz="1600"/>
          </a:p>
        </p:txBody>
      </p:sp>
      <p:sp>
        <p:nvSpPr>
          <p:cNvPr id="36883" name="TextBox 34"/>
          <p:cNvSpPr txBox="1">
            <a:spLocks noChangeArrowheads="1"/>
          </p:cNvSpPr>
          <p:nvPr/>
        </p:nvSpPr>
        <p:spPr bwMode="auto">
          <a:xfrm>
            <a:off x="6807201" y="4333876"/>
            <a:ext cx="639763" cy="314325"/>
          </a:xfrm>
          <a:prstGeom prst="rect">
            <a:avLst/>
          </a:prstGeom>
          <a:solidFill>
            <a:srgbClr val="002060"/>
          </a:solidFill>
          <a:ln w="6350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bg1"/>
                </a:solidFill>
              </a:rPr>
              <a:t>FCS</a:t>
            </a:r>
            <a:endParaRPr lang="en-US" altLang="en-US" sz="1600">
              <a:solidFill>
                <a:schemeClr val="bg1"/>
              </a:solidFill>
            </a:endParaRPr>
          </a:p>
        </p:txBody>
      </p:sp>
      <p:sp>
        <p:nvSpPr>
          <p:cNvPr id="36884" name="TextBox 35"/>
          <p:cNvSpPr txBox="1">
            <a:spLocks noChangeArrowheads="1"/>
          </p:cNvSpPr>
          <p:nvPr/>
        </p:nvSpPr>
        <p:spPr bwMode="auto">
          <a:xfrm>
            <a:off x="6807201" y="4724401"/>
            <a:ext cx="639763" cy="314325"/>
          </a:xfrm>
          <a:prstGeom prst="rect">
            <a:avLst/>
          </a:prstGeom>
          <a:solidFill>
            <a:srgbClr val="002060"/>
          </a:solidFill>
          <a:ln w="6350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bg1"/>
                </a:solidFill>
              </a:rPr>
              <a:t>FCS</a:t>
            </a:r>
            <a:endParaRPr lang="en-US" altLang="en-US" sz="1600">
              <a:solidFill>
                <a:schemeClr val="bg1"/>
              </a:solidFill>
            </a:endParaRPr>
          </a:p>
        </p:txBody>
      </p:sp>
      <p:sp>
        <p:nvSpPr>
          <p:cNvPr id="36885" name="TextBox 36"/>
          <p:cNvSpPr txBox="1">
            <a:spLocks noChangeArrowheads="1"/>
          </p:cNvSpPr>
          <p:nvPr/>
        </p:nvSpPr>
        <p:spPr bwMode="auto">
          <a:xfrm>
            <a:off x="4525964" y="5270500"/>
            <a:ext cx="2924175" cy="312738"/>
          </a:xfrm>
          <a:prstGeom prst="rect">
            <a:avLst/>
          </a:prstGeom>
          <a:solidFill>
            <a:srgbClr val="FF0000"/>
          </a:solidFill>
          <a:ln w="6350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0101110101001000010</a:t>
            </a:r>
            <a:endParaRPr lang="en-US" altLang="en-US" sz="1600"/>
          </a:p>
        </p:txBody>
      </p:sp>
      <p:sp>
        <p:nvSpPr>
          <p:cNvPr id="36886" name="TextBox 37"/>
          <p:cNvSpPr txBox="1">
            <a:spLocks noChangeArrowheads="1"/>
          </p:cNvSpPr>
          <p:nvPr/>
        </p:nvSpPr>
        <p:spPr bwMode="auto">
          <a:xfrm>
            <a:off x="8509000" y="1751014"/>
            <a:ext cx="1701800" cy="314325"/>
          </a:xfrm>
          <a:prstGeom prst="rect">
            <a:avLst/>
          </a:prstGeom>
          <a:solidFill>
            <a:srgbClr val="92D050"/>
          </a:solidFill>
          <a:ln w="6350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Application</a:t>
            </a:r>
            <a:endParaRPr lang="en-US" altLang="en-US" sz="1600"/>
          </a:p>
        </p:txBody>
      </p:sp>
      <p:sp>
        <p:nvSpPr>
          <p:cNvPr id="36887" name="TextBox 38"/>
          <p:cNvSpPr txBox="1">
            <a:spLocks noChangeArrowheads="1"/>
          </p:cNvSpPr>
          <p:nvPr/>
        </p:nvSpPr>
        <p:spPr bwMode="auto">
          <a:xfrm>
            <a:off x="8509000" y="2209801"/>
            <a:ext cx="1701800" cy="314325"/>
          </a:xfrm>
          <a:prstGeom prst="rect">
            <a:avLst/>
          </a:prstGeom>
          <a:solidFill>
            <a:srgbClr val="92D050"/>
          </a:solidFill>
          <a:ln w="6350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Presentation</a:t>
            </a:r>
            <a:endParaRPr lang="en-US" altLang="en-US" sz="1600"/>
          </a:p>
        </p:txBody>
      </p:sp>
      <p:sp>
        <p:nvSpPr>
          <p:cNvPr id="36888" name="TextBox 40"/>
          <p:cNvSpPr txBox="1">
            <a:spLocks noChangeArrowheads="1"/>
          </p:cNvSpPr>
          <p:nvPr/>
        </p:nvSpPr>
        <p:spPr bwMode="auto">
          <a:xfrm>
            <a:off x="8509000" y="2667001"/>
            <a:ext cx="1701800" cy="314325"/>
          </a:xfrm>
          <a:prstGeom prst="rect">
            <a:avLst/>
          </a:prstGeom>
          <a:solidFill>
            <a:srgbClr val="92D050"/>
          </a:solidFill>
          <a:ln w="6350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Session</a:t>
            </a:r>
            <a:endParaRPr lang="en-US" altLang="en-US" sz="1600"/>
          </a:p>
        </p:txBody>
      </p:sp>
      <p:sp>
        <p:nvSpPr>
          <p:cNvPr id="36889" name="Down Arrow 41"/>
          <p:cNvSpPr>
            <a:spLocks noChangeArrowheads="1"/>
          </p:cNvSpPr>
          <p:nvPr/>
        </p:nvSpPr>
        <p:spPr bwMode="auto">
          <a:xfrm>
            <a:off x="8964614" y="3263900"/>
            <a:ext cx="784225" cy="55245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8100" algn="ctr">
            <a:solidFill>
              <a:srgbClr val="C00000"/>
            </a:solidFill>
            <a:round/>
          </a:ln>
        </p:spPr>
        <p:txBody>
          <a:bodyPr lIns="82124" tIns="41061" rIns="82124" bIns="41061" anchor="ctr">
            <a:spAutoFit/>
          </a:bodyPr>
          <a:lstStyle>
            <a:lvl1pPr defTabSz="81470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1470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1470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1470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1470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6890" name="Down Arrow 44"/>
          <p:cNvSpPr>
            <a:spLocks noChangeArrowheads="1"/>
          </p:cNvSpPr>
          <p:nvPr/>
        </p:nvSpPr>
        <p:spPr bwMode="auto">
          <a:xfrm>
            <a:off x="8983664" y="3946525"/>
            <a:ext cx="784225" cy="55245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8100" algn="ctr">
            <a:solidFill>
              <a:srgbClr val="C00000"/>
            </a:solidFill>
            <a:round/>
          </a:ln>
        </p:spPr>
        <p:txBody>
          <a:bodyPr lIns="82124" tIns="41061" rIns="82124" bIns="41061" anchor="ctr">
            <a:spAutoFit/>
          </a:bodyPr>
          <a:lstStyle>
            <a:lvl1pPr defTabSz="81470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1470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1470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1470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1470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6891" name="TextBox 46"/>
          <p:cNvSpPr txBox="1">
            <a:spLocks noChangeArrowheads="1"/>
          </p:cNvSpPr>
          <p:nvPr/>
        </p:nvSpPr>
        <p:spPr bwMode="auto">
          <a:xfrm>
            <a:off x="8524875" y="5270500"/>
            <a:ext cx="1701800" cy="312738"/>
          </a:xfrm>
          <a:prstGeom prst="rect">
            <a:avLst/>
          </a:prstGeom>
          <a:solidFill>
            <a:srgbClr val="FF0000"/>
          </a:solidFill>
          <a:ln w="6350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Physical</a:t>
            </a:r>
            <a:endParaRPr lang="en-US" altLang="en-US" sz="1600"/>
          </a:p>
        </p:txBody>
      </p:sp>
      <p:sp>
        <p:nvSpPr>
          <p:cNvPr id="36892" name="Down Arrow 47"/>
          <p:cNvSpPr>
            <a:spLocks noChangeArrowheads="1"/>
          </p:cNvSpPr>
          <p:nvPr/>
        </p:nvSpPr>
        <p:spPr bwMode="auto">
          <a:xfrm>
            <a:off x="8983664" y="4760913"/>
            <a:ext cx="784225" cy="55086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8100" algn="ctr">
            <a:solidFill>
              <a:srgbClr val="C00000"/>
            </a:solidFill>
            <a:round/>
          </a:ln>
        </p:spPr>
        <p:txBody>
          <a:bodyPr lIns="82124" tIns="41061" rIns="82124" bIns="41061" anchor="ctr">
            <a:spAutoFit/>
          </a:bodyPr>
          <a:lstStyle>
            <a:lvl1pPr defTabSz="81470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1470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1470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1470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1470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6893" name="TextBox 42"/>
          <p:cNvSpPr txBox="1">
            <a:spLocks noChangeArrowheads="1"/>
          </p:cNvSpPr>
          <p:nvPr/>
        </p:nvSpPr>
        <p:spPr bwMode="auto">
          <a:xfrm>
            <a:off x="8509000" y="3054351"/>
            <a:ext cx="1701800" cy="314325"/>
          </a:xfrm>
          <a:prstGeom prst="rect">
            <a:avLst/>
          </a:prstGeom>
          <a:solidFill>
            <a:srgbClr val="99FF66"/>
          </a:solidFill>
          <a:ln w="6350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Transport</a:t>
            </a:r>
            <a:endParaRPr lang="en-US" altLang="en-US" sz="1600"/>
          </a:p>
        </p:txBody>
      </p:sp>
      <p:sp>
        <p:nvSpPr>
          <p:cNvPr id="36894" name="TextBox 43"/>
          <p:cNvSpPr txBox="1">
            <a:spLocks noChangeArrowheads="1"/>
          </p:cNvSpPr>
          <p:nvPr/>
        </p:nvSpPr>
        <p:spPr bwMode="auto">
          <a:xfrm>
            <a:off x="8509000" y="3735389"/>
            <a:ext cx="1701800" cy="314325"/>
          </a:xfrm>
          <a:prstGeom prst="rect">
            <a:avLst/>
          </a:prstGeom>
          <a:solidFill>
            <a:srgbClr val="CCFF33"/>
          </a:solidFill>
          <a:ln w="6350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Network</a:t>
            </a:r>
            <a:endParaRPr lang="en-US" altLang="en-US" sz="1600"/>
          </a:p>
        </p:txBody>
      </p:sp>
      <p:sp>
        <p:nvSpPr>
          <p:cNvPr id="36895" name="TextBox 45"/>
          <p:cNvSpPr txBox="1">
            <a:spLocks noChangeArrowheads="1"/>
          </p:cNvSpPr>
          <p:nvPr/>
        </p:nvSpPr>
        <p:spPr bwMode="auto">
          <a:xfrm>
            <a:off x="8509000" y="4479926"/>
            <a:ext cx="1701800" cy="314325"/>
          </a:xfrm>
          <a:prstGeom prst="rect">
            <a:avLst/>
          </a:prstGeom>
          <a:solidFill>
            <a:srgbClr val="FF9933"/>
          </a:solidFill>
          <a:ln w="6350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/>
              <a:t>Data Link</a:t>
            </a:r>
            <a:endParaRPr lang="en-US" altLang="en-US" sz="1600" dirty="0"/>
          </a:p>
        </p:txBody>
      </p:sp>
      <p:sp>
        <p:nvSpPr>
          <p:cNvPr id="36896" name="Right Arrow 48"/>
          <p:cNvSpPr>
            <a:spLocks noChangeArrowheads="1"/>
          </p:cNvSpPr>
          <p:nvPr/>
        </p:nvSpPr>
        <p:spPr bwMode="auto">
          <a:xfrm rot="5400000">
            <a:off x="7773989" y="1393271"/>
            <a:ext cx="439737" cy="825022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124" tIns="41061" rIns="82124" bIns="41061" anchor="ctr">
            <a:spAutoFit/>
          </a:bodyPr>
          <a:lstStyle>
            <a:lvl1pPr defTabSz="81470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1470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1470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1470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1470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6897" name="TextBox 49"/>
          <p:cNvSpPr txBox="1">
            <a:spLocks noChangeArrowheads="1"/>
          </p:cNvSpPr>
          <p:nvPr/>
        </p:nvSpPr>
        <p:spPr bwMode="auto">
          <a:xfrm>
            <a:off x="7481889" y="3086101"/>
            <a:ext cx="1004887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Segment</a:t>
            </a:r>
            <a:endParaRPr lang="en-US" altLang="en-US" sz="1600"/>
          </a:p>
        </p:txBody>
      </p:sp>
      <p:sp>
        <p:nvSpPr>
          <p:cNvPr id="36898" name="Right Arrow 50"/>
          <p:cNvSpPr>
            <a:spLocks noChangeArrowheads="1"/>
          </p:cNvSpPr>
          <p:nvPr/>
        </p:nvSpPr>
        <p:spPr bwMode="auto">
          <a:xfrm>
            <a:off x="10306940" y="3484802"/>
            <a:ext cx="220473" cy="825022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124" tIns="41061" rIns="82124" bIns="41061" anchor="ctr">
            <a:spAutoFit/>
          </a:bodyPr>
          <a:lstStyle>
            <a:lvl1pPr defTabSz="81470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1470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1470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1470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1470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6899" name="TextBox 51"/>
          <p:cNvSpPr txBox="1">
            <a:spLocks noChangeArrowheads="1"/>
          </p:cNvSpPr>
          <p:nvPr/>
        </p:nvSpPr>
        <p:spPr bwMode="auto">
          <a:xfrm>
            <a:off x="7686676" y="3789364"/>
            <a:ext cx="811213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Packet</a:t>
            </a:r>
            <a:endParaRPr lang="en-US" altLang="en-US" sz="1600"/>
          </a:p>
        </p:txBody>
      </p:sp>
      <p:sp>
        <p:nvSpPr>
          <p:cNvPr id="36900" name="Right Arrow 52"/>
          <p:cNvSpPr>
            <a:spLocks noChangeArrowheads="1"/>
          </p:cNvSpPr>
          <p:nvPr/>
        </p:nvSpPr>
        <p:spPr bwMode="auto">
          <a:xfrm>
            <a:off x="10306940" y="4253946"/>
            <a:ext cx="220473" cy="825022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124" tIns="41061" rIns="82124" bIns="41061" anchor="ctr">
            <a:spAutoFit/>
          </a:bodyPr>
          <a:lstStyle>
            <a:lvl1pPr defTabSz="81470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1470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1470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1470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1470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6901" name="TextBox 53"/>
          <p:cNvSpPr txBox="1">
            <a:spLocks noChangeArrowheads="1"/>
          </p:cNvSpPr>
          <p:nvPr/>
        </p:nvSpPr>
        <p:spPr bwMode="auto">
          <a:xfrm>
            <a:off x="7713664" y="4508501"/>
            <a:ext cx="7778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Frame</a:t>
            </a:r>
            <a:endParaRPr lang="en-US" altLang="en-US" sz="1600"/>
          </a:p>
        </p:txBody>
      </p:sp>
      <p:sp>
        <p:nvSpPr>
          <p:cNvPr id="36902" name="Right Arrow 54"/>
          <p:cNvSpPr>
            <a:spLocks noChangeArrowheads="1"/>
          </p:cNvSpPr>
          <p:nvPr/>
        </p:nvSpPr>
        <p:spPr bwMode="auto">
          <a:xfrm>
            <a:off x="10306940" y="5018327"/>
            <a:ext cx="220473" cy="825022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124" tIns="41061" rIns="82124" bIns="41061" anchor="ctr">
            <a:spAutoFit/>
          </a:bodyPr>
          <a:lstStyle>
            <a:lvl1pPr defTabSz="81470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1470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1470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1470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1470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1470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6903" name="TextBox 55"/>
          <p:cNvSpPr txBox="1">
            <a:spLocks noChangeArrowheads="1"/>
          </p:cNvSpPr>
          <p:nvPr/>
        </p:nvSpPr>
        <p:spPr bwMode="auto">
          <a:xfrm>
            <a:off x="7840663" y="5311776"/>
            <a:ext cx="525462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Bits</a:t>
            </a:r>
            <a:endParaRPr lang="en-US" altLang="en-US" sz="1600"/>
          </a:p>
        </p:txBody>
      </p:sp>
      <p:sp>
        <p:nvSpPr>
          <p:cNvPr id="36904" name="TextBox 49"/>
          <p:cNvSpPr txBox="1">
            <a:spLocks noChangeArrowheads="1"/>
          </p:cNvSpPr>
          <p:nvPr/>
        </p:nvSpPr>
        <p:spPr bwMode="auto">
          <a:xfrm>
            <a:off x="7675563" y="1308100"/>
            <a:ext cx="615950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/>
              <a:t>PDU</a:t>
            </a:r>
            <a:endParaRPr lang="en-US" altLang="en-US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8"/>
          <p:cNvSpPr>
            <a:spLocks noGrp="1" noChangeArrowheads="1"/>
          </p:cNvSpPr>
          <p:nvPr>
            <p:ph type="title"/>
          </p:nvPr>
        </p:nvSpPr>
        <p:spPr>
          <a:xfrm>
            <a:off x="3657600" y="274638"/>
            <a:ext cx="6553200" cy="1143000"/>
          </a:xfrm>
          <a:noFill/>
        </p:spPr>
        <p:txBody>
          <a:bodyPr/>
          <a:lstStyle/>
          <a:p>
            <a:pPr eaLnBrk="1" hangingPunct="1"/>
            <a:r>
              <a:rPr lang="en-US" altLang="en-US">
                <a:ea typeface="MS PGothic" panose="020B0600070205080204" pitchFamily="34" charset="-128"/>
              </a:rPr>
              <a:t>Protocol Data Units</a:t>
            </a:r>
            <a:endParaRPr lang="en-US" altLang="en-US">
              <a:ea typeface="MS PGothic" panose="020B0600070205080204" pitchFamily="34" charset="-128"/>
            </a:endParaRPr>
          </a:p>
        </p:txBody>
      </p:sp>
      <p:sp>
        <p:nvSpPr>
          <p:cNvPr id="37895" name="Rectangle 12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>
              <a:latin typeface="Times" pitchFamily="-108" charset="0"/>
            </a:endParaRPr>
          </a:p>
        </p:txBody>
      </p:sp>
      <p:sp>
        <p:nvSpPr>
          <p:cNvPr id="37896" name="TextBox 35"/>
          <p:cNvSpPr txBox="1">
            <a:spLocks noChangeArrowheads="1"/>
          </p:cNvSpPr>
          <p:nvPr/>
        </p:nvSpPr>
        <p:spPr bwMode="auto">
          <a:xfrm>
            <a:off x="4786313" y="4176714"/>
            <a:ext cx="1168400" cy="534987"/>
          </a:xfrm>
          <a:prstGeom prst="rect">
            <a:avLst/>
          </a:prstGeom>
          <a:solidFill>
            <a:srgbClr val="C0C0C4"/>
          </a:solidFill>
          <a:ln w="19050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Destination</a:t>
            </a:r>
            <a:br>
              <a:rPr lang="en-US" altLang="en-US" sz="1600" b="1">
                <a:latin typeface="Calibri" panose="020F0502020204030204" pitchFamily="34" charset="0"/>
              </a:rPr>
            </a:br>
            <a:r>
              <a:rPr lang="en-US" altLang="en-US" sz="1600" b="1">
                <a:latin typeface="Calibri" panose="020F0502020204030204" pitchFamily="34" charset="0"/>
              </a:rPr>
              <a:t>MAC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37897" name="TextBox 36"/>
          <p:cNvSpPr txBox="1">
            <a:spLocks noChangeArrowheads="1"/>
          </p:cNvSpPr>
          <p:nvPr/>
        </p:nvSpPr>
        <p:spPr bwMode="auto">
          <a:xfrm>
            <a:off x="6159459" y="4176714"/>
            <a:ext cx="763671" cy="535531"/>
          </a:xfrm>
          <a:prstGeom prst="rect">
            <a:avLst/>
          </a:prstGeom>
          <a:solidFill>
            <a:srgbClr val="C0C0C4"/>
          </a:solidFill>
          <a:ln w="19050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Source</a:t>
            </a:r>
            <a:br>
              <a:rPr lang="en-US" altLang="en-US" sz="1600" b="1">
                <a:latin typeface="Calibri" panose="020F0502020204030204" pitchFamily="34" charset="0"/>
              </a:rPr>
            </a:br>
            <a:r>
              <a:rPr lang="en-US" altLang="en-US" sz="1600" b="1">
                <a:latin typeface="Calibri" panose="020F0502020204030204" pitchFamily="34" charset="0"/>
              </a:rPr>
              <a:t>MAC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37898" name="TextBox 37"/>
          <p:cNvSpPr txBox="1">
            <a:spLocks noChangeArrowheads="1"/>
          </p:cNvSpPr>
          <p:nvPr/>
        </p:nvSpPr>
        <p:spPr bwMode="auto">
          <a:xfrm>
            <a:off x="7155601" y="4289622"/>
            <a:ext cx="1108187" cy="313932"/>
          </a:xfrm>
          <a:prstGeom prst="rect">
            <a:avLst/>
          </a:prstGeom>
          <a:solidFill>
            <a:srgbClr val="C0C0C4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Ether-Field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37899" name="TextBox 38"/>
          <p:cNvSpPr txBox="1">
            <a:spLocks noChangeArrowheads="1"/>
          </p:cNvSpPr>
          <p:nvPr/>
        </p:nvSpPr>
        <p:spPr bwMode="auto">
          <a:xfrm>
            <a:off x="8509164" y="4289622"/>
            <a:ext cx="741037" cy="313932"/>
          </a:xfrm>
          <a:prstGeom prst="rect">
            <a:avLst/>
          </a:prstGeom>
          <a:solidFill>
            <a:srgbClr val="CCFF33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Packet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37900" name="TextBox 39"/>
          <p:cNvSpPr txBox="1">
            <a:spLocks noChangeArrowheads="1"/>
          </p:cNvSpPr>
          <p:nvPr/>
        </p:nvSpPr>
        <p:spPr bwMode="auto">
          <a:xfrm>
            <a:off x="9807391" y="4289622"/>
            <a:ext cx="484556" cy="313932"/>
          </a:xfrm>
          <a:prstGeom prst="rect">
            <a:avLst/>
          </a:prstGeom>
          <a:solidFill>
            <a:srgbClr val="002060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chemeClr val="bg1"/>
                </a:solidFill>
                <a:latin typeface="Calibri" panose="020F0502020204030204" pitchFamily="34" charset="0"/>
              </a:rPr>
              <a:t>FCS</a:t>
            </a:r>
            <a:endParaRPr lang="en-US" altLang="en-US" sz="1600" b="1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7901" name="TextBox 40"/>
          <p:cNvSpPr txBox="1">
            <a:spLocks noChangeArrowheads="1"/>
          </p:cNvSpPr>
          <p:nvPr/>
        </p:nvSpPr>
        <p:spPr bwMode="auto">
          <a:xfrm>
            <a:off x="4884474" y="3141065"/>
            <a:ext cx="973664" cy="313932"/>
          </a:xfrm>
          <a:prstGeom prst="rect">
            <a:avLst/>
          </a:prstGeom>
          <a:solidFill>
            <a:srgbClr val="CCFF33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Source IP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37902" name="TextBox 41"/>
          <p:cNvSpPr txBox="1">
            <a:spLocks noChangeArrowheads="1"/>
          </p:cNvSpPr>
          <p:nvPr/>
        </p:nvSpPr>
        <p:spPr bwMode="auto">
          <a:xfrm>
            <a:off x="5961063" y="3032125"/>
            <a:ext cx="1166812" cy="534988"/>
          </a:xfrm>
          <a:prstGeom prst="rect">
            <a:avLst/>
          </a:prstGeom>
          <a:solidFill>
            <a:srgbClr val="CCFF33"/>
          </a:solidFill>
          <a:ln w="19050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Destination</a:t>
            </a:r>
            <a:br>
              <a:rPr lang="en-US" altLang="en-US" sz="1600" b="1">
                <a:latin typeface="Calibri" panose="020F0502020204030204" pitchFamily="34" charset="0"/>
              </a:rPr>
            </a:br>
            <a:r>
              <a:rPr lang="en-US" altLang="en-US" sz="1600" b="1">
                <a:latin typeface="Calibri" panose="020F0502020204030204" pitchFamily="34" charset="0"/>
              </a:rPr>
              <a:t>IP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37903" name="TextBox 42"/>
          <p:cNvSpPr txBox="1">
            <a:spLocks noChangeArrowheads="1"/>
          </p:cNvSpPr>
          <p:nvPr/>
        </p:nvSpPr>
        <p:spPr bwMode="auto">
          <a:xfrm>
            <a:off x="7268175" y="3143447"/>
            <a:ext cx="900503" cy="313932"/>
          </a:xfrm>
          <a:prstGeom prst="rect">
            <a:avLst/>
          </a:prstGeom>
          <a:solidFill>
            <a:srgbClr val="CCFF33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Protocol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37904" name="TextBox 43"/>
          <p:cNvSpPr txBox="1">
            <a:spLocks noChangeArrowheads="1"/>
          </p:cNvSpPr>
          <p:nvPr/>
        </p:nvSpPr>
        <p:spPr bwMode="auto">
          <a:xfrm>
            <a:off x="8723938" y="3143447"/>
            <a:ext cx="330539" cy="313932"/>
          </a:xfrm>
          <a:prstGeom prst="rect">
            <a:avLst/>
          </a:prstGeom>
          <a:solidFill>
            <a:srgbClr val="CCFF33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…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37905" name="TextBox 44"/>
          <p:cNvSpPr txBox="1">
            <a:spLocks noChangeArrowheads="1"/>
          </p:cNvSpPr>
          <p:nvPr/>
        </p:nvSpPr>
        <p:spPr bwMode="auto">
          <a:xfrm>
            <a:off x="9583997" y="3143447"/>
            <a:ext cx="931345" cy="313932"/>
          </a:xfrm>
          <a:prstGeom prst="rect">
            <a:avLst/>
          </a:prstGeom>
          <a:solidFill>
            <a:srgbClr val="99FF66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Segment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37906" name="TextBox 46"/>
          <p:cNvSpPr txBox="1">
            <a:spLocks noChangeArrowheads="1"/>
          </p:cNvSpPr>
          <p:nvPr/>
        </p:nvSpPr>
        <p:spPr bwMode="auto">
          <a:xfrm>
            <a:off x="6164222" y="1828530"/>
            <a:ext cx="763671" cy="535531"/>
          </a:xfrm>
          <a:prstGeom prst="rect">
            <a:avLst/>
          </a:prstGeom>
          <a:solidFill>
            <a:srgbClr val="CCFF33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Source</a:t>
            </a:r>
            <a:br>
              <a:rPr lang="en-US" altLang="en-US" sz="1600" b="1">
                <a:latin typeface="Calibri" panose="020F0502020204030204" pitchFamily="34" charset="0"/>
              </a:rPr>
            </a:br>
            <a:r>
              <a:rPr lang="en-US" altLang="en-US" sz="1600" b="1">
                <a:latin typeface="Calibri" panose="020F0502020204030204" pitchFamily="34" charset="0"/>
              </a:rPr>
              <a:t>Port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37907" name="TextBox 47"/>
          <p:cNvSpPr txBox="1">
            <a:spLocks noChangeArrowheads="1"/>
          </p:cNvSpPr>
          <p:nvPr/>
        </p:nvSpPr>
        <p:spPr bwMode="auto">
          <a:xfrm>
            <a:off x="7129463" y="1828800"/>
            <a:ext cx="1168400" cy="534988"/>
          </a:xfrm>
          <a:prstGeom prst="rect">
            <a:avLst/>
          </a:prstGeom>
          <a:solidFill>
            <a:srgbClr val="99FF66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Destination</a:t>
            </a:r>
            <a:br>
              <a:rPr lang="en-US" altLang="en-US" sz="1600" b="1">
                <a:latin typeface="Calibri" panose="020F0502020204030204" pitchFamily="34" charset="0"/>
              </a:rPr>
            </a:br>
            <a:r>
              <a:rPr lang="en-US" altLang="en-US" sz="1600" b="1">
                <a:latin typeface="Calibri" panose="020F0502020204030204" pitchFamily="34" charset="0"/>
              </a:rPr>
              <a:t>Port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37908" name="TextBox 48"/>
          <p:cNvSpPr txBox="1">
            <a:spLocks noChangeArrowheads="1"/>
          </p:cNvSpPr>
          <p:nvPr/>
        </p:nvSpPr>
        <p:spPr bwMode="auto">
          <a:xfrm>
            <a:off x="8720763" y="1941709"/>
            <a:ext cx="330539" cy="313932"/>
          </a:xfrm>
          <a:prstGeom prst="rect">
            <a:avLst/>
          </a:prstGeom>
          <a:solidFill>
            <a:srgbClr val="CCFF33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…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758115" y="1936947"/>
            <a:ext cx="583108" cy="3139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none" anchor="ctr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910" name="TextBox 2"/>
          <p:cNvSpPr txBox="1">
            <a:spLocks noChangeArrowheads="1"/>
          </p:cNvSpPr>
          <p:nvPr/>
        </p:nvSpPr>
        <p:spPr bwMode="auto">
          <a:xfrm>
            <a:off x="3595688" y="1941514"/>
            <a:ext cx="931862" cy="314325"/>
          </a:xfrm>
          <a:prstGeom prst="rect">
            <a:avLst/>
          </a:prstGeom>
          <a:solidFill>
            <a:srgbClr val="99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Segment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37911" name="TextBox 19"/>
          <p:cNvSpPr txBox="1">
            <a:spLocks noChangeArrowheads="1"/>
          </p:cNvSpPr>
          <p:nvPr/>
        </p:nvSpPr>
        <p:spPr bwMode="auto">
          <a:xfrm>
            <a:off x="3595688" y="3133726"/>
            <a:ext cx="741362" cy="314325"/>
          </a:xfrm>
          <a:prstGeom prst="rect">
            <a:avLst/>
          </a:prstGeom>
          <a:solidFill>
            <a:srgbClr val="CC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Packet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37912" name="TextBox 20"/>
          <p:cNvSpPr txBox="1">
            <a:spLocks noChangeArrowheads="1"/>
          </p:cNvSpPr>
          <p:nvPr/>
        </p:nvSpPr>
        <p:spPr bwMode="auto">
          <a:xfrm>
            <a:off x="3595689" y="4273551"/>
            <a:ext cx="719137" cy="314325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Frame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37913" name="TextBox 21"/>
          <p:cNvSpPr txBox="1">
            <a:spLocks noChangeArrowheads="1"/>
          </p:cNvSpPr>
          <p:nvPr/>
        </p:nvSpPr>
        <p:spPr bwMode="auto">
          <a:xfrm>
            <a:off x="3595688" y="5340351"/>
            <a:ext cx="501650" cy="314325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Bits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sp>
        <p:nvSpPr>
          <p:cNvPr id="37914" name="TextBox 22"/>
          <p:cNvSpPr txBox="1">
            <a:spLocks noChangeArrowheads="1"/>
          </p:cNvSpPr>
          <p:nvPr/>
        </p:nvSpPr>
        <p:spPr bwMode="auto">
          <a:xfrm>
            <a:off x="4786313" y="5340351"/>
            <a:ext cx="2163762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Calibri" panose="020F0502020204030204" pitchFamily="34" charset="0"/>
              </a:rPr>
              <a:t>1011011100011110000</a:t>
            </a:r>
            <a:endParaRPr lang="en-US" altLang="en-US" sz="1600" b="1">
              <a:latin typeface="Calibri" panose="020F0502020204030204" pitchFamily="34" charset="0"/>
            </a:endParaRPr>
          </a:p>
        </p:txBody>
      </p:sp>
      <p:cxnSp>
        <p:nvCxnSpPr>
          <p:cNvPr id="37915" name="Straight Connector 4"/>
          <p:cNvCxnSpPr>
            <a:cxnSpLocks noChangeShapeType="1"/>
          </p:cNvCxnSpPr>
          <p:nvPr/>
        </p:nvCxnSpPr>
        <p:spPr bwMode="auto">
          <a:xfrm flipV="1">
            <a:off x="9464675" y="3570289"/>
            <a:ext cx="1169988" cy="606425"/>
          </a:xfrm>
          <a:prstGeom prst="line">
            <a:avLst/>
          </a:prstGeom>
          <a:noFill/>
          <a:ln w="38100" algn="ctr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6" name="Straight Connector 25"/>
          <p:cNvCxnSpPr>
            <a:cxnSpLocks noChangeShapeType="1"/>
          </p:cNvCxnSpPr>
          <p:nvPr/>
        </p:nvCxnSpPr>
        <p:spPr bwMode="auto">
          <a:xfrm flipH="1" flipV="1">
            <a:off x="4786314" y="3560763"/>
            <a:ext cx="3508375" cy="609600"/>
          </a:xfrm>
          <a:prstGeom prst="line">
            <a:avLst/>
          </a:prstGeom>
          <a:noFill/>
          <a:ln w="38100" algn="ctr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7" name="Straight Connector 27"/>
          <p:cNvCxnSpPr>
            <a:cxnSpLocks noChangeShapeType="1"/>
          </p:cNvCxnSpPr>
          <p:nvPr/>
        </p:nvCxnSpPr>
        <p:spPr bwMode="auto">
          <a:xfrm flipV="1">
            <a:off x="10634663" y="2363788"/>
            <a:ext cx="4762" cy="666750"/>
          </a:xfrm>
          <a:prstGeom prst="line">
            <a:avLst/>
          </a:prstGeom>
          <a:noFill/>
          <a:ln w="38100" algn="ctr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8" name="Straight Connector 29"/>
          <p:cNvCxnSpPr>
            <a:cxnSpLocks noChangeShapeType="1"/>
          </p:cNvCxnSpPr>
          <p:nvPr/>
        </p:nvCxnSpPr>
        <p:spPr bwMode="auto">
          <a:xfrm flipH="1" flipV="1">
            <a:off x="5964239" y="2363789"/>
            <a:ext cx="3508375" cy="661987"/>
          </a:xfrm>
          <a:prstGeom prst="line">
            <a:avLst/>
          </a:prstGeom>
          <a:noFill/>
          <a:ln w="38100" algn="ctr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0</TotalTime>
  <Words>1888</Words>
  <Application>WPS Presentation</Application>
  <PresentationFormat>Widescreen</PresentationFormat>
  <Paragraphs>295</Paragraphs>
  <Slides>16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Gill Sans MT</vt:lpstr>
      <vt:lpstr>MS PGothic</vt:lpstr>
      <vt:lpstr>Calibri</vt:lpstr>
      <vt:lpstr>Times</vt:lpstr>
      <vt:lpstr>Impact</vt:lpstr>
      <vt:lpstr>Microsoft YaHei</vt:lpstr>
      <vt:lpstr>Arial Unicode MS</vt:lpstr>
      <vt:lpstr>Times New Roman</vt:lpstr>
      <vt:lpstr>Badge</vt:lpstr>
      <vt:lpstr>Chapter 6</vt:lpstr>
      <vt:lpstr>DoD Model </vt:lpstr>
      <vt:lpstr>TCP/IP Protocol Suite</vt:lpstr>
      <vt:lpstr>Ports</vt:lpstr>
      <vt:lpstr>DHCP Client four-step process</vt:lpstr>
      <vt:lpstr>Transport Layer Protocols</vt:lpstr>
      <vt:lpstr>TCP Segment</vt:lpstr>
      <vt:lpstr>UDP Segment </vt:lpstr>
      <vt:lpstr>TCP and UDP</vt:lpstr>
      <vt:lpstr>Internet/Network Layer Protocols</vt:lpstr>
      <vt:lpstr>IP Header </vt:lpstr>
      <vt:lpstr>ICMP Example</vt:lpstr>
      <vt:lpstr>ARP Example </vt:lpstr>
      <vt:lpstr>Reverse ARP Example </vt:lpstr>
      <vt:lpstr>Data Encapsulation</vt:lpstr>
      <vt:lpstr>Protocol Data Units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</dc:title>
  <dc:creator>Sam Lee</dc:creator>
  <cp:lastModifiedBy>Student</cp:lastModifiedBy>
  <cp:revision>18</cp:revision>
  <dcterms:created xsi:type="dcterms:W3CDTF">2018-10-29T20:44:00Z</dcterms:created>
  <dcterms:modified xsi:type="dcterms:W3CDTF">2022-09-19T23:07:21Z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2913070AEEB44CEB8FEF003E61143F2C</vt:lpwstr>
  </property>
  <property fmtid="{D5CDD505-2E9C-101B-9397-08002B2CF9AE}" pid="3" name="KSOProductBuildVer">
    <vt:lpwstr>1033-11.2.0.11306</vt:lpwstr>
  </property>
</Properties>
</file>