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3" r:id="rId7"/>
    <p:sldId id="259" r:id="rId8"/>
    <p:sldId id="272" r:id="rId9"/>
    <p:sldId id="273" r:id="rId10"/>
    <p:sldId id="274" r:id="rId11"/>
    <p:sldId id="275" r:id="rId12"/>
    <p:sldId id="283" r:id="rId13"/>
    <p:sldId id="287" r:id="rId14"/>
    <p:sldId id="289" r:id="rId15"/>
    <p:sldId id="261" r:id="rId16"/>
    <p:sldId id="260" r:id="rId17"/>
    <p:sldId id="26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58682"/>
  </p:normalViewPr>
  <p:slideViewPr>
    <p:cSldViewPr snapToGrid="0">
      <p:cViewPr varScale="1">
        <p:scale>
          <a:sx n="65" d="100"/>
          <a:sy n="65" d="100"/>
        </p:scale>
        <p:origin x="2368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F1D34-B894-461D-ADDD-840568CAD8A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GSM: cell phone that contains a SIM card, allows you to move your SIM card from phone-to-phone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multiplexing which allowed multiple users to communicate to one tower over the single set of frequencies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CDMA: everyone communicates at the same time using a specific code, codes were used to filter each call on the receiving end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802.11ax: Uses both 2.4 and 5 GHz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Enables more than 35% speed burst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Reduces overhead and latency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Pay attention to the frequencies, data speeds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Connects all wireless devices together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operate as a repeater, switch, or router depending on how its implemented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Has at least one antenna 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Antennas act as both transmitters and receivers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Talk about the difference with the antenna directions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Directional antennas usually provide greater range than Omni-directional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MAC address for the AP is called a BSSID: Basic Service Set Identifier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the same job as a traditional NIC, but it has a radio antenna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mode, the wireless NICs can communicate directly using 802.11 WITHOUT an AP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you need is two wireless NICs and two computers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Bring the computers within 90-100m of each other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Cannot scale out well and is not recommended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NICs communicate only with an AP instead of directly w/ each other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comms go through the AP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Wireless clients appear to the rest of the network as it would on a standard wired host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171450" indent="-1714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Set multiple access points to the same SSID and mobile wireless clients can roam around freely within the same network. 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171450" indent="-1714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This creates an </a:t>
            </a:r>
            <a:r>
              <a:rPr lang="en-US" altLang="en-US" i="1" dirty="0">
                <a:ea typeface="MS PGothic" panose="020B0600070205080204" pitchFamily="34" charset="-128"/>
              </a:rPr>
              <a:t>Extended Service Set ( ESS)) </a:t>
            </a:r>
            <a:r>
              <a:rPr lang="en-US" altLang="en-US" dirty="0">
                <a:ea typeface="MS PGothic" panose="020B0600070205080204" pitchFamily="34" charset="-128"/>
              </a:rPr>
              <a:t>and provides more coverage then a single access point. 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171450" indent="-1714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For users to be able to roam throughout the wireless network from AP to AP without losing their connection to the network, all APs must overlap by at least 10% of their signal.</a:t>
            </a:r>
            <a:endParaRPr lang="en-US" altLang="en-US" dirty="0">
              <a:ea typeface="MS PGothic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E89D1A-0068-4100-B680-525671FFDE9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 stand alone solution, all the APs have a full OS loaded, running, and each must be managed separately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the controller-based system, the APs do not have a full OS running on them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controller and AP split duties; can be called thin APs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an AP has a full OS it is referred to as a thick 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connect your laptop, tablet, media devices, or any gaming device to the Internet at decent speeds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also use your phone as a mobile hotspot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Refrigerators, alarm systems, thermostats, </a:t>
            </a:r>
            <a:r>
              <a:rPr lang="en-US" dirty="0" err="1"/>
              <a:t>etc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 err="1"/>
              <a:t>BlueJacking</a:t>
            </a:r>
            <a:r>
              <a:rPr lang="en-US" dirty="0"/>
              <a:t>: transmits data to the target device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 err="1"/>
              <a:t>BlueSnarfing</a:t>
            </a:r>
            <a:r>
              <a:rPr lang="en-US" dirty="0"/>
              <a:t>: high jacking Bluetooth signals to steal information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NFC: tap to pay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IR: Tv remote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Try to use non-overlapping channels to decrease interference and latency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Different encryption tools to secure your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WEP had extreme vulnerabilities so don’t ever use it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WPA came after and was ended to be a temporary fix until a new successor was created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WPA2 uses CCMP Block Cipher Mode; provides data confidentiality with AES encryption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WPA3 uses GCMP Block Cipher Mode; stronger encryption than WPA2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Rogue APs</a:t>
            </a:r>
            <a:r>
              <a:rPr lang="en-US" dirty="0"/>
              <a:t>: AP’s that connect to your wired infrastructure without your knowledge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Wardriving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involves attackers searching for wireless networks with vulnerabilities while moving around an area in a moving vehicle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Warchalking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is the drawing of symbols in public places to advertise an open Wi-Fi network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9547C-BB6B-4890-9B88-0E58B7103A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Wireless Networking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293" y="382385"/>
            <a:ext cx="10802785" cy="1492132"/>
          </a:xfrm>
        </p:spPr>
        <p:txBody>
          <a:bodyPr/>
          <a:lstStyle/>
          <a:p>
            <a:pPr algn="ctr"/>
            <a:r>
              <a:rPr lang="en-US" dirty="0"/>
              <a:t>Cellular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435272"/>
            <a:ext cx="10444977" cy="4627597"/>
          </a:xfrm>
        </p:spPr>
        <p:txBody>
          <a:bodyPr>
            <a:noAutofit/>
          </a:bodyPr>
          <a:lstStyle/>
          <a:p>
            <a:r>
              <a:rPr lang="en-US" sz="2800" dirty="0"/>
              <a:t>Global System Mobile – GSM</a:t>
            </a:r>
            <a:endParaRPr lang="en-US" sz="2800" dirty="0"/>
          </a:p>
          <a:p>
            <a:pPr lvl="1"/>
            <a:r>
              <a:rPr lang="en-US" sz="2800" dirty="0"/>
              <a:t>SIM Chip holding all the information abut the subscriber</a:t>
            </a:r>
            <a:endParaRPr lang="en-US" sz="2800" dirty="0"/>
          </a:p>
          <a:p>
            <a:pPr lvl="1"/>
            <a:r>
              <a:rPr lang="en-US" sz="2800" dirty="0"/>
              <a:t>Subject to cloning</a:t>
            </a:r>
            <a:endParaRPr lang="en-US" sz="2800" dirty="0"/>
          </a:p>
          <a:p>
            <a:pPr lvl="1"/>
            <a:r>
              <a:rPr lang="en-US" sz="2800" dirty="0"/>
              <a:t>AT&amp;T an T-Mobile</a:t>
            </a:r>
            <a:endParaRPr lang="en-US" sz="2800" dirty="0"/>
          </a:p>
          <a:p>
            <a:r>
              <a:rPr lang="en-US" sz="2800" dirty="0"/>
              <a:t>Code Division Multiple Access – CDMA</a:t>
            </a:r>
            <a:endParaRPr lang="en-US" sz="2800" dirty="0"/>
          </a:p>
          <a:p>
            <a:pPr lvl="1"/>
            <a:r>
              <a:rPr lang="en-US" sz="2800" dirty="0"/>
              <a:t>Uses a unique code for each call and spreads the data across the spectrum</a:t>
            </a:r>
            <a:endParaRPr lang="en-US" sz="2800" dirty="0"/>
          </a:p>
          <a:p>
            <a:pPr lvl="1"/>
            <a:r>
              <a:rPr lang="en-US" sz="2800" dirty="0"/>
              <a:t>Sprint and Verizon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157" y="382385"/>
            <a:ext cx="10893285" cy="1492132"/>
          </a:xfrm>
        </p:spPr>
        <p:txBody>
          <a:bodyPr/>
          <a:lstStyle/>
          <a:p>
            <a:pPr algn="ctr"/>
            <a:r>
              <a:rPr lang="en-US" dirty="0"/>
              <a:t>Wireless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11357"/>
            <a:ext cx="10178322" cy="4468235"/>
          </a:xfrm>
        </p:spPr>
        <p:txBody>
          <a:bodyPr/>
          <a:lstStyle/>
          <a:p>
            <a:r>
              <a:rPr lang="en-US" dirty="0"/>
              <a:t>802.11 Standard from IEEE</a:t>
            </a:r>
            <a:endParaRPr lang="en-US" dirty="0"/>
          </a:p>
          <a:p>
            <a:pPr lvl="1"/>
            <a:r>
              <a:rPr lang="en-US" dirty="0"/>
              <a:t>802.11a – 5GHz</a:t>
            </a:r>
            <a:endParaRPr lang="en-US" dirty="0"/>
          </a:p>
          <a:p>
            <a:pPr lvl="1"/>
            <a:r>
              <a:rPr lang="en-US" dirty="0"/>
              <a:t>802.11b – 2.4GHz</a:t>
            </a:r>
            <a:endParaRPr lang="en-US" dirty="0"/>
          </a:p>
          <a:p>
            <a:pPr lvl="1"/>
            <a:r>
              <a:rPr lang="en-US" dirty="0"/>
              <a:t>802.11g – 2.4GHz</a:t>
            </a:r>
            <a:endParaRPr lang="en-US" dirty="0"/>
          </a:p>
          <a:p>
            <a:pPr lvl="1"/>
            <a:r>
              <a:rPr lang="en-US" dirty="0"/>
              <a:t>802.11n – 2.4GHz/5GHz</a:t>
            </a:r>
            <a:endParaRPr lang="en-US" dirty="0"/>
          </a:p>
          <a:p>
            <a:pPr lvl="1"/>
            <a:r>
              <a:rPr lang="en-US" dirty="0"/>
              <a:t>802.11ac – 5GHz</a:t>
            </a:r>
            <a:endParaRPr lang="en-US" dirty="0"/>
          </a:p>
          <a:p>
            <a:pPr lvl="1"/>
            <a:r>
              <a:rPr lang="en-US" dirty="0"/>
              <a:t>802.11ax – 2.4GHz/5GHz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xplained: Wi-Fi standard evolution -- Grandmetric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05"/>
          <a:stretch>
            <a:fillRect/>
          </a:stretch>
        </p:blipFill>
        <p:spPr bwMode="auto">
          <a:xfrm>
            <a:off x="993913" y="1058635"/>
            <a:ext cx="10900736" cy="474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278" y="382385"/>
            <a:ext cx="10933044" cy="1492132"/>
          </a:xfrm>
        </p:spPr>
        <p:txBody>
          <a:bodyPr/>
          <a:lstStyle/>
          <a:p>
            <a:pPr algn="ctr"/>
            <a:r>
              <a:rPr lang="en-US" dirty="0"/>
              <a:t>Wireless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50505"/>
            <a:ext cx="10178322" cy="4329088"/>
          </a:xfrm>
        </p:spPr>
        <p:txBody>
          <a:bodyPr>
            <a:normAutofit/>
          </a:bodyPr>
          <a:lstStyle/>
          <a:p>
            <a:r>
              <a:rPr lang="en-US" sz="2800" dirty="0"/>
              <a:t>Wireless Access Point (WAP)</a:t>
            </a:r>
            <a:endParaRPr lang="en-US" sz="2800" dirty="0"/>
          </a:p>
          <a:p>
            <a:r>
              <a:rPr lang="en-US" sz="2800" dirty="0"/>
              <a:t>Wireless Network Interface Card (WNIC)</a:t>
            </a:r>
            <a:endParaRPr lang="en-US" sz="2800" dirty="0"/>
          </a:p>
          <a:p>
            <a:r>
              <a:rPr lang="en-US" sz="2800" dirty="0"/>
              <a:t>Independent Basic Service Set (IBSS) – Ad Hoc Network</a:t>
            </a:r>
            <a:endParaRPr lang="en-US" sz="2800" dirty="0"/>
          </a:p>
          <a:p>
            <a:r>
              <a:rPr lang="en-US" sz="2800" dirty="0"/>
              <a:t>Basic Service Set </a:t>
            </a:r>
            <a:endParaRPr lang="en-US" sz="2800" dirty="0"/>
          </a:p>
          <a:p>
            <a:r>
              <a:rPr lang="en-US" sz="2800" dirty="0"/>
              <a:t>Wireless Controller/Wireless Distribution System(WDS)</a:t>
            </a:r>
            <a:endParaRPr lang="en-US" sz="2800" dirty="0"/>
          </a:p>
          <a:p>
            <a:r>
              <a:rPr lang="en-US" sz="2800" dirty="0"/>
              <a:t>Mobile Hot Spot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8"/>
          <p:cNvSpPr>
            <a:spLocks noGrp="1"/>
          </p:cNvSpPr>
          <p:nvPr>
            <p:ph type="title" idx="4294967295"/>
          </p:nvPr>
        </p:nvSpPr>
        <p:spPr>
          <a:xfrm>
            <a:off x="934278" y="119062"/>
            <a:ext cx="10952922" cy="1227137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eaLnBrk="1" hangingPunct="1"/>
            <a:r>
              <a:rPr lang="en-US" altLang="en-US" b="1" dirty="0"/>
              <a:t>Wireless Access Points</a:t>
            </a:r>
            <a:endParaRPr lang="en-US" altLang="en-US" b="1" dirty="0"/>
          </a:p>
        </p:txBody>
      </p:sp>
      <p:sp>
        <p:nvSpPr>
          <p:cNvPr id="21511" name="Rectangle 9"/>
          <p:cNvSpPr>
            <a:spLocks noGrp="1"/>
          </p:cNvSpPr>
          <p:nvPr>
            <p:ph idx="4294967295"/>
          </p:nvPr>
        </p:nvSpPr>
        <p:spPr>
          <a:xfrm>
            <a:off x="6410739" y="2439504"/>
            <a:ext cx="5475287" cy="4418496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/>
            <a:r>
              <a:rPr lang="en-US" altLang="en-US" sz="1800" dirty="0"/>
              <a:t>Wireless networks have a component connecting all wireless devices together, the device is known as a </a:t>
            </a:r>
            <a:r>
              <a:rPr lang="en-US" altLang="en-US" sz="1800" i="1" dirty="0"/>
              <a:t>wireless access point (WAP), </a:t>
            </a:r>
            <a:r>
              <a:rPr lang="en-US" altLang="en-US" sz="1800" dirty="0"/>
              <a:t>or just AP</a:t>
            </a:r>
            <a:r>
              <a:rPr lang="en-US" altLang="en-US" sz="1800" i="1" dirty="0"/>
              <a:t>. </a:t>
            </a:r>
            <a:endParaRPr lang="en-US" altLang="en-US" sz="1800" i="1" dirty="0"/>
          </a:p>
          <a:p>
            <a:pPr eaLnBrk="1" hangingPunct="1"/>
            <a:r>
              <a:rPr lang="en-US" altLang="en-US" sz="1800" dirty="0"/>
              <a:t>Wireless access points have at least one antenna (sometimes two for better reception—called </a:t>
            </a:r>
            <a:r>
              <a:rPr lang="en-US" altLang="en-US" sz="1800" i="1" dirty="0"/>
              <a:t>diversity</a:t>
            </a:r>
            <a:r>
              <a:rPr lang="en-US" altLang="en-US" sz="1800" dirty="0"/>
              <a:t>) and a port to connect them to a wired network.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Antenna</a:t>
            </a:r>
            <a:endParaRPr lang="en-US" altLang="en-US" sz="1800" dirty="0"/>
          </a:p>
          <a:p>
            <a:pPr lvl="1"/>
            <a:r>
              <a:rPr lang="en-US" altLang="en-US" sz="1600" dirty="0"/>
              <a:t>Omni-Directional-Point to multi-point</a:t>
            </a:r>
            <a:endParaRPr lang="en-US" altLang="en-US" sz="1600" dirty="0"/>
          </a:p>
          <a:p>
            <a:pPr lvl="1"/>
            <a:r>
              <a:rPr lang="en-US" altLang="en-US" sz="1600" dirty="0"/>
              <a:t>Directional (Yagi)- Point to point</a:t>
            </a:r>
            <a:endParaRPr lang="en-US" altLang="en-US" sz="1600" dirty="0"/>
          </a:p>
          <a:p>
            <a:pPr lvl="1"/>
            <a:endParaRPr lang="en-US" altLang="en-US" sz="1600" dirty="0"/>
          </a:p>
        </p:txBody>
      </p:sp>
      <p:sp>
        <p:nvSpPr>
          <p:cNvPr id="21513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2151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40" y="2898514"/>
            <a:ext cx="4968560" cy="357848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8"/>
          <p:cNvSpPr>
            <a:spLocks noGrp="1"/>
          </p:cNvSpPr>
          <p:nvPr>
            <p:ph type="title" idx="4294967295"/>
          </p:nvPr>
        </p:nvSpPr>
        <p:spPr>
          <a:xfrm>
            <a:off x="1252330" y="274638"/>
            <a:ext cx="10575235" cy="1143000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pPr eaLnBrk="1" hangingPunct="1"/>
            <a:r>
              <a:rPr lang="en-US" altLang="en-US" sz="3200" b="1" dirty="0"/>
              <a:t>Wireless Network Interface Card (Wireless NIC)</a:t>
            </a:r>
            <a:endParaRPr lang="en-US" altLang="en-US" sz="3200" b="1" dirty="0"/>
          </a:p>
        </p:txBody>
      </p:sp>
      <p:sp>
        <p:nvSpPr>
          <p:cNvPr id="22535" name="Rectangle 9"/>
          <p:cNvSpPr>
            <a:spLocks noGrp="1"/>
          </p:cNvSpPr>
          <p:nvPr>
            <p:ph idx="4294967295"/>
          </p:nvPr>
        </p:nvSpPr>
        <p:spPr>
          <a:xfrm>
            <a:off x="5260768" y="3429000"/>
            <a:ext cx="6400800" cy="140176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en-US" sz="1800" dirty="0"/>
              <a:t>A wireless NIC does the same job as a traditional NIC; but instead of having a socket to plug some cable into, the wireless NIC has a radio antenna. </a:t>
            </a:r>
            <a:endParaRPr lang="en-US" altLang="en-US" sz="1800" dirty="0"/>
          </a:p>
        </p:txBody>
      </p:sp>
      <p:sp>
        <p:nvSpPr>
          <p:cNvPr id="22537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225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330" y="1764506"/>
            <a:ext cx="4008438" cy="413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8"/>
          <p:cNvSpPr>
            <a:spLocks noGrp="1"/>
          </p:cNvSpPr>
          <p:nvPr>
            <p:ph type="title" idx="4294967295"/>
          </p:nvPr>
        </p:nvSpPr>
        <p:spPr>
          <a:xfrm>
            <a:off x="954158" y="-7143"/>
            <a:ext cx="10833652" cy="1143000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eaLnBrk="1" hangingPunct="1"/>
            <a:r>
              <a:rPr lang="en-US" altLang="en-US" dirty="0"/>
              <a:t>Wireless Networks</a:t>
            </a:r>
            <a:endParaRPr lang="en-US" altLang="en-US" dirty="0"/>
          </a:p>
        </p:txBody>
      </p:sp>
      <p:sp>
        <p:nvSpPr>
          <p:cNvPr id="23559" name="Rectangle 9"/>
          <p:cNvSpPr>
            <a:spLocks noGrp="1"/>
          </p:cNvSpPr>
          <p:nvPr>
            <p:ph idx="4294967295"/>
          </p:nvPr>
        </p:nvSpPr>
        <p:spPr>
          <a:xfrm>
            <a:off x="3349625" y="4800600"/>
            <a:ext cx="6632575" cy="2057400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eaLnBrk="1" hangingPunct="1"/>
            <a:r>
              <a:rPr lang="en-US" altLang="en-US" sz="1800" dirty="0"/>
              <a:t>In ad-hoc mode, the wireless devices communicate directly WITHOUT the need for an access point. 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An example of this is two laptops with wireless NICs installed. If both cards were set up to operate in ad-hoc mode, they could connect and transfer files as long as the other network settings, like protocols, were set up to enable this as well. </a:t>
            </a:r>
            <a:endParaRPr lang="en-US" altLang="en-US" sz="1800" dirty="0"/>
          </a:p>
          <a:p>
            <a:pPr lvl="1" eaLnBrk="1" hangingPunct="1"/>
            <a:r>
              <a:rPr lang="en-US" altLang="en-US" sz="1600" b="1" dirty="0"/>
              <a:t>This is an </a:t>
            </a:r>
            <a:r>
              <a:rPr lang="en-US" altLang="en-US" sz="1600" b="1" i="1" dirty="0"/>
              <a:t>independent basic service set (IBSS)</a:t>
            </a:r>
            <a:endParaRPr lang="en-US" altLang="en-US" b="1" dirty="0"/>
          </a:p>
        </p:txBody>
      </p:sp>
      <p:sp>
        <p:nvSpPr>
          <p:cNvPr id="23560" name="Rectangle 11"/>
          <p:cNvSpPr/>
          <p:nvPr/>
        </p:nvSpPr>
        <p:spPr>
          <a:xfrm>
            <a:off x="9220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en-US" sz="1400" dirty="0">
                <a:latin typeface="Times" pitchFamily="-108" charset="0"/>
              </a:rPr>
            </a:fld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23561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23562" name="Text Box 11"/>
          <p:cNvSpPr txBox="1"/>
          <p:nvPr/>
        </p:nvSpPr>
        <p:spPr>
          <a:xfrm>
            <a:off x="3197685" y="1143963"/>
            <a:ext cx="5973110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800" b="1" dirty="0"/>
              <a:t>Ad-Hoc Mode: Independent Basic Service Set (IBSS)</a:t>
            </a:r>
            <a:endParaRPr lang="en-US" altLang="en-US" sz="1800" b="1" dirty="0"/>
          </a:p>
        </p:txBody>
      </p:sp>
      <p:grpSp>
        <p:nvGrpSpPr>
          <p:cNvPr id="20" name="Group 19"/>
          <p:cNvGrpSpPr/>
          <p:nvPr/>
        </p:nvGrpSpPr>
        <p:grpSpPr>
          <a:xfrm>
            <a:off x="4648200" y="1680062"/>
            <a:ext cx="3061394" cy="2866776"/>
            <a:chOff x="5613" y="1639"/>
            <a:chExt cx="5730" cy="577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73" y="3970"/>
              <a:ext cx="1500" cy="15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-2708226" flipH="1">
              <a:off x="7388" y="4427"/>
              <a:ext cx="1842" cy="184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" y="4840"/>
              <a:ext cx="1035" cy="99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8" y="4689"/>
              <a:ext cx="1035" cy="99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3" y="3247"/>
              <a:ext cx="1035" cy="99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" name="Oval 25"/>
            <p:cNvSpPr/>
            <p:nvPr/>
          </p:nvSpPr>
          <p:spPr>
            <a:xfrm>
              <a:off x="5613" y="2659"/>
              <a:ext cx="4770" cy="475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6103" y="1639"/>
              <a:ext cx="4770" cy="475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6573" y="2497"/>
              <a:ext cx="4770" cy="475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80912" y="1367109"/>
            <a:ext cx="6030175" cy="4123781"/>
            <a:chOff x="1393" y="2871"/>
            <a:chExt cx="11999" cy="7794"/>
          </a:xfrm>
        </p:grpSpPr>
        <p:sp>
          <p:nvSpPr>
            <p:cNvPr id="3" name="Oval 2"/>
            <p:cNvSpPr/>
            <p:nvPr/>
          </p:nvSpPr>
          <p:spPr>
            <a:xfrm>
              <a:off x="6430" y="5233"/>
              <a:ext cx="6715" cy="5432"/>
            </a:xfrm>
            <a:prstGeom prst="ellipse">
              <a:avLst/>
            </a:prstGeom>
            <a:solidFill>
              <a:srgbClr val="99FF66"/>
            </a:solidFill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4" name="TextBox 5"/>
            <p:cNvSpPr txBox="1"/>
            <p:nvPr/>
          </p:nvSpPr>
          <p:spPr>
            <a:xfrm>
              <a:off x="9828" y="6152"/>
              <a:ext cx="2269" cy="5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Access point</a:t>
              </a:r>
              <a:endParaRPr lang="en-US" altLang="en-US" sz="16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88" y="8845"/>
              <a:ext cx="1037" cy="995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6" name="Straight Connector 5"/>
            <p:cNvCxnSpPr/>
            <p:nvPr/>
          </p:nvCxnSpPr>
          <p:spPr bwMode="auto">
            <a:xfrm flipH="1">
              <a:off x="4840" y="7268"/>
              <a:ext cx="3860" cy="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auto">
            <a:xfrm flipH="1">
              <a:off x="5053" y="3536"/>
              <a:ext cx="2978" cy="73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78" y="8855"/>
              <a:ext cx="1035" cy="995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9" name="Straight Connector 8"/>
            <p:cNvCxnSpPr/>
            <p:nvPr/>
          </p:nvCxnSpPr>
          <p:spPr bwMode="auto">
            <a:xfrm flipH="1">
              <a:off x="1905" y="4261"/>
              <a:ext cx="3008" cy="1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auto">
            <a:xfrm flipH="1" flipV="1">
              <a:off x="4840" y="4086"/>
              <a:ext cx="50" cy="3233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7493" y="2871"/>
              <a:ext cx="1987" cy="1180"/>
              <a:chOff x="458258" y="4635140"/>
              <a:chExt cx="1261978" cy="750365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8258" y="4635140"/>
                <a:ext cx="1261978" cy="75036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0" name="TextBox 14"/>
              <p:cNvSpPr txBox="1"/>
              <p:nvPr/>
            </p:nvSpPr>
            <p:spPr>
              <a:xfrm>
                <a:off x="648416" y="4856573"/>
                <a:ext cx="1012040" cy="35883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Internet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3" y="3536"/>
              <a:ext cx="955" cy="13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8" y="3753"/>
              <a:ext cx="1390" cy="82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8" y="5633"/>
              <a:ext cx="1530" cy="6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55" y="6128"/>
              <a:ext cx="1428" cy="15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43" y="7385"/>
              <a:ext cx="1037" cy="995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7" name="Straight Arrow Connector 16"/>
            <p:cNvCxnSpPr/>
            <p:nvPr/>
          </p:nvCxnSpPr>
          <p:spPr>
            <a:xfrm flipH="1">
              <a:off x="8310" y="7625"/>
              <a:ext cx="170" cy="1220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ysDot"/>
              <a:headEnd type="none" w="med" len="med"/>
              <a:tailEnd type="triangle" w="med" len="med"/>
            </a:ln>
          </p:spPr>
        </p:cxnSp>
        <p:cxnSp>
          <p:nvCxnSpPr>
            <p:cNvPr id="18" name="Straight Arrow Connector 17"/>
            <p:cNvCxnSpPr/>
            <p:nvPr/>
          </p:nvCxnSpPr>
          <p:spPr>
            <a:xfrm flipV="1">
              <a:off x="8630" y="7719"/>
              <a:ext cx="160" cy="1095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ysDot"/>
              <a:headEnd type="none" w="med" len="med"/>
              <a:tailEnd type="triangle" w="med" len="med"/>
            </a:ln>
          </p:spPr>
        </p:cxnSp>
        <p:cxnSp>
          <p:nvCxnSpPr>
            <p:cNvPr id="19" name="Straight Arrow Connector 18"/>
            <p:cNvCxnSpPr/>
            <p:nvPr/>
          </p:nvCxnSpPr>
          <p:spPr>
            <a:xfrm>
              <a:off x="9380" y="7794"/>
              <a:ext cx="368" cy="1120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ysDot"/>
              <a:headEnd type="none" w="med" len="med"/>
              <a:tailEnd type="triangle" w="med" len="med"/>
            </a:ln>
          </p:spPr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9708" y="7702"/>
              <a:ext cx="320" cy="1092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ysDot"/>
              <a:headEnd type="none" w="med" len="med"/>
              <a:tailEnd type="triangle" w="med" len="med"/>
            </a:ln>
          </p:spPr>
        </p:cxnSp>
        <p:cxnSp>
          <p:nvCxnSpPr>
            <p:cNvPr id="21" name="Straight Arrow Connector 20"/>
            <p:cNvCxnSpPr/>
            <p:nvPr/>
          </p:nvCxnSpPr>
          <p:spPr>
            <a:xfrm>
              <a:off x="9933" y="7549"/>
              <a:ext cx="825" cy="280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ysDot"/>
              <a:headEnd type="none" w="med" len="med"/>
              <a:tailEnd type="triangle" w="med" len="med"/>
            </a:ln>
          </p:spPr>
        </p:cxnSp>
        <p:cxnSp>
          <p:nvCxnSpPr>
            <p:cNvPr id="22" name="Straight Arrow Connector 21"/>
            <p:cNvCxnSpPr/>
            <p:nvPr/>
          </p:nvCxnSpPr>
          <p:spPr>
            <a:xfrm flipH="1" flipV="1">
              <a:off x="10028" y="7289"/>
              <a:ext cx="892" cy="325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ysDot"/>
              <a:headEnd type="none" w="med" len="med"/>
              <a:tailEnd type="triangle" w="med" len="med"/>
            </a:ln>
          </p:spPr>
        </p:cxnSp>
        <p:sp>
          <p:nvSpPr>
            <p:cNvPr id="23" name="TextBox 27"/>
            <p:cNvSpPr txBox="1"/>
            <p:nvPr/>
          </p:nvSpPr>
          <p:spPr>
            <a:xfrm>
              <a:off x="5600" y="5411"/>
              <a:ext cx="810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DS*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V="1">
              <a:off x="5788" y="5861"/>
              <a:ext cx="0" cy="1127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5" name="Straight Connector 24"/>
            <p:cNvCxnSpPr/>
            <p:nvPr/>
          </p:nvCxnSpPr>
          <p:spPr>
            <a:xfrm>
              <a:off x="5768" y="6981"/>
              <a:ext cx="2520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6" name="Straight Arrow Connector 25"/>
            <p:cNvCxnSpPr/>
            <p:nvPr/>
          </p:nvCxnSpPr>
          <p:spPr>
            <a:xfrm flipV="1">
              <a:off x="6048" y="6783"/>
              <a:ext cx="2240" cy="3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7" name="Straight Connector 26"/>
            <p:cNvCxnSpPr/>
            <p:nvPr/>
          </p:nvCxnSpPr>
          <p:spPr>
            <a:xfrm>
              <a:off x="6065" y="5938"/>
              <a:ext cx="0" cy="87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8" name="TextBox 32"/>
            <p:cNvSpPr txBox="1"/>
            <p:nvPr/>
          </p:nvSpPr>
          <p:spPr>
            <a:xfrm>
              <a:off x="10648" y="8463"/>
              <a:ext cx="2744" cy="5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Wireless clients</a:t>
              </a:r>
              <a:endParaRPr lang="en-US" altLang="en-US" sz="16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3" name="Rectangle 8"/>
          <p:cNvSpPr txBox="1"/>
          <p:nvPr/>
        </p:nvSpPr>
        <p:spPr>
          <a:xfrm>
            <a:off x="495992" y="172257"/>
            <a:ext cx="10833652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Wireless Networks</a:t>
            </a:r>
            <a:endParaRPr lang="en-US" altLang="en-US" dirty="0"/>
          </a:p>
        </p:txBody>
      </p:sp>
      <p:sp>
        <p:nvSpPr>
          <p:cNvPr id="34" name="Text Box 11"/>
          <p:cNvSpPr txBox="1"/>
          <p:nvPr/>
        </p:nvSpPr>
        <p:spPr>
          <a:xfrm>
            <a:off x="4777041" y="5697609"/>
            <a:ext cx="514115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800" b="1" dirty="0"/>
              <a:t>Infrastructure Mode: Basic Service Set (BSS)</a:t>
            </a:r>
            <a:endParaRPr lang="en-US" altLang="en-US" sz="1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894522" y="296902"/>
            <a:ext cx="11297478" cy="1143000"/>
          </a:xfrm>
          <a:noFill/>
        </p:spPr>
        <p:txBody>
          <a:bodyPr/>
          <a:lstStyle/>
          <a:p>
            <a:pPr algn="ctr" eaLnBrk="1" hangingPunct="1"/>
            <a:r>
              <a:rPr lang="en-US" altLang="en-US" dirty="0">
                <a:ea typeface="MS PGothic" panose="020B0600070205080204" pitchFamily="34" charset="-128"/>
              </a:rPr>
              <a:t>Wireless Networks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37895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itchFamily="-108" charset="0"/>
            </a:endParaRPr>
          </a:p>
        </p:txBody>
      </p:sp>
      <p:sp>
        <p:nvSpPr>
          <p:cNvPr id="37896" name="Text Box 10"/>
          <p:cNvSpPr txBox="1">
            <a:spLocks noChangeArrowheads="1"/>
          </p:cNvSpPr>
          <p:nvPr/>
        </p:nvSpPr>
        <p:spPr bwMode="auto">
          <a:xfrm>
            <a:off x="3599305" y="1275627"/>
            <a:ext cx="546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Infrastructure Mode: Extended Service Set (ESS)</a:t>
            </a:r>
            <a:endParaRPr lang="en-US" altLang="en-US" sz="1800" b="1" dirty="0"/>
          </a:p>
        </p:txBody>
      </p:sp>
      <p:sp>
        <p:nvSpPr>
          <p:cNvPr id="37915" name="TextBox 22"/>
          <p:cNvSpPr txBox="1">
            <a:spLocks noChangeArrowheads="1"/>
          </p:cNvSpPr>
          <p:nvPr/>
        </p:nvSpPr>
        <p:spPr bwMode="auto">
          <a:xfrm>
            <a:off x="8132764" y="4506914"/>
            <a:ext cx="1044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SSID Sales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16682" y="1781968"/>
            <a:ext cx="8035964" cy="4685943"/>
            <a:chOff x="2013436" y="1792288"/>
            <a:chExt cx="7454910" cy="4523392"/>
          </a:xfrm>
        </p:grpSpPr>
        <p:sp>
          <p:nvSpPr>
            <p:cNvPr id="12" name="Oval 11"/>
            <p:cNvSpPr/>
            <p:nvPr/>
          </p:nvSpPr>
          <p:spPr bwMode="auto">
            <a:xfrm>
              <a:off x="5177333" y="2081819"/>
              <a:ext cx="4291013" cy="423386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algn="ctr">
              <a:solidFill>
                <a:srgbClr val="0000FF"/>
              </a:solidFill>
              <a:round/>
            </a:ln>
          </p:spPr>
          <p:txBody>
            <a:bodyPr wrap="square" lIns="82124" tIns="41061" rIns="82124" bIns="41061" anchor="ctr">
              <a:spAutoFit/>
            </a:bodyPr>
            <a:lstStyle/>
            <a:p>
              <a:pPr algn="ctr" defTabSz="814705">
                <a:lnSpc>
                  <a:spcPct val="90000"/>
                </a:lnSpc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7898" name="Oval 5"/>
            <p:cNvSpPr>
              <a:spLocks noChangeArrowheads="1"/>
            </p:cNvSpPr>
            <p:nvPr/>
          </p:nvSpPr>
          <p:spPr bwMode="auto">
            <a:xfrm>
              <a:off x="2013436" y="2088357"/>
              <a:ext cx="4206390" cy="4227323"/>
            </a:xfrm>
            <a:prstGeom prst="ellipse">
              <a:avLst/>
            </a:prstGeom>
            <a:solidFill>
              <a:srgbClr val="99FF66">
                <a:alpha val="63136"/>
              </a:srgbClr>
            </a:solidFill>
            <a:ln w="28575" algn="ctr">
              <a:solidFill>
                <a:srgbClr val="0000FF"/>
              </a:solidFill>
              <a:round/>
            </a:ln>
          </p:spPr>
          <p:txBody>
            <a:bodyPr wrap="square" lIns="82124" tIns="41061" rIns="82124" bIns="41061" anchor="ctr">
              <a:spAutoFit/>
            </a:bodyPr>
            <a:lstStyle>
              <a:lvl1pPr defTabSz="8147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8147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8147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8147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8147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8147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8147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8147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8147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pic>
          <p:nvPicPr>
            <p:cNvPr id="37899" name="Picture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4288" y="4179888"/>
              <a:ext cx="9144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0" name="Picture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9888" y="4179888"/>
              <a:ext cx="9144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1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625" y="4764088"/>
              <a:ext cx="658813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2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075" y="4764088"/>
              <a:ext cx="658813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3" name="Picture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4463" y="4764088"/>
              <a:ext cx="658812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4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4288" y="4764088"/>
              <a:ext cx="658812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5" name="Picture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0663" y="2617788"/>
              <a:ext cx="658812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1" name="Straight Connector 20"/>
            <p:cNvCxnSpPr/>
            <p:nvPr/>
          </p:nvCxnSpPr>
          <p:spPr bwMode="auto">
            <a:xfrm flipH="1">
              <a:off x="2197100" y="3792538"/>
              <a:ext cx="6946900" cy="34925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37899" idx="0"/>
            </p:cNvCxnSpPr>
            <p:nvPr/>
          </p:nvCxnSpPr>
          <p:spPr bwMode="auto">
            <a:xfrm flipH="1" flipV="1">
              <a:off x="4278313" y="3811588"/>
              <a:ext cx="3175" cy="36830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auto">
            <a:xfrm flipH="1" flipV="1">
              <a:off x="7286625" y="3792538"/>
              <a:ext cx="4763" cy="37465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 flipV="1">
              <a:off x="2339975" y="2306638"/>
              <a:ext cx="3175" cy="1546225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7910" name="Picture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8688" y="1824038"/>
              <a:ext cx="606425" cy="857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1" name="TextBox 18"/>
            <p:cNvSpPr txBox="1">
              <a:spLocks noChangeArrowheads="1"/>
            </p:cNvSpPr>
            <p:nvPr/>
          </p:nvSpPr>
          <p:spPr bwMode="auto">
            <a:xfrm>
              <a:off x="3541713" y="2509838"/>
              <a:ext cx="1030287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alibri" panose="020F0502020204030204" pitchFamily="34" charset="0"/>
                </a:rPr>
                <a:t>Channel 1</a:t>
              </a:r>
              <a:endParaRPr lang="en-US" altLang="en-US" sz="1600" b="1">
                <a:latin typeface="Calibri" panose="020F0502020204030204" pitchFamily="34" charset="0"/>
              </a:endParaRPr>
            </a:p>
          </p:txBody>
        </p:sp>
        <p:sp>
          <p:nvSpPr>
            <p:cNvPr id="37912" name="TextBox 19"/>
            <p:cNvSpPr txBox="1">
              <a:spLocks noChangeArrowheads="1"/>
            </p:cNvSpPr>
            <p:nvPr/>
          </p:nvSpPr>
          <p:spPr bwMode="auto">
            <a:xfrm>
              <a:off x="6597650" y="2484438"/>
              <a:ext cx="1030288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Channel 6</a:t>
              </a:r>
              <a:endParaRPr lang="en-US" altLang="en-US" sz="16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3" name="TextBox 20"/>
            <p:cNvSpPr txBox="1">
              <a:spLocks noChangeArrowheads="1"/>
            </p:cNvSpPr>
            <p:nvPr/>
          </p:nvSpPr>
          <p:spPr bwMode="auto">
            <a:xfrm>
              <a:off x="2519363" y="3538538"/>
              <a:ext cx="1412875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alibri" panose="020F0502020204030204" pitchFamily="34" charset="0"/>
                </a:rPr>
                <a:t>LAN Backbone</a:t>
              </a:r>
              <a:endParaRPr lang="en-US" altLang="en-US" sz="1600" b="1">
                <a:latin typeface="Calibri" panose="020F0502020204030204" pitchFamily="34" charset="0"/>
              </a:endParaRPr>
            </a:p>
          </p:txBody>
        </p:sp>
        <p:sp>
          <p:nvSpPr>
            <p:cNvPr id="37914" name="TextBox 21"/>
            <p:cNvSpPr txBox="1">
              <a:spLocks noChangeArrowheads="1"/>
            </p:cNvSpPr>
            <p:nvPr/>
          </p:nvSpPr>
          <p:spPr bwMode="auto">
            <a:xfrm>
              <a:off x="3706813" y="4513263"/>
              <a:ext cx="1042987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alibri" panose="020F0502020204030204" pitchFamily="34" charset="0"/>
                </a:rPr>
                <a:t>SSID Sales</a:t>
              </a:r>
              <a:endParaRPr lang="en-US" altLang="en-US" sz="1600" b="1">
                <a:latin typeface="Calibri" panose="020F0502020204030204" pitchFamily="34" charset="0"/>
              </a:endParaRPr>
            </a:p>
          </p:txBody>
        </p:sp>
        <p:sp>
          <p:nvSpPr>
            <p:cNvPr id="37916" name="TextBox 23"/>
            <p:cNvSpPr txBox="1">
              <a:spLocks noChangeArrowheads="1"/>
            </p:cNvSpPr>
            <p:nvPr/>
          </p:nvSpPr>
          <p:spPr bwMode="auto">
            <a:xfrm rot="16200000">
              <a:off x="5175250" y="4165600"/>
              <a:ext cx="1092200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Overlapping</a:t>
              </a:r>
              <a:endPara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20%</a:t>
              </a:r>
              <a:endPara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7" name="TextBox 24"/>
            <p:cNvSpPr txBox="1">
              <a:spLocks noChangeArrowheads="1"/>
            </p:cNvSpPr>
            <p:nvPr/>
          </p:nvSpPr>
          <p:spPr bwMode="auto">
            <a:xfrm>
              <a:off x="3335338" y="5459413"/>
              <a:ext cx="1506537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alibri" panose="020F0502020204030204" pitchFamily="34" charset="0"/>
                </a:rPr>
                <a:t>Wireless clients</a:t>
              </a:r>
              <a:endParaRPr lang="en-US" altLang="en-US" sz="1600" b="1">
                <a:latin typeface="Calibri" panose="020F0502020204030204" pitchFamily="34" charset="0"/>
              </a:endParaRPr>
            </a:p>
          </p:txBody>
        </p:sp>
        <p:sp>
          <p:nvSpPr>
            <p:cNvPr id="37918" name="TextBox 25"/>
            <p:cNvSpPr txBox="1">
              <a:spLocks noChangeArrowheads="1"/>
            </p:cNvSpPr>
            <p:nvPr/>
          </p:nvSpPr>
          <p:spPr bwMode="auto">
            <a:xfrm>
              <a:off x="6592888" y="5434013"/>
              <a:ext cx="1504950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Wireless clients</a:t>
              </a:r>
              <a:endParaRPr lang="en-US" altLang="en-US" sz="16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9" name="TextBox 26"/>
            <p:cNvSpPr txBox="1">
              <a:spLocks noChangeArrowheads="1"/>
            </p:cNvSpPr>
            <p:nvPr/>
          </p:nvSpPr>
          <p:spPr bwMode="auto">
            <a:xfrm>
              <a:off x="3328988" y="1795463"/>
              <a:ext cx="1446212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“Wireless Cell”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37920" name="TextBox 27"/>
            <p:cNvSpPr txBox="1">
              <a:spLocks noChangeArrowheads="1"/>
            </p:cNvSpPr>
            <p:nvPr/>
          </p:nvSpPr>
          <p:spPr bwMode="auto">
            <a:xfrm>
              <a:off x="6488113" y="1792288"/>
              <a:ext cx="1447800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alibri" panose="020F0502020204030204" pitchFamily="34" charset="0"/>
                </a:rPr>
                <a:t>“Wireless Cell”</a:t>
              </a:r>
              <a:endParaRPr lang="en-US" altLang="en-US" sz="1600" b="1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3475" y="1897064"/>
            <a:ext cx="6991350" cy="442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Rectangle 2"/>
          <p:cNvSpPr/>
          <p:nvPr/>
        </p:nvSpPr>
        <p:spPr>
          <a:xfrm>
            <a:off x="3613150" y="531811"/>
            <a:ext cx="45720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400" dirty="0"/>
              <a:t>Standalone and controller-based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/>
          <p:nvPr/>
        </p:nvSpPr>
        <p:spPr>
          <a:xfrm>
            <a:off x="1401763" y="328613"/>
            <a:ext cx="45720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914400" indent="0" eaLnBrk="1" hangingPunct="1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en-US" sz="2400" b="1" dirty="0"/>
              <a:t>Figure 12.15 Mobile Hotspot</a:t>
            </a:r>
            <a:endParaRPr lang="en-US" altLang="en-US" sz="2400" b="1" dirty="0"/>
          </a:p>
        </p:txBody>
      </p:sp>
      <p:pic>
        <p:nvPicPr>
          <p:cNvPr id="3072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1514" y="2395539"/>
            <a:ext cx="3228975" cy="2085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2385"/>
            <a:ext cx="10992678" cy="1492132"/>
          </a:xfrm>
        </p:spPr>
        <p:txBody>
          <a:bodyPr/>
          <a:lstStyle/>
          <a:p>
            <a:pPr algn="ctr"/>
            <a:r>
              <a:rPr lang="en-US" dirty="0"/>
              <a:t>Internet of Things (IOT)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10749"/>
            <a:ext cx="10178322" cy="4368844"/>
          </a:xfrm>
        </p:spPr>
        <p:txBody>
          <a:bodyPr>
            <a:normAutofit/>
          </a:bodyPr>
          <a:lstStyle/>
          <a:p>
            <a:r>
              <a:rPr lang="en-US" sz="2800" dirty="0"/>
              <a:t>What is IOT</a:t>
            </a:r>
            <a:endParaRPr lang="en-US" sz="2800" dirty="0"/>
          </a:p>
          <a:p>
            <a:r>
              <a:rPr lang="en-US" sz="2800" dirty="0"/>
              <a:t>Bluetooth</a:t>
            </a:r>
            <a:endParaRPr lang="en-US" sz="2800" dirty="0"/>
          </a:p>
          <a:p>
            <a:pPr lvl="1"/>
            <a:r>
              <a:rPr lang="en-US" sz="2800" dirty="0" err="1"/>
              <a:t>BlueJacking</a:t>
            </a:r>
            <a:endParaRPr lang="en-US" sz="2800" dirty="0"/>
          </a:p>
          <a:p>
            <a:pPr lvl="1"/>
            <a:r>
              <a:rPr lang="en-US" sz="2800" dirty="0" err="1"/>
              <a:t>BlueSnarfing</a:t>
            </a:r>
            <a:endParaRPr lang="en-US" sz="2800" dirty="0"/>
          </a:p>
          <a:p>
            <a:r>
              <a:rPr lang="en-US" sz="2800" dirty="0"/>
              <a:t>Near Field Communication (NFC)</a:t>
            </a:r>
            <a:endParaRPr lang="en-US" sz="2800" dirty="0"/>
          </a:p>
          <a:p>
            <a:r>
              <a:rPr lang="en-US" sz="2800" dirty="0"/>
              <a:t>Infrared (IR)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13" y="382385"/>
            <a:ext cx="10914753" cy="1492132"/>
          </a:xfrm>
        </p:spPr>
        <p:txBody>
          <a:bodyPr/>
          <a:lstStyle/>
          <a:p>
            <a:pPr algn="ctr"/>
            <a:r>
              <a:rPr lang="en-US" dirty="0"/>
              <a:t>Implementing WIFI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90261"/>
            <a:ext cx="10178322" cy="4289331"/>
          </a:xfrm>
        </p:spPr>
        <p:txBody>
          <a:bodyPr>
            <a:noAutofit/>
          </a:bodyPr>
          <a:lstStyle/>
          <a:p>
            <a:r>
              <a:rPr lang="en-US" sz="2800" dirty="0"/>
              <a:t>Placement</a:t>
            </a:r>
            <a:endParaRPr lang="en-US" sz="2800" dirty="0"/>
          </a:p>
          <a:p>
            <a:r>
              <a:rPr lang="en-US" sz="2800" dirty="0"/>
              <a:t>Channels</a:t>
            </a:r>
            <a:endParaRPr lang="en-US" sz="2800" dirty="0"/>
          </a:p>
          <a:p>
            <a:pPr lvl="1"/>
            <a:r>
              <a:rPr lang="en-US" sz="2800" dirty="0"/>
              <a:t>Free channels are 1, 6, 11</a:t>
            </a:r>
            <a:endParaRPr lang="en-US" sz="2800" dirty="0"/>
          </a:p>
          <a:p>
            <a:r>
              <a:rPr lang="en-US" sz="2800" dirty="0"/>
              <a:t>Password</a:t>
            </a:r>
            <a:endParaRPr lang="en-US" sz="2800" dirty="0"/>
          </a:p>
          <a:p>
            <a:pPr lvl="1"/>
            <a:r>
              <a:rPr lang="en-US" sz="2800" dirty="0"/>
              <a:t>WEP</a:t>
            </a:r>
            <a:endParaRPr lang="en-US" sz="2800" dirty="0"/>
          </a:p>
          <a:p>
            <a:pPr lvl="1"/>
            <a:r>
              <a:rPr lang="en-US" sz="2800" dirty="0"/>
              <a:t>WPA</a:t>
            </a:r>
            <a:endParaRPr lang="en-US" sz="2800" dirty="0"/>
          </a:p>
          <a:p>
            <a:pPr lvl="1"/>
            <a:r>
              <a:rPr lang="en-US" sz="2800" dirty="0"/>
              <a:t>WPA2</a:t>
            </a:r>
            <a:endParaRPr lang="en-US" sz="2800" dirty="0"/>
          </a:p>
        </p:txBody>
      </p:sp>
      <p:pic>
        <p:nvPicPr>
          <p:cNvPr id="4" name="Picture 2" descr="https://igscomputers.co.uk/wp-content/uploads/2015/04/wifi-channels-1-6-11-1024x21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6051" y="3766678"/>
            <a:ext cx="8622615" cy="183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035" y="382385"/>
            <a:ext cx="10455965" cy="1492132"/>
          </a:xfrm>
        </p:spPr>
        <p:txBody>
          <a:bodyPr/>
          <a:lstStyle/>
          <a:p>
            <a:pPr algn="ctr"/>
            <a:r>
              <a:rPr lang="en-US" dirty="0"/>
              <a:t>Wireless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856" y="1632204"/>
            <a:ext cx="10178322" cy="3593591"/>
          </a:xfrm>
        </p:spPr>
        <p:txBody>
          <a:bodyPr/>
          <a:lstStyle/>
          <a:p>
            <a:r>
              <a:rPr lang="en-US" sz="2800" dirty="0"/>
              <a:t>Rogue Aps</a:t>
            </a:r>
            <a:endParaRPr lang="en-US" sz="2800" dirty="0"/>
          </a:p>
          <a:p>
            <a:r>
              <a:rPr lang="en-US" sz="2800" dirty="0"/>
              <a:t>Denial of Service (DOS)</a:t>
            </a:r>
            <a:endParaRPr lang="en-US" sz="2800" dirty="0"/>
          </a:p>
          <a:p>
            <a:r>
              <a:rPr lang="en-US" sz="2800" dirty="0"/>
              <a:t>War Driving</a:t>
            </a:r>
            <a:endParaRPr lang="en-US" sz="2800" dirty="0"/>
          </a:p>
          <a:p>
            <a:r>
              <a:rPr lang="en-US" sz="2800" dirty="0"/>
              <a:t>War Chalking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2314</Words>
  <Application>WPS Presentation</Application>
  <PresentationFormat>Widescreen</PresentationFormat>
  <Paragraphs>124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Gill Sans MT</vt:lpstr>
      <vt:lpstr>MS PGothic</vt:lpstr>
      <vt:lpstr>Times</vt:lpstr>
      <vt:lpstr>Calibri</vt:lpstr>
      <vt:lpstr>Impact</vt:lpstr>
      <vt:lpstr>Microsoft YaHei</vt:lpstr>
      <vt:lpstr>Arial Unicode MS</vt:lpstr>
      <vt:lpstr>Times New Roman</vt:lpstr>
      <vt:lpstr>Badge</vt:lpstr>
      <vt:lpstr>Chapter 12</vt:lpstr>
      <vt:lpstr>Cellular Technology</vt:lpstr>
      <vt:lpstr>Wireless Technology</vt:lpstr>
      <vt:lpstr>PowerPoint 演示文稿</vt:lpstr>
      <vt:lpstr>Wireless Terminology</vt:lpstr>
      <vt:lpstr>Wireless Access Points</vt:lpstr>
      <vt:lpstr>Wireless Network Interface Card (Wireless NIC)</vt:lpstr>
      <vt:lpstr>Wireless Networks</vt:lpstr>
      <vt:lpstr>PowerPoint 演示文稿</vt:lpstr>
      <vt:lpstr>Wireless Networks</vt:lpstr>
      <vt:lpstr>PowerPoint 演示文稿</vt:lpstr>
      <vt:lpstr>PowerPoint 演示文稿</vt:lpstr>
      <vt:lpstr>Internet of Things (IOT)</vt:lpstr>
      <vt:lpstr>Implementing WIFI</vt:lpstr>
      <vt:lpstr>Wireless Security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</dc:title>
  <dc:creator>Student</dc:creator>
  <cp:lastModifiedBy>Student</cp:lastModifiedBy>
  <cp:revision>20</cp:revision>
  <dcterms:created xsi:type="dcterms:W3CDTF">2018-10-31T21:14:00Z</dcterms:created>
  <dcterms:modified xsi:type="dcterms:W3CDTF">2022-09-21T20:21:17Z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F479BD3E24C6406C881613BC5765CD97</vt:lpwstr>
  </property>
  <property fmtid="{D5CDD505-2E9C-101B-9397-08002B2CF9AE}" pid="3" name="KSOProductBuildVer">
    <vt:lpwstr>1033-11.2.0.11306</vt:lpwstr>
  </property>
</Properties>
</file>