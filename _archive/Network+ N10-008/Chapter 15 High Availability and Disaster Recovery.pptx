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3" r:id="rId1"/>
  </p:sldMasterIdLst>
  <p:notesMasterIdLst>
    <p:notesMasterId r:id="rId12"/>
  </p:notesMasterIdLst>
  <p:sldIdLst>
    <p:sldId id="256" r:id="rId2"/>
    <p:sldId id="259" r:id="rId3"/>
    <p:sldId id="359" r:id="rId4"/>
    <p:sldId id="301" r:id="rId5"/>
    <p:sldId id="360" r:id="rId6"/>
    <p:sldId id="302" r:id="rId7"/>
    <p:sldId id="323" r:id="rId8"/>
    <p:sldId id="361" r:id="rId9"/>
    <p:sldId id="362" r:id="rId10"/>
    <p:sldId id="3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3" autoAdjust="0"/>
    <p:restoredTop sz="58947"/>
  </p:normalViewPr>
  <p:slideViewPr>
    <p:cSldViewPr snapToGrid="0">
      <p:cViewPr varScale="1">
        <p:scale>
          <a:sx n="65" d="100"/>
          <a:sy n="65" d="100"/>
        </p:scale>
        <p:origin x="2976" y="19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A6EFF-D630-4993-A01D-3CBF684A5F3B}" type="datetimeFigureOut">
              <a:rPr lang="en-US" smtClean="0"/>
              <a:t>9/21/22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DC5D44-777C-4A72-8654-D57D84B897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2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u="sng" dirty="0"/>
              <a:t>Multipathing</a:t>
            </a:r>
            <a:r>
              <a:rPr lang="en-US" b="0" u="none" dirty="0"/>
              <a:t>: </a:t>
            </a:r>
            <a:r>
              <a:rPr lang="en-US" dirty="0"/>
              <a:t>provides a backup path in case the preferred connection goes down; connects each NIC to its own switch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i="0" u="sng" dirty="0"/>
              <a:t>NIC teaming</a:t>
            </a:r>
            <a:r>
              <a:rPr lang="en-US" b="0" i="0" u="none" dirty="0"/>
              <a:t>: </a:t>
            </a:r>
            <a:r>
              <a:rPr lang="en-US" b="0" u="none" dirty="0"/>
              <a:t>provides</a:t>
            </a:r>
            <a:r>
              <a:rPr lang="en-US" dirty="0"/>
              <a:t> Load Balancing Fail Over, redundant paths and combines bandwidth, very useful in the cloud or when using virtual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Multiple physical NICs that act as one massive NIC; they send multicasts messages to each 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C5D44-777C-4A72-8654-D57D84B897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75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Host A and Host B have multiple NICs and multiple connections through multiple switches and are mapped to multiple storage processors as well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High fault-tolerance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C5D44-777C-4A72-8654-D57D84B897A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28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Switch stacking</a:t>
            </a:r>
            <a:r>
              <a:rPr lang="en-US" dirty="0"/>
              <a:t>: process of connecting multiple switches together and managing them as a single switch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Layer 2 and layer 3 protocols present the entire stack as a single entity to the network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Has one active switch and one standby switch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Switch Clustering</a:t>
            </a:r>
            <a:r>
              <a:rPr lang="en-US" dirty="0"/>
              <a:t>: set of connected and cluster-capable switches that managed as a single entity without stack cables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Uses CMP (Cluster Management Protocol)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One switch plays the role of cluster command switch, and the other switches are cluster member switches managed by the command switch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C5D44-777C-4A72-8654-D57D84B897A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50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Provides first-hop redundancy; gives you a way to configure more than one physical router to appear as if it were a single logical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C5D44-777C-4A72-8654-D57D84B897A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75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UPS:</a:t>
            </a:r>
            <a:r>
              <a:rPr lang="en-US" b="0" u="none" dirty="0"/>
              <a:t> short-term backup power</a:t>
            </a:r>
            <a:endParaRPr lang="en-US" b="1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PDU</a:t>
            </a:r>
            <a:r>
              <a:rPr lang="en-US" dirty="0"/>
              <a:t>: means of distributing power from the input to a plurality of outlets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Includes circuit breakers and power monitoring panels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Generator</a:t>
            </a:r>
            <a:r>
              <a:rPr lang="en-US" dirty="0"/>
              <a:t>: long-term backup power; amount of backup time supplied is limited only by the amount of fuel you keep on hand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HVAC</a:t>
            </a:r>
            <a:r>
              <a:rPr lang="en-US" dirty="0"/>
              <a:t>: support the maintenance of computing equipment and infrastructure devices, integrate it into the fire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Fire suppression</a:t>
            </a:r>
            <a:r>
              <a:rPr lang="en-US" dirty="0"/>
              <a:t>: fire extinguishers, wet pipe systems, dry pipe systems,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C5D44-777C-4A72-8654-D57D84B897A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14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Hot site</a:t>
            </a:r>
            <a:r>
              <a:rPr lang="en-US" dirty="0"/>
              <a:t>: quickest recovery, most expensive, always ready to go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Cold site</a:t>
            </a:r>
            <a:r>
              <a:rPr lang="en-US" dirty="0"/>
              <a:t>: Only contains electrical and communication wiring, AC, plumbing, and raised flooring; slowest recovery, but the cheapest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Warm site</a:t>
            </a:r>
            <a:r>
              <a:rPr lang="en-US" dirty="0"/>
              <a:t>: In between the hot and cold site, widely implemented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Cloud site</a:t>
            </a:r>
            <a:r>
              <a:rPr lang="en-US" dirty="0"/>
              <a:t>: an extension of cloud backup services; sites that mimic your on-premises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C5D44-777C-4A72-8654-D57D84B897A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262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Multiple ISP’s/Diverse paths: Protect against a single ISP failure by setting up a path to each from a single router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C5D44-777C-4A72-8654-D57D84B897A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11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HSRP</a:t>
            </a:r>
            <a:r>
              <a:rPr lang="en-US" dirty="0"/>
              <a:t>: defines a standby group, and each standby group that you define includes an active router, a standby router, a virtual router, and any other routers that may be attached to the subnet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Problem is only one router is active and you have two or more routers in standby mode, which isn’t cost effective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VRRP</a:t>
            </a:r>
            <a:r>
              <a:rPr lang="en-US" dirty="0"/>
              <a:t>: has one master router and one or more backup routers and it’s the open standard version of HSRP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C5D44-777C-4A72-8654-D57D84B897A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73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MTTR: Time it takes to fix an issue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MTBR: Time between outages, how long will a system be up before a failure occurs again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RTO: getting up and running to a particular service level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RPO: how much data needs to be available before we’re back up and running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C5D44-777C-4A72-8654-D57D84B897A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61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063115" y="630937"/>
            <a:ext cx="5230368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1098388"/>
            <a:ext cx="7738814" cy="4394988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5979197"/>
            <a:ext cx="6034030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6375679"/>
            <a:ext cx="174729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6375679"/>
            <a:ext cx="1747292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2335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933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2110979" cy="6858000"/>
          </a:xfrm>
          <a:custGeom>
            <a:avLst/>
            <a:gdLst/>
            <a:ahLst/>
            <a:cxnLst/>
            <a:rect l="0" t="0" r="r" b="b"/>
            <a:pathLst>
              <a:path w="1773" h="4320">
                <a:moveTo>
                  <a:pt x="0" y="0"/>
                </a:moveTo>
                <a:lnTo>
                  <a:pt x="891" y="0"/>
                </a:lnTo>
                <a:lnTo>
                  <a:pt x="906" y="56"/>
                </a:lnTo>
                <a:lnTo>
                  <a:pt x="921" y="111"/>
                </a:lnTo>
                <a:lnTo>
                  <a:pt x="938" y="165"/>
                </a:lnTo>
                <a:lnTo>
                  <a:pt x="957" y="217"/>
                </a:lnTo>
                <a:lnTo>
                  <a:pt x="980" y="266"/>
                </a:lnTo>
                <a:lnTo>
                  <a:pt x="1007" y="312"/>
                </a:lnTo>
                <a:lnTo>
                  <a:pt x="1036" y="351"/>
                </a:lnTo>
                <a:lnTo>
                  <a:pt x="1069" y="387"/>
                </a:lnTo>
                <a:lnTo>
                  <a:pt x="1105" y="422"/>
                </a:lnTo>
                <a:lnTo>
                  <a:pt x="1145" y="456"/>
                </a:lnTo>
                <a:lnTo>
                  <a:pt x="1185" y="487"/>
                </a:lnTo>
                <a:lnTo>
                  <a:pt x="1227" y="520"/>
                </a:lnTo>
                <a:lnTo>
                  <a:pt x="1270" y="551"/>
                </a:lnTo>
                <a:lnTo>
                  <a:pt x="1311" y="584"/>
                </a:lnTo>
                <a:lnTo>
                  <a:pt x="1352" y="617"/>
                </a:lnTo>
                <a:lnTo>
                  <a:pt x="1390" y="651"/>
                </a:lnTo>
                <a:lnTo>
                  <a:pt x="1425" y="687"/>
                </a:lnTo>
                <a:lnTo>
                  <a:pt x="1456" y="725"/>
                </a:lnTo>
                <a:lnTo>
                  <a:pt x="1484" y="765"/>
                </a:lnTo>
                <a:lnTo>
                  <a:pt x="1505" y="808"/>
                </a:lnTo>
                <a:lnTo>
                  <a:pt x="1521" y="856"/>
                </a:lnTo>
                <a:lnTo>
                  <a:pt x="1530" y="907"/>
                </a:lnTo>
                <a:lnTo>
                  <a:pt x="1534" y="960"/>
                </a:lnTo>
                <a:lnTo>
                  <a:pt x="1534" y="1013"/>
                </a:lnTo>
                <a:lnTo>
                  <a:pt x="1530" y="1068"/>
                </a:lnTo>
                <a:lnTo>
                  <a:pt x="1523" y="1125"/>
                </a:lnTo>
                <a:lnTo>
                  <a:pt x="1515" y="1181"/>
                </a:lnTo>
                <a:lnTo>
                  <a:pt x="1508" y="1237"/>
                </a:lnTo>
                <a:lnTo>
                  <a:pt x="1501" y="1293"/>
                </a:lnTo>
                <a:lnTo>
                  <a:pt x="1496" y="1350"/>
                </a:lnTo>
                <a:lnTo>
                  <a:pt x="1494" y="1405"/>
                </a:lnTo>
                <a:lnTo>
                  <a:pt x="1497" y="1458"/>
                </a:lnTo>
                <a:lnTo>
                  <a:pt x="1504" y="1511"/>
                </a:lnTo>
                <a:lnTo>
                  <a:pt x="1517" y="1560"/>
                </a:lnTo>
                <a:lnTo>
                  <a:pt x="1535" y="1610"/>
                </a:lnTo>
                <a:lnTo>
                  <a:pt x="1557" y="1659"/>
                </a:lnTo>
                <a:lnTo>
                  <a:pt x="1583" y="1708"/>
                </a:lnTo>
                <a:lnTo>
                  <a:pt x="1611" y="1757"/>
                </a:lnTo>
                <a:lnTo>
                  <a:pt x="1640" y="1807"/>
                </a:lnTo>
                <a:lnTo>
                  <a:pt x="1669" y="1855"/>
                </a:lnTo>
                <a:lnTo>
                  <a:pt x="1696" y="1905"/>
                </a:lnTo>
                <a:lnTo>
                  <a:pt x="1721" y="1954"/>
                </a:lnTo>
                <a:lnTo>
                  <a:pt x="1742" y="2006"/>
                </a:lnTo>
                <a:lnTo>
                  <a:pt x="1759" y="2057"/>
                </a:lnTo>
                <a:lnTo>
                  <a:pt x="1769" y="2108"/>
                </a:lnTo>
                <a:lnTo>
                  <a:pt x="1773" y="2160"/>
                </a:lnTo>
                <a:lnTo>
                  <a:pt x="1769" y="2212"/>
                </a:lnTo>
                <a:lnTo>
                  <a:pt x="1759" y="2263"/>
                </a:lnTo>
                <a:lnTo>
                  <a:pt x="1742" y="2314"/>
                </a:lnTo>
                <a:lnTo>
                  <a:pt x="1721" y="2366"/>
                </a:lnTo>
                <a:lnTo>
                  <a:pt x="1696" y="2415"/>
                </a:lnTo>
                <a:lnTo>
                  <a:pt x="1669" y="2465"/>
                </a:lnTo>
                <a:lnTo>
                  <a:pt x="1640" y="2513"/>
                </a:lnTo>
                <a:lnTo>
                  <a:pt x="1611" y="2563"/>
                </a:lnTo>
                <a:lnTo>
                  <a:pt x="1583" y="2612"/>
                </a:lnTo>
                <a:lnTo>
                  <a:pt x="1557" y="2661"/>
                </a:lnTo>
                <a:lnTo>
                  <a:pt x="1535" y="2710"/>
                </a:lnTo>
                <a:lnTo>
                  <a:pt x="1517" y="2760"/>
                </a:lnTo>
                <a:lnTo>
                  <a:pt x="1504" y="2809"/>
                </a:lnTo>
                <a:lnTo>
                  <a:pt x="1497" y="2862"/>
                </a:lnTo>
                <a:lnTo>
                  <a:pt x="1494" y="2915"/>
                </a:lnTo>
                <a:lnTo>
                  <a:pt x="1496" y="2970"/>
                </a:lnTo>
                <a:lnTo>
                  <a:pt x="1501" y="3027"/>
                </a:lnTo>
                <a:lnTo>
                  <a:pt x="1508" y="3083"/>
                </a:lnTo>
                <a:lnTo>
                  <a:pt x="1515" y="3139"/>
                </a:lnTo>
                <a:lnTo>
                  <a:pt x="1523" y="3195"/>
                </a:lnTo>
                <a:lnTo>
                  <a:pt x="1530" y="3252"/>
                </a:lnTo>
                <a:lnTo>
                  <a:pt x="1534" y="3307"/>
                </a:lnTo>
                <a:lnTo>
                  <a:pt x="1534" y="3360"/>
                </a:lnTo>
                <a:lnTo>
                  <a:pt x="1530" y="3413"/>
                </a:lnTo>
                <a:lnTo>
                  <a:pt x="1521" y="3464"/>
                </a:lnTo>
                <a:lnTo>
                  <a:pt x="1505" y="3512"/>
                </a:lnTo>
                <a:lnTo>
                  <a:pt x="1484" y="3555"/>
                </a:lnTo>
                <a:lnTo>
                  <a:pt x="1456" y="3595"/>
                </a:lnTo>
                <a:lnTo>
                  <a:pt x="1425" y="3633"/>
                </a:lnTo>
                <a:lnTo>
                  <a:pt x="1390" y="3669"/>
                </a:lnTo>
                <a:lnTo>
                  <a:pt x="1352" y="3703"/>
                </a:lnTo>
                <a:lnTo>
                  <a:pt x="1311" y="3736"/>
                </a:lnTo>
                <a:lnTo>
                  <a:pt x="1270" y="3769"/>
                </a:lnTo>
                <a:lnTo>
                  <a:pt x="1227" y="3800"/>
                </a:lnTo>
                <a:lnTo>
                  <a:pt x="1185" y="3833"/>
                </a:lnTo>
                <a:lnTo>
                  <a:pt x="1145" y="3864"/>
                </a:lnTo>
                <a:lnTo>
                  <a:pt x="1105" y="3898"/>
                </a:lnTo>
                <a:lnTo>
                  <a:pt x="1069" y="3933"/>
                </a:lnTo>
                <a:lnTo>
                  <a:pt x="1036" y="3969"/>
                </a:lnTo>
                <a:lnTo>
                  <a:pt x="1007" y="4008"/>
                </a:lnTo>
                <a:lnTo>
                  <a:pt x="980" y="4054"/>
                </a:lnTo>
                <a:lnTo>
                  <a:pt x="957" y="4103"/>
                </a:lnTo>
                <a:lnTo>
                  <a:pt x="938" y="4155"/>
                </a:lnTo>
                <a:lnTo>
                  <a:pt x="921" y="4209"/>
                </a:lnTo>
                <a:lnTo>
                  <a:pt x="906" y="4264"/>
                </a:lnTo>
                <a:lnTo>
                  <a:pt x="891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1073889"/>
            <a:ext cx="6140303" cy="4064627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5159782"/>
            <a:ext cx="5263116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6375679"/>
            <a:ext cx="1120460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6375679"/>
            <a:ext cx="1115675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Freeform 11"/>
          <p:cNvSpPr/>
          <p:nvPr/>
        </p:nvSpPr>
        <p:spPr bwMode="auto">
          <a:xfrm>
            <a:off x="655786" y="0"/>
            <a:ext cx="1234679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6858000"/>
            <a:chOff x="0" y="0"/>
            <a:chExt cx="2110979" cy="6858000"/>
          </a:xfrm>
        </p:grpSpPr>
        <p:sp>
          <p:nvSpPr>
            <p:cNvPr id="9" name="Freeform 8" title="left scallop shape"/>
            <p:cNvSpPr/>
            <p:nvPr/>
          </p:nvSpPr>
          <p:spPr bwMode="auto">
            <a:xfrm>
              <a:off x="0" y="0"/>
              <a:ext cx="2110979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0" name="Freeform 11" title="left scallop inline"/>
            <p:cNvSpPr/>
            <p:nvPr/>
          </p:nvSpPr>
          <p:spPr bwMode="auto">
            <a:xfrm>
              <a:off x="655786" y="0"/>
              <a:ext cx="1234679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7839076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286000"/>
            <a:ext cx="3593592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6" y="2286000"/>
            <a:ext cx="3593592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394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381001"/>
            <a:ext cx="7629525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1832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832" y="2909102"/>
            <a:ext cx="361188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909102"/>
            <a:ext cx="361188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568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33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9/21/22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761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457200"/>
            <a:ext cx="2319086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920377"/>
            <a:ext cx="4618814" cy="49851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741336"/>
            <a:ext cx="2319086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6375679"/>
            <a:ext cx="925016" cy="348462"/>
          </a:xfrm>
        </p:spPr>
        <p:txBody>
          <a:bodyPr/>
          <a:lstStyle/>
          <a:p>
            <a:fld id="{96DFF08F-DC6B-4601-B491-B0F83F6DD2DA}" type="datetimeFigureOut">
              <a:rPr lang="en-US" smtClean="0"/>
              <a:pPr/>
              <a:t>9/21/22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6375679"/>
            <a:ext cx="924342" cy="345796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20283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457200"/>
            <a:ext cx="2319088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741336"/>
            <a:ext cx="2319088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6375679"/>
            <a:ext cx="924342" cy="348462"/>
          </a:xfrm>
        </p:spPr>
        <p:txBody>
          <a:bodyPr/>
          <a:lstStyle/>
          <a:p>
            <a:fld id="{96DFF08F-DC6B-4601-B491-B0F83F6DD2DA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56153" y="6375679"/>
            <a:ext cx="947460" cy="345796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4316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011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911" y="382386"/>
            <a:ext cx="1771930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4" y="382386"/>
            <a:ext cx="5809517" cy="56004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9/21/22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43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2286002"/>
            <a:ext cx="763374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9/21/22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right edge border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Freeform 5"/>
          <p:cNvSpPr/>
          <p:nvPr/>
        </p:nvSpPr>
        <p:spPr bwMode="auto">
          <a:xfrm>
            <a:off x="1" y="0"/>
            <a:ext cx="679090" cy="6858000"/>
          </a:xfrm>
          <a:custGeom>
            <a:avLst/>
            <a:gdLst/>
            <a:ahLst/>
            <a:cxnLst/>
            <a:rect l="0" t="0" r="r" b="b"/>
            <a:pathLst>
              <a:path w="211" h="216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912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100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594">
          <p15:clr>
            <a:srgbClr val="F26B43"/>
          </p15:clr>
        </p15:guide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pos="5400">
          <p15:clr>
            <a:srgbClr val="F26B43"/>
          </p15:clr>
        </p15:guide>
        <p15:guide id="4" orient="horz" pos="4008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720">
          <p15:clr>
            <a:srgbClr val="F26B43"/>
          </p15:clr>
        </p15:guide>
        <p15:guide id="7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High Availability and Disaster recovery</a:t>
            </a:r>
          </a:p>
        </p:txBody>
      </p:sp>
    </p:spTree>
    <p:extLst>
      <p:ext uri="{BB962C8B-B14F-4D97-AF65-F5344CB8AC3E}">
        <p14:creationId xmlns:p14="http://schemas.microsoft.com/office/powerpoint/2010/main" val="4216450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8758" y="1632204"/>
            <a:ext cx="7633742" cy="3593591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Load Balancing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Spread workload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Most common for servers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Different Techniques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Round Robin, Affinity, Weighted, </a:t>
            </a:r>
            <a:r>
              <a:rPr lang="en-US" dirty="0" err="1"/>
              <a:t>etc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Multipathing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Multiple paths between a system and its storage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Systems Must have multiple NIC’s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NIC Teaming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Multiple Network interfaces teamed up for bandwidth aggregation and/or traffic failover</a:t>
            </a:r>
          </a:p>
        </p:txBody>
      </p:sp>
    </p:spTree>
    <p:extLst>
      <p:ext uri="{BB962C8B-B14F-4D97-AF65-F5344CB8AC3E}">
        <p14:creationId xmlns:p14="http://schemas.microsoft.com/office/powerpoint/2010/main" val="1452335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6">
            <a:extLst>
              <a:ext uri="{FF2B5EF4-FFF2-40B4-BE49-F238E27FC236}">
                <a16:creationId xmlns:a16="http://schemas.microsoft.com/office/drawing/2014/main" id="{9712881E-1743-4E18-B779-65F3B6A24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00800"/>
            <a:ext cx="2057400" cy="4572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74" name="Rectangle 8">
            <a:extLst>
              <a:ext uri="{FF2B5EF4-FFF2-40B4-BE49-F238E27FC236}">
                <a16:creationId xmlns:a16="http://schemas.microsoft.com/office/drawing/2014/main" id="{081AE710-D244-4E8B-B234-B548B25045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4522" y="76200"/>
            <a:ext cx="7792278" cy="1219200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ea typeface="ＭＳ Ｐゴシック" panose="020B0600070205080204" pitchFamily="34" charset="-128"/>
              </a:rPr>
              <a:t>Multipathing</a:t>
            </a:r>
          </a:p>
        </p:txBody>
      </p:sp>
      <p:sp>
        <p:nvSpPr>
          <p:cNvPr id="7175" name="Rectangle 10">
            <a:extLst>
              <a:ext uri="{FF2B5EF4-FFF2-40B4-BE49-F238E27FC236}">
                <a16:creationId xmlns:a16="http://schemas.microsoft.com/office/drawing/2014/main" id="{7461673D-939D-4284-ACC9-C94046833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0EED2D35-6055-42B5-BB84-0843C3E84E8D}" type="slidenum">
              <a:rPr lang="en-US" altLang="en-US" sz="1400">
                <a:latin typeface="Times" panose="02020603050405020304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latin typeface="Times" panose="02020603050405020304" pitchFamily="18" charset="0"/>
            </a:endParaRPr>
          </a:p>
        </p:txBody>
      </p:sp>
      <p:pic>
        <p:nvPicPr>
          <p:cNvPr id="7176" name="Picture 2">
            <a:extLst>
              <a:ext uri="{FF2B5EF4-FFF2-40B4-BE49-F238E27FC236}">
                <a16:creationId xmlns:a16="http://schemas.microsoft.com/office/drawing/2014/main" id="{BD1746F8-D597-4FCF-9022-5114D3039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304" y="1112837"/>
            <a:ext cx="4646613" cy="463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8"/>
          <p:cNvSpPr>
            <a:spLocks noGrp="1"/>
          </p:cNvSpPr>
          <p:nvPr>
            <p:ph type="title" idx="4294967295"/>
          </p:nvPr>
        </p:nvSpPr>
        <p:spPr>
          <a:xfrm>
            <a:off x="776681" y="231775"/>
            <a:ext cx="8131315" cy="1143000"/>
          </a:xfrm>
          <a:ln/>
        </p:spPr>
        <p:txBody>
          <a:bodyPr vert="horz" wrap="square" lIns="91440" tIns="45720" rIns="91440" bIns="45720" anchor="ctr">
            <a:normAutofit fontScale="90000"/>
          </a:bodyPr>
          <a:lstStyle/>
          <a:p>
            <a:pPr algn="ctr" eaLnBrk="1" hangingPunct="1"/>
            <a:r>
              <a:rPr lang="en-US" altLang="en-US" dirty="0"/>
              <a:t>Redundant Hardware/Clusters</a:t>
            </a:r>
          </a:p>
        </p:txBody>
      </p:sp>
      <p:sp>
        <p:nvSpPr>
          <p:cNvPr id="10249" name="Content Placeholder 9"/>
          <p:cNvSpPr>
            <a:spLocks noGrp="1"/>
          </p:cNvSpPr>
          <p:nvPr>
            <p:ph idx="4294967295"/>
          </p:nvPr>
        </p:nvSpPr>
        <p:spPr>
          <a:xfrm>
            <a:off x="1897596" y="1548606"/>
            <a:ext cx="7010400" cy="4525962"/>
          </a:xfrm>
          <a:ln/>
        </p:spPr>
        <p:txBody>
          <a:bodyPr vert="horz" wrap="square" lIns="91440" tIns="45720" rIns="91440" bIns="45720" anchor="t"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800" dirty="0"/>
              <a:t> Switches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600" dirty="0"/>
              <a:t>Switch Stacking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200" dirty="0"/>
              <a:t>stack and interconnect multiple switches to act as one switch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200" dirty="0"/>
              <a:t>One switch is designated the management switch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600" dirty="0"/>
              <a:t>Switch Clustering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200" dirty="0"/>
              <a:t>Managed as a single entity with interconnected cables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200" dirty="0"/>
              <a:t>Uses Cluster Management Protocol (CMP)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200" dirty="0"/>
              <a:t>Configure and troubleshoot a group of switches with a single </a:t>
            </a:r>
            <a:r>
              <a:rPr lang="en-US" altLang="en-US" sz="1200" dirty="0" err="1"/>
              <a:t>ip</a:t>
            </a:r>
            <a:r>
              <a:rPr lang="en-US" altLang="en-US" sz="1200" dirty="0"/>
              <a:t> Address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200" dirty="0"/>
              <a:t>Cluster Commander, Cluster member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 sz="1800" dirty="0"/>
          </a:p>
          <a:p>
            <a:endParaRPr lang="en-US" altLang="en-US" sz="1800" dirty="0"/>
          </a:p>
        </p:txBody>
      </p:sp>
      <p:sp>
        <p:nvSpPr>
          <p:cNvPr id="10248" name="Rectangle 12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616338C-8E89-49B6-96EF-52F62AEED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7533" y="4516168"/>
            <a:ext cx="2667000" cy="1284188"/>
          </a:xfrm>
          <a:prstGeom prst="rect">
            <a:avLst/>
          </a:prstGeom>
          <a:noFill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ABEA570-288C-47ED-9B3F-8F008C5A0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01913" y="4945436"/>
            <a:ext cx="4820187" cy="168078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8"/>
          <p:cNvSpPr>
            <a:spLocks noGrp="1"/>
          </p:cNvSpPr>
          <p:nvPr>
            <p:ph type="title" idx="4294967295"/>
          </p:nvPr>
        </p:nvSpPr>
        <p:spPr>
          <a:xfrm>
            <a:off x="655983" y="231775"/>
            <a:ext cx="8488017" cy="1143000"/>
          </a:xfrm>
          <a:ln/>
        </p:spPr>
        <p:txBody>
          <a:bodyPr vert="horz" wrap="square" lIns="91440" tIns="45720" rIns="91440" bIns="45720" anchor="ctr">
            <a:normAutofit fontScale="90000"/>
          </a:bodyPr>
          <a:lstStyle/>
          <a:p>
            <a:pPr algn="ctr" eaLnBrk="1" hangingPunct="1"/>
            <a:r>
              <a:rPr lang="en-US" altLang="en-US" dirty="0"/>
              <a:t>Redundant Hardware/Clusters</a:t>
            </a:r>
          </a:p>
        </p:txBody>
      </p:sp>
      <p:sp>
        <p:nvSpPr>
          <p:cNvPr id="10249" name="Content Placeholder 9"/>
          <p:cNvSpPr>
            <a:spLocks noGrp="1"/>
          </p:cNvSpPr>
          <p:nvPr>
            <p:ph idx="4294967295"/>
          </p:nvPr>
        </p:nvSpPr>
        <p:spPr>
          <a:xfrm>
            <a:off x="901148" y="1722438"/>
            <a:ext cx="7010400" cy="4525962"/>
          </a:xfrm>
          <a:ln/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1800" dirty="0"/>
              <a:t>Routers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1600" dirty="0"/>
              <a:t>First Hop Redundancy Protocol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en-US" sz="16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en-US" sz="16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en-US" sz="16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en-US" sz="16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en-US" sz="16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en-US" sz="16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en-US" sz="16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en-US" sz="16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en-US" sz="16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en-US" sz="16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1800" dirty="0"/>
              <a:t>Firewalls</a:t>
            </a:r>
          </a:p>
          <a:p>
            <a:endParaRPr lang="en-US" altLang="en-US" sz="1800" dirty="0"/>
          </a:p>
        </p:txBody>
      </p:sp>
      <p:sp>
        <p:nvSpPr>
          <p:cNvPr id="10248" name="Rectangle 12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D9A9CC3-B128-4CDD-8108-7ECF6B8CE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19800" y="2192889"/>
            <a:ext cx="2746375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32123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Rectangle 8"/>
          <p:cNvSpPr>
            <a:spLocks noGrp="1"/>
          </p:cNvSpPr>
          <p:nvPr>
            <p:ph type="title" idx="4294967295"/>
          </p:nvPr>
        </p:nvSpPr>
        <p:spPr>
          <a:xfrm>
            <a:off x="854765" y="152400"/>
            <a:ext cx="8020878" cy="1143000"/>
          </a:xfrm>
          <a:ln/>
        </p:spPr>
        <p:txBody>
          <a:bodyPr vert="horz" wrap="square" lIns="91440" tIns="45720" rIns="91440" bIns="45720" anchor="ctr">
            <a:normAutofit fontScale="90000"/>
          </a:bodyPr>
          <a:lstStyle/>
          <a:p>
            <a:pPr algn="ctr" eaLnBrk="1" hangingPunct="1"/>
            <a:r>
              <a:rPr lang="en-US" altLang="en-US" dirty="0"/>
              <a:t>Facility and Infrastructure Support</a:t>
            </a:r>
          </a:p>
        </p:txBody>
      </p:sp>
      <p:sp>
        <p:nvSpPr>
          <p:cNvPr id="11273" name="Content Placeholder 9"/>
          <p:cNvSpPr>
            <a:spLocks noGrp="1"/>
          </p:cNvSpPr>
          <p:nvPr>
            <p:ph idx="4294967295"/>
          </p:nvPr>
        </p:nvSpPr>
        <p:spPr>
          <a:xfrm>
            <a:off x="685800" y="1380098"/>
            <a:ext cx="6096000" cy="4525962"/>
          </a:xfrm>
          <a:ln/>
        </p:spPr>
        <p:txBody>
          <a:bodyPr vert="horz" wrap="square" lIns="91440" tIns="45720" rIns="91440" bIns="45720" anchor="t"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 Uninterruptible power supply (UPS)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 Power Distribution units (PDU)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 Generator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 HVAC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 Fire Suppression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</p:txBody>
      </p:sp>
      <p:sp>
        <p:nvSpPr>
          <p:cNvPr id="11271" name="Rectangle 11"/>
          <p:cNvSpPr/>
          <p:nvPr/>
        </p:nvSpPr>
        <p:spPr>
          <a:xfrm>
            <a:off x="7696200" y="6248400"/>
            <a:ext cx="762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lvl="0" indent="0" algn="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sp>
        <p:nvSpPr>
          <p:cNvPr id="11272" name="Rectangle 12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1CA90B6-7E5C-4C07-9DE7-773DB6B82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29278" y="2744659"/>
            <a:ext cx="4646365" cy="23534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8"/>
          <p:cNvSpPr>
            <a:spLocks noGrp="1"/>
          </p:cNvSpPr>
          <p:nvPr>
            <p:ph type="title" idx="4294967295"/>
          </p:nvPr>
        </p:nvSpPr>
        <p:spPr>
          <a:xfrm>
            <a:off x="692150" y="123947"/>
            <a:ext cx="8173554" cy="1143000"/>
          </a:xfrm>
          <a:ln/>
        </p:spPr>
        <p:txBody>
          <a:bodyPr vert="horz" wrap="square" lIns="91440" tIns="45720" rIns="91440" bIns="45720" anchor="ctr">
            <a:normAutofit fontScale="90000"/>
          </a:bodyPr>
          <a:lstStyle/>
          <a:p>
            <a:pPr algn="ctr" eaLnBrk="1" hangingPunct="1"/>
            <a:r>
              <a:rPr lang="en-US" altLang="en-US" b="1" dirty="0"/>
              <a:t>Redundancy and High Availability (HA)</a:t>
            </a:r>
          </a:p>
        </p:txBody>
      </p:sp>
      <p:sp>
        <p:nvSpPr>
          <p:cNvPr id="13321" name="Content Placeholder 9"/>
          <p:cNvSpPr>
            <a:spLocks noGrp="1"/>
          </p:cNvSpPr>
          <p:nvPr>
            <p:ph idx="4294967295"/>
          </p:nvPr>
        </p:nvSpPr>
        <p:spPr>
          <a:xfrm>
            <a:off x="692150" y="1266947"/>
            <a:ext cx="8451850" cy="4003675"/>
          </a:xfrm>
          <a:ln/>
        </p:spPr>
        <p:txBody>
          <a:bodyPr vert="horz" wrap="square" lIns="91440" tIns="45720" rIns="91440" bIns="45720" anchor="t"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 Hot Site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Cold Site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Warm Site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Cloud Site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Recovery site provisioned through a CSP</a:t>
            </a:r>
          </a:p>
        </p:txBody>
      </p:sp>
      <p:sp>
        <p:nvSpPr>
          <p:cNvPr id="13320" name="Rectangle 12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F65B0FB-B7FF-4B56-BF78-69898C5A0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6677" y="3398717"/>
            <a:ext cx="6096000" cy="28082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8"/>
          <p:cNvSpPr>
            <a:spLocks noGrp="1"/>
          </p:cNvSpPr>
          <p:nvPr>
            <p:ph type="title" idx="4294967295"/>
          </p:nvPr>
        </p:nvSpPr>
        <p:spPr>
          <a:xfrm>
            <a:off x="692150" y="87038"/>
            <a:ext cx="8173554" cy="1143000"/>
          </a:xfrm>
          <a:ln/>
        </p:spPr>
        <p:txBody>
          <a:bodyPr vert="horz" wrap="square" lIns="91440" tIns="45720" rIns="91440" bIns="45720" anchor="ctr">
            <a:normAutofit fontScale="90000"/>
          </a:bodyPr>
          <a:lstStyle/>
          <a:p>
            <a:pPr algn="ctr" eaLnBrk="1" hangingPunct="1"/>
            <a:r>
              <a:rPr lang="en-US" altLang="en-US" b="1" dirty="0"/>
              <a:t>Redundancy and High Availability (HA)</a:t>
            </a:r>
          </a:p>
        </p:txBody>
      </p:sp>
      <p:sp>
        <p:nvSpPr>
          <p:cNvPr id="13321" name="Content Placeholder 9"/>
          <p:cNvSpPr>
            <a:spLocks noGrp="1"/>
          </p:cNvSpPr>
          <p:nvPr>
            <p:ph idx="4294967295"/>
          </p:nvPr>
        </p:nvSpPr>
        <p:spPr>
          <a:xfrm>
            <a:off x="692150" y="1309017"/>
            <a:ext cx="8451850" cy="4003675"/>
          </a:xfrm>
          <a:ln/>
        </p:spPr>
        <p:txBody>
          <a:bodyPr vert="horz" wrap="square" lIns="91440" tIns="45720" rIns="91440" bIns="45720" anchor="t"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 Active/Active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Provides availability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Active/Passive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Provides Fault tolerance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Multiple ISP’s/Diverse Paths</a:t>
            </a:r>
          </a:p>
        </p:txBody>
      </p:sp>
      <p:sp>
        <p:nvSpPr>
          <p:cNvPr id="13320" name="Rectangle 12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39917B2-9E31-40CC-8EAE-48ACCE1A5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71937" y="3935958"/>
            <a:ext cx="2252263" cy="2179609"/>
          </a:xfrm>
          <a:prstGeom prst="rect">
            <a:avLst/>
          </a:prstGeom>
          <a:noFill/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31B93C35-02A8-4F44-BBA2-8821FB468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52213" y="4017235"/>
            <a:ext cx="3619850" cy="21690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04856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8"/>
          <p:cNvSpPr>
            <a:spLocks noGrp="1"/>
          </p:cNvSpPr>
          <p:nvPr>
            <p:ph type="title" idx="4294967295"/>
          </p:nvPr>
        </p:nvSpPr>
        <p:spPr>
          <a:xfrm>
            <a:off x="1333484" y="163513"/>
            <a:ext cx="7505716" cy="1143000"/>
          </a:xfrm>
          <a:ln/>
        </p:spPr>
        <p:txBody>
          <a:bodyPr vert="horz" wrap="square" lIns="91440" tIns="45720" rIns="91440" bIns="45720" anchor="ctr">
            <a:normAutofit fontScale="90000"/>
          </a:bodyPr>
          <a:lstStyle/>
          <a:p>
            <a:pPr eaLnBrk="1" hangingPunct="1"/>
            <a:r>
              <a:rPr lang="en-US" altLang="en-US" b="1" dirty="0"/>
              <a:t>Redundancy and High Availability (HA)</a:t>
            </a:r>
          </a:p>
        </p:txBody>
      </p:sp>
      <p:sp>
        <p:nvSpPr>
          <p:cNvPr id="13321" name="Content Placeholder 9"/>
          <p:cNvSpPr>
            <a:spLocks noGrp="1"/>
          </p:cNvSpPr>
          <p:nvPr>
            <p:ph idx="4294967295"/>
          </p:nvPr>
        </p:nvSpPr>
        <p:spPr>
          <a:xfrm>
            <a:off x="666742" y="1500188"/>
            <a:ext cx="8839200" cy="4976812"/>
          </a:xfrm>
          <a:ln/>
        </p:spPr>
        <p:txBody>
          <a:bodyPr vert="horz" wrap="square" lIns="91440" tIns="45720" rIns="91440" bIns="45720" anchor="t"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 Hot Standby Router Protocol (HSRP)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Cisco Protocol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Virtual Router Redundancy Protocol(VRRP)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IEEE protocol</a:t>
            </a:r>
          </a:p>
        </p:txBody>
      </p:sp>
      <p:sp>
        <p:nvSpPr>
          <p:cNvPr id="13320" name="Rectangle 12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EEBC2DD-E9A3-44A6-831D-A29779D90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68010" y="1500188"/>
            <a:ext cx="2220802" cy="38187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70698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8"/>
          <p:cNvSpPr>
            <a:spLocks noGrp="1"/>
          </p:cNvSpPr>
          <p:nvPr>
            <p:ph type="title" idx="4294967295"/>
          </p:nvPr>
        </p:nvSpPr>
        <p:spPr>
          <a:xfrm>
            <a:off x="304800" y="125413"/>
            <a:ext cx="8839200" cy="1143000"/>
          </a:xfrm>
          <a:ln/>
        </p:spPr>
        <p:txBody>
          <a:bodyPr vert="horz" wrap="square" lIns="91440" tIns="45720" rIns="91440" bIns="45720" anchor="ctr">
            <a:normAutofit fontScale="90000"/>
          </a:bodyPr>
          <a:lstStyle/>
          <a:p>
            <a:pPr algn="ctr" eaLnBrk="1" hangingPunct="1"/>
            <a:r>
              <a:rPr lang="en-US" altLang="en-US" b="1" dirty="0"/>
              <a:t>Redundancy and High Availability (HA)</a:t>
            </a:r>
          </a:p>
        </p:txBody>
      </p:sp>
      <p:sp>
        <p:nvSpPr>
          <p:cNvPr id="13321" name="Content Placeholder 9"/>
          <p:cNvSpPr>
            <a:spLocks noGrp="1"/>
          </p:cNvSpPr>
          <p:nvPr>
            <p:ph idx="4294967295"/>
          </p:nvPr>
        </p:nvSpPr>
        <p:spPr>
          <a:xfrm>
            <a:off x="622852" y="1500188"/>
            <a:ext cx="8242852" cy="4976812"/>
          </a:xfrm>
          <a:ln/>
        </p:spPr>
        <p:txBody>
          <a:bodyPr vert="horz" wrap="square" lIns="91440" tIns="45720" rIns="91440" bIns="45720" anchor="t"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  Mean Time to Repair (MTTR)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Used to draft SLA’s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Average time it would take to repair a system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 Mean Time Between Failures (MTBF)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Reliability metric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Amount of time elapsed from one failure to the next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 Recovery Time Objective (RTO)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Period of time after a failure or disaster that a resource or function must be restored to avoid unacceptable losses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/>
              <a:t> Recovery Point Objective (RPO)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Moment in time after a failure or disaster the data must be recovered to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Drives backup frequency</a:t>
            </a:r>
          </a:p>
          <a:p>
            <a:pPr marL="0" indent="0"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dirty="0"/>
          </a:p>
        </p:txBody>
      </p:sp>
      <p:sp>
        <p:nvSpPr>
          <p:cNvPr id="13320" name="Rectangle 12"/>
          <p:cNvSpPr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722939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364</TotalTime>
  <Words>841</Words>
  <Application>Microsoft Macintosh PowerPoint</Application>
  <PresentationFormat>On-screen Show (4:3)</PresentationFormat>
  <Paragraphs>127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Gill Sans MT</vt:lpstr>
      <vt:lpstr>Impact</vt:lpstr>
      <vt:lpstr>Times</vt:lpstr>
      <vt:lpstr>Wingdings</vt:lpstr>
      <vt:lpstr>Badge</vt:lpstr>
      <vt:lpstr>Chapter 15</vt:lpstr>
      <vt:lpstr>High Availability</vt:lpstr>
      <vt:lpstr>Multipathing</vt:lpstr>
      <vt:lpstr>Redundant Hardware/Clusters</vt:lpstr>
      <vt:lpstr>Redundant Hardware/Clusters</vt:lpstr>
      <vt:lpstr>Facility and Infrastructure Support</vt:lpstr>
      <vt:lpstr>Redundancy and High Availability (HA)</vt:lpstr>
      <vt:lpstr>Redundancy and High Availability (HA)</vt:lpstr>
      <vt:lpstr>Redundancy and High Availability (HA)</vt:lpstr>
      <vt:lpstr>Redundancy and High Availability (HA)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15</dc:title>
  <dc:creator>Student</dc:creator>
  <cp:lastModifiedBy>Adrienne Bailey</cp:lastModifiedBy>
  <cp:revision>20</cp:revision>
  <dcterms:created xsi:type="dcterms:W3CDTF">2018-11-01T19:12:50Z</dcterms:created>
  <dcterms:modified xsi:type="dcterms:W3CDTF">2022-09-21T14:36:09Z</dcterms:modified>
</cp:coreProperties>
</file>