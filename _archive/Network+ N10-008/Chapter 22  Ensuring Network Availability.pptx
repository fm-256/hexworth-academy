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5" r:id="rId4"/>
    <p:sldId id="258" r:id="rId5"/>
    <p:sldId id="283" r:id="rId6"/>
    <p:sldId id="259" r:id="rId7"/>
    <p:sldId id="284" r:id="rId8"/>
    <p:sldId id="260" r:id="rId9"/>
    <p:sldId id="261" r:id="rId10"/>
    <p:sldId id="262" r:id="rId11"/>
    <p:sldId id="36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F1753D-F395-4D48-BFF0-25DADB0E901C}">
          <p14:sldIdLst>
            <p14:sldId id="256"/>
            <p14:sldId id="257"/>
            <p14:sldId id="265"/>
            <p14:sldId id="258"/>
            <p14:sldId id="283"/>
            <p14:sldId id="259"/>
            <p14:sldId id="284"/>
            <p14:sldId id="260"/>
            <p14:sldId id="261"/>
            <p14:sldId id="262"/>
            <p14:sldId id="361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0748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6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14848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50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10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72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0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97753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3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1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B4105A3-2DFE-4541-B863-C78898B1336C}" type="datetimeFigureOut">
              <a:rPr lang="en-US" smtClean="0"/>
              <a:t>9/14/22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5C357AE-9FF2-434E-BD78-87BFA1F75C4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055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89C5-CDF5-475F-A23B-4D1A69D9C4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194AD-2D68-4008-A46A-7C7F837D7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ensuring network availability</a:t>
            </a:r>
          </a:p>
        </p:txBody>
      </p:sp>
    </p:spTree>
    <p:extLst>
      <p:ext uri="{BB962C8B-B14F-4D97-AF65-F5344CB8AC3E}">
        <p14:creationId xmlns:p14="http://schemas.microsoft.com/office/powerpoint/2010/main" val="246266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DBDB-1A7F-488D-AAC1-1D7E69787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49" y="0"/>
            <a:ext cx="9905998" cy="1205345"/>
          </a:xfrm>
        </p:spPr>
        <p:txBody>
          <a:bodyPr/>
          <a:lstStyle/>
          <a:p>
            <a:pPr algn="ctr"/>
            <a:r>
              <a:rPr lang="en-US" dirty="0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55492-987F-4C34-99D9-2E245A847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904656"/>
            <a:ext cx="10205747" cy="5813859"/>
          </a:xfrm>
        </p:spPr>
        <p:txBody>
          <a:bodyPr>
            <a:normAutofit/>
          </a:bodyPr>
          <a:lstStyle/>
          <a:p>
            <a:r>
              <a:rPr lang="en-US" dirty="0"/>
              <a:t>Device/Chassis</a:t>
            </a:r>
          </a:p>
          <a:p>
            <a:pPr lvl="1"/>
            <a:r>
              <a:rPr lang="en-US" dirty="0"/>
              <a:t>Temperature</a:t>
            </a:r>
          </a:p>
          <a:p>
            <a:pPr lvl="2"/>
            <a:r>
              <a:rPr lang="en-US" dirty="0"/>
              <a:t>Overheating a main cause of reboots</a:t>
            </a:r>
          </a:p>
          <a:p>
            <a:pPr lvl="2"/>
            <a:r>
              <a:rPr lang="en-US" dirty="0"/>
              <a:t>PC usually cools itself with fans but may require additional cooling (liquid)</a:t>
            </a:r>
          </a:p>
          <a:p>
            <a:pPr lvl="2"/>
            <a:r>
              <a:rPr lang="en-US" dirty="0"/>
              <a:t>Dust is a major cause of overheating</a:t>
            </a:r>
          </a:p>
          <a:p>
            <a:pPr lvl="1"/>
            <a:r>
              <a:rPr lang="en-US" dirty="0"/>
              <a:t>CPU</a:t>
            </a:r>
          </a:p>
          <a:p>
            <a:pPr lvl="2"/>
            <a:r>
              <a:rPr lang="en-US" dirty="0"/>
              <a:t>We should use as much of the CPU cycles as possible- you paid for it</a:t>
            </a:r>
          </a:p>
          <a:p>
            <a:pPr lvl="2"/>
            <a:r>
              <a:rPr lang="en-US" dirty="0"/>
              <a:t>However, there is a line you don’t want to cross</a:t>
            </a:r>
          </a:p>
          <a:p>
            <a:pPr lvl="2"/>
            <a:r>
              <a:rPr lang="en-US" dirty="0"/>
              <a:t>CPU over 90% we start having problems</a:t>
            </a:r>
          </a:p>
          <a:p>
            <a:pPr lvl="2"/>
            <a:r>
              <a:rPr lang="en-US" dirty="0"/>
              <a:t>We use counters to monitor the CPU- discussed in chapter 13</a:t>
            </a:r>
          </a:p>
          <a:p>
            <a:pPr lvl="1"/>
            <a:r>
              <a:rPr lang="en-US" dirty="0"/>
              <a:t>Memory</a:t>
            </a:r>
          </a:p>
          <a:p>
            <a:pPr lvl="2"/>
            <a:r>
              <a:rPr lang="en-US" dirty="0"/>
              <a:t>Can be as severe as high CPU utilization and can be an indicator of malware</a:t>
            </a:r>
          </a:p>
          <a:p>
            <a:pPr lvl="2"/>
            <a:r>
              <a:rPr lang="en-US" dirty="0"/>
              <a:t>Can result in the system crashes and /or performance degradation</a:t>
            </a:r>
          </a:p>
          <a:p>
            <a:pPr lvl="2"/>
            <a:r>
              <a:rPr lang="en-US" dirty="0"/>
              <a:t>We can use monitoring tools to monitor the memory utilization and send alarms</a:t>
            </a:r>
          </a:p>
          <a:p>
            <a:pPr lvl="2"/>
            <a:r>
              <a:rPr lang="en-US" dirty="0"/>
              <a:t>Discussed in Chapter 13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2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DBDB-1A7F-488D-AAC1-1D7E69787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467" y="0"/>
            <a:ext cx="10961784" cy="1205345"/>
          </a:xfrm>
        </p:spPr>
        <p:txBody>
          <a:bodyPr/>
          <a:lstStyle/>
          <a:p>
            <a:pPr algn="ctr"/>
            <a:r>
              <a:rPr lang="en-US" dirty="0"/>
              <a:t>Performance metrics/sensors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55492-987F-4C34-99D9-2E245A847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786" y="867871"/>
            <a:ext cx="10205747" cy="5689168"/>
          </a:xfrm>
        </p:spPr>
        <p:txBody>
          <a:bodyPr>
            <a:normAutofit/>
          </a:bodyPr>
          <a:lstStyle/>
          <a:p>
            <a:r>
              <a:rPr lang="en-US" dirty="0"/>
              <a:t>Network Metrics</a:t>
            </a:r>
          </a:p>
          <a:p>
            <a:pPr lvl="1"/>
            <a:r>
              <a:rPr lang="en-US" dirty="0"/>
              <a:t>Bandwidth</a:t>
            </a:r>
          </a:p>
          <a:p>
            <a:pPr lvl="2"/>
            <a:r>
              <a:rPr lang="en-US" dirty="0"/>
              <a:t>Water of Life for the network</a:t>
            </a:r>
          </a:p>
          <a:p>
            <a:pPr lvl="2"/>
            <a:r>
              <a:rPr lang="en-US" dirty="0"/>
              <a:t>You can never have enough</a:t>
            </a:r>
          </a:p>
          <a:p>
            <a:pPr lvl="2"/>
            <a:r>
              <a:rPr lang="en-US" dirty="0"/>
              <a:t>A great deal of time is spent monitoring and trying to improve bandwidth</a:t>
            </a:r>
          </a:p>
          <a:p>
            <a:pPr lvl="1"/>
            <a:r>
              <a:rPr lang="en-US" dirty="0"/>
              <a:t>Latency</a:t>
            </a:r>
          </a:p>
          <a:p>
            <a:pPr lvl="2"/>
            <a:r>
              <a:rPr lang="en-US" dirty="0"/>
              <a:t>Consistent delay in traffic</a:t>
            </a:r>
          </a:p>
          <a:p>
            <a:pPr lvl="2"/>
            <a:r>
              <a:rPr lang="en-US" dirty="0"/>
              <a:t>Measured in Round Trip Time (RTT)</a:t>
            </a:r>
          </a:p>
          <a:p>
            <a:pPr lvl="1"/>
            <a:r>
              <a:rPr lang="en-US" dirty="0"/>
              <a:t>Jitter</a:t>
            </a:r>
          </a:p>
          <a:p>
            <a:pPr lvl="2"/>
            <a:r>
              <a:rPr lang="en-US" dirty="0"/>
              <a:t>Variance in delay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934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C4FE-0B37-42C8-9076-113441396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SNMP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0602A-1A07-49AE-A5D0-C0FBEEA20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579" y="1206451"/>
            <a:ext cx="10454842" cy="5064775"/>
          </a:xfrm>
        </p:spPr>
        <p:txBody>
          <a:bodyPr>
            <a:normAutofit/>
          </a:bodyPr>
          <a:lstStyle/>
          <a:p>
            <a:r>
              <a:rPr lang="en-US" dirty="0"/>
              <a:t>Ports ?</a:t>
            </a:r>
          </a:p>
          <a:p>
            <a:r>
              <a:rPr lang="en-US" dirty="0"/>
              <a:t>3 Versions</a:t>
            </a:r>
          </a:p>
          <a:p>
            <a:pPr lvl="1"/>
            <a:r>
              <a:rPr lang="en-US" dirty="0"/>
              <a:t>Version 3 should be used. 1 and 2 are unsecure and </a:t>
            </a:r>
            <a:r>
              <a:rPr lang="en-US" dirty="0" err="1"/>
              <a:t>depricated</a:t>
            </a:r>
            <a:endParaRPr lang="en-US" dirty="0"/>
          </a:p>
          <a:p>
            <a:r>
              <a:rPr lang="en-US" dirty="0"/>
              <a:t>Traps</a:t>
            </a:r>
          </a:p>
          <a:p>
            <a:pPr lvl="1"/>
            <a:r>
              <a:rPr lang="en-US" dirty="0"/>
              <a:t>Uses a Network management System to communicate with devices</a:t>
            </a:r>
          </a:p>
          <a:p>
            <a:pPr lvl="1"/>
            <a:r>
              <a:rPr lang="en-US" dirty="0"/>
              <a:t>Uses a GET message to query devices</a:t>
            </a:r>
          </a:p>
          <a:p>
            <a:pPr lvl="1"/>
            <a:r>
              <a:rPr lang="en-US" dirty="0"/>
              <a:t>Devices will send a trap when a problem occurs</a:t>
            </a:r>
          </a:p>
          <a:p>
            <a:r>
              <a:rPr lang="en-US" dirty="0"/>
              <a:t>Object Identifiers(OIDs)</a:t>
            </a:r>
          </a:p>
          <a:p>
            <a:pPr lvl="1"/>
            <a:r>
              <a:rPr lang="en-US" dirty="0"/>
              <a:t>Standardized mechanism to name objects or things with a globally unambiguous persistent name</a:t>
            </a:r>
          </a:p>
          <a:p>
            <a:pPr lvl="1"/>
            <a:r>
              <a:rPr lang="en-US" dirty="0"/>
              <a:t>In SNMP each node in a management information base (MIB) is identified by an OID</a:t>
            </a:r>
          </a:p>
          <a:p>
            <a:r>
              <a:rPr lang="en-US" dirty="0"/>
              <a:t>Management Information Bases (MIBs)</a:t>
            </a:r>
          </a:p>
          <a:p>
            <a:pPr lvl="1"/>
            <a:r>
              <a:rPr lang="en-US" dirty="0"/>
              <a:t>An </a:t>
            </a:r>
            <a:r>
              <a:rPr lang="en-US" dirty="0" err="1"/>
              <a:t>heiarchial</a:t>
            </a:r>
            <a:r>
              <a:rPr lang="en-US" dirty="0"/>
              <a:t> structure of OID’s</a:t>
            </a:r>
          </a:p>
        </p:txBody>
      </p:sp>
    </p:spTree>
    <p:extLst>
      <p:ext uri="{BB962C8B-B14F-4D97-AF65-F5344CB8AC3E}">
        <p14:creationId xmlns:p14="http://schemas.microsoft.com/office/powerpoint/2010/main" val="2587863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8">
            <a:extLst>
              <a:ext uri="{FF2B5EF4-FFF2-40B4-BE49-F238E27FC236}">
                <a16:creationId xmlns:a16="http://schemas.microsoft.com/office/drawing/2014/main" id="{47BF2073-B161-48E8-9B7C-E90FB14AB9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68495" y="0"/>
            <a:ext cx="11073789" cy="1143000"/>
          </a:xfrm>
          <a:noFill/>
        </p:spPr>
        <p:txBody>
          <a:bodyPr/>
          <a:lstStyle/>
          <a:p>
            <a:pPr algn="ctr">
              <a:spcBef>
                <a:spcPts val="2400"/>
              </a:spcBef>
              <a:spcAft>
                <a:spcPts val="1800"/>
              </a:spcAft>
            </a:pPr>
            <a:r>
              <a:rPr lang="en-US" altLang="en-US" sz="3200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SNMP Traps</a:t>
            </a:r>
          </a:p>
        </p:txBody>
      </p:sp>
      <p:sp>
        <p:nvSpPr>
          <p:cNvPr id="6152" name="Rectangle 12">
            <a:extLst>
              <a:ext uri="{FF2B5EF4-FFF2-40B4-BE49-F238E27FC236}">
                <a16:creationId xmlns:a16="http://schemas.microsoft.com/office/drawing/2014/main" id="{F03460EA-9DD2-4C45-AD85-C25C8FEE2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anose="02020603050405020304" pitchFamily="18" charset="0"/>
            </a:endParaRPr>
          </a:p>
        </p:txBody>
      </p:sp>
      <p:pic>
        <p:nvPicPr>
          <p:cNvPr id="6153" name="Picture 28">
            <a:extLst>
              <a:ext uri="{FF2B5EF4-FFF2-40B4-BE49-F238E27FC236}">
                <a16:creationId xmlns:a16="http://schemas.microsoft.com/office/drawing/2014/main" id="{9B0FE40D-8265-4681-8D73-E0B11F21E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328" y="653184"/>
            <a:ext cx="8991600" cy="555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96FE-81D6-469C-9F52-FE46E7FC3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2385"/>
            <a:ext cx="10994834" cy="1492132"/>
          </a:xfrm>
        </p:spPr>
        <p:txBody>
          <a:bodyPr/>
          <a:lstStyle/>
          <a:p>
            <a:pPr algn="ctr"/>
            <a:r>
              <a:rPr lang="en-US" dirty="0"/>
              <a:t>Network device 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CD8BC-A3DE-48C2-A399-E6E3849F5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278" y="1470753"/>
            <a:ext cx="10178322" cy="3593591"/>
          </a:xfrm>
        </p:spPr>
        <p:txBody>
          <a:bodyPr>
            <a:normAutofit/>
          </a:bodyPr>
          <a:lstStyle/>
          <a:p>
            <a:r>
              <a:rPr lang="en-US" dirty="0"/>
              <a:t>Log Review</a:t>
            </a:r>
          </a:p>
          <a:p>
            <a:pPr lvl="1"/>
            <a:r>
              <a:rPr lang="en-US" dirty="0"/>
              <a:t>Traffic Logs</a:t>
            </a:r>
          </a:p>
          <a:p>
            <a:pPr lvl="2"/>
            <a:r>
              <a:rPr lang="en-US" dirty="0"/>
              <a:t>Network Devices</a:t>
            </a:r>
          </a:p>
          <a:p>
            <a:pPr lvl="1"/>
            <a:r>
              <a:rPr lang="en-US" dirty="0"/>
              <a:t>Audit Logs</a:t>
            </a:r>
          </a:p>
          <a:p>
            <a:pPr lvl="2"/>
            <a:r>
              <a:rPr lang="en-US" dirty="0"/>
              <a:t>Windows/</a:t>
            </a:r>
            <a:r>
              <a:rPr lang="en-US" dirty="0" err="1"/>
              <a:t>linux</a:t>
            </a:r>
            <a:r>
              <a:rPr lang="en-US" dirty="0"/>
              <a:t> systems</a:t>
            </a:r>
          </a:p>
          <a:p>
            <a:pPr lvl="1"/>
            <a:r>
              <a:rPr lang="en-US" dirty="0"/>
              <a:t>Syslog</a:t>
            </a:r>
          </a:p>
          <a:p>
            <a:pPr lvl="1"/>
            <a:r>
              <a:rPr lang="en-US" dirty="0" err="1"/>
              <a:t>SiEM</a:t>
            </a:r>
            <a:endParaRPr lang="en-US" dirty="0"/>
          </a:p>
          <a:p>
            <a:r>
              <a:rPr lang="en-US" dirty="0"/>
              <a:t>Logging Levels/Severity Levels</a:t>
            </a:r>
          </a:p>
        </p:txBody>
      </p:sp>
    </p:spTree>
    <p:extLst>
      <p:ext uri="{BB962C8B-B14F-4D97-AF65-F5344CB8AC3E}">
        <p14:creationId xmlns:p14="http://schemas.microsoft.com/office/powerpoint/2010/main" val="383795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518" y="167414"/>
            <a:ext cx="11148420" cy="1478570"/>
          </a:xfrm>
        </p:spPr>
        <p:txBody>
          <a:bodyPr/>
          <a:lstStyle/>
          <a:p>
            <a:pPr algn="ctr"/>
            <a:r>
              <a:rPr lang="en-US" dirty="0"/>
              <a:t>Cisco Log Levels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25" y="1542018"/>
            <a:ext cx="8942831" cy="499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3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E725-4DAD-471D-8F46-D297C30EB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18" y="0"/>
            <a:ext cx="11029981" cy="1478570"/>
          </a:xfrm>
        </p:spPr>
        <p:txBody>
          <a:bodyPr/>
          <a:lstStyle/>
          <a:p>
            <a:pPr algn="ctr"/>
            <a:r>
              <a:rPr lang="en-US" dirty="0"/>
              <a:t>Interface Statistics/status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361D-A29F-48D8-A8CE-04D8E36FB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18" y="1036350"/>
            <a:ext cx="10477564" cy="5821650"/>
          </a:xfrm>
        </p:spPr>
        <p:txBody>
          <a:bodyPr>
            <a:normAutofit/>
          </a:bodyPr>
          <a:lstStyle/>
          <a:p>
            <a:r>
              <a:rPr lang="en-US" dirty="0"/>
              <a:t>Link State</a:t>
            </a:r>
          </a:p>
          <a:p>
            <a:pPr lvl="1"/>
            <a:r>
              <a:rPr lang="en-US" dirty="0"/>
              <a:t>Is it up or down</a:t>
            </a:r>
          </a:p>
          <a:p>
            <a:pPr lvl="1"/>
            <a:r>
              <a:rPr lang="en-US" dirty="0"/>
              <a:t>First ting to check if we get a link error</a:t>
            </a:r>
          </a:p>
          <a:p>
            <a:pPr lvl="1"/>
            <a:endParaRPr lang="en-US" dirty="0"/>
          </a:p>
          <a:p>
            <a:r>
              <a:rPr lang="en-US" dirty="0"/>
              <a:t>Speed/Duplex</a:t>
            </a:r>
          </a:p>
          <a:p>
            <a:pPr lvl="1"/>
            <a:r>
              <a:rPr lang="en-US" dirty="0"/>
              <a:t>Both ends should match</a:t>
            </a:r>
          </a:p>
          <a:p>
            <a:pPr lvl="1"/>
            <a:r>
              <a:rPr lang="en-US" dirty="0"/>
              <a:t>Run the ‘ show running configuration command’ (</a:t>
            </a:r>
            <a:r>
              <a:rPr lang="en-US" dirty="0" err="1"/>
              <a:t>sh</a:t>
            </a:r>
            <a:r>
              <a:rPr lang="en-US" dirty="0"/>
              <a:t> run) to check interfaces on routers and switches</a:t>
            </a:r>
          </a:p>
          <a:p>
            <a:pPr lvl="1"/>
            <a:r>
              <a:rPr lang="en-US" dirty="0"/>
              <a:t>Usually set to Auto</a:t>
            </a:r>
          </a:p>
          <a:p>
            <a:r>
              <a:rPr lang="en-US" dirty="0"/>
              <a:t>Send/Receive Traffic</a:t>
            </a:r>
          </a:p>
          <a:p>
            <a:pPr lvl="1"/>
            <a:r>
              <a:rPr lang="en-US" dirty="0"/>
              <a:t>To check on interface you would run ‘ </a:t>
            </a:r>
            <a:r>
              <a:rPr lang="en-US" dirty="0" err="1"/>
              <a:t>sh</a:t>
            </a:r>
            <a:r>
              <a:rPr lang="en-US" dirty="0"/>
              <a:t> int &lt;int&gt;’</a:t>
            </a:r>
          </a:p>
          <a:p>
            <a:r>
              <a:rPr lang="en-US" dirty="0"/>
              <a:t>Cyclic Redundancy Checks (CRCs)</a:t>
            </a:r>
          </a:p>
          <a:p>
            <a:pPr lvl="1"/>
            <a:r>
              <a:rPr lang="en-US" dirty="0"/>
              <a:t>Error detection mechanism</a:t>
            </a:r>
          </a:p>
          <a:p>
            <a:r>
              <a:rPr lang="en-US" dirty="0"/>
              <a:t>Protocol Packet and Byte counts</a:t>
            </a:r>
          </a:p>
          <a:p>
            <a:pPr lvl="1"/>
            <a:r>
              <a:rPr lang="en-US" dirty="0"/>
              <a:t>To check you would run ‘</a:t>
            </a:r>
            <a:r>
              <a:rPr lang="en-US" dirty="0" err="1"/>
              <a:t>sh</a:t>
            </a:r>
            <a:r>
              <a:rPr lang="en-US" dirty="0"/>
              <a:t> int &lt;int&gt;</a:t>
            </a:r>
          </a:p>
        </p:txBody>
      </p:sp>
    </p:spTree>
    <p:extLst>
      <p:ext uri="{BB962C8B-B14F-4D97-AF65-F5344CB8AC3E}">
        <p14:creationId xmlns:p14="http://schemas.microsoft.com/office/powerpoint/2010/main" val="860882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E3DC-7661-4C92-917B-00F8B473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191798"/>
            <a:ext cx="11031410" cy="1478570"/>
          </a:xfrm>
        </p:spPr>
        <p:txBody>
          <a:bodyPr/>
          <a:lstStyle/>
          <a:p>
            <a:pPr algn="ctr"/>
            <a:r>
              <a:rPr lang="en-US" dirty="0"/>
              <a:t>Interface Errors or Alerts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7884B-37E2-4C73-9B3B-A55C54C21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916" y="1444814"/>
            <a:ext cx="10331260" cy="51144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CRC Errors</a:t>
            </a:r>
          </a:p>
          <a:p>
            <a:pPr lvl="1"/>
            <a:r>
              <a:rPr lang="en-US" dirty="0"/>
              <a:t>Damaged packet</a:t>
            </a:r>
          </a:p>
          <a:p>
            <a:pPr lvl="2"/>
            <a:r>
              <a:rPr lang="en-US" dirty="0"/>
              <a:t>Bad port, bad cable, duplex mismatch,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Giants</a:t>
            </a:r>
          </a:p>
          <a:p>
            <a:pPr lvl="1"/>
            <a:r>
              <a:rPr lang="en-US" dirty="0"/>
              <a:t>Packets that exceed the maximum packet size and/or incorrect frame check sequence</a:t>
            </a:r>
          </a:p>
          <a:p>
            <a:pPr lvl="1"/>
            <a:r>
              <a:rPr lang="en-US" dirty="0"/>
              <a:t>Usually discarded</a:t>
            </a:r>
          </a:p>
          <a:p>
            <a:pPr lvl="1"/>
            <a:r>
              <a:rPr lang="en-US" dirty="0"/>
              <a:t>Caused by a bad NIC</a:t>
            </a:r>
          </a:p>
          <a:p>
            <a:r>
              <a:rPr lang="en-US" dirty="0"/>
              <a:t>Runts</a:t>
            </a:r>
          </a:p>
          <a:p>
            <a:pPr lvl="1"/>
            <a:r>
              <a:rPr lang="en-US" dirty="0"/>
              <a:t>Packets that do not meet minimum packet size</a:t>
            </a:r>
          </a:p>
          <a:p>
            <a:pPr lvl="1"/>
            <a:r>
              <a:rPr lang="en-US" dirty="0"/>
              <a:t>Usually discarded</a:t>
            </a:r>
          </a:p>
          <a:p>
            <a:pPr lvl="1"/>
            <a:r>
              <a:rPr lang="en-US" dirty="0"/>
              <a:t>Caused by bad NIC</a:t>
            </a:r>
          </a:p>
          <a:p>
            <a:r>
              <a:rPr lang="en-US" dirty="0"/>
              <a:t>Encapsulation Errors</a:t>
            </a:r>
          </a:p>
          <a:p>
            <a:pPr lvl="1"/>
            <a:r>
              <a:rPr lang="en-US" dirty="0"/>
              <a:t>Missing header from OSI layer</a:t>
            </a:r>
          </a:p>
          <a:p>
            <a:pPr lvl="1"/>
            <a:r>
              <a:rPr lang="en-US" dirty="0"/>
              <a:t>Example- layer 3 missing layer 2 information.  Cant forward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50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76AFF-36B1-4187-B1EE-26A4CEDA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9" y="382385"/>
            <a:ext cx="11005851" cy="1492132"/>
          </a:xfrm>
        </p:spPr>
        <p:txBody>
          <a:bodyPr/>
          <a:lstStyle/>
          <a:p>
            <a:pPr algn="ctr"/>
            <a:r>
              <a:rPr lang="en-US" dirty="0"/>
              <a:t>Environmental factors and 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2D0E3-BCD3-4029-A812-DF99EBE8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9" y="1790242"/>
            <a:ext cx="10178322" cy="3593591"/>
          </a:xfrm>
        </p:spPr>
        <p:txBody>
          <a:bodyPr/>
          <a:lstStyle/>
          <a:p>
            <a:r>
              <a:rPr lang="en-US" dirty="0"/>
              <a:t>Temperature</a:t>
            </a:r>
          </a:p>
          <a:p>
            <a:r>
              <a:rPr lang="en-US" dirty="0"/>
              <a:t>Humidity</a:t>
            </a:r>
          </a:p>
          <a:p>
            <a:r>
              <a:rPr lang="en-US" dirty="0"/>
              <a:t>Electrical</a:t>
            </a:r>
          </a:p>
          <a:p>
            <a:pPr lvl="1"/>
            <a:r>
              <a:rPr lang="en-US" dirty="0"/>
              <a:t>UPS</a:t>
            </a:r>
          </a:p>
          <a:p>
            <a:pPr lvl="1"/>
            <a:r>
              <a:rPr lang="en-US" dirty="0"/>
              <a:t>Multiple Circuits</a:t>
            </a:r>
          </a:p>
          <a:p>
            <a:r>
              <a:rPr lang="en-US" dirty="0"/>
              <a:t>Flooding</a:t>
            </a:r>
          </a:p>
          <a:p>
            <a:pPr lvl="1"/>
            <a:r>
              <a:rPr lang="en-US" dirty="0"/>
              <a:t>Severs/datacenters on upper floors or raised floors</a:t>
            </a:r>
          </a:p>
        </p:txBody>
      </p:sp>
    </p:spTree>
    <p:extLst>
      <p:ext uri="{BB962C8B-B14F-4D97-AF65-F5344CB8AC3E}">
        <p14:creationId xmlns:p14="http://schemas.microsoft.com/office/powerpoint/2010/main" val="3902333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Rectangle 12">
            <a:extLst>
              <a:ext uri="{FF2B5EF4-FFF2-40B4-BE49-F238E27FC236}">
                <a16:creationId xmlns:a16="http://schemas.microsoft.com/office/drawing/2014/main" id="{803DFB10-C300-47FD-9034-56C30C31E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anose="02020603050405020304" pitchFamily="18" charset="0"/>
            </a:endParaRPr>
          </a:p>
        </p:txBody>
      </p:sp>
      <p:pic>
        <p:nvPicPr>
          <p:cNvPr id="15369" name="Picture 2">
            <a:extLst>
              <a:ext uri="{FF2B5EF4-FFF2-40B4-BE49-F238E27FC236}">
                <a16:creationId xmlns:a16="http://schemas.microsoft.com/office/drawing/2014/main" id="{82F7F639-73BE-41FE-8B41-DC6B626FD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913" y="362712"/>
            <a:ext cx="9796271" cy="6273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28EA-A124-4D62-9784-34DA62897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383" y="382385"/>
            <a:ext cx="10526617" cy="1492132"/>
          </a:xfrm>
        </p:spPr>
        <p:txBody>
          <a:bodyPr/>
          <a:lstStyle/>
          <a:p>
            <a:pPr algn="ctr"/>
            <a:r>
              <a:rPr lang="en-US" dirty="0" err="1"/>
              <a:t>Misc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775F-AF8C-45B1-A724-23B578928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9" y="1228381"/>
            <a:ext cx="10178322" cy="3593591"/>
          </a:xfrm>
        </p:spPr>
        <p:txBody>
          <a:bodyPr/>
          <a:lstStyle/>
          <a:p>
            <a:r>
              <a:rPr lang="en-US" dirty="0"/>
              <a:t>Baselines</a:t>
            </a:r>
          </a:p>
          <a:p>
            <a:r>
              <a:rPr lang="en-US" dirty="0" err="1"/>
              <a:t>Netflow</a:t>
            </a:r>
            <a:r>
              <a:rPr lang="en-US" dirty="0"/>
              <a:t> data</a:t>
            </a:r>
          </a:p>
          <a:p>
            <a:r>
              <a:rPr lang="en-US" dirty="0"/>
              <a:t>Uptime/downtime</a:t>
            </a:r>
          </a:p>
          <a:p>
            <a:pPr lvl="1"/>
            <a:r>
              <a:rPr lang="en-US" dirty="0"/>
              <a:t>99.99</a:t>
            </a:r>
          </a:p>
          <a:p>
            <a:pPr lvl="1"/>
            <a:r>
              <a:rPr lang="en-US" dirty="0"/>
              <a:t>99.999</a:t>
            </a:r>
          </a:p>
        </p:txBody>
      </p:sp>
    </p:spTree>
    <p:extLst>
      <p:ext uri="{BB962C8B-B14F-4D97-AF65-F5344CB8AC3E}">
        <p14:creationId xmlns:p14="http://schemas.microsoft.com/office/powerpoint/2010/main" val="93658716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245</TotalTime>
  <Words>487</Words>
  <Application>Microsoft Macintosh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Gill Sans MT</vt:lpstr>
      <vt:lpstr>Impact</vt:lpstr>
      <vt:lpstr>Times</vt:lpstr>
      <vt:lpstr>Badge</vt:lpstr>
      <vt:lpstr>Chapter 22</vt:lpstr>
      <vt:lpstr>Performance metrics</vt:lpstr>
      <vt:lpstr>Performance metrics/sensors</vt:lpstr>
      <vt:lpstr>SNMP</vt:lpstr>
      <vt:lpstr>SNMP Traps</vt:lpstr>
      <vt:lpstr>Network device logs</vt:lpstr>
      <vt:lpstr>Cisco Log Levels</vt:lpstr>
      <vt:lpstr>Interface Statistics/status</vt:lpstr>
      <vt:lpstr>Interface Errors or Alerts</vt:lpstr>
      <vt:lpstr>Environmental factors and sensors</vt:lpstr>
      <vt:lpstr>PowerPoint Presentation</vt:lpstr>
      <vt:lpstr>Misc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</dc:title>
  <dc:creator>Angel Maldonado</dc:creator>
  <cp:lastModifiedBy>Adrienne Bailey</cp:lastModifiedBy>
  <cp:revision>3</cp:revision>
  <dcterms:created xsi:type="dcterms:W3CDTF">2022-02-20T21:50:27Z</dcterms:created>
  <dcterms:modified xsi:type="dcterms:W3CDTF">2022-09-14T22:22:34Z</dcterms:modified>
</cp:coreProperties>
</file>