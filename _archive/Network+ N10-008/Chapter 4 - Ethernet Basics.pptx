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5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59" r:id="rId6"/>
    <p:sldId id="260" r:id="rId7"/>
    <p:sldId id="276" r:id="rId8"/>
    <p:sldId id="261" r:id="rId9"/>
    <p:sldId id="262" r:id="rId10"/>
    <p:sldId id="265" r:id="rId11"/>
    <p:sldId id="273" r:id="rId12"/>
    <p:sldId id="27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64684"/>
  </p:normalViewPr>
  <p:slideViewPr>
    <p:cSldViewPr snapToGrid="0">
      <p:cViewPr varScale="1">
        <p:scale>
          <a:sx n="72" d="100"/>
          <a:sy n="72" d="100"/>
        </p:scale>
        <p:origin x="2160" y="18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F0410-1C0A-AF4E-AF83-313346537B3E}" type="datetimeFigureOut">
              <a:rPr lang="en-US" smtClean="0"/>
              <a:t>9/19/22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91E12-B666-2D4D-A917-ED4C78E35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5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1E12-B666-2D4D-A917-ED4C78E359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21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4 octets = 32 bit for IPv4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IP addresses are used at Layer 3 w/ Routers and Smart Switches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Passing data over the internet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MAC address is a hardware address, if devices are on the same LAN, a switch or hub will use the MAC address to determine the destination of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Always associate MAC addresses with Layer 2 switches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Chapter 6 we’ll cover the relationship between a MAC address and IP 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1E12-B666-2D4D-A917-ED4C78E359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4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Collison domains are occur when multiple devices attempt to send traffic at the same time, thereby creating a collision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a collision domain all devices are attempting to transmit data over one single link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Collisions have a negative effect on the performance of network traffic, think of how long it takes you to get somewhere when there is multiple accidents on 95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Accidents are things you want to avoid right?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Broadcast domains traffic flows throughout the entire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broadcast domain represents a logical/virtual set of devices that are reachable without a router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collisions occur in the broadcast domains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1E12-B666-2D4D-A917-ED4C78E359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CSMA/CD</a:t>
            </a:r>
            <a:r>
              <a:rPr lang="en-US" dirty="0"/>
              <a:t>: Collision detection, think wired connections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way it works is it’ll send a signal, recognize transmission is already being because signal, then it’ll wait on a specified time to send that data again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CSMA/CA</a:t>
            </a:r>
            <a:r>
              <a:rPr lang="en-US" b="0" u="none" dirty="0"/>
              <a:t>: The</a:t>
            </a:r>
            <a:r>
              <a:rPr lang="en-US" dirty="0"/>
              <a:t> way it works is, before transmitting data, it checks to see if data is being sent, if there is nothing being sent, then it will send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it detects a signal, a busy tone is basically given to all other hosts to wait until it is done transmitting information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busy signal has a timer and once the timer expires, any host has equal opportunity to begin their transmission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causes delays, low throughput, and congestion (SLOW)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1E12-B666-2D4D-A917-ED4C78E359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16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Broadband allows you to send both analog and digital signals over the same physical cable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Broadband has frequency-division multiplexing; that allows you to send multiple frequencies on the same wire at the same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Baseband uses all bandwidth and can only send one signal, all LANs use 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setup causes collisions, because multiple signals are not able to be sent at the same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Bit rate- number of 1s and 0s transmitted per second in either a digital or analog signal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78,000 would represent how many 1s and 0s can be transmitted per second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Baud rate is the unit number of signals per second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Wavelength, when it gets charted out on a graph, is the distance between its high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1E12-B666-2D4D-A917-ED4C78E359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9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1E12-B666-2D4D-A917-ED4C78E359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5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100 represents the speed in Mbps, the word base is saying its baseband, TX represents it being Twisted pair (Fast Ethernet), Cat 5, 5e, or 6 two-pair wiring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100 represent the speed in Mbps, base is baseband, but FX represents fiber. F always represents fiber. MMF. FX uses laser components to transmit light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1000BaseCX uses a </a:t>
            </a:r>
            <a:r>
              <a:rPr lang="en-US" dirty="0" err="1"/>
              <a:t>twinax</a:t>
            </a:r>
            <a:r>
              <a:rPr lang="en-US" dirty="0"/>
              <a:t> running up to 25m and uses a High-Speed Serial Data Connector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1000Base-T is 1GB/s or 1000Mbps speed. Uses at least Cat5 4pair wiring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1E12-B666-2D4D-A917-ED4C78E359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42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1000Base-SX is 1Gbps over MMF, using LED light to transmit, uses a shorter wavelength laser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1000Base-LX is 1Gbps over SMF, uses longer wavelength laser, MMF can be up to 550m or SMF 3km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10GBase-T, uses 10Gbps over high frequency, requires a minimum of Cat6, UTP distance is 55m and STP is 100m, Cat6A (augmented) supports 100m shielded or unshielded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Anything with a T is twisted pair, S/L/E are all fiber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1E12-B666-2D4D-A917-ED4C78E359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3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Short range fiber (SR); MMF; 25-400m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Long range fiber (LR); SMF; 10km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Extra-</a:t>
            </a:r>
            <a:r>
              <a:rPr lang="en-US" dirty="0" err="1"/>
              <a:t>Longe</a:t>
            </a:r>
            <a:r>
              <a:rPr lang="en-US" dirty="0"/>
              <a:t> range fiber (ER); 40km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1E12-B666-2D4D-A917-ED4C78E359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36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9040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716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410513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89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48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60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9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30398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10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878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785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9/19/22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9381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A4747-2380-4B23-95C7-5422C31DA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952112" cy="4394988"/>
          </a:xfrm>
        </p:spPr>
        <p:txBody>
          <a:bodyPr/>
          <a:lstStyle/>
          <a:p>
            <a:r>
              <a:rPr lang="en-US" dirty="0"/>
              <a:t>Chapter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A9C23-975E-47B3-81F8-199089B97D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Network Basics</a:t>
            </a:r>
          </a:p>
        </p:txBody>
      </p:sp>
    </p:spTree>
    <p:extLst>
      <p:ext uri="{BB962C8B-B14F-4D97-AF65-F5344CB8AC3E}">
        <p14:creationId xmlns:p14="http://schemas.microsoft.com/office/powerpoint/2010/main" val="3610505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BC34E-407A-4399-B37E-22BFE512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Moving Data Around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D4701-5001-4080-810D-B4030488C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204"/>
            <a:ext cx="10178322" cy="3593591"/>
          </a:xfrm>
        </p:spPr>
        <p:txBody>
          <a:bodyPr/>
          <a:lstStyle/>
          <a:p>
            <a:r>
              <a:rPr lang="en-US" dirty="0"/>
              <a:t>IP Addresses</a:t>
            </a:r>
          </a:p>
          <a:p>
            <a:pPr lvl="1"/>
            <a:r>
              <a:rPr lang="en-US" dirty="0"/>
              <a:t>4 sets of Octets, 32 Bits total</a:t>
            </a:r>
          </a:p>
          <a:p>
            <a:pPr lvl="1"/>
            <a:r>
              <a:rPr lang="en-US" dirty="0"/>
              <a:t>Layer 3 – Routers</a:t>
            </a:r>
          </a:p>
          <a:p>
            <a:r>
              <a:rPr lang="en-US" dirty="0"/>
              <a:t>Mac Addresses</a:t>
            </a:r>
          </a:p>
          <a:p>
            <a:pPr lvl="1"/>
            <a:r>
              <a:rPr lang="en-US" dirty="0"/>
              <a:t>6 pairs of Hexa-decimal numbers</a:t>
            </a:r>
          </a:p>
          <a:p>
            <a:pPr lvl="1"/>
            <a:r>
              <a:rPr lang="en-US" dirty="0"/>
              <a:t>First 3 Pairs, Identifies company</a:t>
            </a:r>
          </a:p>
          <a:p>
            <a:pPr lvl="1"/>
            <a:r>
              <a:rPr lang="en-US" dirty="0"/>
              <a:t>Last 3 Pairs, randomized by company</a:t>
            </a:r>
          </a:p>
          <a:p>
            <a:pPr lvl="1"/>
            <a:r>
              <a:rPr lang="en-US" dirty="0"/>
              <a:t>Layer 2 - Switches</a:t>
            </a:r>
          </a:p>
        </p:txBody>
      </p:sp>
    </p:spTree>
    <p:extLst>
      <p:ext uri="{BB962C8B-B14F-4D97-AF65-F5344CB8AC3E}">
        <p14:creationId xmlns:p14="http://schemas.microsoft.com/office/powerpoint/2010/main" val="61082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871D-C842-4588-8EF6-CCBEF02B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Ethernet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F820C-F33D-4DC8-A2E6-2FE136B87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035352"/>
            <a:ext cx="10178322" cy="3593591"/>
          </a:xfrm>
        </p:spPr>
        <p:txBody>
          <a:bodyPr/>
          <a:lstStyle/>
          <a:p>
            <a:r>
              <a:rPr lang="en-US" dirty="0"/>
              <a:t>Collision Domains</a:t>
            </a:r>
          </a:p>
          <a:p>
            <a:pPr lvl="1"/>
            <a:r>
              <a:rPr lang="en-US" dirty="0"/>
              <a:t>Layer 1 – All</a:t>
            </a:r>
          </a:p>
          <a:p>
            <a:pPr lvl="1"/>
            <a:r>
              <a:rPr lang="en-US" dirty="0"/>
              <a:t>Layer 2 – Per Interface</a:t>
            </a:r>
          </a:p>
          <a:p>
            <a:pPr lvl="1"/>
            <a:r>
              <a:rPr lang="en-US" dirty="0"/>
              <a:t>Layer 3 – Per Interface</a:t>
            </a:r>
          </a:p>
          <a:p>
            <a:r>
              <a:rPr lang="en-US" dirty="0"/>
              <a:t>Broadcast Domains</a:t>
            </a:r>
          </a:p>
          <a:p>
            <a:pPr lvl="1"/>
            <a:r>
              <a:rPr lang="en-US" dirty="0"/>
              <a:t>Layer 1 – All</a:t>
            </a:r>
          </a:p>
          <a:p>
            <a:pPr lvl="1"/>
            <a:r>
              <a:rPr lang="en-US" dirty="0"/>
              <a:t>Layer 2 – Per Network</a:t>
            </a:r>
          </a:p>
          <a:p>
            <a:pPr lvl="1"/>
            <a:r>
              <a:rPr lang="en-US" dirty="0"/>
              <a:t>Layer 3 – Per Interface</a:t>
            </a:r>
          </a:p>
        </p:txBody>
      </p:sp>
    </p:spTree>
    <p:extLst>
      <p:ext uri="{BB962C8B-B14F-4D97-AF65-F5344CB8AC3E}">
        <p14:creationId xmlns:p14="http://schemas.microsoft.com/office/powerpoint/2010/main" val="1792688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llision Domain in The Network Encyclopedia">
            <a:extLst>
              <a:ext uri="{FF2B5EF4-FFF2-40B4-BE49-F238E27FC236}">
                <a16:creationId xmlns:a16="http://schemas.microsoft.com/office/drawing/2014/main" id="{BD87B08F-228C-4A5C-9E7E-638B2C3AF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2218" y="345429"/>
            <a:ext cx="7373155" cy="6138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931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3215-9A9A-4A6E-AB80-7D23CCA3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382385"/>
            <a:ext cx="10443882" cy="1492132"/>
          </a:xfrm>
        </p:spPr>
        <p:txBody>
          <a:bodyPr/>
          <a:lstStyle/>
          <a:p>
            <a:pPr algn="ctr"/>
            <a:r>
              <a:rPr lang="en-US" dirty="0"/>
              <a:t>Carrier Sense Multiple Access (CSMA)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FEEE8-10E1-48EC-A87D-B74425BF7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Collision Detection</a:t>
            </a:r>
          </a:p>
          <a:p>
            <a:pPr lvl="1"/>
            <a:r>
              <a:rPr lang="en-US" dirty="0"/>
              <a:t>802.3</a:t>
            </a:r>
          </a:p>
          <a:p>
            <a:r>
              <a:rPr lang="en-US" dirty="0"/>
              <a:t>Collision Avoidance</a:t>
            </a:r>
          </a:p>
          <a:p>
            <a:pPr lvl="1"/>
            <a:r>
              <a:rPr lang="en-US" dirty="0"/>
              <a:t>802.11</a:t>
            </a:r>
          </a:p>
        </p:txBody>
      </p:sp>
    </p:spTree>
    <p:extLst>
      <p:ext uri="{BB962C8B-B14F-4D97-AF65-F5344CB8AC3E}">
        <p14:creationId xmlns:p14="http://schemas.microsoft.com/office/powerpoint/2010/main" val="1344679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64FC5-5DF5-4059-8D45-4090B42B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Ethernet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62DE0-5D32-42CD-BE3B-3DD6CF245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204"/>
            <a:ext cx="10178322" cy="455344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Broadband</a:t>
            </a:r>
          </a:p>
          <a:p>
            <a:pPr lvl="1"/>
            <a:r>
              <a:rPr lang="en-US" dirty="0"/>
              <a:t>Multiple frequencies of different signals on the same line </a:t>
            </a:r>
          </a:p>
          <a:p>
            <a:pPr lvl="1"/>
            <a:r>
              <a:rPr lang="en-US" dirty="0"/>
              <a:t>Used to carry voice and data traffic</a:t>
            </a:r>
          </a:p>
          <a:p>
            <a:r>
              <a:rPr lang="en-US" dirty="0"/>
              <a:t>Baseband</a:t>
            </a:r>
          </a:p>
          <a:p>
            <a:pPr lvl="1"/>
            <a:r>
              <a:rPr lang="en-US" dirty="0"/>
              <a:t>One signal all the bandwidth</a:t>
            </a:r>
          </a:p>
          <a:p>
            <a:pPr lvl="1"/>
            <a:r>
              <a:rPr lang="en-US" dirty="0"/>
              <a:t>Used for Internet/Networking (Think Cat5e)</a:t>
            </a:r>
          </a:p>
          <a:p>
            <a:r>
              <a:rPr lang="en-US" dirty="0"/>
              <a:t>Bit Rate</a:t>
            </a:r>
          </a:p>
          <a:p>
            <a:pPr lvl="1"/>
            <a:r>
              <a:rPr lang="en-US" dirty="0"/>
              <a:t>Number of Data Bits transferred per second</a:t>
            </a:r>
          </a:p>
          <a:p>
            <a:r>
              <a:rPr lang="en-US" dirty="0"/>
              <a:t>Baud Rate</a:t>
            </a:r>
          </a:p>
          <a:p>
            <a:pPr lvl="1"/>
            <a:r>
              <a:rPr lang="en-US" dirty="0"/>
              <a:t>Number of Characters transferred per second</a:t>
            </a:r>
          </a:p>
          <a:p>
            <a:r>
              <a:rPr lang="en-US" dirty="0"/>
              <a:t>Wavelength</a:t>
            </a:r>
          </a:p>
          <a:p>
            <a:pPr lvl="1"/>
            <a:r>
              <a:rPr lang="en-US" dirty="0"/>
              <a:t>Size of the wave in an analog signal</a:t>
            </a:r>
          </a:p>
        </p:txBody>
      </p:sp>
    </p:spTree>
    <p:extLst>
      <p:ext uri="{BB962C8B-B14F-4D97-AF65-F5344CB8AC3E}">
        <p14:creationId xmlns:p14="http://schemas.microsoft.com/office/powerpoint/2010/main" val="4025366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wavelength?">
            <a:extLst>
              <a:ext uri="{FF2B5EF4-FFF2-40B4-BE49-F238E27FC236}">
                <a16:creationId xmlns:a16="http://schemas.microsoft.com/office/drawing/2014/main" id="{10BB81F6-3941-C3BC-1C49-00ED0E000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318" y="228716"/>
            <a:ext cx="5414682" cy="41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bit rate and baud rate with examples – BytesofGigabytes">
            <a:extLst>
              <a:ext uri="{FF2B5EF4-FFF2-40B4-BE49-F238E27FC236}">
                <a16:creationId xmlns:a16="http://schemas.microsoft.com/office/drawing/2014/main" id="{51EA5D43-9B7D-EE10-401A-5E4D8AB70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28" y="583236"/>
            <a:ext cx="6361090" cy="520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193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9662-A233-4741-AD32-5C00B04A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Sending Data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C15F7-739E-47C8-AFA4-C70F09FD5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Duplex</a:t>
            </a:r>
          </a:p>
          <a:p>
            <a:pPr lvl="1"/>
            <a:r>
              <a:rPr lang="en-US" dirty="0"/>
              <a:t>Both directions</a:t>
            </a:r>
          </a:p>
          <a:p>
            <a:r>
              <a:rPr lang="en-US" dirty="0"/>
              <a:t>Half Duplex</a:t>
            </a:r>
          </a:p>
          <a:p>
            <a:pPr lvl="1"/>
            <a:r>
              <a:rPr lang="en-US" dirty="0"/>
              <a:t>One way at a time</a:t>
            </a:r>
          </a:p>
          <a:p>
            <a:r>
              <a:rPr lang="en-US" dirty="0"/>
              <a:t>Simplex</a:t>
            </a:r>
          </a:p>
          <a:p>
            <a:pPr lvl="1"/>
            <a:r>
              <a:rPr lang="en-US" dirty="0"/>
              <a:t>One way only</a:t>
            </a:r>
          </a:p>
        </p:txBody>
      </p:sp>
      <p:pic>
        <p:nvPicPr>
          <p:cNvPr id="2050" name="Picture 2" descr="Duplex mismatch">
            <a:extLst>
              <a:ext uri="{FF2B5EF4-FFF2-40B4-BE49-F238E27FC236}">
                <a16:creationId xmlns:a16="http://schemas.microsoft.com/office/drawing/2014/main" id="{494CEE08-C7EC-AA39-641D-A1D863117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741" y="1201270"/>
            <a:ext cx="5130800" cy="552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647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D098-9D7F-44D4-AFBB-32A0918CE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Binary and hexadecimal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BB99E-566C-4F79-9E04-4B9BCABF5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COME BACK TO THIS!</a:t>
            </a:r>
          </a:p>
        </p:txBody>
      </p:sp>
    </p:spTree>
    <p:extLst>
      <p:ext uri="{BB962C8B-B14F-4D97-AF65-F5344CB8AC3E}">
        <p14:creationId xmlns:p14="http://schemas.microsoft.com/office/powerpoint/2010/main" val="427021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5">
            <a:extLst>
              <a:ext uri="{FF2B5EF4-FFF2-40B4-BE49-F238E27FC236}">
                <a16:creationId xmlns:a16="http://schemas.microsoft.com/office/drawing/2014/main" id="{93814D5D-89A5-4609-B4A1-9B5D3D4BC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51" y="155739"/>
            <a:ext cx="14478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Rectangle 8">
            <a:extLst>
              <a:ext uri="{FF2B5EF4-FFF2-40B4-BE49-F238E27FC236}">
                <a16:creationId xmlns:a16="http://schemas.microsoft.com/office/drawing/2014/main" id="{A2E6499A-BD82-4B42-A4DF-FC370302B7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4706" y="274638"/>
            <a:ext cx="10488706" cy="1143000"/>
          </a:xfrm>
          <a:noFill/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dirty="0">
                <a:ea typeface="ＭＳ Ｐゴシック" panose="020B0600070205080204" pitchFamily="34" charset="-128"/>
              </a:rPr>
              <a:t>IEEE Ethernet Standards</a:t>
            </a:r>
          </a:p>
        </p:txBody>
      </p:sp>
      <p:sp>
        <p:nvSpPr>
          <p:cNvPr id="35846" name="Rectangle 9">
            <a:extLst>
              <a:ext uri="{FF2B5EF4-FFF2-40B4-BE49-F238E27FC236}">
                <a16:creationId xmlns:a16="http://schemas.microsoft.com/office/drawing/2014/main" id="{AF4A22E6-47EE-4CC6-B4F0-0658FA7FC8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54827" y="1255058"/>
            <a:ext cx="8198428" cy="5328303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000" b="1" dirty="0">
                <a:ea typeface="ＭＳ Ｐゴシック" panose="020B0600070205080204" pitchFamily="34" charset="-128"/>
              </a:rPr>
              <a:t>100Base-TX (IEEE 802.3u)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commonly known as Fast Ethernet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uses Category 5, 5E, or 6, UTP two-pair wiring.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One user per segment; up to 100 meters long.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uses an RJ-45 connector.</a:t>
            </a:r>
          </a:p>
          <a:p>
            <a:r>
              <a:rPr lang="en-US" altLang="en-US" sz="2000" b="1" dirty="0">
                <a:ea typeface="ＭＳ Ｐゴシック" panose="020B0600070205080204" pitchFamily="34" charset="-128"/>
              </a:rPr>
              <a:t>100Base-FX (IEEE 802.3u)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Uses fiber cabling 62.5/125-micron multimode fiber.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Point-to-point topology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412 meters long.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uses ST and SC connectors</a:t>
            </a:r>
          </a:p>
          <a:p>
            <a:r>
              <a:rPr lang="en-US" altLang="en-US" sz="2000" b="1" dirty="0">
                <a:ea typeface="ＭＳ Ｐゴシック" panose="020B0600070205080204" pitchFamily="34" charset="-128"/>
              </a:rPr>
              <a:t>1000Base-CX (IEEE 802.3z)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Copper twisted-pair called </a:t>
            </a:r>
            <a:r>
              <a:rPr lang="en-US" altLang="en-US" dirty="0" err="1">
                <a:ea typeface="ＭＳ Ｐゴシック" panose="020B0600070205080204" pitchFamily="34" charset="-128"/>
              </a:rPr>
              <a:t>twinax</a:t>
            </a:r>
            <a:r>
              <a:rPr lang="en-US" altLang="en-US" dirty="0">
                <a:ea typeface="ＭＳ Ｐゴシック" panose="020B0600070205080204" pitchFamily="34" charset="-128"/>
              </a:rPr>
              <a:t> (a balanced coaxial pair)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can run only up to 25 meters and uses a special 9-pin connector known as the High Speed Serial Data Connector (HSSDC).</a:t>
            </a:r>
          </a:p>
          <a:p>
            <a:r>
              <a:rPr lang="en-US" altLang="en-US" sz="2000" b="1" dirty="0">
                <a:ea typeface="ＭＳ Ｐゴシック" panose="020B0600070205080204" pitchFamily="34" charset="-128"/>
              </a:rPr>
              <a:t>1000Base-T (IEEE 802.3ab)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Category 5, four-pair UTP wiring up to 100 meters long.</a:t>
            </a:r>
          </a:p>
        </p:txBody>
      </p:sp>
      <p:sp>
        <p:nvSpPr>
          <p:cNvPr id="35848" name="Rectangle 12">
            <a:extLst>
              <a:ext uri="{FF2B5EF4-FFF2-40B4-BE49-F238E27FC236}">
                <a16:creationId xmlns:a16="http://schemas.microsoft.com/office/drawing/2014/main" id="{3D15C356-6E54-4C88-B461-36B0F733F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5">
            <a:extLst>
              <a:ext uri="{FF2B5EF4-FFF2-40B4-BE49-F238E27FC236}">
                <a16:creationId xmlns:a16="http://schemas.microsoft.com/office/drawing/2014/main" id="{52B97B71-9C89-4710-BFE2-C1715A917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3513"/>
            <a:ext cx="14478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Rectangle 8">
            <a:extLst>
              <a:ext uri="{FF2B5EF4-FFF2-40B4-BE49-F238E27FC236}">
                <a16:creationId xmlns:a16="http://schemas.microsoft.com/office/drawing/2014/main" id="{A85F3745-E1E5-4855-8A59-0266A6E8B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7600" y="274638"/>
            <a:ext cx="65532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IEEE Standards (cont.)</a:t>
            </a:r>
          </a:p>
        </p:txBody>
      </p:sp>
      <p:sp>
        <p:nvSpPr>
          <p:cNvPr id="36870" name="Rectangle 9">
            <a:extLst>
              <a:ext uri="{FF2B5EF4-FFF2-40B4-BE49-F238E27FC236}">
                <a16:creationId xmlns:a16="http://schemas.microsoft.com/office/drawing/2014/main" id="{A1C90842-B3E9-4FA5-BB96-2007A58C8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52700" y="1417638"/>
            <a:ext cx="6667500" cy="4972771"/>
          </a:xfrm>
        </p:spPr>
        <p:txBody>
          <a:bodyPr>
            <a:normAutofit lnSpcReduction="10000"/>
          </a:bodyPr>
          <a:lstStyle/>
          <a:p>
            <a:r>
              <a:rPr lang="en-US" altLang="en-US" sz="2000" b="1" dirty="0">
                <a:ea typeface="ＭＳ Ｐゴシック" panose="020B0600070205080204" pitchFamily="34" charset="-128"/>
              </a:rPr>
              <a:t>1000Base-SX (IEEE 802.3z)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Gigabit Ethernet running over multimode fiber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Multimode fiber (MMF) using 62.5- and 50-micron core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can go up to 220 meters with 62.5-micron, 550 meters with 50-micron.</a:t>
            </a:r>
          </a:p>
          <a:p>
            <a:r>
              <a:rPr lang="en-US" altLang="en-US" sz="2000" b="1" dirty="0">
                <a:ea typeface="ＭＳ Ｐゴシック" panose="020B0600070205080204" pitchFamily="34" charset="-128"/>
              </a:rPr>
              <a:t>1000Base-LX (IEEE 802.3z)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Single-mode fiber that uses a 9-micron core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can go from 3 km up to 10 km.</a:t>
            </a:r>
          </a:p>
          <a:p>
            <a:r>
              <a:rPr lang="en-US" altLang="en-US" sz="2000" b="1" dirty="0">
                <a:ea typeface="ＭＳ Ｐゴシック" panose="020B0600070205080204" pitchFamily="34" charset="-128"/>
              </a:rPr>
              <a:t>10GBase-T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10Gbps connections over conventional UTP cables 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allows the conventional RJ-45 used for Ethernet LANs.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supports signal transmission at the full 100-meter distance specified for LAN wiring.</a:t>
            </a:r>
          </a:p>
        </p:txBody>
      </p:sp>
      <p:sp>
        <p:nvSpPr>
          <p:cNvPr id="36872" name="Rectangle 12">
            <a:extLst>
              <a:ext uri="{FF2B5EF4-FFF2-40B4-BE49-F238E27FC236}">
                <a16:creationId xmlns:a16="http://schemas.microsoft.com/office/drawing/2014/main" id="{B1DA3D05-3FDD-471E-99E6-71E5116DD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5">
            <a:extLst>
              <a:ext uri="{FF2B5EF4-FFF2-40B4-BE49-F238E27FC236}">
                <a16:creationId xmlns:a16="http://schemas.microsoft.com/office/drawing/2014/main" id="{6C66DC48-441B-4F47-8147-893BF9C0A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3513"/>
            <a:ext cx="14478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Rectangle 8">
            <a:extLst>
              <a:ext uri="{FF2B5EF4-FFF2-40B4-BE49-F238E27FC236}">
                <a16:creationId xmlns:a16="http://schemas.microsoft.com/office/drawing/2014/main" id="{2E985084-A9A1-4F74-8AC3-63B717FCEA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7600" y="274638"/>
            <a:ext cx="6553200" cy="11430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IEEE Standards (cont.)</a:t>
            </a:r>
          </a:p>
        </p:txBody>
      </p:sp>
      <p:sp>
        <p:nvSpPr>
          <p:cNvPr id="37894" name="Rectangle 9">
            <a:extLst>
              <a:ext uri="{FF2B5EF4-FFF2-40B4-BE49-F238E27FC236}">
                <a16:creationId xmlns:a16="http://schemas.microsoft.com/office/drawing/2014/main" id="{3F5564AE-9B0B-40CF-9C1F-FD582A4D8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52699" y="1417638"/>
            <a:ext cx="7100455" cy="4993553"/>
          </a:xfrm>
        </p:spPr>
        <p:txBody>
          <a:bodyPr>
            <a:normAutofit/>
          </a:bodyPr>
          <a:lstStyle/>
          <a:p>
            <a:r>
              <a:rPr lang="en-US" altLang="en-US" sz="2000" b="1" dirty="0">
                <a:ea typeface="ＭＳ Ｐゴシック" panose="020B0600070205080204" pitchFamily="34" charset="-128"/>
              </a:rPr>
              <a:t>10GBase-SR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multimode fiber.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maximum transmission distance of between 2 and 300 meters, depending on the size and quality of the fiber.</a:t>
            </a:r>
          </a:p>
          <a:p>
            <a:r>
              <a:rPr lang="en-US" altLang="en-US" sz="2000" b="1" dirty="0">
                <a:ea typeface="ＭＳ Ｐゴシック" panose="020B0600070205080204" pitchFamily="34" charset="-128"/>
              </a:rPr>
              <a:t>10GBase-LR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single-mode fiber.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maximum transmission distance between 2 meters and 10 km, depending on the size and quality of the fiber.</a:t>
            </a:r>
          </a:p>
          <a:p>
            <a:r>
              <a:rPr lang="en-US" altLang="en-US" sz="2000" b="1" dirty="0">
                <a:ea typeface="ＭＳ Ｐゴシック" panose="020B0600070205080204" pitchFamily="34" charset="-128"/>
              </a:rPr>
              <a:t>10GBase-ER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single-mode fiber. 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anywhere from 2 meters up to 40 km, depending on the size and quality of the fiber used.</a:t>
            </a:r>
          </a:p>
        </p:txBody>
      </p:sp>
      <p:sp>
        <p:nvSpPr>
          <p:cNvPr id="37896" name="Rectangle 12">
            <a:extLst>
              <a:ext uri="{FF2B5EF4-FFF2-40B4-BE49-F238E27FC236}">
                <a16:creationId xmlns:a16="http://schemas.microsoft.com/office/drawing/2014/main" id="{EFC3A56C-E8C6-4937-8883-76047300A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410</TotalTime>
  <Words>1123</Words>
  <Application>Microsoft Macintosh PowerPoint</Application>
  <PresentationFormat>Widescreen</PresentationFormat>
  <Paragraphs>132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Impact</vt:lpstr>
      <vt:lpstr>Times</vt:lpstr>
      <vt:lpstr>Badge</vt:lpstr>
      <vt:lpstr>Chapter 4</vt:lpstr>
      <vt:lpstr>Moving Data Around</vt:lpstr>
      <vt:lpstr>Ethernet Basics</vt:lpstr>
      <vt:lpstr>PowerPoint Presentation</vt:lpstr>
      <vt:lpstr>Carrier Sense Multiple Access (CSMA)</vt:lpstr>
      <vt:lpstr>Ethernet Terminology</vt:lpstr>
      <vt:lpstr>PowerPoint Presentation</vt:lpstr>
      <vt:lpstr>Sending Data </vt:lpstr>
      <vt:lpstr>Binary and hexadecimal Numbers</vt:lpstr>
      <vt:lpstr>IEEE Ethernet Standards</vt:lpstr>
      <vt:lpstr>IEEE Standards (cont.)</vt:lpstr>
      <vt:lpstr>IEEE Standards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creator>Sam Lee</dc:creator>
  <cp:lastModifiedBy>Adrienne Bailey</cp:lastModifiedBy>
  <cp:revision>16</cp:revision>
  <dcterms:created xsi:type="dcterms:W3CDTF">2018-10-29T16:12:27Z</dcterms:created>
  <dcterms:modified xsi:type="dcterms:W3CDTF">2022-09-19T16:02:54Z</dcterms:modified>
</cp:coreProperties>
</file>