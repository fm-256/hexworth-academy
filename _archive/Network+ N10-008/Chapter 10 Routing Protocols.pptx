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71" r:id="rId1"/>
  </p:sldMasterIdLst>
  <p:notesMasterIdLst>
    <p:notesMasterId r:id="rId20"/>
  </p:notesMasterIdLst>
  <p:sldIdLst>
    <p:sldId id="256" r:id="rId2"/>
    <p:sldId id="294" r:id="rId3"/>
    <p:sldId id="257" r:id="rId4"/>
    <p:sldId id="295" r:id="rId5"/>
    <p:sldId id="258" r:id="rId6"/>
    <p:sldId id="259" r:id="rId7"/>
    <p:sldId id="272" r:id="rId8"/>
    <p:sldId id="278" r:id="rId9"/>
    <p:sldId id="261" r:id="rId10"/>
    <p:sldId id="280" r:id="rId11"/>
    <p:sldId id="260" r:id="rId12"/>
    <p:sldId id="279" r:id="rId13"/>
    <p:sldId id="292" r:id="rId14"/>
    <p:sldId id="293" r:id="rId15"/>
    <p:sldId id="262" r:id="rId16"/>
    <p:sldId id="289" r:id="rId17"/>
    <p:sldId id="290" r:id="rId18"/>
    <p:sldId id="29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52406"/>
  </p:normalViewPr>
  <p:slideViewPr>
    <p:cSldViewPr snapToGrid="0">
      <p:cViewPr varScale="1">
        <p:scale>
          <a:sx n="57" d="100"/>
          <a:sy n="57" d="100"/>
        </p:scale>
        <p:origin x="2696" y="160"/>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F917AD-CEF8-4298-8E37-D7787CC52442}" type="datetimeFigureOut">
              <a:rPr lang="en-US" smtClean="0"/>
              <a:t>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DF574A-41AC-4F14-BB03-3D865A71B861}" type="slidenum">
              <a:rPr lang="en-US" smtClean="0"/>
              <a:t>‹#›</a:t>
            </a:fld>
            <a:endParaRPr lang="en-US"/>
          </a:p>
        </p:txBody>
      </p:sp>
    </p:spTree>
    <p:extLst>
      <p:ext uri="{BB962C8B-B14F-4D97-AF65-F5344CB8AC3E}">
        <p14:creationId xmlns:p14="http://schemas.microsoft.com/office/powerpoint/2010/main" val="3086586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0DF574A-41AC-4F14-BB03-3D865A71B861}" type="slidenum">
              <a:rPr lang="en-US" smtClean="0"/>
              <a:t>2</a:t>
            </a:fld>
            <a:endParaRPr lang="en-US"/>
          </a:p>
        </p:txBody>
      </p:sp>
    </p:spTree>
    <p:extLst>
      <p:ext uri="{BB962C8B-B14F-4D97-AF65-F5344CB8AC3E}">
        <p14:creationId xmlns:p14="http://schemas.microsoft.com/office/powerpoint/2010/main" val="1346061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Utilized when you have multiple routing protocols on your routers</a:t>
            </a:r>
          </a:p>
          <a:p>
            <a:pPr marL="171450" indent="-171450">
              <a:buFont typeface="Arial" panose="020B0604020202020204" pitchFamily="34" charset="0"/>
              <a:buChar char="•"/>
            </a:pPr>
            <a:r>
              <a:rPr lang="en-US" dirty="0"/>
              <a:t>CISCO software that ranks the reliability and trustworthiness of a specific routing protocol</a:t>
            </a:r>
          </a:p>
          <a:p>
            <a:pPr marL="171450" indent="-171450">
              <a:buFont typeface="Arial" panose="020B0604020202020204" pitchFamily="34" charset="0"/>
              <a:buChar char="•"/>
            </a:pPr>
            <a:r>
              <a:rPr lang="en-US" dirty="0"/>
              <a:t>Ranked from most to least reliable</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0DF574A-41AC-4F14-BB03-3D865A71B861}" type="slidenum">
              <a:rPr lang="en-US" smtClean="0"/>
              <a:t>3</a:t>
            </a:fld>
            <a:endParaRPr lang="en-US"/>
          </a:p>
        </p:txBody>
      </p:sp>
    </p:spTree>
    <p:extLst>
      <p:ext uri="{BB962C8B-B14F-4D97-AF65-F5344CB8AC3E}">
        <p14:creationId xmlns:p14="http://schemas.microsoft.com/office/powerpoint/2010/main" val="2079724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u="sng" dirty="0"/>
              <a:t>Hop count</a:t>
            </a:r>
            <a:r>
              <a:rPr lang="en-US" dirty="0"/>
              <a:t>: the amount of hops it would take to get to a specific destination. Chooses the least amount of hops</a:t>
            </a:r>
          </a:p>
          <a:p>
            <a:pPr marL="171450" indent="-171450">
              <a:buFont typeface="Arial" panose="020B0604020202020204" pitchFamily="34" charset="0"/>
              <a:buChar char="•"/>
            </a:pPr>
            <a:r>
              <a:rPr lang="en-US" b="1" u="sng" dirty="0"/>
              <a:t>Bandwidth and delay</a:t>
            </a:r>
            <a:r>
              <a:rPr lang="en-US" dirty="0"/>
              <a:t>: Based on the speeds of that route and you can manually configure a delay to influence your routing information to take a preferred path</a:t>
            </a:r>
          </a:p>
          <a:p>
            <a:pPr marL="171450" indent="-171450">
              <a:buFont typeface="Arial" panose="020B0604020202020204" pitchFamily="34" charset="0"/>
              <a:buChar char="•"/>
            </a:pPr>
            <a:r>
              <a:rPr lang="en-US" b="1" u="sng" dirty="0"/>
              <a:t>Cost</a:t>
            </a:r>
            <a:r>
              <a:rPr lang="en-US" dirty="0"/>
              <a:t>: Based on the bandwidth speeds at each router and the link between them to determine the cost</a:t>
            </a:r>
          </a:p>
          <a:p>
            <a:pPr marL="171450" indent="-171450">
              <a:buFont typeface="Arial" panose="020B0604020202020204" pitchFamily="34" charset="0"/>
              <a:buChar char="•"/>
            </a:pPr>
            <a:r>
              <a:rPr lang="en-US" dirty="0"/>
              <a:t>OSPF will prefer the fastest bandwidth </a:t>
            </a:r>
          </a:p>
        </p:txBody>
      </p:sp>
      <p:sp>
        <p:nvSpPr>
          <p:cNvPr id="4" name="Slide Number Placeholder 3"/>
          <p:cNvSpPr>
            <a:spLocks noGrp="1"/>
          </p:cNvSpPr>
          <p:nvPr>
            <p:ph type="sldNum" sz="quarter" idx="5"/>
          </p:nvPr>
        </p:nvSpPr>
        <p:spPr/>
        <p:txBody>
          <a:bodyPr/>
          <a:lstStyle/>
          <a:p>
            <a:fld id="{C0DF574A-41AC-4F14-BB03-3D865A71B861}" type="slidenum">
              <a:rPr lang="en-US" smtClean="0"/>
              <a:t>4</a:t>
            </a:fld>
            <a:endParaRPr lang="en-US"/>
          </a:p>
        </p:txBody>
      </p:sp>
    </p:spTree>
    <p:extLst>
      <p:ext uri="{BB962C8B-B14F-4D97-AF65-F5344CB8AC3E}">
        <p14:creationId xmlns:p14="http://schemas.microsoft.com/office/powerpoint/2010/main" val="2190161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u="sng" dirty="0"/>
              <a:t>Distance</a:t>
            </a:r>
            <a:r>
              <a:rPr lang="en-US" dirty="0"/>
              <a:t>: Find the best route by choosing the least amount of hops</a:t>
            </a:r>
          </a:p>
          <a:p>
            <a:pPr marL="171450" indent="-171450">
              <a:buFont typeface="Arial" panose="020B0604020202020204" pitchFamily="34" charset="0"/>
              <a:buChar char="•"/>
            </a:pPr>
            <a:r>
              <a:rPr lang="en-US" b="1" u="sng" dirty="0"/>
              <a:t>Link-state</a:t>
            </a:r>
            <a:r>
              <a:rPr lang="en-US" dirty="0"/>
              <a:t>: creates 3 separate tables</a:t>
            </a:r>
          </a:p>
          <a:p>
            <a:pPr marL="171450" indent="-171450">
              <a:buFont typeface="Arial" panose="020B0604020202020204" pitchFamily="34" charset="0"/>
              <a:buChar char="•"/>
            </a:pPr>
            <a:r>
              <a:rPr lang="en-US" dirty="0"/>
              <a:t>1 table to keep track of directly attached neighbors</a:t>
            </a:r>
          </a:p>
          <a:p>
            <a:pPr marL="171450" indent="-171450">
              <a:buFont typeface="Arial" panose="020B0604020202020204" pitchFamily="34" charset="0"/>
              <a:buChar char="•"/>
            </a:pPr>
            <a:r>
              <a:rPr lang="en-US" dirty="0"/>
              <a:t>1 determines the topology of the entire internetwork</a:t>
            </a:r>
          </a:p>
          <a:p>
            <a:pPr marL="171450" indent="-171450">
              <a:buFont typeface="Arial" panose="020B0604020202020204" pitchFamily="34" charset="0"/>
              <a:buChar char="•"/>
            </a:pPr>
            <a:r>
              <a:rPr lang="en-US" dirty="0"/>
              <a:t>1 is the actual route table</a:t>
            </a:r>
          </a:p>
          <a:p>
            <a:pPr marL="171450" indent="-171450">
              <a:buFont typeface="Arial" panose="020B0604020202020204" pitchFamily="34" charset="0"/>
              <a:buChar char="•"/>
            </a:pPr>
            <a:r>
              <a:rPr lang="en-US" b="1" u="sng" dirty="0"/>
              <a:t>Hybrid</a:t>
            </a:r>
            <a:r>
              <a:rPr lang="en-US" dirty="0"/>
              <a:t>: Combines both aspects of distance vector and link-state </a:t>
            </a:r>
          </a:p>
          <a:p>
            <a:pPr marL="628650" lvl="1"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0DF574A-41AC-4F14-BB03-3D865A71B861}" type="slidenum">
              <a:rPr lang="en-US" smtClean="0"/>
              <a:t>5</a:t>
            </a:fld>
            <a:endParaRPr lang="en-US"/>
          </a:p>
        </p:txBody>
      </p:sp>
    </p:spTree>
    <p:extLst>
      <p:ext uri="{BB962C8B-B14F-4D97-AF65-F5344CB8AC3E}">
        <p14:creationId xmlns:p14="http://schemas.microsoft.com/office/powerpoint/2010/main" val="2789153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Routing Information Protocol: sends the complete routing table out to all active interfaces in 30 seconds</a:t>
            </a:r>
          </a:p>
          <a:p>
            <a:pPr marL="171450" indent="-171450">
              <a:buFont typeface="Arial" panose="020B0604020202020204" pitchFamily="34" charset="0"/>
              <a:buChar char="•"/>
            </a:pPr>
            <a:r>
              <a:rPr lang="en-US" dirty="0"/>
              <a:t>Uses hop count</a:t>
            </a:r>
          </a:p>
          <a:p>
            <a:pPr marL="171450" indent="-171450">
              <a:buFont typeface="Arial" panose="020B0604020202020204" pitchFamily="34" charset="0"/>
              <a:buChar char="•"/>
            </a:pPr>
            <a:r>
              <a:rPr lang="en-US" dirty="0"/>
              <a:t>Maximum of 15 hops allowed</a:t>
            </a:r>
          </a:p>
          <a:p>
            <a:pPr marL="171450" indent="-171450">
              <a:buFont typeface="Arial" panose="020B0604020202020204" pitchFamily="34" charset="0"/>
              <a:buChar char="•"/>
            </a:pPr>
            <a:r>
              <a:rPr lang="en-US" dirty="0"/>
              <a:t>Works well in small networks</a:t>
            </a:r>
          </a:p>
          <a:p>
            <a:pPr marL="171450" indent="-171450">
              <a:buFont typeface="Arial" panose="020B0604020202020204" pitchFamily="34" charset="0"/>
              <a:buChar char="•"/>
            </a:pPr>
            <a:r>
              <a:rPr lang="en-US" dirty="0"/>
              <a:t>Version 1 uses classful routing; means that all devices in the network must use the same subnet mask for each specific address class</a:t>
            </a:r>
          </a:p>
          <a:p>
            <a:pPr marL="171450" indent="-171450">
              <a:buFont typeface="Arial" panose="020B0604020202020204" pitchFamily="34" charset="0"/>
              <a:buChar char="•"/>
            </a:pPr>
            <a:r>
              <a:rPr lang="en-US" dirty="0"/>
              <a:t>Version 2 uses prefix routing and sends subnet mask information w/ route updates; this is classless routing</a:t>
            </a:r>
          </a:p>
          <a:p>
            <a:pPr marL="171450" indent="-171450">
              <a:buFont typeface="Arial" panose="020B0604020202020204" pitchFamily="34" charset="0"/>
              <a:buChar char="•"/>
            </a:pPr>
            <a:r>
              <a:rPr lang="en-US" dirty="0"/>
              <a:t>Version 2 can support variable-length subnet masks</a:t>
            </a:r>
          </a:p>
          <a:p>
            <a:pPr marL="171450" indent="-171450">
              <a:buFont typeface="Arial" panose="020B0604020202020204" pitchFamily="34" charset="0"/>
              <a:buChar char="•"/>
            </a:pPr>
            <a:r>
              <a:rPr lang="en-US" dirty="0"/>
              <a:t>This is beneficial because VLSMs allow different subnet masks for different interfaces</a:t>
            </a:r>
          </a:p>
        </p:txBody>
      </p:sp>
      <p:sp>
        <p:nvSpPr>
          <p:cNvPr id="4" name="Slide Number Placeholder 3"/>
          <p:cNvSpPr>
            <a:spLocks noGrp="1"/>
          </p:cNvSpPr>
          <p:nvPr>
            <p:ph type="sldNum" sz="quarter" idx="5"/>
          </p:nvPr>
        </p:nvSpPr>
        <p:spPr/>
        <p:txBody>
          <a:bodyPr/>
          <a:lstStyle/>
          <a:p>
            <a:fld id="{C0DF574A-41AC-4F14-BB03-3D865A71B861}" type="slidenum">
              <a:rPr lang="en-US" smtClean="0"/>
              <a:t>6</a:t>
            </a:fld>
            <a:endParaRPr lang="en-US"/>
          </a:p>
        </p:txBody>
      </p:sp>
    </p:spTree>
    <p:extLst>
      <p:ext uri="{BB962C8B-B14F-4D97-AF65-F5344CB8AC3E}">
        <p14:creationId xmlns:p14="http://schemas.microsoft.com/office/powerpoint/2010/main" val="2488946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RIP uses Hop count to determine the best route</a:t>
            </a:r>
          </a:p>
          <a:p>
            <a:pPr marL="171450" indent="-171450">
              <a:buFont typeface="Arial" panose="020B0604020202020204" pitchFamily="34" charset="0"/>
              <a:buChar char="•"/>
            </a:pPr>
            <a:r>
              <a:rPr lang="en-US" dirty="0"/>
              <a:t>Version 1 doesn’t send updates regarding subnet mask information</a:t>
            </a:r>
          </a:p>
          <a:p>
            <a:pPr marL="171450" indent="-171450">
              <a:buFont typeface="Arial" panose="020B0604020202020204" pitchFamily="34" charset="0"/>
              <a:buChar char="•"/>
            </a:pPr>
            <a:r>
              <a:rPr lang="en-US" dirty="0"/>
              <a:t>Version 2 does send updates with subnet mask information</a:t>
            </a:r>
          </a:p>
        </p:txBody>
      </p:sp>
      <p:sp>
        <p:nvSpPr>
          <p:cNvPr id="4" name="Slide Number Placeholder 3"/>
          <p:cNvSpPr>
            <a:spLocks noGrp="1"/>
          </p:cNvSpPr>
          <p:nvPr>
            <p:ph type="sldNum" sz="quarter" idx="5"/>
          </p:nvPr>
        </p:nvSpPr>
        <p:spPr/>
        <p:txBody>
          <a:bodyPr/>
          <a:lstStyle/>
          <a:p>
            <a:fld id="{C0DF574A-41AC-4F14-BB03-3D865A71B861}" type="slidenum">
              <a:rPr lang="en-US" smtClean="0"/>
              <a:t>7</a:t>
            </a:fld>
            <a:endParaRPr lang="en-US"/>
          </a:p>
        </p:txBody>
      </p:sp>
    </p:spTree>
    <p:extLst>
      <p:ext uri="{BB962C8B-B14F-4D97-AF65-F5344CB8AC3E}">
        <p14:creationId xmlns:p14="http://schemas.microsoft.com/office/powerpoint/2010/main" val="2353433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Proprietary protocol, created by CISCO</a:t>
            </a:r>
          </a:p>
          <a:p>
            <a:pPr marL="171450" indent="-171450">
              <a:buFont typeface="Arial" panose="020B0604020202020204" pitchFamily="34" charset="0"/>
              <a:buChar char="•"/>
            </a:pPr>
            <a:r>
              <a:rPr lang="en-US" dirty="0"/>
              <a:t>Advanced distance-vector protocol</a:t>
            </a:r>
          </a:p>
          <a:p>
            <a:pPr marL="171450" indent="-171450">
              <a:buFont typeface="Arial" panose="020B0604020202020204" pitchFamily="34" charset="0"/>
              <a:buChar char="•"/>
            </a:pPr>
            <a:r>
              <a:rPr lang="en-US" dirty="0"/>
              <a:t>Shares routes within the same Autonomous System</a:t>
            </a:r>
          </a:p>
          <a:p>
            <a:pPr marL="171450" indent="-171450">
              <a:buFont typeface="Arial" panose="020B0604020202020204" pitchFamily="34" charset="0"/>
              <a:buChar char="•"/>
            </a:pPr>
            <a:r>
              <a:rPr lang="en-US" dirty="0"/>
              <a:t>Runs separate routing for IPv4 and IPv6</a:t>
            </a:r>
          </a:p>
          <a:p>
            <a:pPr marL="171450" indent="-171450">
              <a:buFont typeface="Arial" panose="020B0604020202020204" pitchFamily="34" charset="0"/>
              <a:buChar char="•"/>
            </a:pPr>
            <a:r>
              <a:rPr lang="en-US" dirty="0"/>
              <a:t>Neighbor table: table with state information about adjacent neighbors</a:t>
            </a:r>
          </a:p>
          <a:p>
            <a:pPr marL="171450" indent="-171450">
              <a:buFont typeface="Arial" panose="020B0604020202020204" pitchFamily="34" charset="0"/>
              <a:buChar char="•"/>
            </a:pPr>
            <a:r>
              <a:rPr lang="en-US" dirty="0"/>
              <a:t>Topology table: contains all destinations advertised by neighboring routers, holding each destination address, and a list of neighbors that have advertised the destination</a:t>
            </a:r>
          </a:p>
        </p:txBody>
      </p:sp>
      <p:sp>
        <p:nvSpPr>
          <p:cNvPr id="4" name="Slide Number Placeholder 3"/>
          <p:cNvSpPr>
            <a:spLocks noGrp="1"/>
          </p:cNvSpPr>
          <p:nvPr>
            <p:ph type="sldNum" sz="quarter" idx="5"/>
          </p:nvPr>
        </p:nvSpPr>
        <p:spPr/>
        <p:txBody>
          <a:bodyPr/>
          <a:lstStyle/>
          <a:p>
            <a:fld id="{C0DF574A-41AC-4F14-BB03-3D865A71B861}" type="slidenum">
              <a:rPr lang="en-US" smtClean="0"/>
              <a:t>8</a:t>
            </a:fld>
            <a:endParaRPr lang="en-US"/>
          </a:p>
        </p:txBody>
      </p:sp>
    </p:spTree>
    <p:extLst>
      <p:ext uri="{BB962C8B-B14F-4D97-AF65-F5344CB8AC3E}">
        <p14:creationId xmlns:p14="http://schemas.microsoft.com/office/powerpoint/2010/main" val="219500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Autonomous System is the large pool of routers that operate at a single organization</a:t>
            </a:r>
          </a:p>
          <a:p>
            <a:pPr marL="171450" indent="-171450">
              <a:buFont typeface="Arial" panose="020B0604020202020204" pitchFamily="34" charset="0"/>
              <a:buChar char="•"/>
            </a:pPr>
            <a:r>
              <a:rPr lang="en-US" dirty="0"/>
              <a:t>19 routers = AS, based off how that AS is setup OSPF determines the fastest and best route for data </a:t>
            </a:r>
          </a:p>
        </p:txBody>
      </p:sp>
      <p:sp>
        <p:nvSpPr>
          <p:cNvPr id="4" name="Slide Number Placeholder 3"/>
          <p:cNvSpPr>
            <a:spLocks noGrp="1"/>
          </p:cNvSpPr>
          <p:nvPr>
            <p:ph type="sldNum" sz="quarter" idx="5"/>
          </p:nvPr>
        </p:nvSpPr>
        <p:spPr/>
        <p:txBody>
          <a:bodyPr/>
          <a:lstStyle/>
          <a:p>
            <a:fld id="{C0DF574A-41AC-4F14-BB03-3D865A71B861}" type="slidenum">
              <a:rPr lang="en-US" smtClean="0"/>
              <a:t>9</a:t>
            </a:fld>
            <a:endParaRPr lang="en-US"/>
          </a:p>
        </p:txBody>
      </p:sp>
    </p:spTree>
    <p:extLst>
      <p:ext uri="{BB962C8B-B14F-4D97-AF65-F5344CB8AC3E}">
        <p14:creationId xmlns:p14="http://schemas.microsoft.com/office/powerpoint/2010/main" val="1670708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Open standard routing protocol</a:t>
            </a:r>
          </a:p>
          <a:p>
            <a:pPr marL="171450" indent="-171450">
              <a:buFont typeface="Arial" panose="020B0604020202020204" pitchFamily="34" charset="0"/>
              <a:buChar char="•"/>
            </a:pPr>
            <a:r>
              <a:rPr lang="en-US" dirty="0"/>
              <a:t>Uses an algorithm</a:t>
            </a:r>
          </a:p>
          <a:p>
            <a:pPr marL="171450" indent="-171450">
              <a:buFont typeface="Arial" panose="020B0604020202020204" pitchFamily="34" charset="0"/>
              <a:buChar char="•"/>
            </a:pPr>
            <a:r>
              <a:rPr lang="en-US" dirty="0"/>
              <a:t>Constructs a shortest-path tree</a:t>
            </a:r>
          </a:p>
          <a:p>
            <a:pPr marL="171450" indent="-171450">
              <a:buFont typeface="Arial" panose="020B0604020202020204" pitchFamily="34" charset="0"/>
              <a:buChar char="•"/>
            </a:pPr>
            <a:r>
              <a:rPr lang="en-US" dirty="0"/>
              <a:t>A routing tree is made with the resulting best paths</a:t>
            </a:r>
          </a:p>
          <a:p>
            <a:pPr marL="171450" indent="-171450">
              <a:buFont typeface="Arial" panose="020B0604020202020204" pitchFamily="34" charset="0"/>
              <a:buChar char="•"/>
            </a:pPr>
            <a:r>
              <a:rPr lang="en-US" dirty="0"/>
              <a:t>Supports multiple, equal-cost routes to the same destination</a:t>
            </a:r>
          </a:p>
          <a:p>
            <a:pPr marL="171450" indent="-171450">
              <a:buFont typeface="Arial" panose="020B0604020202020204" pitchFamily="34" charset="0"/>
              <a:buChar char="•"/>
            </a:pPr>
            <a:r>
              <a:rPr lang="en-US" dirty="0"/>
              <a:t>Supports both IPv4 and IPv6, but it has a separate database for each </a:t>
            </a:r>
          </a:p>
        </p:txBody>
      </p:sp>
      <p:sp>
        <p:nvSpPr>
          <p:cNvPr id="4" name="Slide Number Placeholder 3"/>
          <p:cNvSpPr>
            <a:spLocks noGrp="1"/>
          </p:cNvSpPr>
          <p:nvPr>
            <p:ph type="sldNum" sz="quarter" idx="5"/>
          </p:nvPr>
        </p:nvSpPr>
        <p:spPr/>
        <p:txBody>
          <a:bodyPr/>
          <a:lstStyle/>
          <a:p>
            <a:fld id="{C0DF574A-41AC-4F14-BB03-3D865A71B861}" type="slidenum">
              <a:rPr lang="en-US" smtClean="0"/>
              <a:t>10</a:t>
            </a:fld>
            <a:endParaRPr lang="en-US"/>
          </a:p>
        </p:txBody>
      </p:sp>
    </p:spTree>
    <p:extLst>
      <p:ext uri="{BB962C8B-B14F-4D97-AF65-F5344CB8AC3E}">
        <p14:creationId xmlns:p14="http://schemas.microsoft.com/office/powerpoint/2010/main" val="2889631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BGP makes routing decisions based on paths, defined by rules or network policies set by network administrators.</a:t>
            </a:r>
            <a:endParaRPr lang="en-US" dirty="0"/>
          </a:p>
        </p:txBody>
      </p:sp>
      <p:sp>
        <p:nvSpPr>
          <p:cNvPr id="4" name="Slide Number Placeholder 3"/>
          <p:cNvSpPr>
            <a:spLocks noGrp="1"/>
          </p:cNvSpPr>
          <p:nvPr>
            <p:ph type="sldNum" sz="quarter" idx="5"/>
          </p:nvPr>
        </p:nvSpPr>
        <p:spPr/>
        <p:txBody>
          <a:bodyPr/>
          <a:lstStyle/>
          <a:p>
            <a:fld id="{C0DF574A-41AC-4F14-BB03-3D865A71B861}" type="slidenum">
              <a:rPr lang="en-US" smtClean="0"/>
              <a:t>11</a:t>
            </a:fld>
            <a:endParaRPr lang="en-US"/>
          </a:p>
        </p:txBody>
      </p:sp>
    </p:spTree>
    <p:extLst>
      <p:ext uri="{BB962C8B-B14F-4D97-AF65-F5344CB8AC3E}">
        <p14:creationId xmlns:p14="http://schemas.microsoft.com/office/powerpoint/2010/main" val="682755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a:solidFill>
              <a:srgbClr val="000000">
                <a:alpha val="100000"/>
              </a:srgbClr>
            </a:solidFill>
            <a:miter lim="800000"/>
          </a:ln>
        </p:spPr>
      </p:sp>
      <p:sp>
        <p:nvSpPr>
          <p:cNvPr id="20483" name="Notes Placeholder 2"/>
          <p:cNvSpPr>
            <a:spLocks noGrp="1"/>
          </p:cNvSpPr>
          <p:nvPr>
            <p:ph type="body" idx="1"/>
          </p:nvPr>
        </p:nvSpPr>
        <p:spPr>
          <a:noFill/>
          <a:ln>
            <a:noFill/>
          </a:ln>
        </p:spPr>
        <p:txBody>
          <a:bodyPr wrap="square" lIns="91440" tIns="45720" rIns="91440" bIns="45720" anchor="t"/>
          <a:lstStyle/>
          <a:p>
            <a:pPr lvl="0"/>
            <a:r>
              <a:rPr lang="en-US" altLang="en-US" dirty="0"/>
              <a:t>BGP is used for ISPs to communicate ASs together </a:t>
            </a:r>
          </a:p>
          <a:p>
            <a:pPr lvl="0"/>
            <a:r>
              <a:rPr lang="en-US" altLang="en-US" dirty="0"/>
              <a:t>Because the Internet’s growth rate shows no signs of slowing, ISPs use BGP for its ability to make classless routing and summarization possible. </a:t>
            </a:r>
          </a:p>
          <a:p>
            <a:pPr lvl="0"/>
            <a:r>
              <a:rPr lang="en-US" altLang="en-US" dirty="0"/>
              <a:t>These capabilities help to keep routing tables smaller and more efficient at the ISP core.</a:t>
            </a:r>
          </a:p>
          <a:p>
            <a:pPr lvl="0"/>
            <a:endParaRPr lang="en-US" altLang="en-US" dirty="0"/>
          </a:p>
        </p:txBody>
      </p:sp>
      <p:sp>
        <p:nvSpPr>
          <p:cNvPr id="2048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en-US" sz="1200" dirty="0"/>
              <a:t>12</a:t>
            </a:fld>
            <a:endParaRPr lang="en-US" alt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IPv6 doesn’t use Broadcast messages, but it still needs to be able to resolve MAC addressing from IP addresses</a:t>
            </a:r>
          </a:p>
          <a:p>
            <a:pPr marL="171450" indent="-171450">
              <a:buFont typeface="Arial" panose="020B0604020202020204" pitchFamily="34" charset="0"/>
              <a:buChar char="•"/>
            </a:pPr>
            <a:r>
              <a:rPr lang="en-US" dirty="0"/>
              <a:t>Message is sent as a multicast instead of a broadcast</a:t>
            </a:r>
          </a:p>
        </p:txBody>
      </p:sp>
      <p:sp>
        <p:nvSpPr>
          <p:cNvPr id="4" name="Slide Number Placeholder 3"/>
          <p:cNvSpPr>
            <a:spLocks noGrp="1"/>
          </p:cNvSpPr>
          <p:nvPr>
            <p:ph type="sldNum" sz="quarter" idx="5"/>
          </p:nvPr>
        </p:nvSpPr>
        <p:spPr/>
        <p:txBody>
          <a:bodyPr/>
          <a:lstStyle/>
          <a:p>
            <a:fld id="{C0DF574A-41AC-4F14-BB03-3D865A71B861}" type="slidenum">
              <a:rPr lang="en-US" smtClean="0"/>
              <a:t>13</a:t>
            </a:fld>
            <a:endParaRPr lang="en-US"/>
          </a:p>
        </p:txBody>
      </p:sp>
    </p:spTree>
    <p:extLst>
      <p:ext uri="{BB962C8B-B14F-4D97-AF65-F5344CB8AC3E}">
        <p14:creationId xmlns:p14="http://schemas.microsoft.com/office/powerpoint/2010/main" val="1158367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Allows your devices to find out where routers are located on your local subnet</a:t>
            </a:r>
          </a:p>
          <a:p>
            <a:pPr marL="171450" indent="-171450">
              <a:buFont typeface="Arial" panose="020B0604020202020204" pitchFamily="34" charset="0"/>
              <a:buChar char="•"/>
            </a:pPr>
            <a:r>
              <a:rPr lang="en-US" dirty="0"/>
              <a:t>Also uses multicast messages </a:t>
            </a:r>
          </a:p>
        </p:txBody>
      </p:sp>
      <p:sp>
        <p:nvSpPr>
          <p:cNvPr id="4" name="Slide Number Placeholder 3"/>
          <p:cNvSpPr>
            <a:spLocks noGrp="1"/>
          </p:cNvSpPr>
          <p:nvPr>
            <p:ph type="sldNum" sz="quarter" idx="5"/>
          </p:nvPr>
        </p:nvSpPr>
        <p:spPr/>
        <p:txBody>
          <a:bodyPr/>
          <a:lstStyle/>
          <a:p>
            <a:fld id="{C0DF574A-41AC-4F14-BB03-3D865A71B861}" type="slidenum">
              <a:rPr lang="en-US" smtClean="0"/>
              <a:t>14</a:t>
            </a:fld>
            <a:endParaRPr lang="en-US"/>
          </a:p>
        </p:txBody>
      </p:sp>
    </p:spTree>
    <p:extLst>
      <p:ext uri="{BB962C8B-B14F-4D97-AF65-F5344CB8AC3E}">
        <p14:creationId xmlns:p14="http://schemas.microsoft.com/office/powerpoint/2010/main" val="31254005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Designed to protect the default gateway used on a subnetwork by allowing two or more routers to provide backup for that address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the event of failure of an active router, the backup router will take over the address, usually within a few seconds.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sng" dirty="0"/>
              <a:t>HSRP</a:t>
            </a:r>
            <a:r>
              <a:rPr lang="en-US" dirty="0"/>
              <a:t>: </a:t>
            </a:r>
            <a:r>
              <a:rPr lang="en-US" sz="1200" b="0" i="0" kern="1200" dirty="0">
                <a:solidFill>
                  <a:schemeClr val="tx1"/>
                </a:solidFill>
                <a:effectLst/>
                <a:latin typeface="+mn-lt"/>
                <a:ea typeface="+mn-ea"/>
                <a:cs typeface="+mn-cs"/>
              </a:rPr>
              <a:t>used in a group of routers for selecting an active router and a standby router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u="sng" kern="1200" dirty="0">
                <a:solidFill>
                  <a:schemeClr val="tx1"/>
                </a:solidFill>
                <a:effectLst/>
                <a:latin typeface="+mn-lt"/>
                <a:ea typeface="+mn-ea"/>
                <a:cs typeface="+mn-cs"/>
              </a:rPr>
              <a:t>VRRP</a:t>
            </a:r>
            <a:r>
              <a:rPr lang="en-US" sz="1200" b="0" i="0" kern="1200" dirty="0">
                <a:solidFill>
                  <a:schemeClr val="tx1"/>
                </a:solidFill>
                <a:effectLst/>
                <a:latin typeface="+mn-lt"/>
                <a:ea typeface="+mn-ea"/>
                <a:cs typeface="+mn-cs"/>
              </a:rPr>
              <a:t>: the default primary device sends advertisements to backup devices at regular intervals.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If a backup device does not receive an advertisement for a set period</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The backup device with the next highest priority takes over as primary and begins forwarding packets.</a:t>
            </a:r>
          </a:p>
        </p:txBody>
      </p:sp>
      <p:sp>
        <p:nvSpPr>
          <p:cNvPr id="4" name="Slide Number Placeholder 3"/>
          <p:cNvSpPr>
            <a:spLocks noGrp="1"/>
          </p:cNvSpPr>
          <p:nvPr>
            <p:ph type="sldNum" sz="quarter" idx="5"/>
          </p:nvPr>
        </p:nvSpPr>
        <p:spPr/>
        <p:txBody>
          <a:bodyPr/>
          <a:lstStyle/>
          <a:p>
            <a:fld id="{C0DF574A-41AC-4F14-BB03-3D865A71B861}" type="slidenum">
              <a:rPr lang="en-US" smtClean="0"/>
              <a:t>15</a:t>
            </a:fld>
            <a:endParaRPr lang="en-US"/>
          </a:p>
        </p:txBody>
      </p:sp>
    </p:spTree>
    <p:extLst>
      <p:ext uri="{BB962C8B-B14F-4D97-AF65-F5344CB8AC3E}">
        <p14:creationId xmlns:p14="http://schemas.microsoft.com/office/powerpoint/2010/main" val="3727091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DF574A-41AC-4F14-BB03-3D865A71B861}" type="slidenum">
              <a:rPr lang="en-US" smtClean="0"/>
              <a:t>18</a:t>
            </a:fld>
            <a:endParaRPr lang="en-US"/>
          </a:p>
        </p:txBody>
      </p:sp>
    </p:spTree>
    <p:extLst>
      <p:ext uri="{BB962C8B-B14F-4D97-AF65-F5344CB8AC3E}">
        <p14:creationId xmlns:p14="http://schemas.microsoft.com/office/powerpoint/2010/main" val="3755444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5586B75A-687E-405C-8A0B-8D00578BA2C3}" type="datetimeFigureOut">
              <a:rPr lang="en-US" smtClean="0"/>
              <a:pPr/>
              <a:t>9/20/22</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4FAB73BC-B049-4115-A692-8D63A059BFB8}"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50114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7968328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5586B75A-687E-405C-8A0B-8D00578BA2C3}" type="datetimeFigureOut">
              <a:rPr lang="en-US" smtClean="0"/>
              <a:pPr/>
              <a:t>9/20/22</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4FAB73BC-B049-4115-A692-8D63A059BFB8}"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11237809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86B75A-687E-405C-8A0B-8D00578BA2C3}" type="datetimeFigureOut">
              <a:rPr lang="en-US" smtClean="0"/>
              <a:pPr/>
              <a:t>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23417832"/>
      </p:ext>
    </p:extLst>
  </p:cSld>
  <p:clrMapOvr>
    <a:masterClrMapping/>
  </p:clrMapOvr>
  <p:hf sldNum="0" hdr="0" ft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22454713"/>
      </p:ext>
    </p:extLst>
  </p:cSld>
  <p:clrMapOvr>
    <a:masterClrMapping/>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86B75A-687E-405C-8A0B-8D00578BA2C3}" type="datetimeFigureOut">
              <a:rPr lang="en-US" smtClean="0"/>
              <a:pPr/>
              <a:t>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99104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86B75A-687E-405C-8A0B-8D00578BA2C3}" type="datetimeFigureOut">
              <a:rPr lang="en-US" smtClean="0"/>
              <a:pPr/>
              <a:t>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69939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5586B75A-687E-405C-8A0B-8D00578BA2C3}" type="datetimeFigureOut">
              <a:rPr lang="en-US" smtClean="0"/>
              <a:pPr/>
              <a:t>9/20/22</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4FAB73BC-B049-4115-A692-8D63A059BFB8}" type="slidenum">
              <a:rPr lang="en-US" smtClean="0"/>
              <a:pPr/>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88252816"/>
      </p:ext>
    </p:extLst>
  </p:cSld>
  <p:clrMapOvr>
    <a:masterClrMapping/>
  </p:clrMapOvr>
  <p:hf sldNum="0" hdr="0" ftr="0" dt="0"/>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5586B75A-687E-405C-8A0B-8D00578BA2C3}" type="datetimeFigureOut">
              <a:rPr lang="en-US" smtClean="0"/>
              <a:pPr/>
              <a:t>9/20/22</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66115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8527115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1046745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17825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5586B75A-687E-405C-8A0B-8D00578BA2C3}" type="datetimeFigureOut">
              <a:rPr lang="en-US" smtClean="0"/>
              <a:pPr/>
              <a:t>9/20/22</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4FAB73BC-B049-4115-A692-8D63A059BFB8}"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89674762"/>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 id="2147483883" r:id="rId12"/>
  </p:sldLayoutIdLst>
  <p:hf sldNum="0" hdr="0" ftr="0" dt="0"/>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F3896-9FAE-4AEF-BC61-3C12EAC8AAC5}"/>
              </a:ext>
            </a:extLst>
          </p:cNvPr>
          <p:cNvSpPr>
            <a:spLocks noGrp="1"/>
          </p:cNvSpPr>
          <p:nvPr>
            <p:ph type="ctrTitle"/>
          </p:nvPr>
        </p:nvSpPr>
        <p:spPr/>
        <p:txBody>
          <a:bodyPr/>
          <a:lstStyle/>
          <a:p>
            <a:r>
              <a:rPr lang="en-US" dirty="0"/>
              <a:t>Chapter 10</a:t>
            </a:r>
          </a:p>
        </p:txBody>
      </p:sp>
      <p:sp>
        <p:nvSpPr>
          <p:cNvPr id="3" name="Subtitle 2">
            <a:extLst>
              <a:ext uri="{FF2B5EF4-FFF2-40B4-BE49-F238E27FC236}">
                <a16:creationId xmlns:a16="http://schemas.microsoft.com/office/drawing/2014/main" id="{EB13570B-E2C2-4DEA-905B-522A4FC33BA0}"/>
              </a:ext>
            </a:extLst>
          </p:cNvPr>
          <p:cNvSpPr>
            <a:spLocks noGrp="1"/>
          </p:cNvSpPr>
          <p:nvPr>
            <p:ph type="subTitle" idx="1"/>
          </p:nvPr>
        </p:nvSpPr>
        <p:spPr/>
        <p:txBody>
          <a:bodyPr/>
          <a:lstStyle/>
          <a:p>
            <a:r>
              <a:rPr lang="en-US" dirty="0"/>
              <a:t>Routing Protocol Basics</a:t>
            </a:r>
          </a:p>
        </p:txBody>
      </p:sp>
    </p:spTree>
    <p:extLst>
      <p:ext uri="{BB962C8B-B14F-4D97-AF65-F5344CB8AC3E}">
        <p14:creationId xmlns:p14="http://schemas.microsoft.com/office/powerpoint/2010/main" val="2158060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78BFA-BA93-471E-9EAF-3C9BA6639CF0}"/>
              </a:ext>
            </a:extLst>
          </p:cNvPr>
          <p:cNvSpPr>
            <a:spLocks noGrp="1"/>
          </p:cNvSpPr>
          <p:nvPr>
            <p:ph type="title"/>
          </p:nvPr>
        </p:nvSpPr>
        <p:spPr>
          <a:xfrm>
            <a:off x="913774" y="382385"/>
            <a:ext cx="10516226" cy="1492132"/>
          </a:xfrm>
        </p:spPr>
        <p:txBody>
          <a:bodyPr/>
          <a:lstStyle/>
          <a:p>
            <a:pPr algn="ctr"/>
            <a:r>
              <a:rPr lang="en-US" dirty="0"/>
              <a:t>Default Route</a:t>
            </a:r>
          </a:p>
        </p:txBody>
      </p:sp>
      <p:sp>
        <p:nvSpPr>
          <p:cNvPr id="3" name="Content Placeholder 2">
            <a:extLst>
              <a:ext uri="{FF2B5EF4-FFF2-40B4-BE49-F238E27FC236}">
                <a16:creationId xmlns:a16="http://schemas.microsoft.com/office/drawing/2014/main" id="{4D239345-38CD-4CB9-B377-2848911A9767}"/>
              </a:ext>
            </a:extLst>
          </p:cNvPr>
          <p:cNvSpPr>
            <a:spLocks noGrp="1"/>
          </p:cNvSpPr>
          <p:nvPr>
            <p:ph sz="quarter" idx="13"/>
          </p:nvPr>
        </p:nvSpPr>
        <p:spPr/>
        <p:txBody>
          <a:bodyPr>
            <a:normAutofit/>
          </a:bodyPr>
          <a:lstStyle/>
          <a:p>
            <a:r>
              <a:rPr lang="en-US" sz="2800" dirty="0"/>
              <a:t>You can’t configure a route for every single destination across the world</a:t>
            </a:r>
          </a:p>
          <a:p>
            <a:r>
              <a:rPr lang="en-US" sz="2800" dirty="0"/>
              <a:t>Used when nothing else in the routing table matches</a:t>
            </a:r>
          </a:p>
          <a:p>
            <a:r>
              <a:rPr lang="en-US" sz="2800" dirty="0"/>
              <a:t>Keeps traffic flowing where it needs to go</a:t>
            </a:r>
          </a:p>
          <a:p>
            <a:r>
              <a:rPr lang="en-US" sz="2800" dirty="0"/>
              <a:t>Common Route destination is 0.0.0.0/0</a:t>
            </a:r>
          </a:p>
        </p:txBody>
      </p:sp>
      <p:pic>
        <p:nvPicPr>
          <p:cNvPr id="1026" name="Picture 2" descr="One Way&quot; with Right Arrow Sign - 36 x 12&quot; H-5757 - Uline">
            <a:extLst>
              <a:ext uri="{FF2B5EF4-FFF2-40B4-BE49-F238E27FC236}">
                <a16:creationId xmlns:a16="http://schemas.microsoft.com/office/drawing/2014/main" id="{076B08C7-52E5-27C2-F3EC-95BD4CCF5A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5704" y="4574846"/>
            <a:ext cx="3436365" cy="2283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9571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DC194-8684-4996-B6E0-DC47F59428E0}"/>
              </a:ext>
            </a:extLst>
          </p:cNvPr>
          <p:cNvSpPr>
            <a:spLocks noGrp="1"/>
          </p:cNvSpPr>
          <p:nvPr>
            <p:ph type="title"/>
          </p:nvPr>
        </p:nvSpPr>
        <p:spPr>
          <a:xfrm>
            <a:off x="913149" y="0"/>
            <a:ext cx="10996353" cy="1316336"/>
          </a:xfrm>
        </p:spPr>
        <p:txBody>
          <a:bodyPr/>
          <a:lstStyle/>
          <a:p>
            <a:pPr algn="ctr"/>
            <a:r>
              <a:rPr lang="en-US" dirty="0"/>
              <a:t>Administrative Distance</a:t>
            </a:r>
          </a:p>
        </p:txBody>
      </p:sp>
      <p:graphicFrame>
        <p:nvGraphicFramePr>
          <p:cNvPr id="4" name="Content Placeholder 3">
            <a:extLst>
              <a:ext uri="{FF2B5EF4-FFF2-40B4-BE49-F238E27FC236}">
                <a16:creationId xmlns:a16="http://schemas.microsoft.com/office/drawing/2014/main" id="{4EAE9539-22B0-4864-949C-02F9AB8076BF}"/>
              </a:ext>
            </a:extLst>
          </p:cNvPr>
          <p:cNvGraphicFramePr>
            <a:graphicFrameLocks noGrp="1"/>
          </p:cNvGraphicFramePr>
          <p:nvPr>
            <p:ph sz="quarter" idx="13"/>
            <p:extLst>
              <p:ext uri="{D42A27DB-BD31-4B8C-83A1-F6EECF244321}">
                <p14:modId xmlns:p14="http://schemas.microsoft.com/office/powerpoint/2010/main" val="2999585611"/>
              </p:ext>
            </p:extLst>
          </p:nvPr>
        </p:nvGraphicFramePr>
        <p:xfrm>
          <a:off x="914400" y="1316336"/>
          <a:ext cx="10363200" cy="2966720"/>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666356269"/>
                    </a:ext>
                  </a:extLst>
                </a:gridCol>
                <a:gridCol w="5181600">
                  <a:extLst>
                    <a:ext uri="{9D8B030D-6E8A-4147-A177-3AD203B41FA5}">
                      <a16:colId xmlns:a16="http://schemas.microsoft.com/office/drawing/2014/main" val="1152761059"/>
                    </a:ext>
                  </a:extLst>
                </a:gridCol>
              </a:tblGrid>
              <a:tr h="370840">
                <a:tc>
                  <a:txBody>
                    <a:bodyPr/>
                    <a:lstStyle/>
                    <a:p>
                      <a:r>
                        <a:rPr lang="en-US" dirty="0"/>
                        <a:t>Route Source</a:t>
                      </a:r>
                    </a:p>
                  </a:txBody>
                  <a:tcPr/>
                </a:tc>
                <a:tc>
                  <a:txBody>
                    <a:bodyPr/>
                    <a:lstStyle/>
                    <a:p>
                      <a:r>
                        <a:rPr lang="en-US" dirty="0"/>
                        <a:t>Default AD</a:t>
                      </a:r>
                    </a:p>
                  </a:txBody>
                  <a:tcPr/>
                </a:tc>
                <a:extLst>
                  <a:ext uri="{0D108BD9-81ED-4DB2-BD59-A6C34878D82A}">
                    <a16:rowId xmlns:a16="http://schemas.microsoft.com/office/drawing/2014/main" val="4175033819"/>
                  </a:ext>
                </a:extLst>
              </a:tr>
              <a:tr h="370840">
                <a:tc>
                  <a:txBody>
                    <a:bodyPr/>
                    <a:lstStyle/>
                    <a:p>
                      <a:r>
                        <a:rPr lang="en-US" dirty="0"/>
                        <a:t>Connected</a:t>
                      </a:r>
                    </a:p>
                  </a:txBody>
                  <a:tcPr/>
                </a:tc>
                <a:tc>
                  <a:txBody>
                    <a:bodyPr/>
                    <a:lstStyle/>
                    <a:p>
                      <a:r>
                        <a:rPr lang="en-US" dirty="0"/>
                        <a:t>0</a:t>
                      </a:r>
                    </a:p>
                  </a:txBody>
                  <a:tcPr/>
                </a:tc>
                <a:extLst>
                  <a:ext uri="{0D108BD9-81ED-4DB2-BD59-A6C34878D82A}">
                    <a16:rowId xmlns:a16="http://schemas.microsoft.com/office/drawing/2014/main" val="4253858950"/>
                  </a:ext>
                </a:extLst>
              </a:tr>
              <a:tr h="370840">
                <a:tc>
                  <a:txBody>
                    <a:bodyPr/>
                    <a:lstStyle/>
                    <a:p>
                      <a:r>
                        <a:rPr lang="en-US" dirty="0"/>
                        <a:t>Static</a:t>
                      </a:r>
                    </a:p>
                  </a:txBody>
                  <a:tcPr/>
                </a:tc>
                <a:tc>
                  <a:txBody>
                    <a:bodyPr/>
                    <a:lstStyle/>
                    <a:p>
                      <a:r>
                        <a:rPr lang="en-US" dirty="0"/>
                        <a:t>1</a:t>
                      </a:r>
                    </a:p>
                  </a:txBody>
                  <a:tcPr/>
                </a:tc>
                <a:extLst>
                  <a:ext uri="{0D108BD9-81ED-4DB2-BD59-A6C34878D82A}">
                    <a16:rowId xmlns:a16="http://schemas.microsoft.com/office/drawing/2014/main" val="3329771207"/>
                  </a:ext>
                </a:extLst>
              </a:tr>
              <a:tr h="370840">
                <a:tc>
                  <a:txBody>
                    <a:bodyPr/>
                    <a:lstStyle/>
                    <a:p>
                      <a:r>
                        <a:rPr lang="en-US" dirty="0"/>
                        <a:t>BGP</a:t>
                      </a:r>
                    </a:p>
                  </a:txBody>
                  <a:tcPr/>
                </a:tc>
                <a:tc>
                  <a:txBody>
                    <a:bodyPr/>
                    <a:lstStyle/>
                    <a:p>
                      <a:r>
                        <a:rPr lang="en-US" dirty="0"/>
                        <a:t>20</a:t>
                      </a:r>
                    </a:p>
                  </a:txBody>
                  <a:tcPr/>
                </a:tc>
                <a:extLst>
                  <a:ext uri="{0D108BD9-81ED-4DB2-BD59-A6C34878D82A}">
                    <a16:rowId xmlns:a16="http://schemas.microsoft.com/office/drawing/2014/main" val="3846789311"/>
                  </a:ext>
                </a:extLst>
              </a:tr>
              <a:tr h="370840">
                <a:tc>
                  <a:txBody>
                    <a:bodyPr/>
                    <a:lstStyle/>
                    <a:p>
                      <a:r>
                        <a:rPr lang="en-US" dirty="0"/>
                        <a:t>EIGRP</a:t>
                      </a:r>
                    </a:p>
                  </a:txBody>
                  <a:tcPr/>
                </a:tc>
                <a:tc>
                  <a:txBody>
                    <a:bodyPr/>
                    <a:lstStyle/>
                    <a:p>
                      <a:r>
                        <a:rPr lang="en-US" dirty="0"/>
                        <a:t>90</a:t>
                      </a:r>
                    </a:p>
                  </a:txBody>
                  <a:tcPr/>
                </a:tc>
                <a:extLst>
                  <a:ext uri="{0D108BD9-81ED-4DB2-BD59-A6C34878D82A}">
                    <a16:rowId xmlns:a16="http://schemas.microsoft.com/office/drawing/2014/main" val="1989929582"/>
                  </a:ext>
                </a:extLst>
              </a:tr>
              <a:tr h="370840">
                <a:tc>
                  <a:txBody>
                    <a:bodyPr/>
                    <a:lstStyle/>
                    <a:p>
                      <a:r>
                        <a:rPr lang="en-US" dirty="0"/>
                        <a:t>IGRP</a:t>
                      </a:r>
                    </a:p>
                  </a:txBody>
                  <a:tcPr/>
                </a:tc>
                <a:tc>
                  <a:txBody>
                    <a:bodyPr/>
                    <a:lstStyle/>
                    <a:p>
                      <a:r>
                        <a:rPr lang="en-US" dirty="0"/>
                        <a:t>100</a:t>
                      </a:r>
                    </a:p>
                  </a:txBody>
                  <a:tcPr/>
                </a:tc>
                <a:extLst>
                  <a:ext uri="{0D108BD9-81ED-4DB2-BD59-A6C34878D82A}">
                    <a16:rowId xmlns:a16="http://schemas.microsoft.com/office/drawing/2014/main" val="2406734327"/>
                  </a:ext>
                </a:extLst>
              </a:tr>
              <a:tr h="370840">
                <a:tc>
                  <a:txBody>
                    <a:bodyPr/>
                    <a:lstStyle/>
                    <a:p>
                      <a:r>
                        <a:rPr lang="en-US" dirty="0"/>
                        <a:t>OSPF</a:t>
                      </a:r>
                    </a:p>
                  </a:txBody>
                  <a:tcPr/>
                </a:tc>
                <a:tc>
                  <a:txBody>
                    <a:bodyPr/>
                    <a:lstStyle/>
                    <a:p>
                      <a:r>
                        <a:rPr lang="en-US" dirty="0"/>
                        <a:t>110</a:t>
                      </a:r>
                    </a:p>
                  </a:txBody>
                  <a:tcPr/>
                </a:tc>
                <a:extLst>
                  <a:ext uri="{0D108BD9-81ED-4DB2-BD59-A6C34878D82A}">
                    <a16:rowId xmlns:a16="http://schemas.microsoft.com/office/drawing/2014/main" val="3806516745"/>
                  </a:ext>
                </a:extLst>
              </a:tr>
              <a:tr h="370840">
                <a:tc>
                  <a:txBody>
                    <a:bodyPr/>
                    <a:lstStyle/>
                    <a:p>
                      <a:r>
                        <a:rPr lang="en-US" dirty="0"/>
                        <a:t>RIP</a:t>
                      </a:r>
                    </a:p>
                  </a:txBody>
                  <a:tcPr/>
                </a:tc>
                <a:tc>
                  <a:txBody>
                    <a:bodyPr/>
                    <a:lstStyle/>
                    <a:p>
                      <a:r>
                        <a:rPr lang="en-US" dirty="0"/>
                        <a:t>120</a:t>
                      </a:r>
                    </a:p>
                  </a:txBody>
                  <a:tcPr/>
                </a:tc>
                <a:extLst>
                  <a:ext uri="{0D108BD9-81ED-4DB2-BD59-A6C34878D82A}">
                    <a16:rowId xmlns:a16="http://schemas.microsoft.com/office/drawing/2014/main" val="5834616"/>
                  </a:ext>
                </a:extLst>
              </a:tr>
            </a:tbl>
          </a:graphicData>
        </a:graphic>
      </p:graphicFrame>
      <p:sp>
        <p:nvSpPr>
          <p:cNvPr id="3" name="Rectangle 2">
            <a:extLst>
              <a:ext uri="{FF2B5EF4-FFF2-40B4-BE49-F238E27FC236}">
                <a16:creationId xmlns:a16="http://schemas.microsoft.com/office/drawing/2014/main" id="{7F51C92E-8461-4C5A-8E84-1CD19DFDCB6E}"/>
              </a:ext>
            </a:extLst>
          </p:cNvPr>
          <p:cNvSpPr/>
          <p:nvPr/>
        </p:nvSpPr>
        <p:spPr>
          <a:xfrm>
            <a:off x="2149642" y="4407433"/>
            <a:ext cx="7668126" cy="1815882"/>
          </a:xfrm>
          <a:prstGeom prst="rect">
            <a:avLst/>
          </a:prstGeom>
        </p:spPr>
        <p:txBody>
          <a:bodyPr wrap="square">
            <a:spAutoFit/>
          </a:bodyPr>
          <a:lstStyle/>
          <a:p>
            <a:r>
              <a:rPr lang="en-US" altLang="en-US" sz="2800" dirty="0"/>
              <a:t>The </a:t>
            </a:r>
            <a:r>
              <a:rPr lang="en-US" altLang="en-US" sz="2800" i="1" dirty="0"/>
              <a:t>administrative distance (AD)</a:t>
            </a:r>
            <a:r>
              <a:rPr lang="en-US" altLang="en-US" sz="2800" dirty="0"/>
              <a:t> is used to rate the trustworthiness of routing information received on one router from its neighboring router.</a:t>
            </a:r>
            <a:br>
              <a:rPr lang="en-US" altLang="en-US" sz="2800" dirty="0"/>
            </a:br>
            <a:endParaRPr lang="en-US" altLang="en-US" sz="2800" dirty="0"/>
          </a:p>
        </p:txBody>
      </p:sp>
    </p:spTree>
    <p:extLst>
      <p:ext uri="{BB962C8B-B14F-4D97-AF65-F5344CB8AC3E}">
        <p14:creationId xmlns:p14="http://schemas.microsoft.com/office/powerpoint/2010/main" val="2749867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90DD6-6C87-730F-DCF8-0225EF01D99C}"/>
              </a:ext>
            </a:extLst>
          </p:cNvPr>
          <p:cNvSpPr>
            <a:spLocks noGrp="1"/>
          </p:cNvSpPr>
          <p:nvPr>
            <p:ph type="title"/>
          </p:nvPr>
        </p:nvSpPr>
        <p:spPr>
          <a:xfrm>
            <a:off x="913774" y="382385"/>
            <a:ext cx="10973426" cy="1492132"/>
          </a:xfrm>
        </p:spPr>
        <p:txBody>
          <a:bodyPr/>
          <a:lstStyle/>
          <a:p>
            <a:pPr algn="ctr"/>
            <a:r>
              <a:rPr lang="en-US" dirty="0"/>
              <a:t>Routing Metrics</a:t>
            </a:r>
          </a:p>
        </p:txBody>
      </p:sp>
      <p:sp>
        <p:nvSpPr>
          <p:cNvPr id="3" name="Content Placeholder 2">
            <a:extLst>
              <a:ext uri="{FF2B5EF4-FFF2-40B4-BE49-F238E27FC236}">
                <a16:creationId xmlns:a16="http://schemas.microsoft.com/office/drawing/2014/main" id="{4C056A65-AE89-D8F9-6AA9-65D8CFBC3929}"/>
              </a:ext>
            </a:extLst>
          </p:cNvPr>
          <p:cNvSpPr>
            <a:spLocks noGrp="1"/>
          </p:cNvSpPr>
          <p:nvPr>
            <p:ph sz="quarter" idx="13"/>
          </p:nvPr>
        </p:nvSpPr>
        <p:spPr>
          <a:xfrm>
            <a:off x="913774" y="1306643"/>
            <a:ext cx="10363826" cy="3424107"/>
          </a:xfrm>
        </p:spPr>
        <p:txBody>
          <a:bodyPr>
            <a:normAutofit/>
          </a:bodyPr>
          <a:lstStyle/>
          <a:p>
            <a:r>
              <a:rPr lang="en-US" sz="2800" dirty="0"/>
              <a:t>Different Routing Protocols have different metrics for deciding on the best route</a:t>
            </a:r>
          </a:p>
          <a:p>
            <a:r>
              <a:rPr lang="en-US" sz="2800" dirty="0"/>
              <a:t>The lower the number, the better the route</a:t>
            </a:r>
          </a:p>
          <a:p>
            <a:r>
              <a:rPr lang="en-US" sz="2800" dirty="0"/>
              <a:t>Cost = Reference Bandwidth / Interface Bandwidth</a:t>
            </a:r>
          </a:p>
        </p:txBody>
      </p:sp>
      <p:pic>
        <p:nvPicPr>
          <p:cNvPr id="2050" name="Picture 2" descr="What is the metric in the routing table? - Quora">
            <a:extLst>
              <a:ext uri="{FF2B5EF4-FFF2-40B4-BE49-F238E27FC236}">
                <a16:creationId xmlns:a16="http://schemas.microsoft.com/office/drawing/2014/main" id="{18D80998-ECD4-A3EA-1627-5E8B6BFF7C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1678" y="4730750"/>
            <a:ext cx="4495800" cy="2120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847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B2EB7-A91A-4120-A702-7E6EEA81FB01}"/>
              </a:ext>
            </a:extLst>
          </p:cNvPr>
          <p:cNvSpPr>
            <a:spLocks noGrp="1"/>
          </p:cNvSpPr>
          <p:nvPr>
            <p:ph type="title"/>
          </p:nvPr>
        </p:nvSpPr>
        <p:spPr>
          <a:xfrm>
            <a:off x="913773" y="382385"/>
            <a:ext cx="10928821" cy="1492132"/>
          </a:xfrm>
        </p:spPr>
        <p:txBody>
          <a:bodyPr/>
          <a:lstStyle/>
          <a:p>
            <a:pPr algn="ctr"/>
            <a:r>
              <a:rPr lang="en-US" dirty="0"/>
              <a:t>Classes of Routing Protocols</a:t>
            </a:r>
          </a:p>
        </p:txBody>
      </p:sp>
      <p:sp>
        <p:nvSpPr>
          <p:cNvPr id="3" name="Content Placeholder 2">
            <a:extLst>
              <a:ext uri="{FF2B5EF4-FFF2-40B4-BE49-F238E27FC236}">
                <a16:creationId xmlns:a16="http://schemas.microsoft.com/office/drawing/2014/main" id="{5E691660-8166-428E-9ADA-87902B777013}"/>
              </a:ext>
            </a:extLst>
          </p:cNvPr>
          <p:cNvSpPr>
            <a:spLocks noGrp="1"/>
          </p:cNvSpPr>
          <p:nvPr>
            <p:ph sz="quarter" idx="13"/>
          </p:nvPr>
        </p:nvSpPr>
        <p:spPr>
          <a:xfrm>
            <a:off x="913774" y="1700463"/>
            <a:ext cx="10363826" cy="5005137"/>
          </a:xfrm>
        </p:spPr>
        <p:txBody>
          <a:bodyPr>
            <a:noAutofit/>
          </a:bodyPr>
          <a:lstStyle/>
          <a:p>
            <a:r>
              <a:rPr lang="en-US" b="1" dirty="0"/>
              <a:t>Distance Vector </a:t>
            </a:r>
            <a:r>
              <a:rPr lang="en-US" dirty="0"/>
              <a:t>– </a:t>
            </a:r>
            <a:r>
              <a:rPr lang="en-US" altLang="en-US" dirty="0"/>
              <a:t>Find the best path to a remote network by judging distance. Each time a </a:t>
            </a:r>
            <a:br>
              <a:rPr lang="en-US" altLang="en-US" dirty="0"/>
            </a:br>
            <a:r>
              <a:rPr lang="en-US" altLang="en-US" dirty="0"/>
              <a:t>packet goes through a router we call it a </a:t>
            </a:r>
            <a:r>
              <a:rPr lang="en-US" altLang="en-US" i="1" dirty="0"/>
              <a:t>hop</a:t>
            </a:r>
            <a:r>
              <a:rPr lang="en-US" altLang="en-US" dirty="0"/>
              <a:t>. The route with fewest hops to the network is determined to be the best route.</a:t>
            </a:r>
          </a:p>
          <a:p>
            <a:r>
              <a:rPr lang="en-US" b="1" dirty="0"/>
              <a:t>Link State </a:t>
            </a:r>
            <a:r>
              <a:rPr lang="en-US" dirty="0"/>
              <a:t>– </a:t>
            </a:r>
            <a:r>
              <a:rPr lang="en-US" altLang="en-US" dirty="0"/>
              <a:t>Link State protocols create three separate tables. One of these tables keeps track of directly attached neighbors, one determines the topology of the entire internetwork, and one is used as the actual routing table. Link-state routers know more about the internetwork than any distance-vector routing protocol. </a:t>
            </a:r>
          </a:p>
          <a:p>
            <a:r>
              <a:rPr lang="en-US" b="1" dirty="0"/>
              <a:t>Hybrid</a:t>
            </a:r>
            <a:r>
              <a:rPr lang="en-US" dirty="0"/>
              <a:t> – </a:t>
            </a:r>
            <a:r>
              <a:rPr lang="en-US" altLang="en-US" dirty="0"/>
              <a:t>A </a:t>
            </a:r>
            <a:r>
              <a:rPr lang="en-US" altLang="en-US" i="1" dirty="0"/>
              <a:t>hybrid protocol</a:t>
            </a:r>
            <a:r>
              <a:rPr lang="en-US" altLang="en-US" dirty="0"/>
              <a:t> uses the best aspects of both distance vector and link state routing protocols.  At this time, there’s EIGRP and BGP. EIGRP happens to be a Cisco proprietary protocol, meaning that it will only run on Cisco equipment. If you have a multi-vendor environment,  this won’t work for you.</a:t>
            </a:r>
          </a:p>
        </p:txBody>
      </p:sp>
    </p:spTree>
    <p:extLst>
      <p:ext uri="{BB962C8B-B14F-4D97-AF65-F5344CB8AC3E}">
        <p14:creationId xmlns:p14="http://schemas.microsoft.com/office/powerpoint/2010/main" val="3868563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78BFA-BA93-471E-9EAF-3C9BA6639CF0}"/>
              </a:ext>
            </a:extLst>
          </p:cNvPr>
          <p:cNvSpPr>
            <a:spLocks noGrp="1"/>
          </p:cNvSpPr>
          <p:nvPr>
            <p:ph type="title"/>
          </p:nvPr>
        </p:nvSpPr>
        <p:spPr/>
        <p:txBody>
          <a:bodyPr/>
          <a:lstStyle/>
          <a:p>
            <a:pPr algn="ctr"/>
            <a:r>
              <a:rPr lang="en-US" dirty="0"/>
              <a:t>Distance Vector Routing</a:t>
            </a:r>
          </a:p>
        </p:txBody>
      </p:sp>
      <p:sp>
        <p:nvSpPr>
          <p:cNvPr id="3" name="Content Placeholder 2">
            <a:extLst>
              <a:ext uri="{FF2B5EF4-FFF2-40B4-BE49-F238E27FC236}">
                <a16:creationId xmlns:a16="http://schemas.microsoft.com/office/drawing/2014/main" id="{4D239345-38CD-4CB9-B377-2848911A9767}"/>
              </a:ext>
            </a:extLst>
          </p:cNvPr>
          <p:cNvSpPr>
            <a:spLocks noGrp="1"/>
          </p:cNvSpPr>
          <p:nvPr>
            <p:ph sz="quarter" idx="13"/>
          </p:nvPr>
        </p:nvSpPr>
        <p:spPr>
          <a:xfrm>
            <a:off x="913774" y="1360450"/>
            <a:ext cx="10363826" cy="4430750"/>
          </a:xfrm>
        </p:spPr>
        <p:txBody>
          <a:bodyPr>
            <a:normAutofit/>
          </a:bodyPr>
          <a:lstStyle/>
          <a:p>
            <a:r>
              <a:rPr lang="en-US" sz="2800" dirty="0"/>
              <a:t>Not preferred</a:t>
            </a:r>
          </a:p>
          <a:p>
            <a:r>
              <a:rPr lang="en-US" sz="2800" dirty="0"/>
              <a:t>Based on hop count</a:t>
            </a:r>
          </a:p>
          <a:p>
            <a:r>
              <a:rPr lang="en-US" sz="2800" dirty="0"/>
              <a:t>Used with rip or rip v2</a:t>
            </a:r>
          </a:p>
          <a:p>
            <a:r>
              <a:rPr lang="en-US" sz="2800" dirty="0"/>
              <a:t>Rip v1 no </a:t>
            </a:r>
            <a:r>
              <a:rPr lang="en-US" sz="2800" dirty="0" err="1"/>
              <a:t>vlsm</a:t>
            </a:r>
            <a:endParaRPr lang="en-US" sz="2800" dirty="0"/>
          </a:p>
          <a:p>
            <a:r>
              <a:rPr lang="en-US" sz="2800" dirty="0"/>
              <a:t>Rip v2 yes </a:t>
            </a:r>
            <a:r>
              <a:rPr lang="en-US" sz="2800" dirty="0" err="1"/>
              <a:t>vlsm</a:t>
            </a:r>
            <a:endParaRPr lang="en-US" sz="2800" dirty="0"/>
          </a:p>
          <a:p>
            <a:r>
              <a:rPr lang="en-US" sz="2800" dirty="0"/>
              <a:t>Max hop count 15</a:t>
            </a:r>
          </a:p>
        </p:txBody>
      </p:sp>
    </p:spTree>
    <p:extLst>
      <p:ext uri="{BB962C8B-B14F-4D97-AF65-F5344CB8AC3E}">
        <p14:creationId xmlns:p14="http://schemas.microsoft.com/office/powerpoint/2010/main" val="2203374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Rectangle 8"/>
          <p:cNvSpPr>
            <a:spLocks noGrp="1"/>
          </p:cNvSpPr>
          <p:nvPr>
            <p:ph type="title" idx="4294967295"/>
          </p:nvPr>
        </p:nvSpPr>
        <p:spPr>
          <a:xfrm>
            <a:off x="773150" y="152400"/>
            <a:ext cx="11232995" cy="1530572"/>
          </a:xfrm>
          <a:ln/>
        </p:spPr>
        <p:txBody>
          <a:bodyPr vert="horz" wrap="square" lIns="91440" tIns="45720" rIns="91440" bIns="45720" rtlCol="0" anchor="ctr">
            <a:noAutofit/>
          </a:bodyPr>
          <a:lstStyle/>
          <a:p>
            <a:pPr algn="ctr" eaLnBrk="1" hangingPunct="1"/>
            <a:r>
              <a:rPr lang="en-US" altLang="en-US" dirty="0"/>
              <a:t>Routing Information Protocol</a:t>
            </a:r>
            <a:br>
              <a:rPr lang="en-US" altLang="en-US" dirty="0"/>
            </a:br>
            <a:r>
              <a:rPr lang="en-US" altLang="en-US" dirty="0"/>
              <a:t>(RIP)</a:t>
            </a:r>
          </a:p>
        </p:txBody>
      </p:sp>
      <p:sp>
        <p:nvSpPr>
          <p:cNvPr id="14345" name="Content Placeholder 9"/>
          <p:cNvSpPr>
            <a:spLocks noGrp="1"/>
          </p:cNvSpPr>
          <p:nvPr>
            <p:ph idx="4294967295"/>
          </p:nvPr>
        </p:nvSpPr>
        <p:spPr>
          <a:xfrm>
            <a:off x="1137423" y="4419027"/>
            <a:ext cx="7248293" cy="2438973"/>
          </a:xfrm>
          <a:ln/>
        </p:spPr>
        <p:txBody>
          <a:bodyPr vert="horz" wrap="square" lIns="91440" tIns="45720" rIns="91440" bIns="45720" anchor="t">
            <a:normAutofit lnSpcReduction="10000"/>
          </a:bodyPr>
          <a:lstStyle/>
          <a:p>
            <a:r>
              <a:rPr lang="en-US" altLang="en-US" sz="1800" dirty="0"/>
              <a:t>RIP is a true distance-vector routing protocol. </a:t>
            </a:r>
          </a:p>
          <a:p>
            <a:r>
              <a:rPr lang="en-US" altLang="en-US" sz="1800" dirty="0"/>
              <a:t>It sends the complete routing table out to all active interfaces every 30 seconds. </a:t>
            </a:r>
          </a:p>
          <a:p>
            <a:r>
              <a:rPr lang="en-US" altLang="en-US" sz="1800" dirty="0"/>
              <a:t>RIP uses only one thing to determine the best way to a remote network—the hop count. </a:t>
            </a:r>
          </a:p>
          <a:p>
            <a:r>
              <a:rPr lang="en-US" altLang="en-US" sz="1800" dirty="0"/>
              <a:t>RIP has a maximum allowable hop count of 15 by default, a hop count of 16 would be deemed unreachable. </a:t>
            </a:r>
          </a:p>
        </p:txBody>
      </p:sp>
      <p:sp>
        <p:nvSpPr>
          <p:cNvPr id="14344" name="Rectangle 12"/>
          <p:cNvSpPr/>
          <p:nvPr/>
        </p:nvSpPr>
        <p:spPr>
          <a:xfrm>
            <a:off x="4648200" y="6248400"/>
            <a:ext cx="2895600" cy="4572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algn="ctr">
              <a:spcBef>
                <a:spcPct val="0"/>
              </a:spcBef>
              <a:buNone/>
            </a:pPr>
            <a:endParaRPr lang="en-US" altLang="en-US" sz="1400" dirty="0">
              <a:latin typeface="Times" pitchFamily="-108" charset="0"/>
            </a:endParaRPr>
          </a:p>
        </p:txBody>
      </p:sp>
      <p:pic>
        <p:nvPicPr>
          <p:cNvPr id="14346" name="Picture 10"/>
          <p:cNvPicPr>
            <a:picLocks noChangeAspect="1"/>
          </p:cNvPicPr>
          <p:nvPr/>
        </p:nvPicPr>
        <p:blipFill>
          <a:blip r:embed="rId3"/>
          <a:stretch>
            <a:fillRect/>
          </a:stretch>
        </p:blipFill>
        <p:spPr>
          <a:xfrm>
            <a:off x="1315843" y="1594201"/>
            <a:ext cx="10147610" cy="2824826"/>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Rectangle 8"/>
          <p:cNvSpPr>
            <a:spLocks noGrp="1"/>
          </p:cNvSpPr>
          <p:nvPr>
            <p:ph type="title" idx="4294967295"/>
          </p:nvPr>
        </p:nvSpPr>
        <p:spPr>
          <a:xfrm>
            <a:off x="914400" y="54726"/>
            <a:ext cx="10883590" cy="1143000"/>
          </a:xfrm>
          <a:ln/>
        </p:spPr>
        <p:txBody>
          <a:bodyPr vert="horz" wrap="square" lIns="91440" tIns="45720" rIns="91440" bIns="45720" rtlCol="0" anchor="ctr">
            <a:normAutofit/>
          </a:bodyPr>
          <a:lstStyle/>
          <a:p>
            <a:pPr algn="ctr" eaLnBrk="1" hangingPunct="1"/>
            <a:r>
              <a:rPr lang="en-US" altLang="en-US" b="1" dirty="0"/>
              <a:t>EIGRP</a:t>
            </a:r>
            <a:r>
              <a:rPr lang="en-US" altLang="en-US" dirty="0"/>
              <a:t> </a:t>
            </a:r>
          </a:p>
        </p:txBody>
      </p:sp>
      <p:sp>
        <p:nvSpPr>
          <p:cNvPr id="18441" name="Content Placeholder 9"/>
          <p:cNvSpPr>
            <a:spLocks noGrp="1"/>
          </p:cNvSpPr>
          <p:nvPr>
            <p:ph idx="4294967295"/>
          </p:nvPr>
        </p:nvSpPr>
        <p:spPr>
          <a:xfrm>
            <a:off x="5622073" y="1510434"/>
            <a:ext cx="6175917" cy="5195166"/>
          </a:xfrm>
          <a:ln/>
        </p:spPr>
        <p:txBody>
          <a:bodyPr vert="horz" wrap="square" lIns="91440" tIns="45720" rIns="91440" bIns="45720" anchor="t">
            <a:normAutofit/>
          </a:bodyPr>
          <a:lstStyle/>
          <a:p>
            <a:r>
              <a:rPr lang="en-US" altLang="en-US" sz="2400" dirty="0"/>
              <a:t>A great feature of EIGRP is that it’s simple to configure and turn on like a distance-vector protocol, but it keeps track of more information than a distance vector does. </a:t>
            </a:r>
          </a:p>
          <a:p>
            <a:r>
              <a:rPr lang="en-US" altLang="en-US" sz="2400" dirty="0"/>
              <a:t>It creates and maintains additional tables instead of just one table as distance-vector routing protocols do. </a:t>
            </a:r>
          </a:p>
          <a:p>
            <a:r>
              <a:rPr lang="en-US" altLang="en-US" sz="2400" dirty="0"/>
              <a:t>These tables are called the </a:t>
            </a:r>
            <a:r>
              <a:rPr lang="en-US" altLang="en-US" sz="2400" i="1" dirty="0"/>
              <a:t>neighbor table</a:t>
            </a:r>
            <a:r>
              <a:rPr lang="en-US" altLang="en-US" sz="2400" dirty="0"/>
              <a:t>, </a:t>
            </a:r>
            <a:r>
              <a:rPr lang="en-US" altLang="en-US" sz="2400" i="1" dirty="0"/>
              <a:t>topology table</a:t>
            </a:r>
            <a:r>
              <a:rPr lang="en-US" altLang="en-US" sz="2400" dirty="0"/>
              <a:t>, and </a:t>
            </a:r>
            <a:r>
              <a:rPr lang="en-US" altLang="en-US" sz="2400" i="1" dirty="0"/>
              <a:t>routing table.</a:t>
            </a:r>
            <a:r>
              <a:rPr lang="en-US" altLang="en-US" sz="2400" dirty="0"/>
              <a:t> </a:t>
            </a:r>
          </a:p>
        </p:txBody>
      </p:sp>
      <p:sp>
        <p:nvSpPr>
          <p:cNvPr id="18440" name="Rectangle 12"/>
          <p:cNvSpPr/>
          <p:nvPr/>
        </p:nvSpPr>
        <p:spPr>
          <a:xfrm>
            <a:off x="4648200" y="6248400"/>
            <a:ext cx="2895600" cy="4572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algn="ctr">
              <a:spcBef>
                <a:spcPct val="0"/>
              </a:spcBef>
              <a:buNone/>
            </a:pPr>
            <a:endParaRPr lang="en-US" altLang="en-US" sz="1400" dirty="0">
              <a:latin typeface="Times" pitchFamily="-108" charset="0"/>
            </a:endParaRPr>
          </a:p>
        </p:txBody>
      </p:sp>
      <p:pic>
        <p:nvPicPr>
          <p:cNvPr id="18442" name="Picture 10" descr="f1007 copy"/>
          <p:cNvPicPr>
            <a:picLocks noChangeAspect="1"/>
          </p:cNvPicPr>
          <p:nvPr/>
        </p:nvPicPr>
        <p:blipFill>
          <a:blip r:embed="rId3"/>
          <a:stretch>
            <a:fillRect/>
          </a:stretch>
        </p:blipFill>
        <p:spPr>
          <a:xfrm>
            <a:off x="1470025" y="1442273"/>
            <a:ext cx="4168775" cy="2995613"/>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382385"/>
            <a:ext cx="10973426" cy="1492132"/>
          </a:xfrm>
        </p:spPr>
        <p:txBody>
          <a:bodyPr/>
          <a:lstStyle/>
          <a:p>
            <a:pPr algn="ctr"/>
            <a:r>
              <a:rPr lang="en-US" dirty="0"/>
              <a:t>Link State</a:t>
            </a:r>
          </a:p>
        </p:txBody>
      </p:sp>
      <p:sp>
        <p:nvSpPr>
          <p:cNvPr id="3" name="Content Placeholder 2"/>
          <p:cNvSpPr>
            <a:spLocks noGrp="1"/>
          </p:cNvSpPr>
          <p:nvPr>
            <p:ph sz="quarter" idx="13"/>
          </p:nvPr>
        </p:nvSpPr>
        <p:spPr>
          <a:xfrm>
            <a:off x="913774" y="1338146"/>
            <a:ext cx="10363826" cy="4453053"/>
          </a:xfrm>
        </p:spPr>
        <p:txBody>
          <a:bodyPr>
            <a:normAutofit/>
          </a:bodyPr>
          <a:lstStyle/>
          <a:p>
            <a:r>
              <a:rPr lang="en-US" sz="2400" dirty="0"/>
              <a:t>Open Shortest Path First (OSPF)</a:t>
            </a:r>
          </a:p>
          <a:p>
            <a:pPr lvl="1"/>
            <a:r>
              <a:rPr lang="en-US" sz="2400" dirty="0"/>
              <a:t>Interior</a:t>
            </a:r>
          </a:p>
          <a:p>
            <a:pPr lvl="1"/>
            <a:r>
              <a:rPr lang="en-US" sz="2400" dirty="0"/>
              <a:t>Uses the speed and bandwidth calculations</a:t>
            </a:r>
          </a:p>
          <a:p>
            <a:pPr lvl="1"/>
            <a:r>
              <a:rPr lang="en-US" sz="2400" dirty="0"/>
              <a:t>Uses </a:t>
            </a:r>
            <a:r>
              <a:rPr lang="en-US" sz="2400" dirty="0" err="1"/>
              <a:t>Djikstra</a:t>
            </a:r>
            <a:r>
              <a:rPr lang="en-US" sz="2400" dirty="0"/>
              <a:t> Formula</a:t>
            </a:r>
          </a:p>
          <a:p>
            <a:pPr lvl="1"/>
            <a:r>
              <a:rPr lang="en-US" sz="2400" dirty="0"/>
              <a:t>Each router communicates with its neighbor</a:t>
            </a:r>
          </a:p>
          <a:p>
            <a:pPr lvl="1"/>
            <a:r>
              <a:rPr lang="en-US" sz="2400" dirty="0"/>
              <a:t>Every router is aware of the networks topology to make decisions</a:t>
            </a:r>
          </a:p>
          <a:p>
            <a:pPr lvl="1"/>
            <a:r>
              <a:rPr lang="en-US" sz="2400" dirty="0"/>
              <a:t>Not very scalable</a:t>
            </a:r>
          </a:p>
          <a:p>
            <a:pPr lvl="1"/>
            <a:r>
              <a:rPr lang="en-US" sz="2400" dirty="0"/>
              <a:t>Uses an Autonomous system (AS)</a:t>
            </a:r>
          </a:p>
        </p:txBody>
      </p:sp>
    </p:spTree>
    <p:extLst>
      <p:ext uri="{BB962C8B-B14F-4D97-AF65-F5344CB8AC3E}">
        <p14:creationId xmlns:p14="http://schemas.microsoft.com/office/powerpoint/2010/main" val="2976196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0" name="Rectangle 8"/>
          <p:cNvSpPr>
            <a:spLocks noGrp="1"/>
          </p:cNvSpPr>
          <p:nvPr>
            <p:ph type="title" idx="4294967295"/>
          </p:nvPr>
        </p:nvSpPr>
        <p:spPr>
          <a:xfrm>
            <a:off x="869795" y="80963"/>
            <a:ext cx="11322205" cy="1143000"/>
          </a:xfrm>
          <a:ln/>
        </p:spPr>
        <p:txBody>
          <a:bodyPr vert="horz" wrap="square" lIns="91440" tIns="45720" rIns="91440" bIns="45720" rtlCol="0" anchor="ctr">
            <a:normAutofit/>
          </a:bodyPr>
          <a:lstStyle/>
          <a:p>
            <a:pPr algn="ctr" eaLnBrk="1" hangingPunct="1"/>
            <a:r>
              <a:rPr lang="en-US" altLang="en-US" dirty="0"/>
              <a:t>RIP / OSPF Comparison</a:t>
            </a:r>
          </a:p>
        </p:txBody>
      </p:sp>
      <p:sp>
        <p:nvSpPr>
          <p:cNvPr id="21513" name="Content Placeholder 9"/>
          <p:cNvSpPr>
            <a:spLocks noGrp="1"/>
          </p:cNvSpPr>
          <p:nvPr>
            <p:ph idx="4294967295"/>
          </p:nvPr>
        </p:nvSpPr>
        <p:spPr>
          <a:xfrm>
            <a:off x="3300029" y="5229224"/>
            <a:ext cx="5591942" cy="1628775"/>
          </a:xfrm>
          <a:ln/>
        </p:spPr>
        <p:txBody>
          <a:bodyPr vert="horz" wrap="square" lIns="91440" tIns="45720" rIns="91440" bIns="45720" anchor="t">
            <a:normAutofit/>
          </a:bodyPr>
          <a:lstStyle/>
          <a:p>
            <a:r>
              <a:rPr lang="en-US" altLang="en-US" sz="1800" dirty="0"/>
              <a:t>OSPF is the first link-state routing protocol that most people are introduced to, so it’s good to see how it compares to more traditional distance-vector protocols like RIPv2 and RIPv1.</a:t>
            </a:r>
            <a:r>
              <a:rPr lang="en-US" altLang="en-US" sz="1600" dirty="0"/>
              <a:t> </a:t>
            </a:r>
          </a:p>
        </p:txBody>
      </p:sp>
      <p:sp>
        <p:nvSpPr>
          <p:cNvPr id="21511" name="Rectangle 11"/>
          <p:cNvSpPr/>
          <p:nvPr/>
        </p:nvSpPr>
        <p:spPr>
          <a:xfrm>
            <a:off x="9220200" y="6248400"/>
            <a:ext cx="762000" cy="4572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algn="r">
              <a:spcBef>
                <a:spcPct val="0"/>
              </a:spcBef>
              <a:buNone/>
            </a:pPr>
            <a:endParaRPr lang="en-US" altLang="en-US" sz="1400" dirty="0">
              <a:latin typeface="Times" pitchFamily="-108" charset="0"/>
            </a:endParaRPr>
          </a:p>
        </p:txBody>
      </p:sp>
      <p:sp>
        <p:nvSpPr>
          <p:cNvPr id="21512" name="Rectangle 12"/>
          <p:cNvSpPr/>
          <p:nvPr/>
        </p:nvSpPr>
        <p:spPr>
          <a:xfrm>
            <a:off x="4648200" y="6248400"/>
            <a:ext cx="2895600" cy="4572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algn="ctr">
              <a:spcBef>
                <a:spcPct val="0"/>
              </a:spcBef>
              <a:buNone/>
            </a:pPr>
            <a:endParaRPr lang="en-US" altLang="en-US" sz="1400" dirty="0">
              <a:latin typeface="Times" pitchFamily="-108" charset="0"/>
            </a:endParaRPr>
          </a:p>
        </p:txBody>
      </p:sp>
      <p:pic>
        <p:nvPicPr>
          <p:cNvPr id="21514" name="Picture 10"/>
          <p:cNvPicPr>
            <a:picLocks noChangeAspect="1"/>
          </p:cNvPicPr>
          <p:nvPr/>
        </p:nvPicPr>
        <p:blipFill>
          <a:blip r:embed="rId3"/>
          <a:stretch>
            <a:fillRect/>
          </a:stretch>
        </p:blipFill>
        <p:spPr>
          <a:xfrm>
            <a:off x="3300029" y="1133475"/>
            <a:ext cx="5591942" cy="412432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BAB90-82DF-4305-93CC-A5760960C714}"/>
              </a:ext>
            </a:extLst>
          </p:cNvPr>
          <p:cNvSpPr>
            <a:spLocks noGrp="1"/>
          </p:cNvSpPr>
          <p:nvPr>
            <p:ph type="title"/>
          </p:nvPr>
        </p:nvSpPr>
        <p:spPr>
          <a:xfrm>
            <a:off x="913774" y="382385"/>
            <a:ext cx="10516226" cy="1492132"/>
          </a:xfrm>
        </p:spPr>
        <p:txBody>
          <a:bodyPr/>
          <a:lstStyle/>
          <a:p>
            <a:pPr algn="ctr"/>
            <a:r>
              <a:rPr lang="en-US" dirty="0"/>
              <a:t>hybrids</a:t>
            </a:r>
          </a:p>
        </p:txBody>
      </p:sp>
      <p:sp>
        <p:nvSpPr>
          <p:cNvPr id="3" name="Content Placeholder 2">
            <a:extLst>
              <a:ext uri="{FF2B5EF4-FFF2-40B4-BE49-F238E27FC236}">
                <a16:creationId xmlns:a16="http://schemas.microsoft.com/office/drawing/2014/main" id="{52BA2FD0-D8C3-4E4F-97BE-D0F7E612C13F}"/>
              </a:ext>
            </a:extLst>
          </p:cNvPr>
          <p:cNvSpPr>
            <a:spLocks noGrp="1"/>
          </p:cNvSpPr>
          <p:nvPr>
            <p:ph sz="quarter" idx="13"/>
          </p:nvPr>
        </p:nvSpPr>
        <p:spPr>
          <a:xfrm>
            <a:off x="913774" y="1405054"/>
            <a:ext cx="10363826" cy="4386145"/>
          </a:xfrm>
        </p:spPr>
        <p:txBody>
          <a:bodyPr>
            <a:normAutofit/>
          </a:bodyPr>
          <a:lstStyle/>
          <a:p>
            <a:r>
              <a:rPr lang="en-US" sz="2800" dirty="0"/>
              <a:t>Border Gateway protocol (</a:t>
            </a:r>
            <a:r>
              <a:rPr lang="en-US" sz="2800" dirty="0" err="1"/>
              <a:t>Bgp</a:t>
            </a:r>
            <a:r>
              <a:rPr lang="en-US" sz="2800" dirty="0"/>
              <a:t>)</a:t>
            </a:r>
          </a:p>
          <a:p>
            <a:pPr lvl="1"/>
            <a:r>
              <a:rPr lang="en-US" sz="2800" dirty="0"/>
              <a:t>Exterior protocol</a:t>
            </a:r>
          </a:p>
          <a:p>
            <a:pPr lvl="1"/>
            <a:r>
              <a:rPr lang="en-US" sz="2800" dirty="0"/>
              <a:t>Uses autonomous systems in place of hop count</a:t>
            </a:r>
          </a:p>
          <a:p>
            <a:pPr lvl="1"/>
            <a:r>
              <a:rPr lang="en-US" sz="2800" dirty="0"/>
              <a:t>Global version</a:t>
            </a:r>
          </a:p>
          <a:p>
            <a:pPr lvl="1"/>
            <a:r>
              <a:rPr lang="en-US" sz="2800" dirty="0"/>
              <a:t>Routes packets between separate Autonomous systems</a:t>
            </a:r>
          </a:p>
        </p:txBody>
      </p:sp>
    </p:spTree>
    <p:extLst>
      <p:ext uri="{BB962C8B-B14F-4D97-AF65-F5344CB8AC3E}">
        <p14:creationId xmlns:p14="http://schemas.microsoft.com/office/powerpoint/2010/main" val="2111266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8"/>
          <p:cNvSpPr>
            <a:spLocks noGrp="1"/>
          </p:cNvSpPr>
          <p:nvPr>
            <p:ph type="title" idx="4294967295"/>
          </p:nvPr>
        </p:nvSpPr>
        <p:spPr>
          <a:xfrm>
            <a:off x="914400" y="274638"/>
            <a:ext cx="10972800" cy="1143000"/>
          </a:xfrm>
          <a:ln/>
        </p:spPr>
        <p:txBody>
          <a:bodyPr vert="horz" wrap="square" lIns="91440" tIns="45720" rIns="91440" bIns="45720" rtlCol="0" anchor="ctr">
            <a:normAutofit/>
          </a:bodyPr>
          <a:lstStyle/>
          <a:p>
            <a:pPr algn="ctr" eaLnBrk="1" hangingPunct="1"/>
            <a:r>
              <a:rPr lang="en-US" altLang="en-US" sz="3200" dirty="0"/>
              <a:t>Border Gateway Protocol</a:t>
            </a:r>
            <a:br>
              <a:rPr lang="en-US" altLang="en-US" sz="3200" dirty="0"/>
            </a:br>
            <a:r>
              <a:rPr lang="en-US" altLang="en-US" sz="3200" dirty="0"/>
              <a:t>(BGP)</a:t>
            </a:r>
          </a:p>
        </p:txBody>
      </p:sp>
      <p:sp>
        <p:nvSpPr>
          <p:cNvPr id="19464" name="Rectangle 12"/>
          <p:cNvSpPr/>
          <p:nvPr/>
        </p:nvSpPr>
        <p:spPr>
          <a:xfrm>
            <a:off x="4648200" y="6248400"/>
            <a:ext cx="2895600" cy="4572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algn="ctr">
              <a:spcBef>
                <a:spcPct val="0"/>
              </a:spcBef>
              <a:buNone/>
            </a:pPr>
            <a:endParaRPr lang="en-US" altLang="en-US" sz="1400" dirty="0">
              <a:latin typeface="Times" pitchFamily="-108" charset="0"/>
            </a:endParaRPr>
          </a:p>
        </p:txBody>
      </p:sp>
      <p:pic>
        <p:nvPicPr>
          <p:cNvPr id="19465" name="Picture 2"/>
          <p:cNvPicPr>
            <a:picLocks noChangeAspect="1"/>
          </p:cNvPicPr>
          <p:nvPr/>
        </p:nvPicPr>
        <p:blipFill>
          <a:blip r:embed="rId3"/>
          <a:stretch>
            <a:fillRect/>
          </a:stretch>
        </p:blipFill>
        <p:spPr>
          <a:xfrm>
            <a:off x="2224089" y="3108326"/>
            <a:ext cx="3633787" cy="2163763"/>
          </a:xfrm>
          <a:prstGeom prst="rect">
            <a:avLst/>
          </a:prstGeom>
          <a:noFill/>
          <a:ln w="9525">
            <a:noFill/>
          </a:ln>
        </p:spPr>
      </p:pic>
      <p:cxnSp>
        <p:nvCxnSpPr>
          <p:cNvPr id="12" name="Straight Connector 11"/>
          <p:cNvCxnSpPr/>
          <p:nvPr/>
        </p:nvCxnSpPr>
        <p:spPr bwMode="auto">
          <a:xfrm>
            <a:off x="3052764" y="3632200"/>
            <a:ext cx="4763" cy="890588"/>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bwMode="auto">
          <a:xfrm>
            <a:off x="4672014" y="3746500"/>
            <a:ext cx="4763" cy="890588"/>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bwMode="auto">
          <a:xfrm>
            <a:off x="3348039" y="3575051"/>
            <a:ext cx="981075" cy="4763"/>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bwMode="auto">
          <a:xfrm rot="16200000">
            <a:off x="3890964" y="4365625"/>
            <a:ext cx="4763" cy="890588"/>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bwMode="auto">
          <a:xfrm flipH="1" flipV="1">
            <a:off x="3313114" y="3641725"/>
            <a:ext cx="1330325" cy="1219200"/>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bwMode="auto">
          <a:xfrm flipH="1" flipV="1">
            <a:off x="3376614" y="3594100"/>
            <a:ext cx="1838325" cy="514350"/>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bwMode="auto">
          <a:xfrm flipH="1">
            <a:off x="3233739" y="3519489"/>
            <a:ext cx="1268413" cy="1217613"/>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bwMode="auto">
          <a:xfrm flipH="1">
            <a:off x="4805364" y="4110038"/>
            <a:ext cx="677863" cy="750888"/>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19474" name="Picture 27"/>
          <p:cNvPicPr>
            <a:picLocks noChangeAspect="1"/>
          </p:cNvPicPr>
          <p:nvPr/>
        </p:nvPicPr>
        <p:blipFill>
          <a:blip r:embed="rId4"/>
          <a:stretch>
            <a:fillRect/>
          </a:stretch>
        </p:blipFill>
        <p:spPr>
          <a:xfrm>
            <a:off x="2757488" y="3359150"/>
            <a:ext cx="742950" cy="438150"/>
          </a:xfrm>
          <a:prstGeom prst="rect">
            <a:avLst/>
          </a:prstGeom>
          <a:noFill/>
          <a:ln w="9525">
            <a:noFill/>
          </a:ln>
        </p:spPr>
      </p:pic>
      <p:pic>
        <p:nvPicPr>
          <p:cNvPr id="19475" name="Picture 27"/>
          <p:cNvPicPr>
            <a:picLocks noChangeAspect="1"/>
          </p:cNvPicPr>
          <p:nvPr/>
        </p:nvPicPr>
        <p:blipFill>
          <a:blip r:embed="rId4"/>
          <a:stretch>
            <a:fillRect/>
          </a:stretch>
        </p:blipFill>
        <p:spPr>
          <a:xfrm>
            <a:off x="4271963" y="3330575"/>
            <a:ext cx="742950" cy="438150"/>
          </a:xfrm>
          <a:prstGeom prst="rect">
            <a:avLst/>
          </a:prstGeom>
          <a:noFill/>
          <a:ln w="9525">
            <a:noFill/>
          </a:ln>
        </p:spPr>
      </p:pic>
      <p:pic>
        <p:nvPicPr>
          <p:cNvPr id="19476" name="Picture 27"/>
          <p:cNvPicPr>
            <a:picLocks noChangeAspect="1"/>
          </p:cNvPicPr>
          <p:nvPr/>
        </p:nvPicPr>
        <p:blipFill>
          <a:blip r:embed="rId4"/>
          <a:stretch>
            <a:fillRect/>
          </a:stretch>
        </p:blipFill>
        <p:spPr>
          <a:xfrm>
            <a:off x="4329113" y="4559300"/>
            <a:ext cx="742950" cy="438150"/>
          </a:xfrm>
          <a:prstGeom prst="rect">
            <a:avLst/>
          </a:prstGeom>
          <a:noFill/>
          <a:ln w="9525">
            <a:noFill/>
          </a:ln>
        </p:spPr>
      </p:pic>
      <p:pic>
        <p:nvPicPr>
          <p:cNvPr id="19477" name="Picture 27"/>
          <p:cNvPicPr>
            <a:picLocks noChangeAspect="1"/>
          </p:cNvPicPr>
          <p:nvPr/>
        </p:nvPicPr>
        <p:blipFill>
          <a:blip r:embed="rId4"/>
          <a:stretch>
            <a:fillRect/>
          </a:stretch>
        </p:blipFill>
        <p:spPr>
          <a:xfrm>
            <a:off x="2728913" y="4521200"/>
            <a:ext cx="742950" cy="438150"/>
          </a:xfrm>
          <a:prstGeom prst="rect">
            <a:avLst/>
          </a:prstGeom>
          <a:noFill/>
          <a:ln w="9525">
            <a:noFill/>
          </a:ln>
        </p:spPr>
      </p:pic>
      <p:pic>
        <p:nvPicPr>
          <p:cNvPr id="19478" name="Picture 2"/>
          <p:cNvPicPr>
            <a:picLocks noChangeAspect="1"/>
          </p:cNvPicPr>
          <p:nvPr/>
        </p:nvPicPr>
        <p:blipFill>
          <a:blip r:embed="rId5"/>
          <a:stretch>
            <a:fillRect/>
          </a:stretch>
        </p:blipFill>
        <p:spPr>
          <a:xfrm>
            <a:off x="7062789" y="3111501"/>
            <a:ext cx="3633787" cy="2163763"/>
          </a:xfrm>
          <a:prstGeom prst="rect">
            <a:avLst/>
          </a:prstGeom>
          <a:noFill/>
          <a:ln w="9525">
            <a:noFill/>
          </a:ln>
        </p:spPr>
      </p:pic>
      <p:cxnSp>
        <p:nvCxnSpPr>
          <p:cNvPr id="25" name="Straight Connector 24"/>
          <p:cNvCxnSpPr/>
          <p:nvPr/>
        </p:nvCxnSpPr>
        <p:spPr bwMode="auto">
          <a:xfrm flipH="1">
            <a:off x="9863139" y="3635375"/>
            <a:ext cx="4763" cy="890588"/>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bwMode="auto">
          <a:xfrm flipH="1">
            <a:off x="8243889" y="3749675"/>
            <a:ext cx="4763" cy="890588"/>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bwMode="auto">
          <a:xfrm flipH="1">
            <a:off x="8591551" y="3578226"/>
            <a:ext cx="981075" cy="4763"/>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bwMode="auto">
          <a:xfrm rot="5400000" flipH="1">
            <a:off x="9024939" y="4368800"/>
            <a:ext cx="4763" cy="890588"/>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p:cNvCxnSpPr/>
          <p:nvPr/>
        </p:nvCxnSpPr>
        <p:spPr bwMode="auto">
          <a:xfrm flipV="1">
            <a:off x="8277226" y="3644900"/>
            <a:ext cx="1330325" cy="1219200"/>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Connector 29"/>
          <p:cNvCxnSpPr/>
          <p:nvPr/>
        </p:nvCxnSpPr>
        <p:spPr bwMode="auto">
          <a:xfrm flipV="1">
            <a:off x="7705726" y="3597275"/>
            <a:ext cx="1838325" cy="514350"/>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p:cNvCxnSpPr/>
          <p:nvPr/>
        </p:nvCxnSpPr>
        <p:spPr bwMode="auto">
          <a:xfrm>
            <a:off x="8418514" y="3522664"/>
            <a:ext cx="1268413" cy="1217613"/>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bwMode="auto">
          <a:xfrm>
            <a:off x="7437439" y="4113213"/>
            <a:ext cx="677863" cy="750888"/>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19487" name="Picture 27"/>
          <p:cNvPicPr>
            <a:picLocks noChangeAspect="1"/>
          </p:cNvPicPr>
          <p:nvPr/>
        </p:nvPicPr>
        <p:blipFill>
          <a:blip r:embed="rId6"/>
          <a:stretch>
            <a:fillRect/>
          </a:stretch>
        </p:blipFill>
        <p:spPr>
          <a:xfrm>
            <a:off x="9420225" y="3362325"/>
            <a:ext cx="742950" cy="438150"/>
          </a:xfrm>
          <a:prstGeom prst="rect">
            <a:avLst/>
          </a:prstGeom>
          <a:noFill/>
          <a:ln w="9525">
            <a:noFill/>
          </a:ln>
        </p:spPr>
      </p:pic>
      <p:pic>
        <p:nvPicPr>
          <p:cNvPr id="19488" name="Picture 27"/>
          <p:cNvPicPr>
            <a:picLocks noChangeAspect="1"/>
          </p:cNvPicPr>
          <p:nvPr/>
        </p:nvPicPr>
        <p:blipFill>
          <a:blip r:embed="rId6"/>
          <a:stretch>
            <a:fillRect/>
          </a:stretch>
        </p:blipFill>
        <p:spPr>
          <a:xfrm>
            <a:off x="7905750" y="3333750"/>
            <a:ext cx="742950" cy="438150"/>
          </a:xfrm>
          <a:prstGeom prst="rect">
            <a:avLst/>
          </a:prstGeom>
          <a:noFill/>
          <a:ln w="9525">
            <a:noFill/>
          </a:ln>
        </p:spPr>
      </p:pic>
      <p:pic>
        <p:nvPicPr>
          <p:cNvPr id="19489" name="Picture 27"/>
          <p:cNvPicPr>
            <a:picLocks noChangeAspect="1"/>
          </p:cNvPicPr>
          <p:nvPr/>
        </p:nvPicPr>
        <p:blipFill>
          <a:blip r:embed="rId6"/>
          <a:stretch>
            <a:fillRect/>
          </a:stretch>
        </p:blipFill>
        <p:spPr>
          <a:xfrm>
            <a:off x="7848600" y="4562475"/>
            <a:ext cx="742950" cy="438150"/>
          </a:xfrm>
          <a:prstGeom prst="rect">
            <a:avLst/>
          </a:prstGeom>
          <a:noFill/>
          <a:ln w="9525">
            <a:noFill/>
          </a:ln>
        </p:spPr>
      </p:pic>
      <p:pic>
        <p:nvPicPr>
          <p:cNvPr id="19490" name="Picture 27"/>
          <p:cNvPicPr>
            <a:picLocks noChangeAspect="1"/>
          </p:cNvPicPr>
          <p:nvPr/>
        </p:nvPicPr>
        <p:blipFill>
          <a:blip r:embed="rId6"/>
          <a:stretch>
            <a:fillRect/>
          </a:stretch>
        </p:blipFill>
        <p:spPr>
          <a:xfrm>
            <a:off x="9448800" y="4524375"/>
            <a:ext cx="742950" cy="438150"/>
          </a:xfrm>
          <a:prstGeom prst="rect">
            <a:avLst/>
          </a:prstGeom>
          <a:noFill/>
          <a:ln w="9525">
            <a:noFill/>
          </a:ln>
        </p:spPr>
      </p:pic>
      <p:cxnSp>
        <p:nvCxnSpPr>
          <p:cNvPr id="37" name="Straight Connector 36"/>
          <p:cNvCxnSpPr/>
          <p:nvPr/>
        </p:nvCxnSpPr>
        <p:spPr bwMode="auto">
          <a:xfrm flipH="1">
            <a:off x="5067301" y="4241800"/>
            <a:ext cx="2792413" cy="0"/>
          </a:xfrm>
          <a:prstGeom prst="line">
            <a:avLst/>
          </a:prstGeom>
          <a:ln w="38100">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19492" name="Picture 27"/>
          <p:cNvPicPr>
            <a:picLocks noChangeAspect="1"/>
          </p:cNvPicPr>
          <p:nvPr/>
        </p:nvPicPr>
        <p:blipFill>
          <a:blip r:embed="rId4"/>
          <a:stretch>
            <a:fillRect/>
          </a:stretch>
        </p:blipFill>
        <p:spPr>
          <a:xfrm>
            <a:off x="5053013" y="3968750"/>
            <a:ext cx="742950" cy="438150"/>
          </a:xfrm>
          <a:prstGeom prst="rect">
            <a:avLst/>
          </a:prstGeom>
          <a:noFill/>
          <a:ln w="9525">
            <a:noFill/>
          </a:ln>
        </p:spPr>
      </p:pic>
      <p:pic>
        <p:nvPicPr>
          <p:cNvPr id="19493" name="Picture 27"/>
          <p:cNvPicPr>
            <a:picLocks noChangeAspect="1"/>
          </p:cNvPicPr>
          <p:nvPr/>
        </p:nvPicPr>
        <p:blipFill>
          <a:blip r:embed="rId6"/>
          <a:stretch>
            <a:fillRect/>
          </a:stretch>
        </p:blipFill>
        <p:spPr>
          <a:xfrm>
            <a:off x="7124700" y="3971925"/>
            <a:ext cx="742950" cy="438150"/>
          </a:xfrm>
          <a:prstGeom prst="rect">
            <a:avLst/>
          </a:prstGeom>
          <a:noFill/>
          <a:ln w="9525">
            <a:noFill/>
          </a:ln>
        </p:spPr>
      </p:pic>
      <p:cxnSp>
        <p:nvCxnSpPr>
          <p:cNvPr id="19494" name="Straight Arrow Connector 10"/>
          <p:cNvCxnSpPr/>
          <p:nvPr/>
        </p:nvCxnSpPr>
        <p:spPr>
          <a:xfrm>
            <a:off x="6477000" y="3616325"/>
            <a:ext cx="0" cy="611188"/>
          </a:xfrm>
          <a:prstGeom prst="straightConnector1">
            <a:avLst/>
          </a:prstGeom>
          <a:ln w="38100" cap="flat" cmpd="sng">
            <a:solidFill>
              <a:schemeClr val="bg2"/>
            </a:solidFill>
            <a:prstDash val="solid"/>
            <a:headEnd type="none" w="med" len="med"/>
            <a:tailEnd type="stealth" w="lg" len="lg"/>
          </a:ln>
        </p:spPr>
      </p:cxnSp>
      <p:sp>
        <p:nvSpPr>
          <p:cNvPr id="19495" name="TextBox 50"/>
          <p:cNvSpPr txBox="1"/>
          <p:nvPr/>
        </p:nvSpPr>
        <p:spPr>
          <a:xfrm>
            <a:off x="2960688" y="2209801"/>
            <a:ext cx="2825750" cy="341313"/>
          </a:xfrm>
          <a:prstGeom prst="rect">
            <a:avLst/>
          </a:prstGeom>
          <a:noFill/>
          <a:ln w="19050">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algn="ctr" eaLnBrk="1" hangingPunct="1">
              <a:lnSpc>
                <a:spcPct val="90000"/>
              </a:lnSpc>
              <a:spcBef>
                <a:spcPct val="0"/>
              </a:spcBef>
              <a:buNone/>
            </a:pPr>
            <a:r>
              <a:rPr lang="en-US" altLang="en-US" sz="1800" b="1" dirty="0">
                <a:latin typeface="Calibri" panose="020F0502020204030204" pitchFamily="34" charset="0"/>
              </a:rPr>
              <a:t>IGPs: RIP, IGRP, EIGRP, OSPF</a:t>
            </a:r>
          </a:p>
        </p:txBody>
      </p:sp>
      <p:cxnSp>
        <p:nvCxnSpPr>
          <p:cNvPr id="19496" name="Straight Arrow Connector 10"/>
          <p:cNvCxnSpPr/>
          <p:nvPr/>
        </p:nvCxnSpPr>
        <p:spPr>
          <a:xfrm>
            <a:off x="4314825" y="2654300"/>
            <a:ext cx="0" cy="611188"/>
          </a:xfrm>
          <a:prstGeom prst="straightConnector1">
            <a:avLst/>
          </a:prstGeom>
          <a:ln w="38100" cap="flat" cmpd="sng">
            <a:solidFill>
              <a:schemeClr val="bg2"/>
            </a:solidFill>
            <a:prstDash val="solid"/>
            <a:headEnd type="none" w="med" len="med"/>
            <a:tailEnd type="stealth" w="lg" len="lg"/>
          </a:ln>
        </p:spPr>
      </p:cxnSp>
      <p:sp>
        <p:nvSpPr>
          <p:cNvPr id="19497" name="TextBox 53"/>
          <p:cNvSpPr txBox="1"/>
          <p:nvPr/>
        </p:nvSpPr>
        <p:spPr>
          <a:xfrm>
            <a:off x="3067051" y="5343526"/>
            <a:ext cx="2327275" cy="341313"/>
          </a:xfrm>
          <a:prstGeom prst="rect">
            <a:avLst/>
          </a:prstGeom>
          <a:noFill/>
          <a:ln w="19050">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algn="ctr" eaLnBrk="1" hangingPunct="1">
              <a:lnSpc>
                <a:spcPct val="90000"/>
              </a:lnSpc>
              <a:spcBef>
                <a:spcPct val="0"/>
              </a:spcBef>
              <a:buNone/>
            </a:pPr>
            <a:r>
              <a:rPr lang="en-US" altLang="en-US" sz="1800" b="1" dirty="0">
                <a:latin typeface="Calibri" panose="020F0502020204030204" pitchFamily="34" charset="0"/>
              </a:rPr>
              <a:t>Autonomous System 1</a:t>
            </a:r>
          </a:p>
        </p:txBody>
      </p:sp>
      <p:sp>
        <p:nvSpPr>
          <p:cNvPr id="19498" name="TextBox 54"/>
          <p:cNvSpPr txBox="1"/>
          <p:nvPr/>
        </p:nvSpPr>
        <p:spPr>
          <a:xfrm>
            <a:off x="5911851" y="3267076"/>
            <a:ext cx="1171575" cy="341313"/>
          </a:xfrm>
          <a:prstGeom prst="rect">
            <a:avLst/>
          </a:prstGeom>
          <a:noFill/>
          <a:ln w="19050">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algn="ctr" eaLnBrk="1" hangingPunct="1">
              <a:lnSpc>
                <a:spcPct val="90000"/>
              </a:lnSpc>
              <a:spcBef>
                <a:spcPct val="0"/>
              </a:spcBef>
              <a:buNone/>
            </a:pPr>
            <a:r>
              <a:rPr lang="en-US" altLang="en-US" sz="1800" b="1" dirty="0">
                <a:latin typeface="Calibri" panose="020F0502020204030204" pitchFamily="34" charset="0"/>
              </a:rPr>
              <a:t>EGPs: BGP</a:t>
            </a:r>
          </a:p>
        </p:txBody>
      </p:sp>
      <p:sp>
        <p:nvSpPr>
          <p:cNvPr id="19499" name="TextBox 55"/>
          <p:cNvSpPr txBox="1"/>
          <p:nvPr/>
        </p:nvSpPr>
        <p:spPr>
          <a:xfrm>
            <a:off x="7496176" y="5343526"/>
            <a:ext cx="2327275" cy="341313"/>
          </a:xfrm>
          <a:prstGeom prst="rect">
            <a:avLst/>
          </a:prstGeom>
          <a:noFill/>
          <a:ln w="19050">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algn="ctr" eaLnBrk="1" hangingPunct="1">
              <a:lnSpc>
                <a:spcPct val="90000"/>
              </a:lnSpc>
              <a:spcBef>
                <a:spcPct val="0"/>
              </a:spcBef>
              <a:buNone/>
            </a:pPr>
            <a:r>
              <a:rPr lang="en-US" altLang="en-US" sz="1800" b="1" dirty="0">
                <a:latin typeface="Calibri" panose="020F0502020204030204" pitchFamily="34" charset="0"/>
              </a:rPr>
              <a:t>Autonomous System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6BF9418D-01B7-15D3-AEE9-2A8CBE118501}"/>
              </a:ext>
            </a:extLst>
          </p:cNvPr>
          <p:cNvSpPr txBox="1">
            <a:spLocks/>
          </p:cNvSpPr>
          <p:nvPr/>
        </p:nvSpPr>
        <p:spPr>
          <a:xfrm>
            <a:off x="936702" y="252335"/>
            <a:ext cx="10883591" cy="1143000"/>
          </a:xfrm>
          <a:prstGeom prst="rect">
            <a:avLst/>
          </a:prstGeom>
          <a:ln/>
        </p:spPr>
        <p:txBody>
          <a:bodyPr vert="horz" wrap="square"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altLang="en-US" sz="3200" dirty="0"/>
              <a:t>Neighbor Discovery Protocol (NDP) </a:t>
            </a:r>
          </a:p>
        </p:txBody>
      </p:sp>
      <p:pic>
        <p:nvPicPr>
          <p:cNvPr id="1028" name="Picture 4" descr="▷ IPv6 Neighbor Discovery » CCNA 200-301">
            <a:extLst>
              <a:ext uri="{FF2B5EF4-FFF2-40B4-BE49-F238E27FC236}">
                <a16:creationId xmlns:a16="http://schemas.microsoft.com/office/drawing/2014/main" id="{8E730761-24A4-6125-1065-AFC640BEA0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702" y="1397000"/>
            <a:ext cx="10883591" cy="546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6390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CAA3CA6E-319A-F249-4C08-297B602EE862}"/>
              </a:ext>
            </a:extLst>
          </p:cNvPr>
          <p:cNvSpPr txBox="1">
            <a:spLocks/>
          </p:cNvSpPr>
          <p:nvPr/>
        </p:nvSpPr>
        <p:spPr>
          <a:xfrm>
            <a:off x="1003610" y="252335"/>
            <a:ext cx="10816683" cy="1143000"/>
          </a:xfrm>
          <a:prstGeom prst="rect">
            <a:avLst/>
          </a:prstGeom>
          <a:ln/>
        </p:spPr>
        <p:txBody>
          <a:bodyPr vert="horz" wrap="square"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altLang="en-US" sz="3200" dirty="0"/>
              <a:t>Neighbor Discovery Protocol continued</a:t>
            </a:r>
          </a:p>
        </p:txBody>
      </p:sp>
      <p:pic>
        <p:nvPicPr>
          <p:cNvPr id="2050" name="Picture 2" descr="IPv6 neighbor discovery - PacketLife.net">
            <a:extLst>
              <a:ext uri="{FF2B5EF4-FFF2-40B4-BE49-F238E27FC236}">
                <a16:creationId xmlns:a16="http://schemas.microsoft.com/office/drawing/2014/main" id="{8E2EE73D-A252-851A-AEA3-0D8C67F843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3610" y="1798211"/>
            <a:ext cx="10816683" cy="5059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010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382385"/>
            <a:ext cx="10951124" cy="1492132"/>
          </a:xfrm>
        </p:spPr>
        <p:txBody>
          <a:bodyPr/>
          <a:lstStyle/>
          <a:p>
            <a:pPr algn="ctr"/>
            <a:r>
              <a:rPr lang="en-US" dirty="0"/>
              <a:t>High availability</a:t>
            </a:r>
          </a:p>
        </p:txBody>
      </p:sp>
      <p:sp>
        <p:nvSpPr>
          <p:cNvPr id="3" name="Content Placeholder 2"/>
          <p:cNvSpPr>
            <a:spLocks noGrp="1"/>
          </p:cNvSpPr>
          <p:nvPr>
            <p:ph sz="quarter" idx="13"/>
          </p:nvPr>
        </p:nvSpPr>
        <p:spPr>
          <a:xfrm>
            <a:off x="913774" y="1382752"/>
            <a:ext cx="10951124" cy="4408448"/>
          </a:xfrm>
        </p:spPr>
        <p:txBody>
          <a:bodyPr>
            <a:normAutofit/>
          </a:bodyPr>
          <a:lstStyle/>
          <a:p>
            <a:r>
              <a:rPr lang="en-US" sz="2800" dirty="0"/>
              <a:t>First hop Redundancy Protocol</a:t>
            </a:r>
          </a:p>
          <a:p>
            <a:pPr lvl="1"/>
            <a:r>
              <a:rPr lang="en-US" sz="2800" dirty="0"/>
              <a:t>Hot Standby Routing protocol (HSRP)</a:t>
            </a:r>
          </a:p>
          <a:p>
            <a:pPr lvl="2"/>
            <a:r>
              <a:rPr lang="en-US" sz="2800" dirty="0"/>
              <a:t>16 groups max</a:t>
            </a:r>
          </a:p>
          <a:p>
            <a:pPr lvl="2"/>
            <a:r>
              <a:rPr lang="en-US" sz="2800" dirty="0"/>
              <a:t>All routers must have different IP addresses</a:t>
            </a:r>
          </a:p>
          <a:p>
            <a:pPr lvl="1"/>
            <a:r>
              <a:rPr lang="en-US" sz="2800" dirty="0"/>
              <a:t>Virtual Redundancy Routing Protocol (VRRP)</a:t>
            </a:r>
          </a:p>
          <a:p>
            <a:pPr lvl="2"/>
            <a:r>
              <a:rPr lang="en-US" sz="2800" dirty="0"/>
              <a:t>255 Groups max</a:t>
            </a:r>
          </a:p>
          <a:p>
            <a:pPr lvl="2"/>
            <a:r>
              <a:rPr lang="en-US" sz="2800" dirty="0"/>
              <a:t>Ip addresses can be the same as the physical interface</a:t>
            </a:r>
          </a:p>
          <a:p>
            <a:pPr lvl="1"/>
            <a:endParaRPr lang="en-US" dirty="0"/>
          </a:p>
        </p:txBody>
      </p:sp>
    </p:spTree>
    <p:extLst>
      <p:ext uri="{BB962C8B-B14F-4D97-AF65-F5344CB8AC3E}">
        <p14:creationId xmlns:p14="http://schemas.microsoft.com/office/powerpoint/2010/main" val="418040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9797" y="382385"/>
            <a:ext cx="10779705" cy="1492132"/>
          </a:xfrm>
        </p:spPr>
        <p:txBody>
          <a:bodyPr/>
          <a:lstStyle/>
          <a:p>
            <a:pPr algn="ctr"/>
            <a:r>
              <a:rPr lang="en-US" dirty="0"/>
              <a:t>Redundant First Hop Routers</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9797" y="2214694"/>
            <a:ext cx="9569629" cy="34009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1893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0985" y="480272"/>
            <a:ext cx="10493298" cy="1492132"/>
          </a:xfrm>
        </p:spPr>
        <p:txBody>
          <a:bodyPr/>
          <a:lstStyle/>
          <a:p>
            <a:pPr algn="ctr"/>
            <a:r>
              <a:rPr lang="en-US" dirty="0"/>
              <a:t>Redundant First Hop Routers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0985" y="2214694"/>
            <a:ext cx="9158169" cy="34169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2803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82385"/>
            <a:ext cx="10950498" cy="1492132"/>
          </a:xfrm>
        </p:spPr>
        <p:txBody>
          <a:bodyPr/>
          <a:lstStyle/>
          <a:p>
            <a:pPr algn="ctr"/>
            <a:r>
              <a:rPr lang="en-US" dirty="0"/>
              <a:t>Redundant First Hop Routers</a:t>
            </a:r>
          </a:p>
        </p:txBody>
      </p:sp>
      <p:pic>
        <p:nvPicPr>
          <p:cNvPr id="307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892434" y="2415816"/>
            <a:ext cx="8407132" cy="28954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7084112"/>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{A74C1714-5C0B-3846-B47C-6ECBC5836BBB}tf10001071</Template>
  <TotalTime>272</TotalTime>
  <Words>1295</Words>
  <Application>Microsoft Macintosh PowerPoint</Application>
  <PresentationFormat>Widescreen</PresentationFormat>
  <Paragraphs>151</Paragraphs>
  <Slides>18</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Gill Sans MT</vt:lpstr>
      <vt:lpstr>Impact</vt:lpstr>
      <vt:lpstr>Times</vt:lpstr>
      <vt:lpstr>Badge</vt:lpstr>
      <vt:lpstr>Chapter 10</vt:lpstr>
      <vt:lpstr>Default Route</vt:lpstr>
      <vt:lpstr>Administrative Distance</vt:lpstr>
      <vt:lpstr>Routing Metrics</vt:lpstr>
      <vt:lpstr>Classes of Routing Protocols</vt:lpstr>
      <vt:lpstr>Distance Vector Routing</vt:lpstr>
      <vt:lpstr>Routing Information Protocol (RIP)</vt:lpstr>
      <vt:lpstr>EIGRP </vt:lpstr>
      <vt:lpstr>Link State</vt:lpstr>
      <vt:lpstr>RIP / OSPF Comparison</vt:lpstr>
      <vt:lpstr>hybrids</vt:lpstr>
      <vt:lpstr>Border Gateway Protocol (BGP)</vt:lpstr>
      <vt:lpstr>PowerPoint Presentation</vt:lpstr>
      <vt:lpstr>PowerPoint Presentation</vt:lpstr>
      <vt:lpstr>High availability</vt:lpstr>
      <vt:lpstr>Redundant First Hop Routers</vt:lpstr>
      <vt:lpstr>Redundant First Hop Routers</vt:lpstr>
      <vt:lpstr>Redundant First Hop Routers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dc:title>
  <dc:creator>Sam Lee</dc:creator>
  <cp:lastModifiedBy>Adrienne Bailey</cp:lastModifiedBy>
  <cp:revision>21</cp:revision>
  <dcterms:created xsi:type="dcterms:W3CDTF">2018-10-30T19:31:51Z</dcterms:created>
  <dcterms:modified xsi:type="dcterms:W3CDTF">2022-09-20T14:00:11Z</dcterms:modified>
</cp:coreProperties>
</file>