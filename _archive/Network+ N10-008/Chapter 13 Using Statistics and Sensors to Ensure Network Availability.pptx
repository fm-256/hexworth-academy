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4" r:id="rId6"/>
    <p:sldId id="265" r:id="rId7"/>
    <p:sldId id="260" r:id="rId8"/>
    <p:sldId id="261" r:id="rId9"/>
    <p:sldId id="258" r:id="rId10"/>
    <p:sldId id="262" r:id="rId11"/>
    <p:sldId id="3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F1753D-F395-4D48-BFF0-25DADB0E901C}">
          <p14:sldIdLst>
            <p14:sldId id="256"/>
            <p14:sldId id="257"/>
            <p14:sldId id="264"/>
            <p14:sldId id="265"/>
            <p14:sldId id="260"/>
            <p14:sldId id="261"/>
            <p14:sldId id="258"/>
            <p14:sldId id="262"/>
            <p14:sldId id="263"/>
            <p14:sldId id="3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61370"/>
  </p:normalViewPr>
  <p:slideViewPr>
    <p:cSldViewPr snapToGrid="0">
      <p:cViewPr varScale="1">
        <p:scale>
          <a:sx n="67" d="100"/>
          <a:sy n="67" d="100"/>
        </p:scale>
        <p:origin x="2312" y="18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39EF0-8214-234E-B0B9-C9E3DBB88D2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b="1" u="sng" dirty="0"/>
              <a:t>Temperature</a:t>
            </a:r>
            <a:r>
              <a:rPr lang="en-US" b="0" u="none" dirty="0"/>
              <a:t>: can be an early sign of overutilization or hardware issues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important to monitor, so that you can keep your devices and servers running w/ optimal performance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Overheating will usually send your computer into constant rebooting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sure to clean your fan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obstruct air flow into your computer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CPU Usage</a:t>
            </a:r>
            <a:r>
              <a:rPr lang="en-US" dirty="0"/>
              <a:t>: is the metric to determine how hard your device is working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vendor documentation in how to counteract issues with CPU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sure to have enough memory because once a device reaches its capacity, it usually can no longer operate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Consult the vendor for specific documentation or information for specific services in relation to memory 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sure to keep an eye on your bandwidth, if you exceed your bandwidth your network will suffer miserably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Latency</a:t>
            </a:r>
            <a:r>
              <a:rPr lang="en-US" dirty="0"/>
              <a:t>: is the wait time between request and response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Everybody hates latency and slow internet right? Monitor it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Best way to monitor all these metrics is to grab a baseline when you first start working at a company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is easier to troubleshoot issues when they can be identified early 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Jitter</a:t>
            </a:r>
            <a:r>
              <a:rPr lang="en-US" dirty="0"/>
              <a:t>: the time between frames, when phone calls are choppy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These metrics showing issues can be an indication of malware on your devices or operating on your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 determine if the router and switch is operational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device manager to verify speed and duplex settings on a Windows device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CRC: When these errors occur, something has corrupted the received packet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CRC errors: can be caused by a faulty port on the device or a bad ethernet cable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Giants: packets that are discarded because they exceed the maximum packet size of the medium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Runts: packets that are discarded because they don’t meet the minimum packet size requirements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Encapsulation Error occurs when a header from the OSI layer is missing; switches are expecting different frames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Simple Network Management Protocol operates using Ports 161 and 162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Version 3 has message integrity checks, encryption, and authentication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gathers data from devices on the network from a management station at fixed or random intervals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records a baseline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can be utilized as a watch dog to notify an administrator of events or sudden alarms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OIDs: are the stats gathered from network devices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MIB: a database of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Server rooms </a:t>
            </a:r>
            <a:r>
              <a:rPr lang="en-US" dirty="0"/>
              <a:t>or infrastructure rooms including routers, switches, </a:t>
            </a:r>
            <a:r>
              <a:rPr lang="en-US" dirty="0" err="1"/>
              <a:t>etc</a:t>
            </a:r>
            <a:r>
              <a:rPr lang="en-US" dirty="0"/>
              <a:t> should be in a cool room provided with a high powered HVAC system and proper ventilation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Humidity</a:t>
            </a:r>
            <a:r>
              <a:rPr lang="en-US" dirty="0"/>
              <a:t> cant be to damp or too dry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Too dry causes static electricity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Too damp causes connections to corrode or shorts to occur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50% is the magic number of humidity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sure there are devices in those rooms/buildings to monitor these metrics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Server rooms and data centers should be located on upper floors or have raised floors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NetFlow</a:t>
            </a:r>
            <a:r>
              <a:rPr lang="en-US" dirty="0"/>
              <a:t>: allows you to gather traffic statistics from all traffic flows and share the data over multiple devices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has a probe and a collector, the probe sits out on the network collecting information and it sends the summary reports to the collector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Uptime/Downtime</a:t>
            </a:r>
            <a:r>
              <a:rPr lang="en-US" dirty="0"/>
              <a:t>: status page to know if certain devices are up or down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38DBF-4D13-4645-814A-B863EFE3F26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5C357AE-9FF2-434E-BD78-87BFA1F75C42}" type="slidenum">
              <a:rPr lang="en-US" smtClean="0"/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5C357AE-9FF2-434E-BD78-87BFA1F75C42}" type="slidenum">
              <a:rPr lang="en-US" smtClean="0"/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B4105A3-2DFE-4541-B863-C78898B133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5C357AE-9FF2-434E-BD78-87BFA1F75C42}" type="slidenum">
              <a:rPr lang="en-US" smtClean="0"/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STATISTICS AND SENSORS to ensure network availability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650" y="0"/>
            <a:ext cx="10858500" cy="1205345"/>
          </a:xfrm>
        </p:spPr>
        <p:txBody>
          <a:bodyPr/>
          <a:lstStyle/>
          <a:p>
            <a:pPr algn="ctr"/>
            <a:r>
              <a:rPr lang="en-US" dirty="0"/>
              <a:t>Performance metrics/sensors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44140"/>
            <a:ext cx="10205747" cy="581385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Device/Chassis</a:t>
            </a:r>
            <a:endParaRPr lang="en-US" dirty="0"/>
          </a:p>
          <a:p>
            <a:pPr lvl="1"/>
            <a:r>
              <a:rPr lang="en-US" dirty="0"/>
              <a:t>Temperature</a:t>
            </a:r>
            <a:endParaRPr lang="en-US" dirty="0"/>
          </a:p>
          <a:p>
            <a:pPr lvl="2"/>
            <a:r>
              <a:rPr lang="en-US" dirty="0"/>
              <a:t>Overheating a main cause of reboots</a:t>
            </a:r>
            <a:endParaRPr lang="en-US" dirty="0"/>
          </a:p>
          <a:p>
            <a:pPr lvl="2"/>
            <a:r>
              <a:rPr lang="en-US" dirty="0"/>
              <a:t>PC usually cools itself with fans but may require additional cooling (liquid)</a:t>
            </a:r>
            <a:endParaRPr lang="en-US" dirty="0"/>
          </a:p>
          <a:p>
            <a:pPr lvl="2"/>
            <a:r>
              <a:rPr lang="en-US" dirty="0"/>
              <a:t>Dust is a major cause of overheating</a:t>
            </a:r>
            <a:endParaRPr lang="en-US" dirty="0"/>
          </a:p>
          <a:p>
            <a:pPr lvl="1"/>
            <a:r>
              <a:rPr lang="en-US" dirty="0"/>
              <a:t>CPU</a:t>
            </a:r>
            <a:endParaRPr lang="en-US" dirty="0"/>
          </a:p>
          <a:p>
            <a:pPr lvl="2"/>
            <a:r>
              <a:rPr lang="en-US" dirty="0"/>
              <a:t>We use counters to monitor the CPU</a:t>
            </a:r>
            <a:endParaRPr lang="en-US" dirty="0"/>
          </a:p>
          <a:p>
            <a:pPr lvl="3"/>
            <a:r>
              <a:rPr lang="en-US" dirty="0"/>
              <a:t>Processor\% Processor time</a:t>
            </a:r>
            <a:endParaRPr lang="en-US" dirty="0"/>
          </a:p>
          <a:p>
            <a:pPr lvl="4"/>
            <a:r>
              <a:rPr lang="en-US" dirty="0"/>
              <a:t>Time CPU spends executing and non-idle thread</a:t>
            </a:r>
            <a:endParaRPr lang="en-US" dirty="0"/>
          </a:p>
          <a:p>
            <a:pPr lvl="4"/>
            <a:r>
              <a:rPr lang="en-US" dirty="0"/>
              <a:t>Should not exceed 85%</a:t>
            </a:r>
            <a:endParaRPr lang="en-US" dirty="0"/>
          </a:p>
          <a:p>
            <a:pPr lvl="3"/>
            <a:r>
              <a:rPr lang="en-US" dirty="0"/>
              <a:t>Processor\% User time</a:t>
            </a:r>
            <a:endParaRPr lang="en-US" dirty="0"/>
          </a:p>
          <a:p>
            <a:pPr lvl="4"/>
            <a:r>
              <a:rPr lang="en-US" dirty="0"/>
              <a:t>Time spent doing work for an application</a:t>
            </a:r>
            <a:endParaRPr lang="en-US" dirty="0"/>
          </a:p>
          <a:p>
            <a:pPr lvl="4"/>
            <a:r>
              <a:rPr lang="en-US" dirty="0"/>
              <a:t>Should not exceed baseline</a:t>
            </a:r>
            <a:endParaRPr lang="en-US" dirty="0"/>
          </a:p>
          <a:p>
            <a:pPr lvl="3"/>
            <a:r>
              <a:rPr lang="en-US" dirty="0"/>
              <a:t>Processor\% Interrupt time</a:t>
            </a:r>
            <a:endParaRPr lang="en-US" dirty="0"/>
          </a:p>
          <a:p>
            <a:pPr lvl="4"/>
            <a:r>
              <a:rPr lang="en-US" dirty="0"/>
              <a:t>Time spent servicing hardware interrupts</a:t>
            </a:r>
            <a:endParaRPr lang="en-US" dirty="0"/>
          </a:p>
          <a:p>
            <a:pPr lvl="4"/>
            <a:r>
              <a:rPr lang="en-US" dirty="0"/>
              <a:t>Should not be over 15%</a:t>
            </a:r>
            <a:endParaRPr lang="en-US" dirty="0"/>
          </a:p>
          <a:p>
            <a:pPr lvl="3"/>
            <a:r>
              <a:rPr lang="en-US" dirty="0"/>
              <a:t>System\Processor Queue Length</a:t>
            </a:r>
            <a:endParaRPr lang="en-US" dirty="0"/>
          </a:p>
          <a:p>
            <a:pPr lvl="4"/>
            <a:r>
              <a:rPr lang="en-US" dirty="0"/>
              <a:t>Number of threads in queue</a:t>
            </a:r>
            <a:endParaRPr lang="en-US" dirty="0"/>
          </a:p>
          <a:p>
            <a:pPr lvl="4"/>
            <a:r>
              <a:rPr lang="en-US" dirty="0"/>
              <a:t>Should not exceed number of CPU’s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52" y="0"/>
            <a:ext cx="11024897" cy="1205345"/>
          </a:xfrm>
        </p:spPr>
        <p:txBody>
          <a:bodyPr/>
          <a:lstStyle/>
          <a:p>
            <a:pPr algn="ctr"/>
            <a:r>
              <a:rPr lang="en-US" dirty="0"/>
              <a:t>Performance metrics/sensors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753194"/>
            <a:ext cx="10205747" cy="6104805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Memory</a:t>
            </a:r>
            <a:endParaRPr lang="en-US" dirty="0"/>
          </a:p>
          <a:p>
            <a:pPr lvl="2"/>
            <a:r>
              <a:rPr lang="en-US" dirty="0"/>
              <a:t>Memory\% Committed Bytes in Use</a:t>
            </a:r>
            <a:endParaRPr lang="en-US" dirty="0"/>
          </a:p>
          <a:p>
            <a:pPr lvl="3"/>
            <a:r>
              <a:rPr lang="en-US" dirty="0"/>
              <a:t>Virtual memory in use</a:t>
            </a:r>
            <a:endParaRPr lang="en-US" dirty="0"/>
          </a:p>
          <a:p>
            <a:pPr lvl="3"/>
            <a:r>
              <a:rPr lang="en-US" dirty="0"/>
              <a:t>&gt;80% more memory is required</a:t>
            </a:r>
            <a:endParaRPr lang="en-US" dirty="0"/>
          </a:p>
          <a:p>
            <a:pPr lvl="2"/>
            <a:r>
              <a:rPr lang="en-US" dirty="0"/>
              <a:t>Memory\Available Mbytes</a:t>
            </a:r>
            <a:endParaRPr lang="en-US" dirty="0"/>
          </a:p>
          <a:p>
            <a:pPr lvl="3"/>
            <a:r>
              <a:rPr lang="en-US" dirty="0"/>
              <a:t>Physical memory available</a:t>
            </a:r>
            <a:endParaRPr lang="en-US" dirty="0"/>
          </a:p>
          <a:p>
            <a:pPr lvl="3"/>
            <a:r>
              <a:rPr lang="en-US" dirty="0"/>
              <a:t>&lt;5% more memory is required</a:t>
            </a:r>
            <a:endParaRPr lang="en-US" dirty="0"/>
          </a:p>
          <a:p>
            <a:pPr lvl="2"/>
            <a:r>
              <a:rPr lang="en-US" dirty="0"/>
              <a:t>Memory\Free System Page Table Entries</a:t>
            </a:r>
            <a:endParaRPr lang="en-US" dirty="0"/>
          </a:p>
          <a:p>
            <a:pPr lvl="3"/>
            <a:r>
              <a:rPr lang="en-US" dirty="0"/>
              <a:t>Number of entries not in use</a:t>
            </a:r>
            <a:endParaRPr lang="en-US" dirty="0"/>
          </a:p>
          <a:p>
            <a:pPr lvl="3"/>
            <a:r>
              <a:rPr lang="en-US" dirty="0"/>
              <a:t>&lt;5000 may have a memory leak</a:t>
            </a:r>
            <a:endParaRPr lang="en-US" dirty="0"/>
          </a:p>
          <a:p>
            <a:pPr lvl="2"/>
            <a:r>
              <a:rPr lang="en-US" dirty="0"/>
              <a:t>Memory\Pool Non-Paged Bytes</a:t>
            </a:r>
            <a:endParaRPr lang="en-US" dirty="0"/>
          </a:p>
          <a:p>
            <a:pPr lvl="3"/>
            <a:r>
              <a:rPr lang="en-US" dirty="0"/>
              <a:t>The size of objects that cannot be paged to the disk</a:t>
            </a:r>
            <a:endParaRPr lang="en-US" dirty="0"/>
          </a:p>
          <a:p>
            <a:pPr lvl="3"/>
            <a:r>
              <a:rPr lang="en-US" dirty="0"/>
              <a:t>&gt;175MB may have a memory leak</a:t>
            </a:r>
            <a:endParaRPr lang="en-US" dirty="0"/>
          </a:p>
          <a:p>
            <a:pPr lvl="2"/>
            <a:r>
              <a:rPr lang="en-US" dirty="0"/>
              <a:t>Memory\Pool paged Bytes</a:t>
            </a:r>
            <a:endParaRPr lang="en-US" dirty="0"/>
          </a:p>
          <a:p>
            <a:pPr lvl="3"/>
            <a:r>
              <a:rPr lang="en-US" dirty="0"/>
              <a:t>Size of objects that can be paged</a:t>
            </a:r>
            <a:endParaRPr lang="en-US" dirty="0"/>
          </a:p>
          <a:p>
            <a:pPr lvl="3"/>
            <a:r>
              <a:rPr lang="en-US" dirty="0"/>
              <a:t>&gt;250MB may have memory leak</a:t>
            </a:r>
            <a:endParaRPr lang="en-US" dirty="0"/>
          </a:p>
          <a:p>
            <a:pPr lvl="2"/>
            <a:r>
              <a:rPr lang="en-US" dirty="0"/>
              <a:t>Memory\Pages per Second</a:t>
            </a:r>
            <a:endParaRPr lang="en-US" dirty="0"/>
          </a:p>
          <a:p>
            <a:pPr lvl="3"/>
            <a:r>
              <a:rPr lang="en-US" dirty="0"/>
              <a:t>Writing and read rate during paging</a:t>
            </a:r>
            <a:endParaRPr lang="en-US" dirty="0"/>
          </a:p>
          <a:p>
            <a:pPr lvl="3"/>
            <a:r>
              <a:rPr lang="en-US" dirty="0"/>
              <a:t>&gt;1000 may be a memory leak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52" y="0"/>
            <a:ext cx="11024897" cy="1205345"/>
          </a:xfrm>
        </p:spPr>
        <p:txBody>
          <a:bodyPr/>
          <a:lstStyle/>
          <a:p>
            <a:pPr algn="ctr"/>
            <a:r>
              <a:rPr lang="en-US" dirty="0"/>
              <a:t>Performance metrics/sensors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44141"/>
            <a:ext cx="10205747" cy="5689168"/>
          </a:xfrm>
        </p:spPr>
        <p:txBody>
          <a:bodyPr>
            <a:normAutofit/>
          </a:bodyPr>
          <a:lstStyle/>
          <a:p>
            <a:r>
              <a:rPr lang="en-US" dirty="0"/>
              <a:t>Network Metrics</a:t>
            </a:r>
            <a:endParaRPr lang="en-US" dirty="0"/>
          </a:p>
          <a:p>
            <a:pPr lvl="1"/>
            <a:r>
              <a:rPr lang="en-US" dirty="0"/>
              <a:t>Bandwidth</a:t>
            </a:r>
            <a:endParaRPr lang="en-US" dirty="0"/>
          </a:p>
          <a:p>
            <a:pPr lvl="2"/>
            <a:r>
              <a:rPr lang="en-US" dirty="0"/>
              <a:t>Network Interface\Bytes Total\Sec</a:t>
            </a:r>
            <a:endParaRPr lang="en-US" dirty="0"/>
          </a:p>
          <a:p>
            <a:pPr lvl="3"/>
            <a:r>
              <a:rPr lang="en-US" dirty="0"/>
              <a:t>NIC capability currently in use</a:t>
            </a:r>
            <a:endParaRPr lang="en-US" dirty="0"/>
          </a:p>
          <a:p>
            <a:pPr lvl="3"/>
            <a:r>
              <a:rPr lang="en-US" dirty="0"/>
              <a:t>&gt;70% - interface is saturated</a:t>
            </a:r>
            <a:endParaRPr lang="en-US" dirty="0"/>
          </a:p>
          <a:p>
            <a:pPr lvl="2"/>
            <a:r>
              <a:rPr lang="en-US" dirty="0"/>
              <a:t>Network Interface\Output Queue Length</a:t>
            </a:r>
            <a:endParaRPr lang="en-US" dirty="0"/>
          </a:p>
          <a:p>
            <a:pPr lvl="3"/>
            <a:r>
              <a:rPr lang="en-US" dirty="0"/>
              <a:t>Packets in the output queue</a:t>
            </a:r>
            <a:endParaRPr lang="en-US" dirty="0"/>
          </a:p>
          <a:p>
            <a:pPr lvl="3"/>
            <a:r>
              <a:rPr lang="en-US" dirty="0"/>
              <a:t>&gt;2- NIC is not keeping up</a:t>
            </a:r>
            <a:endParaRPr lang="en-US" dirty="0"/>
          </a:p>
          <a:p>
            <a:pPr lvl="1"/>
            <a:r>
              <a:rPr lang="en-US" dirty="0"/>
              <a:t>Latency</a:t>
            </a:r>
            <a:endParaRPr lang="en-US" dirty="0"/>
          </a:p>
          <a:p>
            <a:pPr lvl="2"/>
            <a:r>
              <a:rPr lang="en-US" dirty="0"/>
              <a:t>Consistent delay in traffic</a:t>
            </a:r>
            <a:endParaRPr lang="en-US" dirty="0"/>
          </a:p>
          <a:p>
            <a:pPr lvl="2"/>
            <a:r>
              <a:rPr lang="en-US" dirty="0"/>
              <a:t>Measured in Round Trip Time (RTT)</a:t>
            </a:r>
            <a:endParaRPr lang="en-US" dirty="0"/>
          </a:p>
          <a:p>
            <a:pPr lvl="1"/>
            <a:r>
              <a:rPr lang="en-US" dirty="0"/>
              <a:t>Jitter</a:t>
            </a:r>
            <a:endParaRPr lang="en-US" dirty="0"/>
          </a:p>
          <a:p>
            <a:pPr lvl="2"/>
            <a:r>
              <a:rPr lang="en-US" dirty="0"/>
              <a:t>Variance in delay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18" y="0"/>
            <a:ext cx="11010932" cy="1478570"/>
          </a:xfrm>
        </p:spPr>
        <p:txBody>
          <a:bodyPr/>
          <a:lstStyle/>
          <a:p>
            <a:pPr algn="ctr"/>
            <a:r>
              <a:rPr lang="en-US" dirty="0"/>
              <a:t>Interface Statistics/status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18" y="1036350"/>
            <a:ext cx="10477564" cy="5821650"/>
          </a:xfrm>
        </p:spPr>
        <p:txBody>
          <a:bodyPr>
            <a:normAutofit/>
          </a:bodyPr>
          <a:lstStyle/>
          <a:p>
            <a:r>
              <a:rPr lang="en-US" dirty="0"/>
              <a:t>Link State</a:t>
            </a:r>
            <a:endParaRPr lang="en-US" dirty="0"/>
          </a:p>
          <a:p>
            <a:pPr lvl="1"/>
            <a:r>
              <a:rPr lang="en-US" dirty="0"/>
              <a:t>Is it up or down</a:t>
            </a:r>
            <a:endParaRPr lang="en-US" dirty="0"/>
          </a:p>
          <a:p>
            <a:pPr lvl="1"/>
            <a:r>
              <a:rPr lang="en-US" dirty="0"/>
              <a:t>First ting to check if we get a link error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Speed/Duplex</a:t>
            </a:r>
            <a:endParaRPr lang="en-US" dirty="0"/>
          </a:p>
          <a:p>
            <a:pPr lvl="1"/>
            <a:r>
              <a:rPr lang="en-US" dirty="0"/>
              <a:t>Both ends should match</a:t>
            </a:r>
            <a:endParaRPr lang="en-US" dirty="0"/>
          </a:p>
          <a:p>
            <a:pPr lvl="1"/>
            <a:r>
              <a:rPr lang="en-US" dirty="0"/>
              <a:t>Run the ‘ show running configuration command’ (</a:t>
            </a:r>
            <a:r>
              <a:rPr lang="en-US" dirty="0" err="1"/>
              <a:t>sh</a:t>
            </a:r>
            <a:r>
              <a:rPr lang="en-US" dirty="0"/>
              <a:t> run) to check interfaces on routers and switches</a:t>
            </a:r>
            <a:endParaRPr lang="en-US" dirty="0"/>
          </a:p>
          <a:p>
            <a:pPr lvl="1"/>
            <a:r>
              <a:rPr lang="en-US" dirty="0"/>
              <a:t>Usually set to Auto</a:t>
            </a:r>
            <a:endParaRPr lang="en-US" dirty="0"/>
          </a:p>
          <a:p>
            <a:r>
              <a:rPr lang="en-US" dirty="0"/>
              <a:t>Send/Receive Traffic</a:t>
            </a:r>
            <a:endParaRPr lang="en-US" dirty="0"/>
          </a:p>
          <a:p>
            <a:pPr lvl="1"/>
            <a:r>
              <a:rPr lang="en-US" dirty="0"/>
              <a:t>To check on interface you would run ‘ </a:t>
            </a:r>
            <a:r>
              <a:rPr lang="en-US" dirty="0" err="1"/>
              <a:t>sh</a:t>
            </a:r>
            <a:r>
              <a:rPr lang="en-US" dirty="0"/>
              <a:t> int &lt;int&gt;’</a:t>
            </a:r>
            <a:endParaRPr lang="en-US" dirty="0"/>
          </a:p>
          <a:p>
            <a:r>
              <a:rPr lang="en-US" dirty="0"/>
              <a:t>Cyclic Redundancy Checks (CRCs)</a:t>
            </a:r>
            <a:endParaRPr lang="en-US" dirty="0"/>
          </a:p>
          <a:p>
            <a:pPr lvl="1"/>
            <a:r>
              <a:rPr lang="en-US" dirty="0"/>
              <a:t>Error detection mechanism</a:t>
            </a:r>
            <a:endParaRPr lang="en-US" dirty="0"/>
          </a:p>
          <a:p>
            <a:r>
              <a:rPr lang="en-US" dirty="0"/>
              <a:t>Protocol Packet and Byte counts</a:t>
            </a:r>
            <a:endParaRPr lang="en-US" dirty="0"/>
          </a:p>
          <a:p>
            <a:pPr lvl="1"/>
            <a:r>
              <a:rPr lang="en-US" dirty="0"/>
              <a:t>To check you would run ‘</a:t>
            </a:r>
            <a:r>
              <a:rPr lang="en-US" dirty="0" err="1"/>
              <a:t>sh</a:t>
            </a:r>
            <a:r>
              <a:rPr lang="en-US" dirty="0"/>
              <a:t> int &lt;int&gt;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916" y="0"/>
            <a:ext cx="10904284" cy="1478570"/>
          </a:xfrm>
        </p:spPr>
        <p:txBody>
          <a:bodyPr/>
          <a:lstStyle/>
          <a:p>
            <a:pPr algn="ctr"/>
            <a:r>
              <a:rPr lang="en-US" dirty="0"/>
              <a:t>Interface Errors or Alerts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916" y="871759"/>
            <a:ext cx="10331260" cy="5662391"/>
          </a:xfrm>
        </p:spPr>
        <p:txBody>
          <a:bodyPr>
            <a:normAutofit/>
          </a:bodyPr>
          <a:lstStyle/>
          <a:p>
            <a:r>
              <a:rPr lang="en-US" dirty="0"/>
              <a:t>CRC Errors</a:t>
            </a:r>
            <a:endParaRPr lang="en-US" dirty="0"/>
          </a:p>
          <a:p>
            <a:pPr lvl="1"/>
            <a:r>
              <a:rPr lang="en-US" dirty="0"/>
              <a:t>Damaged packet</a:t>
            </a:r>
            <a:endParaRPr lang="en-US" dirty="0"/>
          </a:p>
          <a:p>
            <a:pPr lvl="2"/>
            <a:r>
              <a:rPr lang="en-US" dirty="0"/>
              <a:t>Bad port, bad cable, duplex mismatch,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Giants</a:t>
            </a:r>
            <a:endParaRPr lang="en-US" dirty="0"/>
          </a:p>
          <a:p>
            <a:pPr lvl="1"/>
            <a:r>
              <a:rPr lang="en-US" dirty="0"/>
              <a:t>Packets that exceed the maximum packet size and/or incorrect frame check sequence</a:t>
            </a:r>
            <a:endParaRPr lang="en-US" dirty="0"/>
          </a:p>
          <a:p>
            <a:pPr lvl="1"/>
            <a:r>
              <a:rPr lang="en-US" dirty="0"/>
              <a:t>Usually discarded</a:t>
            </a:r>
            <a:endParaRPr lang="en-US" dirty="0"/>
          </a:p>
          <a:p>
            <a:pPr lvl="1"/>
            <a:r>
              <a:rPr lang="en-US" dirty="0"/>
              <a:t>Caused by a bad NIC</a:t>
            </a:r>
            <a:endParaRPr lang="en-US" dirty="0"/>
          </a:p>
          <a:p>
            <a:r>
              <a:rPr lang="en-US" dirty="0"/>
              <a:t>Runts</a:t>
            </a:r>
            <a:endParaRPr lang="en-US" dirty="0"/>
          </a:p>
          <a:p>
            <a:pPr lvl="1"/>
            <a:r>
              <a:rPr lang="en-US" dirty="0"/>
              <a:t>Packets that do not meet minimum packet size</a:t>
            </a:r>
            <a:endParaRPr lang="en-US" dirty="0"/>
          </a:p>
          <a:p>
            <a:pPr lvl="1"/>
            <a:r>
              <a:rPr lang="en-US" dirty="0"/>
              <a:t>Usually discarded</a:t>
            </a:r>
            <a:endParaRPr lang="en-US" dirty="0"/>
          </a:p>
          <a:p>
            <a:pPr lvl="1"/>
            <a:r>
              <a:rPr lang="en-US" dirty="0"/>
              <a:t>Caused by bad NIC</a:t>
            </a:r>
            <a:endParaRPr lang="en-US" dirty="0"/>
          </a:p>
          <a:p>
            <a:r>
              <a:rPr lang="en-US" dirty="0"/>
              <a:t>Encapsulation Errors</a:t>
            </a:r>
            <a:endParaRPr lang="en-US" dirty="0"/>
          </a:p>
          <a:p>
            <a:pPr lvl="1"/>
            <a:r>
              <a:rPr lang="en-US" dirty="0"/>
              <a:t>Missing header from OSI layer</a:t>
            </a:r>
            <a:endParaRPr lang="en-US" dirty="0"/>
          </a:p>
          <a:p>
            <a:pPr lvl="1"/>
            <a:r>
              <a:rPr lang="en-US" dirty="0"/>
              <a:t>Example- layer 3 missing layer 2 information.  Cant forward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467" y="382385"/>
            <a:ext cx="10579533" cy="1492132"/>
          </a:xfrm>
        </p:spPr>
        <p:txBody>
          <a:bodyPr/>
          <a:lstStyle/>
          <a:p>
            <a:pPr algn="ctr"/>
            <a:r>
              <a:rPr lang="en-US" dirty="0"/>
              <a:t>SNMP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467" y="1371600"/>
            <a:ext cx="10454842" cy="5351317"/>
          </a:xfrm>
        </p:spPr>
        <p:txBody>
          <a:bodyPr>
            <a:normAutofit/>
          </a:bodyPr>
          <a:lstStyle/>
          <a:p>
            <a:r>
              <a:rPr lang="en-US" dirty="0"/>
              <a:t>Ports 161 and 162</a:t>
            </a:r>
            <a:endParaRPr lang="en-US" dirty="0"/>
          </a:p>
          <a:p>
            <a:r>
              <a:rPr lang="en-US" dirty="0"/>
              <a:t>3 Versions</a:t>
            </a:r>
            <a:endParaRPr lang="en-US" dirty="0"/>
          </a:p>
          <a:p>
            <a:pPr lvl="1"/>
            <a:r>
              <a:rPr lang="en-US" dirty="0"/>
              <a:t>Version 3 should be used. 1 and 2 are unsecure and deprecated</a:t>
            </a:r>
            <a:endParaRPr lang="en-US" dirty="0"/>
          </a:p>
          <a:p>
            <a:r>
              <a:rPr lang="en-US" dirty="0"/>
              <a:t>Traps</a:t>
            </a:r>
            <a:endParaRPr lang="en-US" dirty="0"/>
          </a:p>
          <a:p>
            <a:pPr lvl="1"/>
            <a:r>
              <a:rPr lang="en-US" dirty="0"/>
              <a:t>Uses a Network management System to communicate with devices</a:t>
            </a:r>
            <a:endParaRPr lang="en-US" dirty="0"/>
          </a:p>
          <a:p>
            <a:pPr lvl="1"/>
            <a:r>
              <a:rPr lang="en-US" dirty="0"/>
              <a:t>Uses a GET message to query devices</a:t>
            </a:r>
            <a:endParaRPr lang="en-US" dirty="0"/>
          </a:p>
          <a:p>
            <a:pPr lvl="1"/>
            <a:r>
              <a:rPr lang="en-US" dirty="0"/>
              <a:t>Devices will send a trap when a problem occurs</a:t>
            </a:r>
            <a:endParaRPr lang="en-US" dirty="0"/>
          </a:p>
          <a:p>
            <a:r>
              <a:rPr lang="en-US" dirty="0"/>
              <a:t>Object Identifiers(OIDs)</a:t>
            </a:r>
            <a:endParaRPr lang="en-US" dirty="0"/>
          </a:p>
          <a:p>
            <a:pPr lvl="1"/>
            <a:r>
              <a:rPr lang="en-US" dirty="0"/>
              <a:t>Standardized mechanism to name objects or things with a globally unambiguous persistent name</a:t>
            </a:r>
            <a:endParaRPr lang="en-US" dirty="0"/>
          </a:p>
          <a:p>
            <a:pPr lvl="1"/>
            <a:r>
              <a:rPr lang="en-US" dirty="0"/>
              <a:t>In SNMP each node in a management information base (MIB) is identified by an OID</a:t>
            </a:r>
            <a:endParaRPr lang="en-US" dirty="0"/>
          </a:p>
          <a:p>
            <a:r>
              <a:rPr lang="en-US" dirty="0"/>
              <a:t>Management Information Bases (MIBs)</a:t>
            </a:r>
            <a:endParaRPr lang="en-US" dirty="0"/>
          </a:p>
          <a:p>
            <a:pPr lvl="1"/>
            <a:r>
              <a:rPr lang="en-US" dirty="0"/>
              <a:t>A hierarchical structure of OID’s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382385"/>
            <a:ext cx="11049000" cy="1492132"/>
          </a:xfrm>
        </p:spPr>
        <p:txBody>
          <a:bodyPr/>
          <a:lstStyle/>
          <a:p>
            <a:pPr algn="ctr"/>
            <a:r>
              <a:rPr lang="en-US" dirty="0"/>
              <a:t>Environmental factors and sensors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005075"/>
          </a:xfrm>
        </p:spPr>
        <p:txBody>
          <a:bodyPr>
            <a:noAutofit/>
          </a:bodyPr>
          <a:lstStyle/>
          <a:p>
            <a:r>
              <a:rPr lang="en-US" sz="2400" dirty="0"/>
              <a:t>Temperature</a:t>
            </a:r>
            <a:endParaRPr lang="en-US" sz="2400" dirty="0"/>
          </a:p>
          <a:p>
            <a:r>
              <a:rPr lang="en-US" sz="2400" dirty="0"/>
              <a:t>Humidity</a:t>
            </a:r>
            <a:endParaRPr lang="en-US" sz="2400" dirty="0"/>
          </a:p>
          <a:p>
            <a:r>
              <a:rPr lang="en-US" sz="2400" dirty="0"/>
              <a:t>Electrical</a:t>
            </a:r>
            <a:endParaRPr lang="en-US" sz="2400" dirty="0"/>
          </a:p>
          <a:p>
            <a:pPr lvl="1"/>
            <a:r>
              <a:rPr lang="en-US" sz="2400" dirty="0"/>
              <a:t>UPS</a:t>
            </a:r>
            <a:endParaRPr lang="en-US" sz="2400" dirty="0"/>
          </a:p>
          <a:p>
            <a:pPr lvl="1"/>
            <a:r>
              <a:rPr lang="en-US" sz="2400" dirty="0"/>
              <a:t>Multiple Circuits</a:t>
            </a:r>
            <a:endParaRPr lang="en-US" sz="2400" dirty="0"/>
          </a:p>
          <a:p>
            <a:r>
              <a:rPr lang="en-US" sz="2400" dirty="0"/>
              <a:t>Flooding</a:t>
            </a:r>
            <a:endParaRPr lang="en-US" sz="2400" dirty="0"/>
          </a:p>
          <a:p>
            <a:pPr lvl="1"/>
            <a:r>
              <a:rPr lang="en-US" sz="2400" dirty="0"/>
              <a:t>Severs/datacenters on upper floors or raised floors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12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anose="02020603050405020304" pitchFamily="18" charset="0"/>
            </a:endParaRPr>
          </a:p>
        </p:txBody>
      </p:sp>
      <p:pic>
        <p:nvPicPr>
          <p:cNvPr id="1536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913" y="362712"/>
            <a:ext cx="9796271" cy="627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82385"/>
            <a:ext cx="10896600" cy="1492132"/>
          </a:xfrm>
        </p:spPr>
        <p:txBody>
          <a:bodyPr/>
          <a:lstStyle/>
          <a:p>
            <a:pPr algn="ctr"/>
            <a:r>
              <a:rPr lang="en-US" dirty="0" err="1"/>
              <a:t>Misc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528" y="1632204"/>
            <a:ext cx="10178322" cy="3593591"/>
          </a:xfrm>
        </p:spPr>
        <p:txBody>
          <a:bodyPr>
            <a:normAutofit/>
          </a:bodyPr>
          <a:lstStyle/>
          <a:p>
            <a:r>
              <a:rPr lang="en-US" sz="2800" dirty="0"/>
              <a:t>Baselines</a:t>
            </a:r>
            <a:endParaRPr lang="en-US" sz="2800" dirty="0"/>
          </a:p>
          <a:p>
            <a:r>
              <a:rPr lang="en-US" sz="2800" dirty="0" err="1"/>
              <a:t>Netflow</a:t>
            </a:r>
            <a:r>
              <a:rPr lang="en-US" sz="2800" dirty="0"/>
              <a:t> data</a:t>
            </a:r>
            <a:endParaRPr lang="en-US" sz="2800" dirty="0"/>
          </a:p>
          <a:p>
            <a:r>
              <a:rPr lang="en-US" sz="2800" dirty="0"/>
              <a:t>Uptime/downtime</a:t>
            </a:r>
            <a:endParaRPr lang="en-US" sz="2800" dirty="0"/>
          </a:p>
          <a:p>
            <a:pPr lvl="1"/>
            <a:r>
              <a:rPr lang="en-US" sz="2800" dirty="0"/>
              <a:t>99.99</a:t>
            </a:r>
            <a:endParaRPr lang="en-US" sz="2800" dirty="0"/>
          </a:p>
          <a:p>
            <a:pPr lvl="1"/>
            <a:r>
              <a:rPr lang="en-US" sz="2800" dirty="0"/>
              <a:t>99.999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3079</Words>
  <Application>WPS Presentation</Application>
  <PresentationFormat>Widescreen</PresentationFormat>
  <Paragraphs>143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Gill Sans MT</vt:lpstr>
      <vt:lpstr>MS PGothic</vt:lpstr>
      <vt:lpstr>Times</vt:lpstr>
      <vt:lpstr>Impact</vt:lpstr>
      <vt:lpstr>Microsoft YaHei</vt:lpstr>
      <vt:lpstr>Arial Unicode MS</vt:lpstr>
      <vt:lpstr>Calibri</vt:lpstr>
      <vt:lpstr>Times New Roman</vt:lpstr>
      <vt:lpstr>Badge</vt:lpstr>
      <vt:lpstr>Chapter 13</vt:lpstr>
      <vt:lpstr>Performance metrics/sensors</vt:lpstr>
      <vt:lpstr>Performance metrics/sensors</vt:lpstr>
      <vt:lpstr>Performance metrics/sensors</vt:lpstr>
      <vt:lpstr>Interface Statistics/status</vt:lpstr>
      <vt:lpstr>Interface Errors or Alerts</vt:lpstr>
      <vt:lpstr>SNMP</vt:lpstr>
      <vt:lpstr>Environmental factors and sensors</vt:lpstr>
      <vt:lpstr>PowerPoint 演示文稿</vt:lpstr>
      <vt:lpstr>Misc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</dc:title>
  <dc:creator>Angel Maldonado</dc:creator>
  <cp:lastModifiedBy>Student</cp:lastModifiedBy>
  <cp:revision>7</cp:revision>
  <dcterms:created xsi:type="dcterms:W3CDTF">2022-02-20T21:50:00Z</dcterms:created>
  <dcterms:modified xsi:type="dcterms:W3CDTF">2022-09-22T01:12:42Z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88CBD00C8271471D9CBA53C64334297E</vt:lpwstr>
  </property>
  <property fmtid="{D5CDD505-2E9C-101B-9397-08002B2CF9AE}" pid="3" name="KSOProductBuildVer">
    <vt:lpwstr>1033-11.2.0.11306</vt:lpwstr>
  </property>
</Properties>
</file>