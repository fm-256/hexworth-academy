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19"/>
  </p:notesMasterIdLst>
  <p:sldIdLst>
    <p:sldId id="256" r:id="rId2"/>
    <p:sldId id="257" r:id="rId3"/>
    <p:sldId id="267" r:id="rId4"/>
    <p:sldId id="268" r:id="rId5"/>
    <p:sldId id="269" r:id="rId6"/>
    <p:sldId id="266" r:id="rId7"/>
    <p:sldId id="265" r:id="rId8"/>
    <p:sldId id="264" r:id="rId9"/>
    <p:sldId id="258" r:id="rId10"/>
    <p:sldId id="270" r:id="rId11"/>
    <p:sldId id="274" r:id="rId12"/>
    <p:sldId id="276" r:id="rId13"/>
    <p:sldId id="262" r:id="rId14"/>
    <p:sldId id="263" r:id="rId15"/>
    <p:sldId id="261" r:id="rId16"/>
    <p:sldId id="259" r:id="rId17"/>
    <p:sldId id="27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8" autoAdjust="0"/>
    <p:restoredTop sz="57605"/>
  </p:normalViewPr>
  <p:slideViewPr>
    <p:cSldViewPr snapToGrid="0">
      <p:cViewPr varScale="1">
        <p:scale>
          <a:sx n="63" d="100"/>
          <a:sy n="63" d="100"/>
        </p:scale>
        <p:origin x="2544" y="176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9E1D7E-1591-DF43-A1A7-CE7E10BF9525}" type="datetimeFigureOut">
              <a:rPr lang="en-US" smtClean="0"/>
              <a:t>9/19/22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D82E6D-8788-A343-B5EE-FE2FF327E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212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It is crucial for you to understand the OSI model, it helps in troubleshooting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It is an industry standard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Everyone will talk about Layer 2 or Layer 3 issues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D82E6D-8788-A343-B5EE-FE2FF327EF4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414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is the reference model of how communications should take place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Here are a couple mnemonics to help you remember the order of the OSI layers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layers are hierarchical; organized in an order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D82E6D-8788-A343-B5EE-FE2FF327EF4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698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Divided into two groups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Top 3 layers is what the end-user is able to see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bottom 4 layers is how data transmits from one place to another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D82E6D-8788-A343-B5EE-FE2FF327EF4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5139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Users interact with the Application layer: </a:t>
            </a:r>
            <a:r>
              <a:rPr lang="en-US" dirty="0" err="1"/>
              <a:t>google.com</a:t>
            </a:r>
            <a:r>
              <a:rPr lang="en-US" dirty="0"/>
              <a:t> is what you see on your computer screen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upper layers are responsible for applications communicating between computers(hosts)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D82E6D-8788-A343-B5EE-FE2FF327EF4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421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bottom layers define how data transfers through switches, routers, </a:t>
            </a:r>
            <a:r>
              <a:rPr lang="en-US" dirty="0" err="1"/>
              <a:t>etc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D82E6D-8788-A343-B5EE-FE2FF327EF4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9118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is the layer where you interact with the computer or a website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is NOT talking about an actual app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It’s more about how something would be applied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There would be a web browser for the application of HTTP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There would be an email program for the application of SMTP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It acts as an interface between application programs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Like learning your ABC’s will lead to you learning how to read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D82E6D-8788-A343-B5EE-FE2FF327EF4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0867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At this layer, it presents data to the Application layer and is responsible for data translation and code formatting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Performs data compression, decompression, encryption, and decryption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Ensures that two different system’s application layers are able to understand each other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D82E6D-8788-A343-B5EE-FE2FF327EF4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3832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Provides communication between two hosts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Bridging the network layers to the software layers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Simplex(one direction)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Half-duplex(one direction at a time)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Full-duplex(bi-directional)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Allows multiple web browser sessions on your computer at the same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D82E6D-8788-A343-B5EE-FE2FF327EF4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903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TCP vs UDP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Connection-oriented vs connectionless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UDP is not reliable. It is when you send a text and hope it gets delivered (like sending a text from an iPhone to an Android) – joke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TCP has far more security involved in its delivery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connection established in TCP is known as a virtual circuit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D82E6D-8788-A343-B5EE-FE2FF327EF4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4578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is the 3-way Handshake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Sender sends a SYN message, both hosts also agree on how much data will be sent in either direction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Receiver sends back its own SYN message along with an ACK message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Sender responds back with an ACK message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Thereby establishing a connection for data to be transferred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If at any point the 3-way handshake breaks, the data will not be sent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“Hello, are you there?”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“Yes, are you there?”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“Yes”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Data gets sent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D82E6D-8788-A343-B5EE-FE2FF327EF4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161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Flow control gives the receiver of information authority to determine how much data will be sent by the sender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data that is sent has to be confirmed that it was received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Any data that was “dropped” is automatically resent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Data is placed in the proper order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manageable flow of data is maintained to not overwhelm the system, which would lead to data loss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buffer happens when one host receives too much data at once and it has to place the extra data in a memory bank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receiver will send out a message saying “Hold up, give me a second”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Data will stop, receiver will catch up, and then ask for the rest of the data to be sent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D82E6D-8788-A343-B5EE-FE2FF327EF4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7258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Guarantees data wasn’t duplicated or lost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sender sends data in segments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It waits for the ACK message from the receiver before it sends its next segment of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sender sets a timer, if time runs out before it receives an ACK, the sender sends the data again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D82E6D-8788-A343-B5EE-FE2FF327EF4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8812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Transports data between devices that aren’t local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Routers and “Layer 3 switches” operate at this level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Packet gets received and it checks the destination IP address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Where is this package supposed to be delivered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router looks in its contacts (routing table) for the destination IP address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Once it finds the destination, it sends it to that router, “drops the package off”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If the router can’t find the destination, the packet gets dropped or lost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Two types of packets: data packets and router updates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 example of a data packet protocol is IP or IPv6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Route update packets help to build and maintain routing tables on each router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 example is the yelp or google maps; keeps updated where business or things are located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D82E6D-8788-A343-B5EE-FE2FF327EF4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4813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Ensures that messages are delivered to the proper device on a LAN using the MAC addresses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It also translates messages from the Network layer into bits for the Physical layer to transmit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Adds a data frame to a message, which contains the destination and sender/receiver hardware address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Facilitates communication between devices on a LAN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Devices that operate at this level are NICs, a bridge, a switch, or a WAP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MAC: physical addressing is defined here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D82E6D-8788-A343-B5EE-FE2FF327EF4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3357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Sends and receives bits. 1s and 0s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Physical cables (copper or fiber optic cables)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It specifies the physical topology, physical interface (punch-down blocks)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Repeaters and Hubs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D82E6D-8788-A343-B5EE-FE2FF327EF4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4143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When data transmits across a network to another device encapsulation and decapsulation occurs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Encapsulation is placing a header at each level it goes up the OSI model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layers only communicate with the layer above and below itself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Headers allow that to occur smoothly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Decapsulation is removing headers at each level going down the OSI model to strip the segment to receive the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D82E6D-8788-A343-B5EE-FE2FF327EF4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4448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Encapsulation starts at the Application layer and moves down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At layer 7 it adds a protocol (HTTP, FTP, SMTP,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At layer 6 it adds how the data is encoded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At layer 5 it decides how the connection will be managed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At layer 4 it adds whether it is connection-oriented or connection less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At layer 3 it adds IP addresses, usually destination addresses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At layer 2 it adds MAC addresses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At layer 1 it adds the actual binary data that is being sent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D82E6D-8788-A343-B5EE-FE2FF327EF4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253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9/19/22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12130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9/19/22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505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9/19/22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9216065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9/19/22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9769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9/19/22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5884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9/19/22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006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9/19/22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649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9/19/22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29444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48A87A34-81AB-432B-8DAE-1953F412C126}" type="datetimeFigureOut">
              <a:rPr lang="en-US" smtClean="0"/>
              <a:pPr/>
              <a:t>9/19/22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660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9/19/22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22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9/19/22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733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9/19/22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428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89DBB-2E21-4314-8F1A-1D12DB3AAF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4B0AC2-2C65-4E46-82FE-2199D9905E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OSI Model</a:t>
            </a:r>
          </a:p>
        </p:txBody>
      </p:sp>
    </p:spTree>
    <p:extLst>
      <p:ext uri="{BB962C8B-B14F-4D97-AF65-F5344CB8AC3E}">
        <p14:creationId xmlns:p14="http://schemas.microsoft.com/office/powerpoint/2010/main" val="414001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E7F70-5AE7-41A1-A74B-C1B1B3109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440" y="382778"/>
            <a:ext cx="10993120" cy="1492132"/>
          </a:xfrm>
        </p:spPr>
        <p:txBody>
          <a:bodyPr/>
          <a:lstStyle/>
          <a:p>
            <a:pPr algn="ctr"/>
            <a:r>
              <a:rPr lang="en-US" dirty="0"/>
              <a:t>OSI Model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69CD253A-BEFB-4AA5-A01F-236C6A12EEAD}"/>
              </a:ext>
            </a:extLst>
          </p:cNvPr>
          <p:cNvSpPr txBox="1">
            <a:spLocks/>
          </p:cNvSpPr>
          <p:nvPr/>
        </p:nvSpPr>
        <p:spPr>
          <a:xfrm>
            <a:off x="1130270" y="1477941"/>
            <a:ext cx="9245600" cy="7620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(Open Systems Interconnection model) A standard means of describing network communication by defining it as a series of layers, each with specific input and output. 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CEFB8F8-4E17-4B54-8B95-F7822E9C5864}"/>
              </a:ext>
            </a:extLst>
          </p:cNvPr>
          <p:cNvGrpSpPr>
            <a:grpSpLocks noChangeAspect="1"/>
          </p:cNvGrpSpPr>
          <p:nvPr/>
        </p:nvGrpSpPr>
        <p:grpSpPr>
          <a:xfrm>
            <a:off x="2442531" y="2431234"/>
            <a:ext cx="3653467" cy="4073673"/>
            <a:chOff x="3002280" y="1278319"/>
            <a:chExt cx="1593285" cy="4881373"/>
          </a:xfrm>
        </p:grpSpPr>
        <p:sp>
          <p:nvSpPr>
            <p:cNvPr id="6" name="Round Same Side Corner Rectangle 4">
              <a:extLst>
                <a:ext uri="{FF2B5EF4-FFF2-40B4-BE49-F238E27FC236}">
                  <a16:creationId xmlns:a16="http://schemas.microsoft.com/office/drawing/2014/main" id="{A1A08D9D-2DB4-43AD-8BBC-FC61C7A9C47D}"/>
                </a:ext>
              </a:extLst>
            </p:cNvPr>
            <p:cNvSpPr/>
            <p:nvPr/>
          </p:nvSpPr>
          <p:spPr>
            <a:xfrm rot="5400000">
              <a:off x="3779110" y="1120235"/>
              <a:ext cx="658368" cy="974543"/>
            </a:xfrm>
            <a:prstGeom prst="round2SameRect">
              <a:avLst>
                <a:gd name="adj1" fmla="val 19842"/>
                <a:gd name="adj2" fmla="val 0"/>
              </a:avLst>
            </a:prstGeom>
            <a:gradFill flip="none" rotWithShape="1">
              <a:gsLst>
                <a:gs pos="0">
                  <a:srgbClr val="9BBB59">
                    <a:lumMod val="5000"/>
                    <a:lumOff val="95000"/>
                  </a:srgbClr>
                </a:gs>
                <a:gs pos="74000">
                  <a:srgbClr val="9BBB59">
                    <a:lumMod val="45000"/>
                    <a:lumOff val="55000"/>
                  </a:srgbClr>
                </a:gs>
                <a:gs pos="83000">
                  <a:srgbClr val="9BBB59">
                    <a:lumMod val="45000"/>
                    <a:lumOff val="55000"/>
                  </a:srgbClr>
                </a:gs>
                <a:gs pos="100000">
                  <a:srgbClr val="9BBB59">
                    <a:lumMod val="30000"/>
                    <a:lumOff val="70000"/>
                  </a:srgbClr>
                </a:gs>
              </a:gsLst>
              <a:lin ang="5400000" scaled="1"/>
              <a:tileRect/>
            </a:gra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vert270"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 dirty="0">
                  <a:solidFill>
                    <a:prstClr val="black"/>
                  </a:solidFill>
                  <a:latin typeface="+mn-lt"/>
                  <a:cs typeface="+mn-cs"/>
                </a:rPr>
                <a:t>Application</a:t>
              </a:r>
            </a:p>
          </p:txBody>
        </p:sp>
        <p:sp>
          <p:nvSpPr>
            <p:cNvPr id="7" name="Round Same Side Corner Rectangle 5">
              <a:extLst>
                <a:ext uri="{FF2B5EF4-FFF2-40B4-BE49-F238E27FC236}">
                  <a16:creationId xmlns:a16="http://schemas.microsoft.com/office/drawing/2014/main" id="{A21A4B2B-5BDC-4733-AC8A-8CC61E5C272D}"/>
                </a:ext>
              </a:extLst>
            </p:cNvPr>
            <p:cNvSpPr/>
            <p:nvPr/>
          </p:nvSpPr>
          <p:spPr>
            <a:xfrm rot="16200000">
              <a:off x="2950464" y="1330135"/>
              <a:ext cx="658368" cy="554736"/>
            </a:xfrm>
            <a:prstGeom prst="round2SameRect">
              <a:avLst>
                <a:gd name="adj1" fmla="val 19842"/>
                <a:gd name="adj2" fmla="val 0"/>
              </a:avLst>
            </a:prstGeom>
            <a:gradFill flip="none" rotWithShape="1">
              <a:gsLst>
                <a:gs pos="0">
                  <a:srgbClr val="9BBB59">
                    <a:lumMod val="5000"/>
                    <a:lumOff val="95000"/>
                  </a:srgbClr>
                </a:gs>
                <a:gs pos="74000">
                  <a:srgbClr val="9BBB59">
                    <a:lumMod val="45000"/>
                    <a:lumOff val="55000"/>
                  </a:srgbClr>
                </a:gs>
                <a:gs pos="83000">
                  <a:srgbClr val="9BBB59">
                    <a:lumMod val="45000"/>
                    <a:lumOff val="55000"/>
                  </a:srgbClr>
                </a:gs>
                <a:gs pos="100000">
                  <a:srgbClr val="9BBB59">
                    <a:lumMod val="30000"/>
                    <a:lumOff val="70000"/>
                  </a:srgbClr>
                </a:gs>
              </a:gsLst>
              <a:lin ang="5400000" scaled="1"/>
              <a:tileRect/>
            </a:gra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vert"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 dirty="0">
                  <a:solidFill>
                    <a:prstClr val="black"/>
                  </a:solidFill>
                  <a:latin typeface="+mn-lt"/>
                  <a:cs typeface="+mn-cs"/>
                </a:rPr>
                <a:t>7</a:t>
              </a:r>
            </a:p>
          </p:txBody>
        </p:sp>
        <p:sp>
          <p:nvSpPr>
            <p:cNvPr id="8" name="Round Same Side Corner Rectangle 6">
              <a:extLst>
                <a:ext uri="{FF2B5EF4-FFF2-40B4-BE49-F238E27FC236}">
                  <a16:creationId xmlns:a16="http://schemas.microsoft.com/office/drawing/2014/main" id="{26336A75-612F-4C58-81CF-B92D671CB08E}"/>
                </a:ext>
              </a:extLst>
            </p:cNvPr>
            <p:cNvSpPr/>
            <p:nvPr/>
          </p:nvSpPr>
          <p:spPr>
            <a:xfrm rot="5400000">
              <a:off x="3779108" y="1840473"/>
              <a:ext cx="658368" cy="974545"/>
            </a:xfrm>
            <a:prstGeom prst="round2SameRect">
              <a:avLst>
                <a:gd name="adj1" fmla="val 19842"/>
                <a:gd name="adj2" fmla="val 0"/>
              </a:avLst>
            </a:prstGeom>
            <a:gradFill flip="none" rotWithShape="1">
              <a:gsLst>
                <a:gs pos="0">
                  <a:srgbClr val="4F81BD">
                    <a:lumMod val="5000"/>
                    <a:lumOff val="95000"/>
                  </a:srgbClr>
                </a:gs>
                <a:gs pos="74000">
                  <a:srgbClr val="4F81BD">
                    <a:lumMod val="45000"/>
                    <a:lumOff val="55000"/>
                  </a:srgbClr>
                </a:gs>
                <a:gs pos="83000">
                  <a:srgbClr val="4F81BD">
                    <a:lumMod val="45000"/>
                    <a:lumOff val="55000"/>
                  </a:srgbClr>
                </a:gs>
                <a:gs pos="100000">
                  <a:srgbClr val="4F81BD">
                    <a:lumMod val="30000"/>
                    <a:lumOff val="70000"/>
                  </a:srgbClr>
                </a:gs>
              </a:gsLst>
              <a:lin ang="5400000" scaled="1"/>
              <a:tileRect/>
            </a:gra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vert270"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 dirty="0">
                  <a:solidFill>
                    <a:prstClr val="black"/>
                  </a:solidFill>
                  <a:latin typeface="+mn-lt"/>
                  <a:cs typeface="+mn-cs"/>
                </a:rPr>
                <a:t>Presentation</a:t>
              </a:r>
            </a:p>
          </p:txBody>
        </p:sp>
        <p:sp>
          <p:nvSpPr>
            <p:cNvPr id="9" name="Round Same Side Corner Rectangle 7">
              <a:extLst>
                <a:ext uri="{FF2B5EF4-FFF2-40B4-BE49-F238E27FC236}">
                  <a16:creationId xmlns:a16="http://schemas.microsoft.com/office/drawing/2014/main" id="{F599EEE5-1B58-449B-B8C4-C1D290515776}"/>
                </a:ext>
              </a:extLst>
            </p:cNvPr>
            <p:cNvSpPr/>
            <p:nvPr/>
          </p:nvSpPr>
          <p:spPr>
            <a:xfrm rot="16200000">
              <a:off x="2950464" y="2037271"/>
              <a:ext cx="658368" cy="554736"/>
            </a:xfrm>
            <a:prstGeom prst="round2SameRect">
              <a:avLst>
                <a:gd name="adj1" fmla="val 19842"/>
                <a:gd name="adj2" fmla="val 0"/>
              </a:avLst>
            </a:prstGeom>
            <a:gradFill flip="none" rotWithShape="1">
              <a:gsLst>
                <a:gs pos="0">
                  <a:srgbClr val="4F81BD">
                    <a:lumMod val="5000"/>
                    <a:lumOff val="95000"/>
                  </a:srgbClr>
                </a:gs>
                <a:gs pos="74000">
                  <a:srgbClr val="4F81BD">
                    <a:lumMod val="45000"/>
                    <a:lumOff val="55000"/>
                  </a:srgbClr>
                </a:gs>
                <a:gs pos="83000">
                  <a:srgbClr val="4F81BD">
                    <a:lumMod val="45000"/>
                    <a:lumOff val="55000"/>
                  </a:srgbClr>
                </a:gs>
                <a:gs pos="100000">
                  <a:srgbClr val="4F81BD">
                    <a:lumMod val="30000"/>
                    <a:lumOff val="70000"/>
                  </a:srgbClr>
                </a:gs>
              </a:gsLst>
              <a:lin ang="5400000" scaled="1"/>
              <a:tileRect/>
            </a:gra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vert"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 dirty="0">
                  <a:solidFill>
                    <a:prstClr val="black"/>
                  </a:solidFill>
                  <a:latin typeface="+mn-lt"/>
                  <a:cs typeface="+mn-cs"/>
                </a:rPr>
                <a:t>6</a:t>
              </a:r>
            </a:p>
          </p:txBody>
        </p:sp>
        <p:sp>
          <p:nvSpPr>
            <p:cNvPr id="10" name="Round Same Side Corner Rectangle 8">
              <a:extLst>
                <a:ext uri="{FF2B5EF4-FFF2-40B4-BE49-F238E27FC236}">
                  <a16:creationId xmlns:a16="http://schemas.microsoft.com/office/drawing/2014/main" id="{092CF54A-E95F-4F23-95A0-FDE08B1629C0}"/>
                </a:ext>
              </a:extLst>
            </p:cNvPr>
            <p:cNvSpPr/>
            <p:nvPr/>
          </p:nvSpPr>
          <p:spPr>
            <a:xfrm rot="5400000">
              <a:off x="3779110" y="2534506"/>
              <a:ext cx="658368" cy="974541"/>
            </a:xfrm>
            <a:prstGeom prst="round2SameRect">
              <a:avLst>
                <a:gd name="adj1" fmla="val 19842"/>
                <a:gd name="adj2" fmla="val 0"/>
              </a:avLst>
            </a:prstGeom>
            <a:gradFill flip="none" rotWithShape="1">
              <a:gsLst>
                <a:gs pos="0">
                  <a:srgbClr val="9BBB59">
                    <a:lumMod val="5000"/>
                    <a:lumOff val="95000"/>
                  </a:srgbClr>
                </a:gs>
                <a:gs pos="74000">
                  <a:srgbClr val="9BBB59">
                    <a:lumMod val="45000"/>
                    <a:lumOff val="55000"/>
                  </a:srgbClr>
                </a:gs>
                <a:gs pos="83000">
                  <a:srgbClr val="9BBB59">
                    <a:lumMod val="45000"/>
                    <a:lumOff val="55000"/>
                  </a:srgbClr>
                </a:gs>
                <a:gs pos="100000">
                  <a:srgbClr val="9BBB59">
                    <a:lumMod val="30000"/>
                    <a:lumOff val="70000"/>
                  </a:srgbClr>
                </a:gs>
              </a:gsLst>
              <a:lin ang="5400000" scaled="1"/>
              <a:tileRect/>
            </a:gra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vert270"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 dirty="0">
                  <a:solidFill>
                    <a:prstClr val="black"/>
                  </a:solidFill>
                  <a:latin typeface="+mn-lt"/>
                  <a:cs typeface="+mn-cs"/>
                </a:rPr>
                <a:t>Session</a:t>
              </a:r>
            </a:p>
          </p:txBody>
        </p:sp>
        <p:sp>
          <p:nvSpPr>
            <p:cNvPr id="11" name="Round Same Side Corner Rectangle 9">
              <a:extLst>
                <a:ext uri="{FF2B5EF4-FFF2-40B4-BE49-F238E27FC236}">
                  <a16:creationId xmlns:a16="http://schemas.microsoft.com/office/drawing/2014/main" id="{7B305DDD-BF30-40D5-9BD1-9C5808C0967B}"/>
                </a:ext>
              </a:extLst>
            </p:cNvPr>
            <p:cNvSpPr/>
            <p:nvPr/>
          </p:nvSpPr>
          <p:spPr>
            <a:xfrm rot="16200000">
              <a:off x="2950464" y="2744407"/>
              <a:ext cx="658368" cy="554736"/>
            </a:xfrm>
            <a:prstGeom prst="round2SameRect">
              <a:avLst>
                <a:gd name="adj1" fmla="val 19842"/>
                <a:gd name="adj2" fmla="val 0"/>
              </a:avLst>
            </a:prstGeom>
            <a:gradFill flip="none" rotWithShape="1">
              <a:gsLst>
                <a:gs pos="0">
                  <a:srgbClr val="9BBB59">
                    <a:lumMod val="5000"/>
                    <a:lumOff val="95000"/>
                  </a:srgbClr>
                </a:gs>
                <a:gs pos="74000">
                  <a:srgbClr val="9BBB59">
                    <a:lumMod val="45000"/>
                    <a:lumOff val="55000"/>
                  </a:srgbClr>
                </a:gs>
                <a:gs pos="83000">
                  <a:srgbClr val="9BBB59">
                    <a:lumMod val="45000"/>
                    <a:lumOff val="55000"/>
                  </a:srgbClr>
                </a:gs>
                <a:gs pos="100000">
                  <a:srgbClr val="9BBB59">
                    <a:lumMod val="30000"/>
                    <a:lumOff val="70000"/>
                  </a:srgbClr>
                </a:gs>
              </a:gsLst>
              <a:lin ang="5400000" scaled="1"/>
              <a:tileRect/>
            </a:gra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vert"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 dirty="0">
                  <a:solidFill>
                    <a:prstClr val="black"/>
                  </a:solidFill>
                  <a:latin typeface="+mn-lt"/>
                  <a:cs typeface="+mn-cs"/>
                </a:rPr>
                <a:t>5</a:t>
              </a:r>
            </a:p>
          </p:txBody>
        </p:sp>
        <p:sp>
          <p:nvSpPr>
            <p:cNvPr id="12" name="Round Same Side Corner Rectangle 10">
              <a:extLst>
                <a:ext uri="{FF2B5EF4-FFF2-40B4-BE49-F238E27FC236}">
                  <a16:creationId xmlns:a16="http://schemas.microsoft.com/office/drawing/2014/main" id="{25D805F3-CA6A-459C-A831-3CA7C4415FA3}"/>
                </a:ext>
              </a:extLst>
            </p:cNvPr>
            <p:cNvSpPr/>
            <p:nvPr/>
          </p:nvSpPr>
          <p:spPr>
            <a:xfrm rot="5400000">
              <a:off x="3779110" y="3237072"/>
              <a:ext cx="658368" cy="974541"/>
            </a:xfrm>
            <a:prstGeom prst="round2SameRect">
              <a:avLst>
                <a:gd name="adj1" fmla="val 19842"/>
                <a:gd name="adj2" fmla="val 0"/>
              </a:avLst>
            </a:prstGeom>
            <a:gradFill flip="none" rotWithShape="1">
              <a:gsLst>
                <a:gs pos="0">
                  <a:srgbClr val="4F81BD">
                    <a:lumMod val="5000"/>
                    <a:lumOff val="95000"/>
                  </a:srgbClr>
                </a:gs>
                <a:gs pos="74000">
                  <a:srgbClr val="4F81BD">
                    <a:lumMod val="45000"/>
                    <a:lumOff val="55000"/>
                  </a:srgbClr>
                </a:gs>
                <a:gs pos="83000">
                  <a:srgbClr val="4F81BD">
                    <a:lumMod val="45000"/>
                    <a:lumOff val="55000"/>
                  </a:srgbClr>
                </a:gs>
                <a:gs pos="100000">
                  <a:srgbClr val="4F81BD">
                    <a:lumMod val="30000"/>
                    <a:lumOff val="70000"/>
                  </a:srgbClr>
                </a:gs>
              </a:gsLst>
              <a:lin ang="5400000" scaled="1"/>
              <a:tileRect/>
            </a:gra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vert270"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 dirty="0">
                  <a:solidFill>
                    <a:prstClr val="black"/>
                  </a:solidFill>
                  <a:latin typeface="+mn-lt"/>
                  <a:cs typeface="+mn-cs"/>
                </a:rPr>
                <a:t>Transport</a:t>
              </a:r>
            </a:p>
          </p:txBody>
        </p:sp>
        <p:sp>
          <p:nvSpPr>
            <p:cNvPr id="13" name="Round Same Side Corner Rectangle 11">
              <a:extLst>
                <a:ext uri="{FF2B5EF4-FFF2-40B4-BE49-F238E27FC236}">
                  <a16:creationId xmlns:a16="http://schemas.microsoft.com/office/drawing/2014/main" id="{60FF9F3D-A5C3-4E18-8166-20BCB655F13C}"/>
                </a:ext>
              </a:extLst>
            </p:cNvPr>
            <p:cNvSpPr/>
            <p:nvPr/>
          </p:nvSpPr>
          <p:spPr>
            <a:xfrm rot="16200000">
              <a:off x="2950464" y="3445447"/>
              <a:ext cx="658368" cy="554736"/>
            </a:xfrm>
            <a:prstGeom prst="round2SameRect">
              <a:avLst>
                <a:gd name="adj1" fmla="val 19842"/>
                <a:gd name="adj2" fmla="val 0"/>
              </a:avLst>
            </a:prstGeom>
            <a:gradFill flip="none" rotWithShape="1">
              <a:gsLst>
                <a:gs pos="0">
                  <a:srgbClr val="4F81BD">
                    <a:lumMod val="5000"/>
                    <a:lumOff val="95000"/>
                  </a:srgbClr>
                </a:gs>
                <a:gs pos="74000">
                  <a:srgbClr val="4F81BD">
                    <a:lumMod val="45000"/>
                    <a:lumOff val="55000"/>
                  </a:srgbClr>
                </a:gs>
                <a:gs pos="83000">
                  <a:srgbClr val="4F81BD">
                    <a:lumMod val="45000"/>
                    <a:lumOff val="55000"/>
                  </a:srgbClr>
                </a:gs>
                <a:gs pos="100000">
                  <a:srgbClr val="4F81BD">
                    <a:lumMod val="30000"/>
                    <a:lumOff val="70000"/>
                  </a:srgbClr>
                </a:gs>
              </a:gsLst>
              <a:lin ang="5400000" scaled="1"/>
              <a:tileRect/>
            </a:gra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vert"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 dirty="0">
                  <a:solidFill>
                    <a:prstClr val="black"/>
                  </a:solidFill>
                  <a:latin typeface="+mn-lt"/>
                  <a:cs typeface="+mn-cs"/>
                </a:rPr>
                <a:t>4</a:t>
              </a:r>
            </a:p>
          </p:txBody>
        </p:sp>
        <p:sp>
          <p:nvSpPr>
            <p:cNvPr id="14" name="Round Same Side Corner Rectangle 12">
              <a:extLst>
                <a:ext uri="{FF2B5EF4-FFF2-40B4-BE49-F238E27FC236}">
                  <a16:creationId xmlns:a16="http://schemas.microsoft.com/office/drawing/2014/main" id="{2B27DA9C-436A-4974-8CE0-C796282CAA22}"/>
                </a:ext>
              </a:extLst>
            </p:cNvPr>
            <p:cNvSpPr/>
            <p:nvPr/>
          </p:nvSpPr>
          <p:spPr>
            <a:xfrm rot="5400000">
              <a:off x="3779110" y="3941157"/>
              <a:ext cx="658368" cy="974542"/>
            </a:xfrm>
            <a:prstGeom prst="round2SameRect">
              <a:avLst>
                <a:gd name="adj1" fmla="val 19842"/>
                <a:gd name="adj2" fmla="val 0"/>
              </a:avLst>
            </a:prstGeom>
            <a:gradFill flip="none" rotWithShape="1">
              <a:gsLst>
                <a:gs pos="0">
                  <a:srgbClr val="9BBB59">
                    <a:lumMod val="5000"/>
                    <a:lumOff val="95000"/>
                  </a:srgbClr>
                </a:gs>
                <a:gs pos="74000">
                  <a:srgbClr val="9BBB59">
                    <a:lumMod val="45000"/>
                    <a:lumOff val="55000"/>
                  </a:srgbClr>
                </a:gs>
                <a:gs pos="83000">
                  <a:srgbClr val="9BBB59">
                    <a:lumMod val="45000"/>
                    <a:lumOff val="55000"/>
                  </a:srgbClr>
                </a:gs>
                <a:gs pos="100000">
                  <a:srgbClr val="9BBB59">
                    <a:lumMod val="30000"/>
                    <a:lumOff val="70000"/>
                  </a:srgbClr>
                </a:gs>
              </a:gsLst>
              <a:lin ang="5400000" scaled="1"/>
              <a:tileRect/>
            </a:gra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vert270"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 dirty="0">
                  <a:solidFill>
                    <a:prstClr val="black"/>
                  </a:solidFill>
                  <a:latin typeface="+mn-lt"/>
                  <a:cs typeface="+mn-cs"/>
                </a:rPr>
                <a:t>Network</a:t>
              </a:r>
            </a:p>
          </p:txBody>
        </p:sp>
        <p:sp>
          <p:nvSpPr>
            <p:cNvPr id="15" name="Round Same Side Corner Rectangle 13">
              <a:extLst>
                <a:ext uri="{FF2B5EF4-FFF2-40B4-BE49-F238E27FC236}">
                  <a16:creationId xmlns:a16="http://schemas.microsoft.com/office/drawing/2014/main" id="{48BB9E28-F280-496C-9982-DC46ED451500}"/>
                </a:ext>
              </a:extLst>
            </p:cNvPr>
            <p:cNvSpPr/>
            <p:nvPr/>
          </p:nvSpPr>
          <p:spPr>
            <a:xfrm rot="16200000">
              <a:off x="2950464" y="4149535"/>
              <a:ext cx="658368" cy="554736"/>
            </a:xfrm>
            <a:prstGeom prst="round2SameRect">
              <a:avLst>
                <a:gd name="adj1" fmla="val 19842"/>
                <a:gd name="adj2" fmla="val 0"/>
              </a:avLst>
            </a:prstGeom>
            <a:gradFill flip="none" rotWithShape="1">
              <a:gsLst>
                <a:gs pos="0">
                  <a:srgbClr val="9BBB59">
                    <a:lumMod val="5000"/>
                    <a:lumOff val="95000"/>
                  </a:srgbClr>
                </a:gs>
                <a:gs pos="74000">
                  <a:srgbClr val="9BBB59">
                    <a:lumMod val="45000"/>
                    <a:lumOff val="55000"/>
                  </a:srgbClr>
                </a:gs>
                <a:gs pos="83000">
                  <a:srgbClr val="9BBB59">
                    <a:lumMod val="45000"/>
                    <a:lumOff val="55000"/>
                  </a:srgbClr>
                </a:gs>
                <a:gs pos="100000">
                  <a:srgbClr val="9BBB59">
                    <a:lumMod val="30000"/>
                    <a:lumOff val="70000"/>
                  </a:srgbClr>
                </a:gs>
              </a:gsLst>
              <a:lin ang="5400000" scaled="1"/>
              <a:tileRect/>
            </a:gra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vert"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 dirty="0">
                  <a:solidFill>
                    <a:prstClr val="black"/>
                  </a:solidFill>
                  <a:latin typeface="+mn-lt"/>
                  <a:cs typeface="+mn-cs"/>
                </a:rPr>
                <a:t>3</a:t>
              </a:r>
            </a:p>
          </p:txBody>
        </p:sp>
        <p:sp>
          <p:nvSpPr>
            <p:cNvPr id="16" name="Round Same Side Corner Rectangle 14">
              <a:extLst>
                <a:ext uri="{FF2B5EF4-FFF2-40B4-BE49-F238E27FC236}">
                  <a16:creationId xmlns:a16="http://schemas.microsoft.com/office/drawing/2014/main" id="{D98E4742-79FD-43BB-8797-E594369CFD63}"/>
                </a:ext>
              </a:extLst>
            </p:cNvPr>
            <p:cNvSpPr/>
            <p:nvPr/>
          </p:nvSpPr>
          <p:spPr>
            <a:xfrm rot="5400000">
              <a:off x="3779110" y="4642196"/>
              <a:ext cx="658368" cy="974542"/>
            </a:xfrm>
            <a:prstGeom prst="round2SameRect">
              <a:avLst>
                <a:gd name="adj1" fmla="val 19842"/>
                <a:gd name="adj2" fmla="val 0"/>
              </a:avLst>
            </a:prstGeom>
            <a:gradFill flip="none" rotWithShape="1">
              <a:gsLst>
                <a:gs pos="0">
                  <a:srgbClr val="4F81BD">
                    <a:lumMod val="5000"/>
                    <a:lumOff val="95000"/>
                  </a:srgbClr>
                </a:gs>
                <a:gs pos="74000">
                  <a:srgbClr val="4F81BD">
                    <a:lumMod val="45000"/>
                    <a:lumOff val="55000"/>
                  </a:srgbClr>
                </a:gs>
                <a:gs pos="83000">
                  <a:srgbClr val="4F81BD">
                    <a:lumMod val="45000"/>
                    <a:lumOff val="55000"/>
                  </a:srgbClr>
                </a:gs>
                <a:gs pos="100000">
                  <a:srgbClr val="4F81BD">
                    <a:lumMod val="30000"/>
                    <a:lumOff val="70000"/>
                  </a:srgbClr>
                </a:gs>
              </a:gsLst>
              <a:lin ang="5400000" scaled="1"/>
              <a:tileRect/>
            </a:gra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vert270"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 dirty="0">
                  <a:solidFill>
                    <a:prstClr val="black"/>
                  </a:solidFill>
                  <a:latin typeface="+mn-lt"/>
                  <a:cs typeface="+mn-cs"/>
                </a:rPr>
                <a:t>Data Link</a:t>
              </a:r>
            </a:p>
          </p:txBody>
        </p:sp>
        <p:sp>
          <p:nvSpPr>
            <p:cNvPr id="17" name="Round Same Side Corner Rectangle 15">
              <a:extLst>
                <a:ext uri="{FF2B5EF4-FFF2-40B4-BE49-F238E27FC236}">
                  <a16:creationId xmlns:a16="http://schemas.microsoft.com/office/drawing/2014/main" id="{F81BB6CA-C696-4BDC-B13D-65898B787DEC}"/>
                </a:ext>
              </a:extLst>
            </p:cNvPr>
            <p:cNvSpPr/>
            <p:nvPr/>
          </p:nvSpPr>
          <p:spPr>
            <a:xfrm rot="16200000">
              <a:off x="2950464" y="4853623"/>
              <a:ext cx="658368" cy="554736"/>
            </a:xfrm>
            <a:prstGeom prst="round2SameRect">
              <a:avLst>
                <a:gd name="adj1" fmla="val 19842"/>
                <a:gd name="adj2" fmla="val 0"/>
              </a:avLst>
            </a:prstGeom>
            <a:gradFill flip="none" rotWithShape="1">
              <a:gsLst>
                <a:gs pos="0">
                  <a:srgbClr val="4F81BD">
                    <a:lumMod val="5000"/>
                    <a:lumOff val="95000"/>
                  </a:srgbClr>
                </a:gs>
                <a:gs pos="74000">
                  <a:srgbClr val="4F81BD">
                    <a:lumMod val="45000"/>
                    <a:lumOff val="55000"/>
                  </a:srgbClr>
                </a:gs>
                <a:gs pos="83000">
                  <a:srgbClr val="4F81BD">
                    <a:lumMod val="45000"/>
                    <a:lumOff val="55000"/>
                  </a:srgbClr>
                </a:gs>
                <a:gs pos="100000">
                  <a:srgbClr val="4F81BD">
                    <a:lumMod val="30000"/>
                    <a:lumOff val="70000"/>
                  </a:srgbClr>
                </a:gs>
              </a:gsLst>
              <a:lin ang="5400000" scaled="1"/>
              <a:tileRect/>
            </a:gra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vert"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 dirty="0">
                  <a:solidFill>
                    <a:prstClr val="black"/>
                  </a:solidFill>
                  <a:latin typeface="+mn-lt"/>
                  <a:cs typeface="+mn-cs"/>
                </a:rPr>
                <a:t>2</a:t>
              </a:r>
            </a:p>
          </p:txBody>
        </p:sp>
        <p:sp>
          <p:nvSpPr>
            <p:cNvPr id="18" name="Round Same Side Corner Rectangle 16">
              <a:extLst>
                <a:ext uri="{FF2B5EF4-FFF2-40B4-BE49-F238E27FC236}">
                  <a16:creationId xmlns:a16="http://schemas.microsoft.com/office/drawing/2014/main" id="{95AEA27B-CF83-4D2C-9E32-128F02A9C0D6}"/>
                </a:ext>
              </a:extLst>
            </p:cNvPr>
            <p:cNvSpPr/>
            <p:nvPr/>
          </p:nvSpPr>
          <p:spPr>
            <a:xfrm rot="5400000">
              <a:off x="3779109" y="5343236"/>
              <a:ext cx="658368" cy="974543"/>
            </a:xfrm>
            <a:prstGeom prst="round2SameRect">
              <a:avLst>
                <a:gd name="adj1" fmla="val 19842"/>
                <a:gd name="adj2" fmla="val 0"/>
              </a:avLst>
            </a:prstGeom>
            <a:gradFill flip="none" rotWithShape="1">
              <a:gsLst>
                <a:gs pos="0">
                  <a:srgbClr val="9BBB59">
                    <a:lumMod val="5000"/>
                    <a:lumOff val="95000"/>
                  </a:srgbClr>
                </a:gs>
                <a:gs pos="74000">
                  <a:srgbClr val="9BBB59">
                    <a:lumMod val="45000"/>
                    <a:lumOff val="55000"/>
                  </a:srgbClr>
                </a:gs>
                <a:gs pos="83000">
                  <a:srgbClr val="9BBB59">
                    <a:lumMod val="45000"/>
                    <a:lumOff val="55000"/>
                  </a:srgbClr>
                </a:gs>
                <a:gs pos="100000">
                  <a:srgbClr val="9BBB59">
                    <a:lumMod val="30000"/>
                    <a:lumOff val="70000"/>
                  </a:srgbClr>
                </a:gs>
              </a:gsLst>
              <a:lin ang="5400000" scaled="1"/>
              <a:tileRect/>
            </a:gra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vert270"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 dirty="0">
                  <a:solidFill>
                    <a:prstClr val="black"/>
                  </a:solidFill>
                  <a:latin typeface="+mn-lt"/>
                  <a:cs typeface="+mn-cs"/>
                </a:rPr>
                <a:t>Physical</a:t>
              </a:r>
            </a:p>
          </p:txBody>
        </p:sp>
        <p:sp>
          <p:nvSpPr>
            <p:cNvPr id="19" name="Round Same Side Corner Rectangle 17">
              <a:extLst>
                <a:ext uri="{FF2B5EF4-FFF2-40B4-BE49-F238E27FC236}">
                  <a16:creationId xmlns:a16="http://schemas.microsoft.com/office/drawing/2014/main" id="{A902CB23-DD2A-489C-B8D2-5FBB2EA00BEC}"/>
                </a:ext>
              </a:extLst>
            </p:cNvPr>
            <p:cNvSpPr/>
            <p:nvPr/>
          </p:nvSpPr>
          <p:spPr>
            <a:xfrm rot="16200000">
              <a:off x="2950464" y="5553137"/>
              <a:ext cx="658368" cy="554736"/>
            </a:xfrm>
            <a:prstGeom prst="round2SameRect">
              <a:avLst>
                <a:gd name="adj1" fmla="val 19842"/>
                <a:gd name="adj2" fmla="val 0"/>
              </a:avLst>
            </a:prstGeom>
            <a:gradFill flip="none" rotWithShape="1">
              <a:gsLst>
                <a:gs pos="0">
                  <a:srgbClr val="9BBB59">
                    <a:lumMod val="5000"/>
                    <a:lumOff val="95000"/>
                  </a:srgbClr>
                </a:gs>
                <a:gs pos="74000">
                  <a:srgbClr val="9BBB59">
                    <a:lumMod val="45000"/>
                    <a:lumOff val="55000"/>
                  </a:srgbClr>
                </a:gs>
                <a:gs pos="83000">
                  <a:srgbClr val="9BBB59">
                    <a:lumMod val="45000"/>
                    <a:lumOff val="55000"/>
                  </a:srgbClr>
                </a:gs>
                <a:gs pos="100000">
                  <a:srgbClr val="9BBB59">
                    <a:lumMod val="30000"/>
                    <a:lumOff val="70000"/>
                  </a:srgbClr>
                </a:gs>
              </a:gsLst>
              <a:lin ang="5400000" scaled="1"/>
              <a:tileRect/>
            </a:gra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vert"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 dirty="0">
                  <a:solidFill>
                    <a:prstClr val="black"/>
                  </a:solidFill>
                  <a:latin typeface="+mn-lt"/>
                  <a:cs typeface="+mn-cs"/>
                </a:rPr>
                <a:t>1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8A85CEB-8CFD-4662-83A3-340592C86BAA}"/>
              </a:ext>
            </a:extLst>
          </p:cNvPr>
          <p:cNvGrpSpPr>
            <a:grpSpLocks noChangeAspect="1"/>
          </p:cNvGrpSpPr>
          <p:nvPr/>
        </p:nvGrpSpPr>
        <p:grpSpPr>
          <a:xfrm>
            <a:off x="6095997" y="2425534"/>
            <a:ext cx="3425096" cy="4073675"/>
            <a:chOff x="3002279" y="1278318"/>
            <a:chExt cx="1593286" cy="4881375"/>
          </a:xfrm>
        </p:grpSpPr>
        <p:sp>
          <p:nvSpPr>
            <p:cNvPr id="21" name="Round Same Side Corner Rectangle 4">
              <a:extLst>
                <a:ext uri="{FF2B5EF4-FFF2-40B4-BE49-F238E27FC236}">
                  <a16:creationId xmlns:a16="http://schemas.microsoft.com/office/drawing/2014/main" id="{CC683C49-CE29-468C-B1FB-0DAC25301970}"/>
                </a:ext>
              </a:extLst>
            </p:cNvPr>
            <p:cNvSpPr/>
            <p:nvPr/>
          </p:nvSpPr>
          <p:spPr>
            <a:xfrm rot="5400000">
              <a:off x="3818664" y="1159789"/>
              <a:ext cx="658368" cy="895435"/>
            </a:xfrm>
            <a:prstGeom prst="round2SameRect">
              <a:avLst>
                <a:gd name="adj1" fmla="val 19842"/>
                <a:gd name="adj2" fmla="val 0"/>
              </a:avLst>
            </a:prstGeom>
            <a:gradFill flip="none" rotWithShape="1">
              <a:gsLst>
                <a:gs pos="0">
                  <a:srgbClr val="9BBB59">
                    <a:lumMod val="5000"/>
                    <a:lumOff val="95000"/>
                  </a:srgbClr>
                </a:gs>
                <a:gs pos="74000">
                  <a:srgbClr val="9BBB59">
                    <a:lumMod val="45000"/>
                    <a:lumOff val="55000"/>
                  </a:srgbClr>
                </a:gs>
                <a:gs pos="83000">
                  <a:srgbClr val="9BBB59">
                    <a:lumMod val="45000"/>
                    <a:lumOff val="55000"/>
                  </a:srgbClr>
                </a:gs>
                <a:gs pos="100000">
                  <a:srgbClr val="9BBB59">
                    <a:lumMod val="30000"/>
                    <a:lumOff val="70000"/>
                  </a:srgbClr>
                </a:gs>
              </a:gsLst>
              <a:lin ang="5400000" scaled="1"/>
              <a:tileRect/>
            </a:gra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vert270"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 dirty="0">
                  <a:solidFill>
                    <a:prstClr val="black"/>
                  </a:solidFill>
                </a:rPr>
                <a:t>Albums</a:t>
              </a:r>
              <a:endParaRPr lang="en-US" sz="2000" kern="0" dirty="0">
                <a:solidFill>
                  <a:prstClr val="black"/>
                </a:solidFill>
                <a:latin typeface="+mn-lt"/>
                <a:cs typeface="+mn-cs"/>
              </a:endParaRPr>
            </a:p>
          </p:txBody>
        </p:sp>
        <p:sp>
          <p:nvSpPr>
            <p:cNvPr id="22" name="Round Same Side Corner Rectangle 5">
              <a:extLst>
                <a:ext uri="{FF2B5EF4-FFF2-40B4-BE49-F238E27FC236}">
                  <a16:creationId xmlns:a16="http://schemas.microsoft.com/office/drawing/2014/main" id="{E47ED5D3-7F77-4C02-8E47-ACD169FD773A}"/>
                </a:ext>
              </a:extLst>
            </p:cNvPr>
            <p:cNvSpPr/>
            <p:nvPr/>
          </p:nvSpPr>
          <p:spPr>
            <a:xfrm rot="16200000">
              <a:off x="3005406" y="1275192"/>
              <a:ext cx="658368" cy="664620"/>
            </a:xfrm>
            <a:prstGeom prst="round2SameRect">
              <a:avLst>
                <a:gd name="adj1" fmla="val 19842"/>
                <a:gd name="adj2" fmla="val 0"/>
              </a:avLst>
            </a:prstGeom>
            <a:gradFill flip="none" rotWithShape="1">
              <a:gsLst>
                <a:gs pos="0">
                  <a:srgbClr val="9BBB59">
                    <a:lumMod val="5000"/>
                    <a:lumOff val="95000"/>
                  </a:srgbClr>
                </a:gs>
                <a:gs pos="74000">
                  <a:srgbClr val="9BBB59">
                    <a:lumMod val="45000"/>
                    <a:lumOff val="55000"/>
                  </a:srgbClr>
                </a:gs>
                <a:gs pos="83000">
                  <a:srgbClr val="9BBB59">
                    <a:lumMod val="45000"/>
                    <a:lumOff val="55000"/>
                  </a:srgbClr>
                </a:gs>
                <a:gs pos="100000">
                  <a:srgbClr val="9BBB59">
                    <a:lumMod val="30000"/>
                    <a:lumOff val="70000"/>
                  </a:srgbClr>
                </a:gs>
              </a:gsLst>
              <a:lin ang="5400000" scaled="1"/>
              <a:tileRect/>
            </a:gra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vert"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 dirty="0">
                  <a:solidFill>
                    <a:prstClr val="black"/>
                  </a:solidFill>
                  <a:latin typeface="+mn-lt"/>
                  <a:cs typeface="+mn-cs"/>
                </a:rPr>
                <a:t>All</a:t>
              </a:r>
            </a:p>
          </p:txBody>
        </p:sp>
        <p:sp>
          <p:nvSpPr>
            <p:cNvPr id="23" name="Round Same Side Corner Rectangle 6">
              <a:extLst>
                <a:ext uri="{FF2B5EF4-FFF2-40B4-BE49-F238E27FC236}">
                  <a16:creationId xmlns:a16="http://schemas.microsoft.com/office/drawing/2014/main" id="{2D231C2B-B79E-44BD-BF3E-79F404DCF408}"/>
                </a:ext>
              </a:extLst>
            </p:cNvPr>
            <p:cNvSpPr/>
            <p:nvPr/>
          </p:nvSpPr>
          <p:spPr>
            <a:xfrm rot="5400000">
              <a:off x="3818663" y="1880029"/>
              <a:ext cx="658368" cy="895434"/>
            </a:xfrm>
            <a:prstGeom prst="round2SameRect">
              <a:avLst>
                <a:gd name="adj1" fmla="val 19842"/>
                <a:gd name="adj2" fmla="val 0"/>
              </a:avLst>
            </a:prstGeom>
            <a:gradFill flip="none" rotWithShape="1">
              <a:gsLst>
                <a:gs pos="0">
                  <a:srgbClr val="4F81BD">
                    <a:lumMod val="5000"/>
                    <a:lumOff val="95000"/>
                  </a:srgbClr>
                </a:gs>
                <a:gs pos="74000">
                  <a:srgbClr val="4F81BD">
                    <a:lumMod val="45000"/>
                    <a:lumOff val="55000"/>
                  </a:srgbClr>
                </a:gs>
                <a:gs pos="83000">
                  <a:srgbClr val="4F81BD">
                    <a:lumMod val="45000"/>
                    <a:lumOff val="55000"/>
                  </a:srgbClr>
                </a:gs>
                <a:gs pos="100000">
                  <a:srgbClr val="4F81BD">
                    <a:lumMod val="30000"/>
                    <a:lumOff val="70000"/>
                  </a:srgbClr>
                </a:gs>
              </a:gsLst>
              <a:lin ang="5400000" scaled="1"/>
              <a:tileRect/>
            </a:gra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vert270"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 dirty="0">
                  <a:solidFill>
                    <a:prstClr val="black"/>
                  </a:solidFill>
                  <a:latin typeface="+mn-lt"/>
                  <a:cs typeface="+mn-cs"/>
                </a:rPr>
                <a:t>Producing</a:t>
              </a:r>
            </a:p>
          </p:txBody>
        </p:sp>
        <p:sp>
          <p:nvSpPr>
            <p:cNvPr id="24" name="Round Same Side Corner Rectangle 7">
              <a:extLst>
                <a:ext uri="{FF2B5EF4-FFF2-40B4-BE49-F238E27FC236}">
                  <a16:creationId xmlns:a16="http://schemas.microsoft.com/office/drawing/2014/main" id="{37C7C36C-69D3-4C74-BFE5-A0625AEC9872}"/>
                </a:ext>
              </a:extLst>
            </p:cNvPr>
            <p:cNvSpPr/>
            <p:nvPr/>
          </p:nvSpPr>
          <p:spPr>
            <a:xfrm rot="16200000">
              <a:off x="3005406" y="1982328"/>
              <a:ext cx="658368" cy="664621"/>
            </a:xfrm>
            <a:prstGeom prst="round2SameRect">
              <a:avLst>
                <a:gd name="adj1" fmla="val 19842"/>
                <a:gd name="adj2" fmla="val 0"/>
              </a:avLst>
            </a:prstGeom>
            <a:gradFill flip="none" rotWithShape="1">
              <a:gsLst>
                <a:gs pos="0">
                  <a:srgbClr val="4F81BD">
                    <a:lumMod val="5000"/>
                    <a:lumOff val="95000"/>
                  </a:srgbClr>
                </a:gs>
                <a:gs pos="74000">
                  <a:srgbClr val="4F81BD">
                    <a:lumMod val="45000"/>
                    <a:lumOff val="55000"/>
                  </a:srgbClr>
                </a:gs>
                <a:gs pos="83000">
                  <a:srgbClr val="4F81BD">
                    <a:lumMod val="45000"/>
                    <a:lumOff val="55000"/>
                  </a:srgbClr>
                </a:gs>
                <a:gs pos="100000">
                  <a:srgbClr val="4F81BD">
                    <a:lumMod val="30000"/>
                    <a:lumOff val="70000"/>
                  </a:srgbClr>
                </a:gs>
              </a:gsLst>
              <a:lin ang="5400000" scaled="1"/>
              <a:tileRect/>
            </a:gra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vert"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 dirty="0">
                  <a:solidFill>
                    <a:prstClr val="black"/>
                  </a:solidFill>
                  <a:latin typeface="+mn-lt"/>
                  <a:cs typeface="+mn-cs"/>
                </a:rPr>
                <a:t>People</a:t>
              </a:r>
            </a:p>
          </p:txBody>
        </p:sp>
        <p:sp>
          <p:nvSpPr>
            <p:cNvPr id="25" name="Round Same Side Corner Rectangle 8">
              <a:extLst>
                <a:ext uri="{FF2B5EF4-FFF2-40B4-BE49-F238E27FC236}">
                  <a16:creationId xmlns:a16="http://schemas.microsoft.com/office/drawing/2014/main" id="{7A1241A1-8342-4BEC-B319-91B13C612B85}"/>
                </a:ext>
              </a:extLst>
            </p:cNvPr>
            <p:cNvSpPr/>
            <p:nvPr/>
          </p:nvSpPr>
          <p:spPr>
            <a:xfrm rot="5400000">
              <a:off x="3818663" y="2574060"/>
              <a:ext cx="658368" cy="895435"/>
            </a:xfrm>
            <a:prstGeom prst="round2SameRect">
              <a:avLst>
                <a:gd name="adj1" fmla="val 19842"/>
                <a:gd name="adj2" fmla="val 0"/>
              </a:avLst>
            </a:prstGeom>
            <a:gradFill flip="none" rotWithShape="1">
              <a:gsLst>
                <a:gs pos="0">
                  <a:srgbClr val="9BBB59">
                    <a:lumMod val="5000"/>
                    <a:lumOff val="95000"/>
                  </a:srgbClr>
                </a:gs>
                <a:gs pos="74000">
                  <a:srgbClr val="9BBB59">
                    <a:lumMod val="45000"/>
                    <a:lumOff val="55000"/>
                  </a:srgbClr>
                </a:gs>
                <a:gs pos="83000">
                  <a:srgbClr val="9BBB59">
                    <a:lumMod val="45000"/>
                    <a:lumOff val="55000"/>
                  </a:srgbClr>
                </a:gs>
                <a:gs pos="100000">
                  <a:srgbClr val="9BBB59">
                    <a:lumMod val="30000"/>
                    <a:lumOff val="70000"/>
                  </a:srgbClr>
                </a:gs>
              </a:gsLst>
              <a:lin ang="5400000" scaled="1"/>
              <a:tileRect/>
            </a:gra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vert270"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 dirty="0">
                  <a:solidFill>
                    <a:prstClr val="black"/>
                  </a:solidFill>
                  <a:latin typeface="+mn-lt"/>
                  <a:cs typeface="+mn-cs"/>
                </a:rPr>
                <a:t>Stop</a:t>
              </a:r>
            </a:p>
          </p:txBody>
        </p:sp>
        <p:sp>
          <p:nvSpPr>
            <p:cNvPr id="26" name="Round Same Side Corner Rectangle 9">
              <a:extLst>
                <a:ext uri="{FF2B5EF4-FFF2-40B4-BE49-F238E27FC236}">
                  <a16:creationId xmlns:a16="http://schemas.microsoft.com/office/drawing/2014/main" id="{3D447411-4781-45F5-8DF6-9DCAB564808B}"/>
                </a:ext>
              </a:extLst>
            </p:cNvPr>
            <p:cNvSpPr/>
            <p:nvPr/>
          </p:nvSpPr>
          <p:spPr>
            <a:xfrm rot="16200000">
              <a:off x="3005406" y="2689465"/>
              <a:ext cx="658368" cy="664621"/>
            </a:xfrm>
            <a:prstGeom prst="round2SameRect">
              <a:avLst>
                <a:gd name="adj1" fmla="val 19842"/>
                <a:gd name="adj2" fmla="val 0"/>
              </a:avLst>
            </a:prstGeom>
            <a:gradFill flip="none" rotWithShape="1">
              <a:gsLst>
                <a:gs pos="0">
                  <a:srgbClr val="9BBB59">
                    <a:lumMod val="5000"/>
                    <a:lumOff val="95000"/>
                  </a:srgbClr>
                </a:gs>
                <a:gs pos="74000">
                  <a:srgbClr val="9BBB59">
                    <a:lumMod val="45000"/>
                    <a:lumOff val="55000"/>
                  </a:srgbClr>
                </a:gs>
                <a:gs pos="83000">
                  <a:srgbClr val="9BBB59">
                    <a:lumMod val="45000"/>
                    <a:lumOff val="55000"/>
                  </a:srgbClr>
                </a:gs>
                <a:gs pos="100000">
                  <a:srgbClr val="9BBB59">
                    <a:lumMod val="30000"/>
                    <a:lumOff val="70000"/>
                  </a:srgbClr>
                </a:gs>
              </a:gsLst>
              <a:lin ang="5400000" scaled="1"/>
              <a:tileRect/>
            </a:gra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vert"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 dirty="0">
                  <a:solidFill>
                    <a:prstClr val="black"/>
                  </a:solidFill>
                </a:rPr>
                <a:t>Seem</a:t>
              </a:r>
              <a:endParaRPr lang="en-US" sz="2000" kern="0" dirty="0">
                <a:solidFill>
                  <a:prstClr val="black"/>
                </a:solidFill>
                <a:latin typeface="+mn-lt"/>
                <a:cs typeface="+mn-cs"/>
              </a:endParaRPr>
            </a:p>
          </p:txBody>
        </p:sp>
        <p:sp>
          <p:nvSpPr>
            <p:cNvPr id="27" name="Round Same Side Corner Rectangle 10">
              <a:extLst>
                <a:ext uri="{FF2B5EF4-FFF2-40B4-BE49-F238E27FC236}">
                  <a16:creationId xmlns:a16="http://schemas.microsoft.com/office/drawing/2014/main" id="{870FB9E2-ADBF-4063-A1B8-DD54481A527E}"/>
                </a:ext>
              </a:extLst>
            </p:cNvPr>
            <p:cNvSpPr/>
            <p:nvPr/>
          </p:nvSpPr>
          <p:spPr>
            <a:xfrm rot="5400000">
              <a:off x="3818663" y="3276625"/>
              <a:ext cx="658368" cy="895435"/>
            </a:xfrm>
            <a:prstGeom prst="round2SameRect">
              <a:avLst>
                <a:gd name="adj1" fmla="val 19842"/>
                <a:gd name="adj2" fmla="val 0"/>
              </a:avLst>
            </a:prstGeom>
            <a:gradFill flip="none" rotWithShape="1">
              <a:gsLst>
                <a:gs pos="0">
                  <a:srgbClr val="4F81BD">
                    <a:lumMod val="5000"/>
                    <a:lumOff val="95000"/>
                  </a:srgbClr>
                </a:gs>
                <a:gs pos="74000">
                  <a:srgbClr val="4F81BD">
                    <a:lumMod val="45000"/>
                    <a:lumOff val="55000"/>
                  </a:srgbClr>
                </a:gs>
                <a:gs pos="83000">
                  <a:srgbClr val="4F81BD">
                    <a:lumMod val="45000"/>
                    <a:lumOff val="55000"/>
                  </a:srgbClr>
                </a:gs>
                <a:gs pos="100000">
                  <a:srgbClr val="4F81BD">
                    <a:lumMod val="30000"/>
                    <a:lumOff val="70000"/>
                  </a:srgbClr>
                </a:gs>
              </a:gsLst>
              <a:lin ang="5400000" scaled="1"/>
              <a:tileRect/>
            </a:gra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vert270"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 dirty="0">
                  <a:solidFill>
                    <a:prstClr val="black"/>
                  </a:solidFill>
                  <a:latin typeface="+mn-lt"/>
                  <a:cs typeface="+mn-cs"/>
                </a:rPr>
                <a:t>To</a:t>
              </a:r>
            </a:p>
          </p:txBody>
        </p:sp>
        <p:sp>
          <p:nvSpPr>
            <p:cNvPr id="28" name="Round Same Side Corner Rectangle 11">
              <a:extLst>
                <a:ext uri="{FF2B5EF4-FFF2-40B4-BE49-F238E27FC236}">
                  <a16:creationId xmlns:a16="http://schemas.microsoft.com/office/drawing/2014/main" id="{7D58EF3D-433E-4C17-96BD-EC3CAE790BE2}"/>
                </a:ext>
              </a:extLst>
            </p:cNvPr>
            <p:cNvSpPr/>
            <p:nvPr/>
          </p:nvSpPr>
          <p:spPr>
            <a:xfrm rot="16200000">
              <a:off x="3005406" y="3390505"/>
              <a:ext cx="658368" cy="664621"/>
            </a:xfrm>
            <a:prstGeom prst="round2SameRect">
              <a:avLst>
                <a:gd name="adj1" fmla="val 19842"/>
                <a:gd name="adj2" fmla="val 0"/>
              </a:avLst>
            </a:prstGeom>
            <a:gradFill flip="none" rotWithShape="1">
              <a:gsLst>
                <a:gs pos="0">
                  <a:srgbClr val="4F81BD">
                    <a:lumMod val="5000"/>
                    <a:lumOff val="95000"/>
                  </a:srgbClr>
                </a:gs>
                <a:gs pos="74000">
                  <a:srgbClr val="4F81BD">
                    <a:lumMod val="45000"/>
                    <a:lumOff val="55000"/>
                  </a:srgbClr>
                </a:gs>
                <a:gs pos="83000">
                  <a:srgbClr val="4F81BD">
                    <a:lumMod val="45000"/>
                    <a:lumOff val="55000"/>
                  </a:srgbClr>
                </a:gs>
                <a:gs pos="100000">
                  <a:srgbClr val="4F81BD">
                    <a:lumMod val="30000"/>
                    <a:lumOff val="70000"/>
                  </a:srgbClr>
                </a:gs>
              </a:gsLst>
              <a:lin ang="5400000" scaled="1"/>
              <a:tileRect/>
            </a:gra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vert"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 dirty="0">
                  <a:solidFill>
                    <a:prstClr val="black"/>
                  </a:solidFill>
                </a:rPr>
                <a:t>To</a:t>
              </a:r>
              <a:endParaRPr lang="en-US" sz="2000" kern="0" dirty="0">
                <a:solidFill>
                  <a:prstClr val="black"/>
                </a:solidFill>
                <a:latin typeface="+mn-lt"/>
                <a:cs typeface="+mn-cs"/>
              </a:endParaRPr>
            </a:p>
          </p:txBody>
        </p:sp>
        <p:sp>
          <p:nvSpPr>
            <p:cNvPr id="29" name="Round Same Side Corner Rectangle 12">
              <a:extLst>
                <a:ext uri="{FF2B5EF4-FFF2-40B4-BE49-F238E27FC236}">
                  <a16:creationId xmlns:a16="http://schemas.microsoft.com/office/drawing/2014/main" id="{ADD2DFFD-F450-4AF6-BB5D-35861C3A5F2D}"/>
                </a:ext>
              </a:extLst>
            </p:cNvPr>
            <p:cNvSpPr/>
            <p:nvPr/>
          </p:nvSpPr>
          <p:spPr>
            <a:xfrm rot="5400000">
              <a:off x="3818663" y="3980711"/>
              <a:ext cx="658368" cy="895436"/>
            </a:xfrm>
            <a:prstGeom prst="round2SameRect">
              <a:avLst>
                <a:gd name="adj1" fmla="val 19842"/>
                <a:gd name="adj2" fmla="val 0"/>
              </a:avLst>
            </a:prstGeom>
            <a:gradFill flip="none" rotWithShape="1">
              <a:gsLst>
                <a:gs pos="0">
                  <a:srgbClr val="9BBB59">
                    <a:lumMod val="5000"/>
                    <a:lumOff val="95000"/>
                  </a:srgbClr>
                </a:gs>
                <a:gs pos="74000">
                  <a:srgbClr val="9BBB59">
                    <a:lumMod val="45000"/>
                    <a:lumOff val="55000"/>
                  </a:srgbClr>
                </a:gs>
                <a:gs pos="83000">
                  <a:srgbClr val="9BBB59">
                    <a:lumMod val="45000"/>
                    <a:lumOff val="55000"/>
                  </a:srgbClr>
                </a:gs>
                <a:gs pos="100000">
                  <a:srgbClr val="9BBB59">
                    <a:lumMod val="30000"/>
                    <a:lumOff val="70000"/>
                  </a:srgbClr>
                </a:gs>
              </a:gsLst>
              <a:lin ang="5400000" scaled="1"/>
              <a:tileRect/>
            </a:gra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vert270"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 dirty="0">
                  <a:solidFill>
                    <a:prstClr val="black"/>
                  </a:solidFill>
                  <a:latin typeface="+mn-lt"/>
                  <a:cs typeface="+mn-cs"/>
                </a:rPr>
                <a:t>Needs</a:t>
              </a:r>
            </a:p>
          </p:txBody>
        </p:sp>
        <p:sp>
          <p:nvSpPr>
            <p:cNvPr id="30" name="Round Same Side Corner Rectangle 13">
              <a:extLst>
                <a:ext uri="{FF2B5EF4-FFF2-40B4-BE49-F238E27FC236}">
                  <a16:creationId xmlns:a16="http://schemas.microsoft.com/office/drawing/2014/main" id="{2F20E500-D076-4D83-8D82-1A9F2B72A2FB}"/>
                </a:ext>
              </a:extLst>
            </p:cNvPr>
            <p:cNvSpPr/>
            <p:nvPr/>
          </p:nvSpPr>
          <p:spPr>
            <a:xfrm rot="16200000">
              <a:off x="3005406" y="4094592"/>
              <a:ext cx="658368" cy="664621"/>
            </a:xfrm>
            <a:prstGeom prst="round2SameRect">
              <a:avLst>
                <a:gd name="adj1" fmla="val 19842"/>
                <a:gd name="adj2" fmla="val 0"/>
              </a:avLst>
            </a:prstGeom>
            <a:gradFill flip="none" rotWithShape="1">
              <a:gsLst>
                <a:gs pos="0">
                  <a:srgbClr val="9BBB59">
                    <a:lumMod val="5000"/>
                    <a:lumOff val="95000"/>
                  </a:srgbClr>
                </a:gs>
                <a:gs pos="74000">
                  <a:srgbClr val="9BBB59">
                    <a:lumMod val="45000"/>
                    <a:lumOff val="55000"/>
                  </a:srgbClr>
                </a:gs>
                <a:gs pos="83000">
                  <a:srgbClr val="9BBB59">
                    <a:lumMod val="45000"/>
                    <a:lumOff val="55000"/>
                  </a:srgbClr>
                </a:gs>
                <a:gs pos="100000">
                  <a:srgbClr val="9BBB59">
                    <a:lumMod val="30000"/>
                    <a:lumOff val="70000"/>
                  </a:srgbClr>
                </a:gs>
              </a:gsLst>
              <a:lin ang="5400000" scaled="1"/>
              <a:tileRect/>
            </a:gra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vert"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 dirty="0">
                  <a:solidFill>
                    <a:prstClr val="black"/>
                  </a:solidFill>
                  <a:latin typeface="+mn-lt"/>
                  <a:cs typeface="+mn-cs"/>
                </a:rPr>
                <a:t>Need</a:t>
              </a:r>
            </a:p>
          </p:txBody>
        </p:sp>
        <p:sp>
          <p:nvSpPr>
            <p:cNvPr id="31" name="Round Same Side Corner Rectangle 14">
              <a:extLst>
                <a:ext uri="{FF2B5EF4-FFF2-40B4-BE49-F238E27FC236}">
                  <a16:creationId xmlns:a16="http://schemas.microsoft.com/office/drawing/2014/main" id="{934BC448-3A9D-4273-9429-33D45B0706A3}"/>
                </a:ext>
              </a:extLst>
            </p:cNvPr>
            <p:cNvSpPr/>
            <p:nvPr/>
          </p:nvSpPr>
          <p:spPr>
            <a:xfrm rot="5400000">
              <a:off x="3818663" y="4681750"/>
              <a:ext cx="658368" cy="895436"/>
            </a:xfrm>
            <a:prstGeom prst="round2SameRect">
              <a:avLst>
                <a:gd name="adj1" fmla="val 19842"/>
                <a:gd name="adj2" fmla="val 0"/>
              </a:avLst>
            </a:prstGeom>
            <a:gradFill flip="none" rotWithShape="1">
              <a:gsLst>
                <a:gs pos="0">
                  <a:srgbClr val="4F81BD">
                    <a:lumMod val="5000"/>
                    <a:lumOff val="95000"/>
                  </a:srgbClr>
                </a:gs>
                <a:gs pos="74000">
                  <a:srgbClr val="4F81BD">
                    <a:lumMod val="45000"/>
                    <a:lumOff val="55000"/>
                  </a:srgbClr>
                </a:gs>
                <a:gs pos="83000">
                  <a:srgbClr val="4F81BD">
                    <a:lumMod val="45000"/>
                    <a:lumOff val="55000"/>
                  </a:srgbClr>
                </a:gs>
                <a:gs pos="100000">
                  <a:srgbClr val="4F81BD">
                    <a:lumMod val="30000"/>
                    <a:lumOff val="70000"/>
                  </a:srgbClr>
                </a:gs>
              </a:gsLst>
              <a:lin ang="5400000" scaled="1"/>
              <a:tileRect/>
            </a:gra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vert270"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 dirty="0">
                  <a:solidFill>
                    <a:prstClr val="black"/>
                  </a:solidFill>
                  <a:latin typeface="+mn-lt"/>
                  <a:cs typeface="+mn-cs"/>
                </a:rPr>
                <a:t>Daddy</a:t>
              </a:r>
            </a:p>
          </p:txBody>
        </p:sp>
        <p:sp>
          <p:nvSpPr>
            <p:cNvPr id="32" name="Round Same Side Corner Rectangle 15">
              <a:extLst>
                <a:ext uri="{FF2B5EF4-FFF2-40B4-BE49-F238E27FC236}">
                  <a16:creationId xmlns:a16="http://schemas.microsoft.com/office/drawing/2014/main" id="{C1A7593F-E38A-4A2B-8059-664467586095}"/>
                </a:ext>
              </a:extLst>
            </p:cNvPr>
            <p:cNvSpPr/>
            <p:nvPr/>
          </p:nvSpPr>
          <p:spPr>
            <a:xfrm rot="16200000">
              <a:off x="3005406" y="4798681"/>
              <a:ext cx="658368" cy="664621"/>
            </a:xfrm>
            <a:prstGeom prst="round2SameRect">
              <a:avLst>
                <a:gd name="adj1" fmla="val 19842"/>
                <a:gd name="adj2" fmla="val 0"/>
              </a:avLst>
            </a:prstGeom>
            <a:gradFill flip="none" rotWithShape="1">
              <a:gsLst>
                <a:gs pos="0">
                  <a:srgbClr val="4F81BD">
                    <a:lumMod val="5000"/>
                    <a:lumOff val="95000"/>
                  </a:srgbClr>
                </a:gs>
                <a:gs pos="74000">
                  <a:srgbClr val="4F81BD">
                    <a:lumMod val="45000"/>
                    <a:lumOff val="55000"/>
                  </a:srgbClr>
                </a:gs>
                <a:gs pos="83000">
                  <a:srgbClr val="4F81BD">
                    <a:lumMod val="45000"/>
                    <a:lumOff val="55000"/>
                  </a:srgbClr>
                </a:gs>
                <a:gs pos="100000">
                  <a:srgbClr val="4F81BD">
                    <a:lumMod val="30000"/>
                    <a:lumOff val="70000"/>
                  </a:srgbClr>
                </a:gs>
              </a:gsLst>
              <a:lin ang="5400000" scaled="1"/>
              <a:tileRect/>
            </a:gra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vert"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 dirty="0">
                  <a:solidFill>
                    <a:prstClr val="black"/>
                  </a:solidFill>
                  <a:latin typeface="+mn-lt"/>
                  <a:cs typeface="+mn-cs"/>
                </a:rPr>
                <a:t>Domino’s</a:t>
              </a:r>
            </a:p>
          </p:txBody>
        </p:sp>
        <p:sp>
          <p:nvSpPr>
            <p:cNvPr id="33" name="Round Same Side Corner Rectangle 16">
              <a:extLst>
                <a:ext uri="{FF2B5EF4-FFF2-40B4-BE49-F238E27FC236}">
                  <a16:creationId xmlns:a16="http://schemas.microsoft.com/office/drawing/2014/main" id="{459308C1-36DB-4850-8C31-B919F20346EF}"/>
                </a:ext>
              </a:extLst>
            </p:cNvPr>
            <p:cNvSpPr/>
            <p:nvPr/>
          </p:nvSpPr>
          <p:spPr>
            <a:xfrm rot="5400000">
              <a:off x="3818662" y="5382791"/>
              <a:ext cx="658368" cy="895436"/>
            </a:xfrm>
            <a:prstGeom prst="round2SameRect">
              <a:avLst>
                <a:gd name="adj1" fmla="val 19842"/>
                <a:gd name="adj2" fmla="val 0"/>
              </a:avLst>
            </a:prstGeom>
            <a:gradFill flip="none" rotWithShape="1">
              <a:gsLst>
                <a:gs pos="0">
                  <a:srgbClr val="9BBB59">
                    <a:lumMod val="5000"/>
                    <a:lumOff val="95000"/>
                  </a:srgbClr>
                </a:gs>
                <a:gs pos="74000">
                  <a:srgbClr val="9BBB59">
                    <a:lumMod val="45000"/>
                    <a:lumOff val="55000"/>
                  </a:srgbClr>
                </a:gs>
                <a:gs pos="83000">
                  <a:srgbClr val="9BBB59">
                    <a:lumMod val="45000"/>
                    <a:lumOff val="55000"/>
                  </a:srgbClr>
                </a:gs>
                <a:gs pos="100000">
                  <a:srgbClr val="9BBB59">
                    <a:lumMod val="30000"/>
                    <a:lumOff val="70000"/>
                  </a:srgbClr>
                </a:gs>
              </a:gsLst>
              <a:lin ang="5400000" scaled="1"/>
              <a:tileRect/>
            </a:gra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vert270"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 dirty="0">
                  <a:solidFill>
                    <a:prstClr val="black"/>
                  </a:solidFill>
                </a:rPr>
                <a:t>Puff</a:t>
              </a:r>
              <a:endParaRPr lang="en-US" sz="2000" kern="0" dirty="0">
                <a:solidFill>
                  <a:prstClr val="black"/>
                </a:solidFill>
                <a:latin typeface="+mn-lt"/>
                <a:cs typeface="+mn-cs"/>
              </a:endParaRPr>
            </a:p>
          </p:txBody>
        </p:sp>
        <p:sp>
          <p:nvSpPr>
            <p:cNvPr id="34" name="Round Same Side Corner Rectangle 17">
              <a:extLst>
                <a:ext uri="{FF2B5EF4-FFF2-40B4-BE49-F238E27FC236}">
                  <a16:creationId xmlns:a16="http://schemas.microsoft.com/office/drawing/2014/main" id="{A005543E-D5A0-440C-80A7-12915743D84C}"/>
                </a:ext>
              </a:extLst>
            </p:cNvPr>
            <p:cNvSpPr/>
            <p:nvPr/>
          </p:nvSpPr>
          <p:spPr>
            <a:xfrm rot="16200000">
              <a:off x="3005406" y="5498194"/>
              <a:ext cx="658368" cy="664621"/>
            </a:xfrm>
            <a:prstGeom prst="round2SameRect">
              <a:avLst>
                <a:gd name="adj1" fmla="val 19842"/>
                <a:gd name="adj2" fmla="val 0"/>
              </a:avLst>
            </a:prstGeom>
            <a:gradFill flip="none" rotWithShape="1">
              <a:gsLst>
                <a:gs pos="0">
                  <a:srgbClr val="9BBB59">
                    <a:lumMod val="5000"/>
                    <a:lumOff val="95000"/>
                  </a:srgbClr>
                </a:gs>
                <a:gs pos="74000">
                  <a:srgbClr val="9BBB59">
                    <a:lumMod val="45000"/>
                    <a:lumOff val="55000"/>
                  </a:srgbClr>
                </a:gs>
                <a:gs pos="83000">
                  <a:srgbClr val="9BBB59">
                    <a:lumMod val="45000"/>
                    <a:lumOff val="55000"/>
                  </a:srgbClr>
                </a:gs>
                <a:gs pos="100000">
                  <a:srgbClr val="9BBB59">
                    <a:lumMod val="30000"/>
                    <a:lumOff val="70000"/>
                  </a:srgbClr>
                </a:gs>
              </a:gsLst>
              <a:lin ang="5400000" scaled="1"/>
              <a:tileRect/>
            </a:gra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vert="vert" anchor="ctr"/>
            <a:lstStyle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 dirty="0">
                  <a:solidFill>
                    <a:prstClr val="black"/>
                  </a:solidFill>
                  <a:latin typeface="+mn-lt"/>
                  <a:cs typeface="+mn-cs"/>
                </a:rPr>
                <a:t>Pizza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72664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63513"/>
            <a:ext cx="1447800" cy="4111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4" name="Rectangle 9"/>
          <p:cNvSpPr>
            <a:spLocks noGrp="1"/>
          </p:cNvSpPr>
          <p:nvPr>
            <p:ph type="title"/>
          </p:nvPr>
        </p:nvSpPr>
        <p:spPr>
          <a:xfrm>
            <a:off x="2890520" y="574675"/>
            <a:ext cx="6553200" cy="1143000"/>
          </a:xfrm>
          <a:ln/>
        </p:spPr>
        <p:txBody>
          <a:bodyPr vert="horz" wrap="square" lIns="91440" tIns="45720" rIns="91440" bIns="45720" rtlCol="0" anchor="ctr">
            <a:normAutofit fontScale="90000"/>
          </a:bodyPr>
          <a:lstStyle/>
          <a:p>
            <a:pPr algn="ctr" eaLnBrk="1" hangingPunct="1"/>
            <a:r>
              <a:rPr lang="en-US" altLang="en-US" dirty="0"/>
              <a:t>      OSI Layer Functions</a:t>
            </a:r>
          </a:p>
        </p:txBody>
      </p:sp>
      <p:sp>
        <p:nvSpPr>
          <p:cNvPr id="7175" name="Rectangle 11"/>
          <p:cNvSpPr/>
          <p:nvPr/>
        </p:nvSpPr>
        <p:spPr>
          <a:xfrm>
            <a:off x="9067800" y="624840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2135452"/>
              </p:ext>
            </p:extLst>
          </p:nvPr>
        </p:nvGraphicFramePr>
        <p:xfrm>
          <a:off x="2474752" y="1519237"/>
          <a:ext cx="7823200" cy="4438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62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37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Application</a:t>
                      </a:r>
                    </a:p>
                  </a:txBody>
                  <a:tcPr marL="91455" marR="91455" marT="45700" marB="4570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File, print, message, database, and application services</a:t>
                      </a:r>
                    </a:p>
                  </a:txBody>
                  <a:tcPr marL="91455" marR="91455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37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Presentation</a:t>
                      </a:r>
                    </a:p>
                  </a:txBody>
                  <a:tcPr marL="91455" marR="91455" marT="45700" marB="457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Data</a:t>
                      </a:r>
                      <a:r>
                        <a:rPr lang="en-US" sz="1600" baseline="0" dirty="0"/>
                        <a:t> encryption, compression, and translation services</a:t>
                      </a:r>
                      <a:endParaRPr lang="en-US" sz="1600" dirty="0"/>
                    </a:p>
                  </a:txBody>
                  <a:tcPr marL="91455" marR="91455" marT="45700" marB="4570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Session</a:t>
                      </a:r>
                    </a:p>
                  </a:txBody>
                  <a:tcPr marL="91455" marR="91455" marT="45700" marB="45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Dialog</a:t>
                      </a:r>
                      <a:r>
                        <a:rPr lang="en-US" sz="1600" baseline="0" dirty="0"/>
                        <a:t> control</a:t>
                      </a:r>
                      <a:endParaRPr lang="en-US" sz="1600" dirty="0"/>
                    </a:p>
                  </a:txBody>
                  <a:tcPr marL="91455" marR="91455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902">
                <a:tc>
                  <a:txBody>
                    <a:bodyPr/>
                    <a:lstStyle/>
                    <a:p>
                      <a:pPr algn="ctr"/>
                      <a:endParaRPr lang="en-US" sz="400" dirty="0"/>
                    </a:p>
                  </a:txBody>
                  <a:tcPr marL="91455" marR="91455" marT="45700" marB="457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400" dirty="0"/>
                    </a:p>
                  </a:txBody>
                  <a:tcPr marL="91455" marR="91455" marT="45700" marB="457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Transport</a:t>
                      </a:r>
                    </a:p>
                  </a:txBody>
                  <a:tcPr marL="91455" marR="91455" marT="45700" marB="45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End-to-end</a:t>
                      </a:r>
                      <a:r>
                        <a:rPr lang="en-US" sz="1600" baseline="0" dirty="0"/>
                        <a:t> connection</a:t>
                      </a:r>
                      <a:endParaRPr lang="en-US" sz="1600" dirty="0"/>
                    </a:p>
                  </a:txBody>
                  <a:tcPr marL="91455" marR="91455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21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Network</a:t>
                      </a:r>
                    </a:p>
                  </a:txBody>
                  <a:tcPr marL="91455" marR="91455" marT="45700" marB="45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Routing</a:t>
                      </a:r>
                    </a:p>
                  </a:txBody>
                  <a:tcPr marL="91455" marR="91455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4902">
                <a:tc>
                  <a:txBody>
                    <a:bodyPr/>
                    <a:lstStyle/>
                    <a:p>
                      <a:pPr algn="ctr"/>
                      <a:endParaRPr lang="en-US" sz="400" dirty="0"/>
                    </a:p>
                  </a:txBody>
                  <a:tcPr marL="91455" marR="91455" marT="45700" marB="457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400" dirty="0"/>
                    </a:p>
                  </a:txBody>
                  <a:tcPr marL="91455" marR="91455" marT="45700" marB="457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521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Data Link</a:t>
                      </a:r>
                    </a:p>
                  </a:txBody>
                  <a:tcPr marL="91455" marR="91455" marT="45700" marB="45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Framing</a:t>
                      </a:r>
                    </a:p>
                  </a:txBody>
                  <a:tcPr marL="91455" marR="91455" marT="45700" marB="457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521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Physical</a:t>
                      </a:r>
                    </a:p>
                  </a:txBody>
                  <a:tcPr marL="91455" marR="91455" marT="45700" marB="457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Physical topology</a:t>
                      </a:r>
                    </a:p>
                  </a:txBody>
                  <a:tcPr marL="91455" marR="91455" marT="45700" marB="457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63513"/>
            <a:ext cx="1447800" cy="4111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8" name="Rectangle 8"/>
          <p:cNvSpPr>
            <a:spLocks noGrp="1"/>
          </p:cNvSpPr>
          <p:nvPr>
            <p:ph type="title"/>
          </p:nvPr>
        </p:nvSpPr>
        <p:spPr>
          <a:xfrm>
            <a:off x="2920766" y="557170"/>
            <a:ext cx="6553200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The Upper Layers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311568"/>
              </p:ext>
            </p:extLst>
          </p:nvPr>
        </p:nvGraphicFramePr>
        <p:xfrm>
          <a:off x="2718034" y="1700170"/>
          <a:ext cx="6886575" cy="4316415"/>
        </p:xfrm>
        <a:graphic>
          <a:graphicData uri="http://schemas.openxmlformats.org/drawingml/2006/table">
            <a:tbl>
              <a:tblPr/>
              <a:tblGrid>
                <a:gridCol w="181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0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1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Application</a:t>
                      </a:r>
                    </a:p>
                  </a:txBody>
                  <a:tcPr marL="91443" marR="9144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285750" indent="-28575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Provides a user interface</a:t>
                      </a:r>
                    </a:p>
                  </a:txBody>
                  <a:tcPr marL="91443" marR="91443"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Presentation</a:t>
                      </a:r>
                    </a:p>
                  </a:txBody>
                  <a:tcPr marL="91443" marR="9144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285750" indent="-28575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Presents data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Handles processing such as encryption</a:t>
                      </a:r>
                    </a:p>
                  </a:txBody>
                  <a:tcPr marL="91443" marR="91443"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Session</a:t>
                      </a:r>
                    </a:p>
                  </a:txBody>
                  <a:tcPr marL="91443" marR="9144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285750" indent="-28575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Keeps different applications</a:t>
                      </a:r>
                      <a:r>
                        <a:rPr kumimoji="0" lang="ja-JP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’</a:t>
                      </a:r>
                      <a:br>
                        <a:rPr kumimoji="0" lang="en-US" altLang="ja-JP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</a:br>
                      <a:r>
                        <a:rPr kumimoji="0" lang="en-US" altLang="ja-JP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data separate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L="91443" marR="91443"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Transport</a:t>
                      </a:r>
                    </a:p>
                  </a:txBody>
                  <a:tcPr marL="91443" marR="9144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>
                      <a:lvl1pPr marL="285750" indent="-28575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L="91443" marR="91443"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Network</a:t>
                      </a:r>
                    </a:p>
                  </a:txBody>
                  <a:tcPr marL="91443" marR="9144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>
                      <a:lvl1pPr marL="285750" indent="-28575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L="91443" marR="91443"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Data Link</a:t>
                      </a:r>
                    </a:p>
                  </a:txBody>
                  <a:tcPr marL="91443" marR="9144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>
                      <a:lvl1pPr marL="285750" indent="-28575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L="91443" marR="91443"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Physical</a:t>
                      </a:r>
                    </a:p>
                  </a:txBody>
                  <a:tcPr marL="91443" marR="9144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285750" indent="-28575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L="91443" marR="91443"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63513"/>
            <a:ext cx="1447800" cy="4111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22" name="Rectangle 8"/>
          <p:cNvSpPr>
            <a:spLocks noGrp="1"/>
          </p:cNvSpPr>
          <p:nvPr>
            <p:ph type="title"/>
          </p:nvPr>
        </p:nvSpPr>
        <p:spPr>
          <a:xfrm>
            <a:off x="2978092" y="574675"/>
            <a:ext cx="6553200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The Lower Layers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964056"/>
              </p:ext>
            </p:extLst>
          </p:nvPr>
        </p:nvGraphicFramePr>
        <p:xfrm>
          <a:off x="1979555" y="1717676"/>
          <a:ext cx="7989887" cy="43338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6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82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16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Application</a:t>
                      </a:r>
                    </a:p>
                  </a:txBody>
                  <a:tcPr marL="91445" marR="91445" marT="45693" marB="45693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91445" marR="91445" marT="45693" marB="4569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16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Presentation</a:t>
                      </a:r>
                    </a:p>
                  </a:txBody>
                  <a:tcPr marL="91445" marR="91445" marT="45693" marB="45693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91445" marR="91445" marT="45693" marB="4569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16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Session</a:t>
                      </a:r>
                    </a:p>
                  </a:txBody>
                  <a:tcPr marL="91445" marR="91445" marT="45693" marB="45693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91445" marR="91445" marT="45693" marB="4569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16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Transport</a:t>
                      </a:r>
                    </a:p>
                  </a:txBody>
                  <a:tcPr marL="91445" marR="91445" marT="45693" marB="45693" anchor="ctr"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Provides reliable or unreliable delivery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Performs error correction before retransmit</a:t>
                      </a:r>
                    </a:p>
                  </a:txBody>
                  <a:tcPr marL="91445" marR="91445" marT="45693" marB="4569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16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Network</a:t>
                      </a:r>
                    </a:p>
                  </a:txBody>
                  <a:tcPr marL="91445" marR="91445" marT="45693" marB="45693" anchor="ctr"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Provides logical addressing which routers use for path determination</a:t>
                      </a:r>
                    </a:p>
                  </a:txBody>
                  <a:tcPr marL="91445" marR="91445" marT="45693" marB="4569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0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Data Link</a:t>
                      </a:r>
                    </a:p>
                  </a:txBody>
                  <a:tcPr marL="91445" marR="91445" marT="45693" marB="45693" anchor="ctr"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Combines packets into bytes and bytes into frames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Provides access to media using MAC address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Performs error detection not correction</a:t>
                      </a:r>
                    </a:p>
                  </a:txBody>
                  <a:tcPr marL="91445" marR="91445" marT="45693" marB="4569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16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Physical</a:t>
                      </a:r>
                    </a:p>
                  </a:txBody>
                  <a:tcPr marL="91445" marR="91445" marT="45693" marB="45693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Moves bits between devices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Specifies voltage, wire speed, and pin-out of cables</a:t>
                      </a:r>
                    </a:p>
                  </a:txBody>
                  <a:tcPr marL="91445" marR="91445" marT="45693" marB="45693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118E7-58B8-46FF-B61B-E92FD7C3E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080" y="382385"/>
            <a:ext cx="11013440" cy="1492132"/>
          </a:xfrm>
        </p:spPr>
        <p:txBody>
          <a:bodyPr/>
          <a:lstStyle/>
          <a:p>
            <a:pPr algn="ctr"/>
            <a:r>
              <a:rPr lang="en-US" dirty="0"/>
              <a:t>Application Layer- Layer 7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341B9-F884-431A-A5AA-DF6CD6C9F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24001"/>
            <a:ext cx="10178322" cy="4355592"/>
          </a:xfrm>
        </p:spPr>
        <p:txBody>
          <a:bodyPr/>
          <a:lstStyle/>
          <a:p>
            <a:r>
              <a:rPr lang="en-US" dirty="0"/>
              <a:t>The layer we see </a:t>
            </a:r>
          </a:p>
          <a:p>
            <a:r>
              <a:rPr lang="en-US" dirty="0"/>
              <a:t>Protocols operating at this level: </a:t>
            </a:r>
          </a:p>
          <a:p>
            <a:pPr lvl="1"/>
            <a:r>
              <a:rPr lang="en-US" dirty="0"/>
              <a:t>HTTP</a:t>
            </a:r>
          </a:p>
          <a:p>
            <a:pPr lvl="1"/>
            <a:r>
              <a:rPr lang="en-US" dirty="0"/>
              <a:t>FTP</a:t>
            </a:r>
          </a:p>
          <a:p>
            <a:pPr lvl="1"/>
            <a:r>
              <a:rPr lang="en-US" dirty="0"/>
              <a:t>DHCP</a:t>
            </a:r>
          </a:p>
          <a:p>
            <a:pPr lvl="1"/>
            <a:r>
              <a:rPr lang="en-US" dirty="0"/>
              <a:t>POP3</a:t>
            </a:r>
          </a:p>
        </p:txBody>
      </p:sp>
    </p:spTree>
    <p:extLst>
      <p:ext uri="{BB962C8B-B14F-4D97-AF65-F5344CB8AC3E}">
        <p14:creationId xmlns:p14="http://schemas.microsoft.com/office/powerpoint/2010/main" val="2641872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81D64-C1D8-4D32-BD2C-AF7E5AD61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720" y="382385"/>
            <a:ext cx="10932160" cy="1492132"/>
          </a:xfrm>
        </p:spPr>
        <p:txBody>
          <a:bodyPr/>
          <a:lstStyle/>
          <a:p>
            <a:pPr algn="ctr"/>
            <a:r>
              <a:rPr lang="en-US" dirty="0"/>
              <a:t>Presentation Layer-Layer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08293-D503-4F0A-BC49-58BE537F8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686561"/>
            <a:ext cx="10178322" cy="4193032"/>
          </a:xfrm>
        </p:spPr>
        <p:txBody>
          <a:bodyPr/>
          <a:lstStyle/>
          <a:p>
            <a:r>
              <a:rPr lang="en-US" dirty="0"/>
              <a:t>Character encoding</a:t>
            </a:r>
          </a:p>
          <a:p>
            <a:r>
              <a:rPr lang="en-US" dirty="0"/>
              <a:t>Application encryption</a:t>
            </a:r>
          </a:p>
          <a:p>
            <a:r>
              <a:rPr lang="en-US" dirty="0"/>
              <a:t>Often combined with the Application Layer</a:t>
            </a:r>
          </a:p>
          <a:p>
            <a:r>
              <a:rPr lang="en-US" dirty="0"/>
              <a:t>Protocols operating at this layer</a:t>
            </a:r>
          </a:p>
          <a:p>
            <a:pPr lvl="1"/>
            <a:r>
              <a:rPr lang="en-US" dirty="0"/>
              <a:t>TLS (Transport Layer Security)</a:t>
            </a:r>
          </a:p>
          <a:p>
            <a:pPr lvl="1"/>
            <a:r>
              <a:rPr lang="en-US" dirty="0"/>
              <a:t>SSL (Secure Socket Layer )</a:t>
            </a:r>
          </a:p>
        </p:txBody>
      </p:sp>
    </p:spTree>
    <p:extLst>
      <p:ext uri="{BB962C8B-B14F-4D97-AF65-F5344CB8AC3E}">
        <p14:creationId xmlns:p14="http://schemas.microsoft.com/office/powerpoint/2010/main" val="1771820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86FC4-956F-487F-8CB8-00D92A1AA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82385"/>
            <a:ext cx="10952480" cy="1492132"/>
          </a:xfrm>
        </p:spPr>
        <p:txBody>
          <a:bodyPr/>
          <a:lstStyle/>
          <a:p>
            <a:pPr algn="ctr"/>
            <a:r>
              <a:rPr lang="en-US" dirty="0"/>
              <a:t>Session Layer-Layer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B0556-8354-44AC-AC5C-6C0A73643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645920"/>
            <a:ext cx="10178322" cy="4233673"/>
          </a:xfrm>
        </p:spPr>
        <p:txBody>
          <a:bodyPr/>
          <a:lstStyle/>
          <a:p>
            <a:r>
              <a:rPr lang="en-US" dirty="0"/>
              <a:t>Communication management between devices</a:t>
            </a:r>
          </a:p>
          <a:p>
            <a:pPr lvl="1"/>
            <a:r>
              <a:rPr lang="en-US" dirty="0"/>
              <a:t>Start, stop, restart</a:t>
            </a:r>
          </a:p>
          <a:p>
            <a:r>
              <a:rPr lang="en-US" dirty="0"/>
              <a:t>Half-duplex, full-duplex</a:t>
            </a:r>
          </a:p>
          <a:p>
            <a:r>
              <a:rPr lang="en-US" dirty="0"/>
              <a:t>Control protocols, tunneling protocols</a:t>
            </a:r>
          </a:p>
          <a:p>
            <a:r>
              <a:rPr lang="en-US" dirty="0"/>
              <a:t>Protocols operating at this layer:</a:t>
            </a:r>
          </a:p>
          <a:p>
            <a:pPr lvl="1"/>
            <a:r>
              <a:rPr lang="en-US" dirty="0"/>
              <a:t>NetBIOS</a:t>
            </a:r>
          </a:p>
          <a:p>
            <a:pPr lvl="1"/>
            <a:r>
              <a:rPr lang="en-US" dirty="0"/>
              <a:t>SMB</a:t>
            </a:r>
          </a:p>
        </p:txBody>
      </p:sp>
    </p:spTree>
    <p:extLst>
      <p:ext uri="{BB962C8B-B14F-4D97-AF65-F5344CB8AC3E}">
        <p14:creationId xmlns:p14="http://schemas.microsoft.com/office/powerpoint/2010/main" val="297798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89A41-8335-4521-889F-580F11B64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680" y="382385"/>
            <a:ext cx="10434320" cy="1492132"/>
          </a:xfrm>
        </p:spPr>
        <p:txBody>
          <a:bodyPr/>
          <a:lstStyle/>
          <a:p>
            <a:pPr algn="ctr"/>
            <a:r>
              <a:rPr lang="en-US" dirty="0"/>
              <a:t>Transport Layer- Layer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ABE39-AA87-49DC-A4ED-254D97E46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874517"/>
            <a:ext cx="10178322" cy="4005075"/>
          </a:xfrm>
        </p:spPr>
        <p:txBody>
          <a:bodyPr>
            <a:normAutofit/>
          </a:bodyPr>
          <a:lstStyle/>
          <a:p>
            <a:r>
              <a:rPr lang="en-US" dirty="0"/>
              <a:t>Transmission Control Protocol (TCP)</a:t>
            </a:r>
          </a:p>
          <a:p>
            <a:pPr lvl="1"/>
            <a:r>
              <a:rPr lang="en-US" dirty="0"/>
              <a:t>3-way Handshake</a:t>
            </a:r>
          </a:p>
          <a:p>
            <a:pPr lvl="1"/>
            <a:r>
              <a:rPr lang="en-US" dirty="0"/>
              <a:t>Flow Control</a:t>
            </a:r>
          </a:p>
          <a:p>
            <a:pPr lvl="1"/>
            <a:r>
              <a:rPr lang="en-US" dirty="0"/>
              <a:t>Windowing</a:t>
            </a:r>
          </a:p>
          <a:p>
            <a:pPr lvl="1"/>
            <a:r>
              <a:rPr lang="en-US" dirty="0"/>
              <a:t>Acknowledgements </a:t>
            </a:r>
          </a:p>
          <a:p>
            <a:r>
              <a:rPr lang="en-US" dirty="0"/>
              <a:t>User Data-Gram Protocol (UDP)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615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63513"/>
            <a:ext cx="1447800" cy="4111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70" name="Rectangle 8"/>
          <p:cNvSpPr>
            <a:spLocks noGrp="1"/>
          </p:cNvSpPr>
          <p:nvPr>
            <p:ph type="title"/>
          </p:nvPr>
        </p:nvSpPr>
        <p:spPr>
          <a:xfrm>
            <a:off x="1137920" y="717621"/>
            <a:ext cx="10911839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A Connection Oriented Session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DF22B8A-CEB8-488F-871C-2B832E65EE63}"/>
              </a:ext>
            </a:extLst>
          </p:cNvPr>
          <p:cNvGrpSpPr/>
          <p:nvPr/>
        </p:nvGrpSpPr>
        <p:grpSpPr>
          <a:xfrm>
            <a:off x="4008967" y="1997622"/>
            <a:ext cx="4740457" cy="3864538"/>
            <a:chOff x="4772365" y="1913732"/>
            <a:chExt cx="4740457" cy="3864538"/>
          </a:xfrm>
        </p:grpSpPr>
        <p:sp>
          <p:nvSpPr>
            <p:cNvPr id="11272" name="TextBox 7"/>
            <p:cNvSpPr txBox="1"/>
            <p:nvPr/>
          </p:nvSpPr>
          <p:spPr>
            <a:xfrm>
              <a:off x="4772365" y="3122613"/>
              <a:ext cx="881973" cy="3139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dirty="0"/>
                <a:t>Sender</a:t>
              </a:r>
            </a:p>
          </p:txBody>
        </p:sp>
        <p:sp>
          <p:nvSpPr>
            <p:cNvPr id="11273" name="TextBox 8"/>
            <p:cNvSpPr txBox="1"/>
            <p:nvPr/>
          </p:nvSpPr>
          <p:spPr>
            <a:xfrm>
              <a:off x="8452916" y="3162300"/>
              <a:ext cx="1059906" cy="3139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dirty="0"/>
                <a:t>Receiver</a:t>
              </a:r>
            </a:p>
          </p:txBody>
        </p:sp>
        <p:cxnSp>
          <p:nvCxnSpPr>
            <p:cNvPr id="11274" name="Straight Arrow Connector 27"/>
            <p:cNvCxnSpPr/>
            <p:nvPr/>
          </p:nvCxnSpPr>
          <p:spPr>
            <a:xfrm flipV="1">
              <a:off x="6015038" y="3629025"/>
              <a:ext cx="1987550" cy="0"/>
            </a:xfrm>
            <a:prstGeom prst="straightConnector1">
              <a:avLst/>
            </a:prstGeom>
            <a:ln w="28575" cap="flat" cmpd="sng">
              <a:solidFill>
                <a:srgbClr val="002060"/>
              </a:solidFill>
              <a:prstDash val="solid"/>
              <a:headEnd type="none" w="med" len="med"/>
              <a:tailEnd type="arrow" w="med" len="med"/>
            </a:ln>
          </p:spPr>
        </p:cxnSp>
        <p:sp>
          <p:nvSpPr>
            <p:cNvPr id="11275" name="TextBox 28"/>
            <p:cNvSpPr txBox="1"/>
            <p:nvPr/>
          </p:nvSpPr>
          <p:spPr>
            <a:xfrm>
              <a:off x="6032466" y="3424238"/>
              <a:ext cx="466794" cy="2585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dirty="0"/>
                <a:t>SYN</a:t>
              </a:r>
            </a:p>
          </p:txBody>
        </p:sp>
        <p:cxnSp>
          <p:nvCxnSpPr>
            <p:cNvPr id="11276" name="Straight Arrow Connector 29"/>
            <p:cNvCxnSpPr/>
            <p:nvPr/>
          </p:nvCxnSpPr>
          <p:spPr>
            <a:xfrm flipH="1">
              <a:off x="6015038" y="4024313"/>
              <a:ext cx="1987550" cy="0"/>
            </a:xfrm>
            <a:prstGeom prst="straightConnector1">
              <a:avLst/>
            </a:prstGeom>
            <a:ln w="28575" cap="flat" cmpd="sng">
              <a:solidFill>
                <a:srgbClr val="002060"/>
              </a:solidFill>
              <a:prstDash val="solid"/>
              <a:headEnd type="none" w="med" len="med"/>
              <a:tailEnd type="arrow" w="med" len="med"/>
            </a:ln>
          </p:spPr>
        </p:cxnSp>
        <p:sp>
          <p:nvSpPr>
            <p:cNvPr id="11277" name="TextBox 30"/>
            <p:cNvSpPr txBox="1"/>
            <p:nvPr/>
          </p:nvSpPr>
          <p:spPr>
            <a:xfrm>
              <a:off x="7227889" y="3830638"/>
              <a:ext cx="858837" cy="2587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dirty="0"/>
                <a:t>SYN/ACK</a:t>
              </a:r>
            </a:p>
          </p:txBody>
        </p:sp>
        <p:cxnSp>
          <p:nvCxnSpPr>
            <p:cNvPr id="11278" name="Straight Arrow Connector 34"/>
            <p:cNvCxnSpPr/>
            <p:nvPr/>
          </p:nvCxnSpPr>
          <p:spPr>
            <a:xfrm flipV="1">
              <a:off x="6015038" y="4505325"/>
              <a:ext cx="1987550" cy="0"/>
            </a:xfrm>
            <a:prstGeom prst="straightConnector1">
              <a:avLst/>
            </a:prstGeom>
            <a:ln w="28575" cap="flat" cmpd="sng">
              <a:solidFill>
                <a:srgbClr val="002060"/>
              </a:solidFill>
              <a:prstDash val="solid"/>
              <a:headEnd type="none" w="med" len="med"/>
              <a:tailEnd type="arrow" w="med" len="med"/>
            </a:ln>
          </p:spPr>
        </p:cxnSp>
        <p:sp>
          <p:nvSpPr>
            <p:cNvPr id="11279" name="TextBox 35"/>
            <p:cNvSpPr txBox="1"/>
            <p:nvPr/>
          </p:nvSpPr>
          <p:spPr>
            <a:xfrm>
              <a:off x="6008420" y="4300538"/>
              <a:ext cx="514886" cy="2585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dirty="0"/>
                <a:t>ACK</a:t>
              </a:r>
            </a:p>
          </p:txBody>
        </p:sp>
        <p:sp>
          <p:nvSpPr>
            <p:cNvPr id="11280" name="TextBox 36"/>
            <p:cNvSpPr txBox="1"/>
            <p:nvPr/>
          </p:nvSpPr>
          <p:spPr>
            <a:xfrm>
              <a:off x="5941389" y="4789488"/>
              <a:ext cx="2230099" cy="286232"/>
            </a:xfrm>
            <a:prstGeom prst="rect">
              <a:avLst/>
            </a:prstGeom>
            <a:solidFill>
              <a:srgbClr val="00B0F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400" dirty="0"/>
                <a:t>Connection Established</a:t>
              </a:r>
            </a:p>
          </p:txBody>
        </p:sp>
        <p:cxnSp>
          <p:nvCxnSpPr>
            <p:cNvPr id="11281" name="Straight Arrow Connector 38"/>
            <p:cNvCxnSpPr/>
            <p:nvPr/>
          </p:nvCxnSpPr>
          <p:spPr>
            <a:xfrm>
              <a:off x="6015038" y="5468938"/>
              <a:ext cx="1987550" cy="0"/>
            </a:xfrm>
            <a:prstGeom prst="straightConnector1">
              <a:avLst/>
            </a:prstGeom>
            <a:ln w="28575" cap="flat" cmpd="sng">
              <a:solidFill>
                <a:srgbClr val="002060"/>
              </a:solidFill>
              <a:prstDash val="solid"/>
              <a:headEnd type="arrow" w="med" len="med"/>
              <a:tailEnd type="arrow" w="med" len="med"/>
            </a:ln>
          </p:spPr>
        </p:cxnSp>
        <p:sp>
          <p:nvSpPr>
            <p:cNvPr id="11282" name="TextBox 39"/>
            <p:cNvSpPr txBox="1"/>
            <p:nvPr/>
          </p:nvSpPr>
          <p:spPr>
            <a:xfrm>
              <a:off x="6392654" y="5260975"/>
              <a:ext cx="1159292" cy="2585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dirty="0"/>
                <a:t>Data transfer</a:t>
              </a:r>
            </a:p>
          </p:txBody>
        </p:sp>
        <p:sp>
          <p:nvSpPr>
            <p:cNvPr id="11283" name="TextBox 40"/>
            <p:cNvSpPr txBox="1"/>
            <p:nvPr/>
          </p:nvSpPr>
          <p:spPr>
            <a:xfrm>
              <a:off x="6011961" y="5519738"/>
              <a:ext cx="2081019" cy="2585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i="1" dirty="0"/>
                <a:t>(Send bytes of Segments)</a:t>
              </a:r>
            </a:p>
          </p:txBody>
        </p:sp>
        <p:pic>
          <p:nvPicPr>
            <p:cNvPr id="11284" name="Pictur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86401" y="1913732"/>
              <a:ext cx="2733675" cy="105410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1285" name="Picture 2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78800" y="2136775"/>
              <a:ext cx="985838" cy="985838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11286" name="Group 4"/>
            <p:cNvGrpSpPr/>
            <p:nvPr/>
          </p:nvGrpSpPr>
          <p:grpSpPr>
            <a:xfrm>
              <a:off x="5486401" y="2305050"/>
              <a:ext cx="3000375" cy="323850"/>
              <a:chOff x="2036763" y="2489200"/>
              <a:chExt cx="3000389" cy="324643"/>
            </a:xfrm>
          </p:grpSpPr>
          <p:cxnSp>
            <p:nvCxnSpPr>
              <p:cNvPr id="11288" name="Straight Connector 10"/>
              <p:cNvCxnSpPr/>
              <p:nvPr/>
            </p:nvCxnSpPr>
            <p:spPr>
              <a:xfrm flipV="1">
                <a:off x="2036763" y="2489200"/>
                <a:ext cx="528637" cy="257175"/>
              </a:xfrm>
              <a:prstGeom prst="line">
                <a:avLst/>
              </a:prstGeom>
              <a:ln w="76200" cap="flat" cmpd="sng">
                <a:solidFill>
                  <a:srgbClr val="002060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11289" name="Straight Connector 11"/>
              <p:cNvCxnSpPr/>
              <p:nvPr/>
            </p:nvCxnSpPr>
            <p:spPr>
              <a:xfrm>
                <a:off x="2536828" y="2491581"/>
                <a:ext cx="525463" cy="220663"/>
              </a:xfrm>
              <a:prstGeom prst="line">
                <a:avLst/>
              </a:prstGeom>
              <a:ln w="76200" cap="flat" cmpd="sng">
                <a:solidFill>
                  <a:srgbClr val="002060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11290" name="Straight Connector 13"/>
              <p:cNvCxnSpPr/>
              <p:nvPr/>
            </p:nvCxnSpPr>
            <p:spPr>
              <a:xfrm flipV="1">
                <a:off x="3031337" y="2590800"/>
                <a:ext cx="233363" cy="123825"/>
              </a:xfrm>
              <a:prstGeom prst="line">
                <a:avLst/>
              </a:prstGeom>
              <a:ln w="76200" cap="flat" cmpd="sng">
                <a:solidFill>
                  <a:srgbClr val="002060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11291" name="Straight Connector 15"/>
              <p:cNvCxnSpPr/>
              <p:nvPr/>
            </p:nvCxnSpPr>
            <p:spPr>
              <a:xfrm>
                <a:off x="3233747" y="2590800"/>
                <a:ext cx="525462" cy="222250"/>
              </a:xfrm>
              <a:prstGeom prst="line">
                <a:avLst/>
              </a:prstGeom>
              <a:ln w="76200" cap="flat" cmpd="sng">
                <a:solidFill>
                  <a:srgbClr val="002060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11292" name="Straight Connector 17"/>
              <p:cNvCxnSpPr/>
              <p:nvPr/>
            </p:nvCxnSpPr>
            <p:spPr>
              <a:xfrm flipV="1">
                <a:off x="3732224" y="2521743"/>
                <a:ext cx="715962" cy="292100"/>
              </a:xfrm>
              <a:prstGeom prst="line">
                <a:avLst/>
              </a:prstGeom>
              <a:ln w="76200" cap="flat" cmpd="sng">
                <a:solidFill>
                  <a:srgbClr val="002060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11293" name="Straight Connector 19"/>
              <p:cNvCxnSpPr/>
              <p:nvPr/>
            </p:nvCxnSpPr>
            <p:spPr>
              <a:xfrm>
                <a:off x="4419614" y="2521743"/>
                <a:ext cx="617538" cy="265113"/>
              </a:xfrm>
              <a:prstGeom prst="line">
                <a:avLst/>
              </a:prstGeom>
              <a:ln w="76200" cap="flat" cmpd="sng">
                <a:solidFill>
                  <a:srgbClr val="002060"/>
                </a:solidFill>
                <a:prstDash val="solid"/>
                <a:headEnd type="none" w="med" len="med"/>
                <a:tailEnd type="none" w="med" len="med"/>
              </a:ln>
            </p:spPr>
          </p:cxnSp>
        </p:grpSp>
        <p:pic>
          <p:nvPicPr>
            <p:cNvPr id="11287" name="Picture 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57750" y="2136775"/>
              <a:ext cx="985838" cy="985838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C5AC92-8C57-4791-B372-2AEAB545E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862" y="245010"/>
            <a:ext cx="9603275" cy="581861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dirty="0"/>
              <a:t>Flow Control </a:t>
            </a:r>
            <a:br>
              <a:rPr lang="en-US" altLang="en-US" dirty="0"/>
            </a:b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15D3069-C535-4333-B821-C7000199F5BE}"/>
              </a:ext>
            </a:extLst>
          </p:cNvPr>
          <p:cNvGrpSpPr/>
          <p:nvPr/>
        </p:nvGrpSpPr>
        <p:grpSpPr>
          <a:xfrm>
            <a:off x="3748405" y="1077913"/>
            <a:ext cx="4695190" cy="4702175"/>
            <a:chOff x="4762" y="2278"/>
            <a:chExt cx="7394" cy="7405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0DE7CA1-F37F-4C62-887C-233B58F6A77E}"/>
                </a:ext>
              </a:extLst>
            </p:cNvPr>
            <p:cNvSpPr txBox="1"/>
            <p:nvPr/>
          </p:nvSpPr>
          <p:spPr>
            <a:xfrm>
              <a:off x="4842" y="3485"/>
              <a:ext cx="1070" cy="4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dirty="0"/>
                <a:t>Sender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991A31B-71F0-40F9-9FF8-2DE6C7E94179}"/>
                </a:ext>
              </a:extLst>
            </p:cNvPr>
            <p:cNvSpPr txBox="1"/>
            <p:nvPr/>
          </p:nvSpPr>
          <p:spPr>
            <a:xfrm>
              <a:off x="10589" y="3470"/>
              <a:ext cx="1242" cy="4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dirty="0"/>
                <a:t>Receiver</a:t>
              </a:r>
            </a:p>
          </p:txBody>
        </p:sp>
        <p:sp>
          <p:nvSpPr>
            <p:cNvPr id="8" name="TextBox 22">
              <a:extLst>
                <a:ext uri="{FF2B5EF4-FFF2-40B4-BE49-F238E27FC236}">
                  <a16:creationId xmlns:a16="http://schemas.microsoft.com/office/drawing/2014/main" id="{53EAAB9D-0287-465C-929D-568888222090}"/>
                </a:ext>
              </a:extLst>
            </p:cNvPr>
            <p:cNvSpPr txBox="1"/>
            <p:nvPr/>
          </p:nvSpPr>
          <p:spPr>
            <a:xfrm>
              <a:off x="10614" y="5585"/>
              <a:ext cx="1542" cy="25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dirty="0"/>
                <a:t>Buffer full</a:t>
              </a:r>
            </a:p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endParaRPr lang="en-US" altLang="en-US" sz="1200" dirty="0"/>
            </a:p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dirty="0"/>
                <a:t>Not ready –</a:t>
              </a:r>
              <a:br>
                <a:rPr lang="en-US" altLang="en-US" sz="1200" dirty="0"/>
              </a:br>
              <a:r>
                <a:rPr lang="en-US" altLang="en-US" sz="1200" dirty="0"/>
                <a:t>STOP!</a:t>
              </a:r>
            </a:p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endParaRPr lang="en-US" altLang="en-US" sz="1200" dirty="0"/>
            </a:p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dirty="0"/>
                <a:t>Segments</a:t>
              </a:r>
              <a:br>
                <a:rPr lang="en-US" altLang="en-US" sz="1200" dirty="0"/>
              </a:br>
              <a:r>
                <a:rPr lang="en-US" altLang="en-US" sz="1200" dirty="0"/>
                <a:t>processed</a:t>
              </a:r>
            </a:p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endParaRPr lang="en-US" altLang="en-US" sz="1200" dirty="0"/>
            </a:p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dirty="0"/>
                <a:t>GO!</a:t>
              </a:r>
            </a:p>
          </p:txBody>
        </p:sp>
        <p:sp>
          <p:nvSpPr>
            <p:cNvPr id="9" name="Right Arrow 31">
              <a:extLst>
                <a:ext uri="{FF2B5EF4-FFF2-40B4-BE49-F238E27FC236}">
                  <a16:creationId xmlns:a16="http://schemas.microsoft.com/office/drawing/2014/main" id="{565D132F-25DA-49DE-AB5D-C32D75BCAE90}"/>
                </a:ext>
              </a:extLst>
            </p:cNvPr>
            <p:cNvSpPr/>
            <p:nvPr/>
          </p:nvSpPr>
          <p:spPr>
            <a:xfrm>
              <a:off x="6094" y="3878"/>
              <a:ext cx="4530" cy="287"/>
            </a:xfrm>
            <a:prstGeom prst="rightArrow">
              <a:avLst>
                <a:gd name="adj1" fmla="val 50000"/>
                <a:gd name="adj2" fmla="val 49239"/>
              </a:avLst>
            </a:prstGeom>
            <a:solidFill>
              <a:schemeClr val="accent1"/>
            </a:solidFill>
            <a:ln w="28575" cap="flat" cmpd="sng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82124" tIns="41061" rIns="82124" bIns="41061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defTabSz="814705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endParaRPr lang="en-US" altLang="en-US" sz="2400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F235ABD-8982-4CAA-91ED-C74F25C5CF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62" y="2278"/>
              <a:ext cx="1288" cy="1287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E8A92CA-6976-4D0E-8250-8E5105CC6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66" y="2278"/>
              <a:ext cx="1288" cy="128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TextBox 6">
              <a:extLst>
                <a:ext uri="{FF2B5EF4-FFF2-40B4-BE49-F238E27FC236}">
                  <a16:creationId xmlns:a16="http://schemas.microsoft.com/office/drawing/2014/main" id="{05491696-DBB1-48A2-9950-2F4674238D2C}"/>
                </a:ext>
              </a:extLst>
            </p:cNvPr>
            <p:cNvSpPr txBox="1"/>
            <p:nvPr/>
          </p:nvSpPr>
          <p:spPr>
            <a:xfrm>
              <a:off x="4765" y="4275"/>
              <a:ext cx="1225" cy="4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dirty="0"/>
                <a:t>Transmit</a:t>
              </a:r>
            </a:p>
          </p:txBody>
        </p:sp>
        <p:sp>
          <p:nvSpPr>
            <p:cNvPr id="13" name="Right Arrow 31">
              <a:extLst>
                <a:ext uri="{FF2B5EF4-FFF2-40B4-BE49-F238E27FC236}">
                  <a16:creationId xmlns:a16="http://schemas.microsoft.com/office/drawing/2014/main" id="{10F94DDA-DB05-4058-95BA-E8BF34DEBCD7}"/>
                </a:ext>
              </a:extLst>
            </p:cNvPr>
            <p:cNvSpPr/>
            <p:nvPr/>
          </p:nvSpPr>
          <p:spPr>
            <a:xfrm>
              <a:off x="6109" y="4295"/>
              <a:ext cx="4532" cy="288"/>
            </a:xfrm>
            <a:prstGeom prst="rightArrow">
              <a:avLst>
                <a:gd name="adj1" fmla="val 50000"/>
                <a:gd name="adj2" fmla="val 49266"/>
              </a:avLst>
            </a:prstGeom>
            <a:solidFill>
              <a:schemeClr val="accent1"/>
            </a:solidFill>
            <a:ln w="28575" cap="flat" cmpd="sng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82124" tIns="41061" rIns="82124" bIns="41061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defTabSz="814705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endParaRPr lang="en-US" altLang="en-US" sz="2400" dirty="0"/>
            </a:p>
          </p:txBody>
        </p:sp>
        <p:sp>
          <p:nvSpPr>
            <p:cNvPr id="14" name="Right Arrow 31">
              <a:extLst>
                <a:ext uri="{FF2B5EF4-FFF2-40B4-BE49-F238E27FC236}">
                  <a16:creationId xmlns:a16="http://schemas.microsoft.com/office/drawing/2014/main" id="{FFF22054-837B-4784-A2B2-62DCBFEED32F}"/>
                </a:ext>
              </a:extLst>
            </p:cNvPr>
            <p:cNvSpPr/>
            <p:nvPr/>
          </p:nvSpPr>
          <p:spPr>
            <a:xfrm>
              <a:off x="6116" y="4713"/>
              <a:ext cx="4533" cy="287"/>
            </a:xfrm>
            <a:prstGeom prst="rightArrow">
              <a:avLst>
                <a:gd name="adj1" fmla="val 50000"/>
                <a:gd name="adj2" fmla="val 49266"/>
              </a:avLst>
            </a:prstGeom>
            <a:solidFill>
              <a:schemeClr val="accent1"/>
            </a:solidFill>
            <a:ln w="28575" cap="flat" cmpd="sng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82124" tIns="41061" rIns="82124" bIns="41061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defTabSz="814705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endParaRPr lang="en-US" altLang="en-US" sz="2400" dirty="0"/>
            </a:p>
          </p:txBody>
        </p:sp>
        <p:sp>
          <p:nvSpPr>
            <p:cNvPr id="15" name="Right Arrow 31">
              <a:extLst>
                <a:ext uri="{FF2B5EF4-FFF2-40B4-BE49-F238E27FC236}">
                  <a16:creationId xmlns:a16="http://schemas.microsoft.com/office/drawing/2014/main" id="{F4A75F64-D6C1-4365-AF8F-1400A3DE5F96}"/>
                </a:ext>
              </a:extLst>
            </p:cNvPr>
            <p:cNvSpPr/>
            <p:nvPr/>
          </p:nvSpPr>
          <p:spPr>
            <a:xfrm flipH="1">
              <a:off x="6116" y="5585"/>
              <a:ext cx="4533" cy="288"/>
            </a:xfrm>
            <a:prstGeom prst="rightArrow">
              <a:avLst>
                <a:gd name="adj1" fmla="val 50000"/>
                <a:gd name="adj2" fmla="val 49266"/>
              </a:avLst>
            </a:prstGeom>
            <a:solidFill>
              <a:schemeClr val="accent1"/>
            </a:solidFill>
            <a:ln w="28575" cap="flat" cmpd="sng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82124" tIns="41061" rIns="82124" bIns="41061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defTabSz="814705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endParaRPr lang="en-US" altLang="en-US" sz="2400" dirty="0"/>
            </a:p>
          </p:txBody>
        </p:sp>
        <p:sp>
          <p:nvSpPr>
            <p:cNvPr id="16" name="Right Arrow 31">
              <a:extLst>
                <a:ext uri="{FF2B5EF4-FFF2-40B4-BE49-F238E27FC236}">
                  <a16:creationId xmlns:a16="http://schemas.microsoft.com/office/drawing/2014/main" id="{8220F5F7-B618-47F1-BE00-5263AD50D691}"/>
                </a:ext>
              </a:extLst>
            </p:cNvPr>
            <p:cNvSpPr/>
            <p:nvPr/>
          </p:nvSpPr>
          <p:spPr>
            <a:xfrm flipH="1">
              <a:off x="6248" y="7673"/>
              <a:ext cx="4532" cy="287"/>
            </a:xfrm>
            <a:prstGeom prst="rightArrow">
              <a:avLst>
                <a:gd name="adj1" fmla="val 50000"/>
                <a:gd name="adj2" fmla="val 49266"/>
              </a:avLst>
            </a:prstGeom>
            <a:solidFill>
              <a:schemeClr val="accent1"/>
            </a:solidFill>
            <a:ln w="28575" cap="flat" cmpd="sng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82124" tIns="41061" rIns="82124" bIns="41061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defTabSz="814705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endParaRPr lang="en-US" altLang="en-US" sz="2400" dirty="0"/>
            </a:p>
          </p:txBody>
        </p:sp>
        <p:sp>
          <p:nvSpPr>
            <p:cNvPr id="17" name="Right Arrow 31">
              <a:extLst>
                <a:ext uri="{FF2B5EF4-FFF2-40B4-BE49-F238E27FC236}">
                  <a16:creationId xmlns:a16="http://schemas.microsoft.com/office/drawing/2014/main" id="{1E76E713-FD12-42D1-8BCB-28D71B7D906C}"/>
                </a:ext>
              </a:extLst>
            </p:cNvPr>
            <p:cNvSpPr/>
            <p:nvPr/>
          </p:nvSpPr>
          <p:spPr>
            <a:xfrm>
              <a:off x="6248" y="8560"/>
              <a:ext cx="4532" cy="288"/>
            </a:xfrm>
            <a:prstGeom prst="rightArrow">
              <a:avLst>
                <a:gd name="adj1" fmla="val 50000"/>
                <a:gd name="adj2" fmla="val 49266"/>
              </a:avLst>
            </a:prstGeom>
            <a:solidFill>
              <a:schemeClr val="accent1"/>
            </a:solidFill>
            <a:ln w="28575" cap="flat" cmpd="sng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82124" tIns="41061" rIns="82124" bIns="41061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defTabSz="814705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endParaRPr lang="en-US" altLang="en-US" sz="2400" dirty="0"/>
            </a:p>
          </p:txBody>
        </p:sp>
        <p:sp>
          <p:nvSpPr>
            <p:cNvPr id="18" name="Right Arrow 31">
              <a:extLst>
                <a:ext uri="{FF2B5EF4-FFF2-40B4-BE49-F238E27FC236}">
                  <a16:creationId xmlns:a16="http://schemas.microsoft.com/office/drawing/2014/main" id="{64E925D7-52BB-4BED-936E-677FC1D840BA}"/>
                </a:ext>
              </a:extLst>
            </p:cNvPr>
            <p:cNvSpPr/>
            <p:nvPr/>
          </p:nvSpPr>
          <p:spPr>
            <a:xfrm>
              <a:off x="6265" y="8978"/>
              <a:ext cx="4530" cy="287"/>
            </a:xfrm>
            <a:prstGeom prst="rightArrow">
              <a:avLst>
                <a:gd name="adj1" fmla="val 50000"/>
                <a:gd name="adj2" fmla="val 49239"/>
              </a:avLst>
            </a:prstGeom>
            <a:solidFill>
              <a:schemeClr val="accent1"/>
            </a:solidFill>
            <a:ln w="28575" cap="flat" cmpd="sng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82124" tIns="41061" rIns="82124" bIns="41061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defTabSz="814705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endParaRPr lang="en-US" altLang="en-US" sz="2400" dirty="0"/>
            </a:p>
          </p:txBody>
        </p:sp>
        <p:sp>
          <p:nvSpPr>
            <p:cNvPr id="19" name="Right Arrow 31">
              <a:extLst>
                <a:ext uri="{FF2B5EF4-FFF2-40B4-BE49-F238E27FC236}">
                  <a16:creationId xmlns:a16="http://schemas.microsoft.com/office/drawing/2014/main" id="{6502C673-E446-4B1F-916E-FE20B3E6DB5D}"/>
                </a:ext>
              </a:extLst>
            </p:cNvPr>
            <p:cNvSpPr/>
            <p:nvPr/>
          </p:nvSpPr>
          <p:spPr>
            <a:xfrm>
              <a:off x="6273" y="9395"/>
              <a:ext cx="4530" cy="288"/>
            </a:xfrm>
            <a:prstGeom prst="rightArrow">
              <a:avLst>
                <a:gd name="adj1" fmla="val 50000"/>
                <a:gd name="adj2" fmla="val 49238"/>
              </a:avLst>
            </a:prstGeom>
            <a:solidFill>
              <a:schemeClr val="accent1"/>
            </a:solidFill>
            <a:ln w="28575" cap="flat" cmpd="sng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82124" tIns="41061" rIns="82124" bIns="41061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defTabSz="814705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endParaRPr lang="en-US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542597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3CC07-C20D-4DD9-BEAB-47421F49D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058" y="301726"/>
            <a:ext cx="9603275" cy="707696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dirty="0"/>
              <a:t>Acknowledgements</a:t>
            </a:r>
            <a:br>
              <a:rPr lang="en-US" altLang="en-US" dirty="0"/>
            </a:b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3814CE1-C4A0-4FC1-B943-DE4B050ECFDA}"/>
              </a:ext>
            </a:extLst>
          </p:cNvPr>
          <p:cNvGrpSpPr/>
          <p:nvPr/>
        </p:nvGrpSpPr>
        <p:grpSpPr>
          <a:xfrm>
            <a:off x="3762409" y="1535672"/>
            <a:ext cx="4512945" cy="4535805"/>
            <a:chOff x="5142" y="2510"/>
            <a:chExt cx="7107" cy="7143"/>
          </a:xfrm>
        </p:grpSpPr>
        <p:sp>
          <p:nvSpPr>
            <p:cNvPr id="4" name="TextBox 5">
              <a:extLst>
                <a:ext uri="{FF2B5EF4-FFF2-40B4-BE49-F238E27FC236}">
                  <a16:creationId xmlns:a16="http://schemas.microsoft.com/office/drawing/2014/main" id="{831BCF8A-9B29-434A-86F3-0C7D2CCB07EE}"/>
                </a:ext>
              </a:extLst>
            </p:cNvPr>
            <p:cNvSpPr txBox="1"/>
            <p:nvPr/>
          </p:nvSpPr>
          <p:spPr>
            <a:xfrm>
              <a:off x="5304" y="3768"/>
              <a:ext cx="1070" cy="4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dirty="0"/>
                <a:t>Sender</a:t>
              </a:r>
            </a:p>
          </p:txBody>
        </p:sp>
        <p:sp>
          <p:nvSpPr>
            <p:cNvPr id="5" name="TextBox 6">
              <a:extLst>
                <a:ext uri="{FF2B5EF4-FFF2-40B4-BE49-F238E27FC236}">
                  <a16:creationId xmlns:a16="http://schemas.microsoft.com/office/drawing/2014/main" id="{0EC60434-8F58-4C9B-9A80-2F552ADDA281}"/>
                </a:ext>
              </a:extLst>
            </p:cNvPr>
            <p:cNvSpPr txBox="1"/>
            <p:nvPr/>
          </p:nvSpPr>
          <p:spPr>
            <a:xfrm>
              <a:off x="11007" y="3768"/>
              <a:ext cx="1242" cy="4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dirty="0"/>
                <a:t>Receiver</a:t>
              </a:r>
            </a:p>
          </p:txBody>
        </p:sp>
        <p:sp>
          <p:nvSpPr>
            <p:cNvPr id="6" name="TextBox 16">
              <a:extLst>
                <a:ext uri="{FF2B5EF4-FFF2-40B4-BE49-F238E27FC236}">
                  <a16:creationId xmlns:a16="http://schemas.microsoft.com/office/drawing/2014/main" id="{868E4E13-6E9D-4280-96BF-97B490C604D2}"/>
                </a:ext>
              </a:extLst>
            </p:cNvPr>
            <p:cNvSpPr txBox="1"/>
            <p:nvPr/>
          </p:nvSpPr>
          <p:spPr>
            <a:xfrm>
              <a:off x="10203" y="4560"/>
              <a:ext cx="1365" cy="4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dirty="0"/>
                <a:t>Receive 1</a:t>
              </a:r>
            </a:p>
          </p:txBody>
        </p:sp>
        <p:sp>
          <p:nvSpPr>
            <p:cNvPr id="7" name="TextBox 17">
              <a:extLst>
                <a:ext uri="{FF2B5EF4-FFF2-40B4-BE49-F238E27FC236}">
                  <a16:creationId xmlns:a16="http://schemas.microsoft.com/office/drawing/2014/main" id="{B9EF58C0-106D-4326-A6D1-00DAA3E64DF0}"/>
                </a:ext>
              </a:extLst>
            </p:cNvPr>
            <p:cNvSpPr txBox="1"/>
            <p:nvPr/>
          </p:nvSpPr>
          <p:spPr>
            <a:xfrm>
              <a:off x="7424" y="4265"/>
              <a:ext cx="2120" cy="4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dirty="0"/>
                <a:t>Window size of 1</a:t>
              </a:r>
            </a:p>
          </p:txBody>
        </p:sp>
        <p:sp>
          <p:nvSpPr>
            <p:cNvPr id="8" name="TextBox 18">
              <a:extLst>
                <a:ext uri="{FF2B5EF4-FFF2-40B4-BE49-F238E27FC236}">
                  <a16:creationId xmlns:a16="http://schemas.microsoft.com/office/drawing/2014/main" id="{36303585-18D0-4165-A9B7-74A65AA09EAF}"/>
                </a:ext>
              </a:extLst>
            </p:cNvPr>
            <p:cNvSpPr txBox="1"/>
            <p:nvPr/>
          </p:nvSpPr>
          <p:spPr>
            <a:xfrm>
              <a:off x="10218" y="5490"/>
              <a:ext cx="1362" cy="4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dirty="0"/>
                <a:t>Receive 2</a:t>
              </a:r>
            </a:p>
          </p:txBody>
        </p:sp>
        <p:sp>
          <p:nvSpPr>
            <p:cNvPr id="9" name="TextBox 19">
              <a:extLst>
                <a:ext uri="{FF2B5EF4-FFF2-40B4-BE49-F238E27FC236}">
                  <a16:creationId xmlns:a16="http://schemas.microsoft.com/office/drawing/2014/main" id="{F8118D49-A880-4354-B7BD-7B0A1BB1F978}"/>
                </a:ext>
              </a:extLst>
            </p:cNvPr>
            <p:cNvSpPr txBox="1"/>
            <p:nvPr/>
          </p:nvSpPr>
          <p:spPr>
            <a:xfrm>
              <a:off x="10193" y="5020"/>
              <a:ext cx="895" cy="4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dirty="0"/>
                <a:t>Ack 1</a:t>
              </a:r>
            </a:p>
          </p:txBody>
        </p:sp>
        <p:sp>
          <p:nvSpPr>
            <p:cNvPr id="10" name="TextBox 20">
              <a:extLst>
                <a:ext uri="{FF2B5EF4-FFF2-40B4-BE49-F238E27FC236}">
                  <a16:creationId xmlns:a16="http://schemas.microsoft.com/office/drawing/2014/main" id="{5C75CA1C-31D0-46CA-A152-789DAE670180}"/>
                </a:ext>
              </a:extLst>
            </p:cNvPr>
            <p:cNvSpPr txBox="1"/>
            <p:nvPr/>
          </p:nvSpPr>
          <p:spPr>
            <a:xfrm>
              <a:off x="10240" y="6050"/>
              <a:ext cx="898" cy="4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dirty="0"/>
                <a:t>Ack 2</a:t>
              </a:r>
            </a:p>
          </p:txBody>
        </p:sp>
        <p:sp>
          <p:nvSpPr>
            <p:cNvPr id="11" name="TextBox 21">
              <a:extLst>
                <a:ext uri="{FF2B5EF4-FFF2-40B4-BE49-F238E27FC236}">
                  <a16:creationId xmlns:a16="http://schemas.microsoft.com/office/drawing/2014/main" id="{42050429-E12A-47FB-BA69-AD6CA2D7CA6D}"/>
                </a:ext>
              </a:extLst>
            </p:cNvPr>
            <p:cNvSpPr txBox="1"/>
            <p:nvPr/>
          </p:nvSpPr>
          <p:spPr>
            <a:xfrm>
              <a:off x="5978" y="4560"/>
              <a:ext cx="1055" cy="4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dirty="0"/>
                <a:t>Send 1</a:t>
              </a:r>
            </a:p>
          </p:txBody>
        </p:sp>
        <p:sp>
          <p:nvSpPr>
            <p:cNvPr id="12" name="TextBox 22">
              <a:extLst>
                <a:ext uri="{FF2B5EF4-FFF2-40B4-BE49-F238E27FC236}">
                  <a16:creationId xmlns:a16="http://schemas.microsoft.com/office/drawing/2014/main" id="{60DD3B1D-3C3B-443C-9E1D-8566AF78260B}"/>
                </a:ext>
              </a:extLst>
            </p:cNvPr>
            <p:cNvSpPr txBox="1"/>
            <p:nvPr/>
          </p:nvSpPr>
          <p:spPr>
            <a:xfrm>
              <a:off x="5983" y="5503"/>
              <a:ext cx="1055" cy="4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dirty="0"/>
                <a:t>Send 2</a:t>
              </a:r>
            </a:p>
          </p:txBody>
        </p:sp>
        <p:sp>
          <p:nvSpPr>
            <p:cNvPr id="13" name="TextBox 36">
              <a:extLst>
                <a:ext uri="{FF2B5EF4-FFF2-40B4-BE49-F238E27FC236}">
                  <a16:creationId xmlns:a16="http://schemas.microsoft.com/office/drawing/2014/main" id="{D80C47CB-1EC7-4037-B766-BA6DA196DF43}"/>
                </a:ext>
              </a:extLst>
            </p:cNvPr>
            <p:cNvSpPr txBox="1"/>
            <p:nvPr/>
          </p:nvSpPr>
          <p:spPr>
            <a:xfrm>
              <a:off x="7408" y="6933"/>
              <a:ext cx="2117" cy="4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dirty="0"/>
                <a:t>Window size of 3</a:t>
              </a:r>
            </a:p>
          </p:txBody>
        </p:sp>
        <p:sp>
          <p:nvSpPr>
            <p:cNvPr id="14" name="TextBox 39">
              <a:extLst>
                <a:ext uri="{FF2B5EF4-FFF2-40B4-BE49-F238E27FC236}">
                  <a16:creationId xmlns:a16="http://schemas.microsoft.com/office/drawing/2014/main" id="{97B33F2B-3E05-4552-A6C8-E87654C7EA0B}"/>
                </a:ext>
              </a:extLst>
            </p:cNvPr>
            <p:cNvSpPr txBox="1"/>
            <p:nvPr/>
          </p:nvSpPr>
          <p:spPr>
            <a:xfrm>
              <a:off x="10238" y="8718"/>
              <a:ext cx="897" cy="4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dirty="0"/>
                <a:t>Ack 4</a:t>
              </a:r>
            </a:p>
          </p:txBody>
        </p:sp>
        <p:sp>
          <p:nvSpPr>
            <p:cNvPr id="15" name="TextBox 40">
              <a:extLst>
                <a:ext uri="{FF2B5EF4-FFF2-40B4-BE49-F238E27FC236}">
                  <a16:creationId xmlns:a16="http://schemas.microsoft.com/office/drawing/2014/main" id="{6A8E9BCC-8F24-4A5A-AA75-8B1CAB7CE801}"/>
                </a:ext>
              </a:extLst>
            </p:cNvPr>
            <p:cNvSpPr txBox="1"/>
            <p:nvPr/>
          </p:nvSpPr>
          <p:spPr>
            <a:xfrm>
              <a:off x="5958" y="7228"/>
              <a:ext cx="1055" cy="4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dirty="0"/>
                <a:t>Send 1</a:t>
              </a:r>
            </a:p>
          </p:txBody>
        </p:sp>
        <p:sp>
          <p:nvSpPr>
            <p:cNvPr id="16" name="TextBox 41">
              <a:extLst>
                <a:ext uri="{FF2B5EF4-FFF2-40B4-BE49-F238E27FC236}">
                  <a16:creationId xmlns:a16="http://schemas.microsoft.com/office/drawing/2014/main" id="{D64A8B28-E88D-4554-B48F-F6C08D1F7327}"/>
                </a:ext>
              </a:extLst>
            </p:cNvPr>
            <p:cNvSpPr txBox="1"/>
            <p:nvPr/>
          </p:nvSpPr>
          <p:spPr>
            <a:xfrm>
              <a:off x="5963" y="7685"/>
              <a:ext cx="1055" cy="4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dirty="0"/>
                <a:t>Send 2</a:t>
              </a:r>
            </a:p>
          </p:txBody>
        </p:sp>
        <p:sp>
          <p:nvSpPr>
            <p:cNvPr id="17" name="TextBox 42">
              <a:extLst>
                <a:ext uri="{FF2B5EF4-FFF2-40B4-BE49-F238E27FC236}">
                  <a16:creationId xmlns:a16="http://schemas.microsoft.com/office/drawing/2014/main" id="{4DBFE755-C7AF-46FF-A706-5AED24337D30}"/>
                </a:ext>
              </a:extLst>
            </p:cNvPr>
            <p:cNvSpPr txBox="1"/>
            <p:nvPr/>
          </p:nvSpPr>
          <p:spPr>
            <a:xfrm>
              <a:off x="5970" y="8158"/>
              <a:ext cx="1055" cy="4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dirty="0"/>
                <a:t>Send 3</a:t>
              </a:r>
            </a:p>
          </p:txBody>
        </p:sp>
        <p:sp>
          <p:nvSpPr>
            <p:cNvPr id="18" name="TextBox 44">
              <a:extLst>
                <a:ext uri="{FF2B5EF4-FFF2-40B4-BE49-F238E27FC236}">
                  <a16:creationId xmlns:a16="http://schemas.microsoft.com/office/drawing/2014/main" id="{5162ACFB-3AF7-4A4A-845B-DBE400CAE931}"/>
                </a:ext>
              </a:extLst>
            </p:cNvPr>
            <p:cNvSpPr txBox="1"/>
            <p:nvPr/>
          </p:nvSpPr>
          <p:spPr>
            <a:xfrm>
              <a:off x="5983" y="9245"/>
              <a:ext cx="1055" cy="4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dirty="0"/>
                <a:t>Send 4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EA56DF3B-0BC7-4BE2-B717-89CDA37834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42" y="2510"/>
              <a:ext cx="1287" cy="128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4CCC4B0-A09E-4AC1-B150-C53449822D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02" y="2510"/>
              <a:ext cx="1287" cy="128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1" name="Right Arrow 31">
              <a:extLst>
                <a:ext uri="{FF2B5EF4-FFF2-40B4-BE49-F238E27FC236}">
                  <a16:creationId xmlns:a16="http://schemas.microsoft.com/office/drawing/2014/main" id="{88B9B437-C983-41A6-95DE-02C19ACCC445}"/>
                </a:ext>
              </a:extLst>
            </p:cNvPr>
            <p:cNvSpPr/>
            <p:nvPr/>
          </p:nvSpPr>
          <p:spPr>
            <a:xfrm>
              <a:off x="7077" y="4620"/>
              <a:ext cx="2975" cy="288"/>
            </a:xfrm>
            <a:prstGeom prst="rightArrow">
              <a:avLst>
                <a:gd name="adj1" fmla="val 50000"/>
                <a:gd name="adj2" fmla="val 49247"/>
              </a:avLst>
            </a:prstGeom>
            <a:solidFill>
              <a:schemeClr val="accent1"/>
            </a:solidFill>
            <a:ln w="28575" cap="flat" cmpd="sng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82124" tIns="41061" rIns="82124" bIns="41061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defTabSz="814705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endParaRPr lang="en-US" altLang="en-US" sz="2400" dirty="0"/>
            </a:p>
          </p:txBody>
        </p:sp>
        <p:sp>
          <p:nvSpPr>
            <p:cNvPr id="22" name="Right Arrow 31">
              <a:extLst>
                <a:ext uri="{FF2B5EF4-FFF2-40B4-BE49-F238E27FC236}">
                  <a16:creationId xmlns:a16="http://schemas.microsoft.com/office/drawing/2014/main" id="{04AAF1EA-5AA5-42FA-BBE5-E968443D46C4}"/>
                </a:ext>
              </a:extLst>
            </p:cNvPr>
            <p:cNvSpPr/>
            <p:nvPr/>
          </p:nvSpPr>
          <p:spPr>
            <a:xfrm>
              <a:off x="7078" y="5558"/>
              <a:ext cx="2975" cy="287"/>
            </a:xfrm>
            <a:prstGeom prst="rightArrow">
              <a:avLst>
                <a:gd name="adj1" fmla="val 50000"/>
                <a:gd name="adj2" fmla="val 49248"/>
              </a:avLst>
            </a:prstGeom>
            <a:solidFill>
              <a:schemeClr val="accent1"/>
            </a:solidFill>
            <a:ln w="28575" cap="flat" cmpd="sng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82124" tIns="41061" rIns="82124" bIns="41061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defTabSz="814705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endParaRPr lang="en-US" altLang="en-US" sz="2400" dirty="0"/>
            </a:p>
          </p:txBody>
        </p:sp>
        <p:sp>
          <p:nvSpPr>
            <p:cNvPr id="23" name="Right Arrow 31">
              <a:extLst>
                <a:ext uri="{FF2B5EF4-FFF2-40B4-BE49-F238E27FC236}">
                  <a16:creationId xmlns:a16="http://schemas.microsoft.com/office/drawing/2014/main" id="{E2CA1879-FEC9-4979-9556-A9C74A74713C}"/>
                </a:ext>
              </a:extLst>
            </p:cNvPr>
            <p:cNvSpPr/>
            <p:nvPr/>
          </p:nvSpPr>
          <p:spPr>
            <a:xfrm flipH="1">
              <a:off x="7077" y="5080"/>
              <a:ext cx="2975" cy="288"/>
            </a:xfrm>
            <a:prstGeom prst="rightArrow">
              <a:avLst>
                <a:gd name="adj1" fmla="val 50000"/>
                <a:gd name="adj2" fmla="val 49247"/>
              </a:avLst>
            </a:prstGeom>
            <a:solidFill>
              <a:schemeClr val="accent1"/>
            </a:solidFill>
            <a:ln w="28575" cap="flat" cmpd="sng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82124" tIns="41061" rIns="82124" bIns="41061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defTabSz="814705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endParaRPr lang="en-US" altLang="en-US" sz="2400" dirty="0"/>
            </a:p>
          </p:txBody>
        </p:sp>
        <p:sp>
          <p:nvSpPr>
            <p:cNvPr id="24" name="Right Arrow 32">
              <a:extLst>
                <a:ext uri="{FF2B5EF4-FFF2-40B4-BE49-F238E27FC236}">
                  <a16:creationId xmlns:a16="http://schemas.microsoft.com/office/drawing/2014/main" id="{E3DE2DCC-DDD2-4CF9-B9FF-30DF810D289C}"/>
                </a:ext>
              </a:extLst>
            </p:cNvPr>
            <p:cNvSpPr/>
            <p:nvPr/>
          </p:nvSpPr>
          <p:spPr>
            <a:xfrm flipH="1">
              <a:off x="7078" y="6103"/>
              <a:ext cx="2975" cy="287"/>
            </a:xfrm>
            <a:prstGeom prst="rightArrow">
              <a:avLst>
                <a:gd name="adj1" fmla="val 50000"/>
                <a:gd name="adj2" fmla="val 49248"/>
              </a:avLst>
            </a:prstGeom>
            <a:solidFill>
              <a:schemeClr val="accent1"/>
            </a:solidFill>
            <a:ln w="28575" cap="flat" cmpd="sng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82124" tIns="41061" rIns="82124" bIns="41061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defTabSz="814705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endParaRPr lang="en-US" altLang="en-US" sz="2400" dirty="0"/>
            </a:p>
          </p:txBody>
        </p:sp>
        <p:sp>
          <p:nvSpPr>
            <p:cNvPr id="25" name="Right Arrow 31">
              <a:extLst>
                <a:ext uri="{FF2B5EF4-FFF2-40B4-BE49-F238E27FC236}">
                  <a16:creationId xmlns:a16="http://schemas.microsoft.com/office/drawing/2014/main" id="{1820827C-B683-4A37-B9BA-D28103D15992}"/>
                </a:ext>
              </a:extLst>
            </p:cNvPr>
            <p:cNvSpPr/>
            <p:nvPr/>
          </p:nvSpPr>
          <p:spPr>
            <a:xfrm>
              <a:off x="7078" y="7298"/>
              <a:ext cx="2975" cy="287"/>
            </a:xfrm>
            <a:prstGeom prst="rightArrow">
              <a:avLst>
                <a:gd name="adj1" fmla="val 50000"/>
                <a:gd name="adj2" fmla="val 49248"/>
              </a:avLst>
            </a:prstGeom>
            <a:solidFill>
              <a:schemeClr val="accent1"/>
            </a:solidFill>
            <a:ln w="28575" cap="flat" cmpd="sng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82124" tIns="41061" rIns="82124" bIns="41061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defTabSz="814705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endParaRPr lang="en-US" altLang="en-US" sz="2400" dirty="0"/>
            </a:p>
          </p:txBody>
        </p:sp>
        <p:sp>
          <p:nvSpPr>
            <p:cNvPr id="26" name="Right Arrow 31">
              <a:extLst>
                <a:ext uri="{FF2B5EF4-FFF2-40B4-BE49-F238E27FC236}">
                  <a16:creationId xmlns:a16="http://schemas.microsoft.com/office/drawing/2014/main" id="{A6ED8132-C560-49A6-9A67-720DBFC17112}"/>
                </a:ext>
              </a:extLst>
            </p:cNvPr>
            <p:cNvSpPr/>
            <p:nvPr/>
          </p:nvSpPr>
          <p:spPr>
            <a:xfrm>
              <a:off x="7078" y="8235"/>
              <a:ext cx="2975" cy="290"/>
            </a:xfrm>
            <a:prstGeom prst="rightArrow">
              <a:avLst>
                <a:gd name="adj1" fmla="val 50000"/>
                <a:gd name="adj2" fmla="val 48823"/>
              </a:avLst>
            </a:prstGeom>
            <a:solidFill>
              <a:schemeClr val="accent1"/>
            </a:solidFill>
            <a:ln w="28575" cap="flat" cmpd="sng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82124" tIns="41061" rIns="82124" bIns="41061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defTabSz="814705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endParaRPr lang="en-US" altLang="en-US" sz="2400" dirty="0"/>
            </a:p>
          </p:txBody>
        </p:sp>
        <p:sp>
          <p:nvSpPr>
            <p:cNvPr id="27" name="Right Arrow 35">
              <a:extLst>
                <a:ext uri="{FF2B5EF4-FFF2-40B4-BE49-F238E27FC236}">
                  <a16:creationId xmlns:a16="http://schemas.microsoft.com/office/drawing/2014/main" id="{B9025616-1289-46BA-9B43-8E0CFF1FF146}"/>
                </a:ext>
              </a:extLst>
            </p:cNvPr>
            <p:cNvSpPr/>
            <p:nvPr/>
          </p:nvSpPr>
          <p:spPr>
            <a:xfrm>
              <a:off x="7078" y="7758"/>
              <a:ext cx="2975" cy="287"/>
            </a:xfrm>
            <a:prstGeom prst="rightArrow">
              <a:avLst>
                <a:gd name="adj1" fmla="val 50000"/>
                <a:gd name="adj2" fmla="val 49248"/>
              </a:avLst>
            </a:prstGeom>
            <a:solidFill>
              <a:schemeClr val="accent1"/>
            </a:solidFill>
            <a:ln w="28575" cap="flat" cmpd="sng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82124" tIns="41061" rIns="82124" bIns="41061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defTabSz="814705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endParaRPr lang="en-US" altLang="en-US" sz="2400" dirty="0"/>
            </a:p>
          </p:txBody>
        </p:sp>
        <p:sp>
          <p:nvSpPr>
            <p:cNvPr id="28" name="Right Arrow 36">
              <a:extLst>
                <a:ext uri="{FF2B5EF4-FFF2-40B4-BE49-F238E27FC236}">
                  <a16:creationId xmlns:a16="http://schemas.microsoft.com/office/drawing/2014/main" id="{D45D9C39-54F4-414E-A19B-210C99383FB8}"/>
                </a:ext>
              </a:extLst>
            </p:cNvPr>
            <p:cNvSpPr/>
            <p:nvPr/>
          </p:nvSpPr>
          <p:spPr>
            <a:xfrm flipH="1">
              <a:off x="7078" y="8758"/>
              <a:ext cx="2975" cy="287"/>
            </a:xfrm>
            <a:prstGeom prst="rightArrow">
              <a:avLst>
                <a:gd name="adj1" fmla="val 50000"/>
                <a:gd name="adj2" fmla="val 49248"/>
              </a:avLst>
            </a:prstGeom>
            <a:solidFill>
              <a:schemeClr val="accent1"/>
            </a:solidFill>
            <a:ln w="28575" cap="flat" cmpd="sng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82124" tIns="41061" rIns="82124" bIns="41061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defTabSz="814705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endParaRPr lang="en-US" altLang="en-US" sz="2400" dirty="0"/>
            </a:p>
          </p:txBody>
        </p:sp>
        <p:sp>
          <p:nvSpPr>
            <p:cNvPr id="29" name="Right Arrow 31">
              <a:extLst>
                <a:ext uri="{FF2B5EF4-FFF2-40B4-BE49-F238E27FC236}">
                  <a16:creationId xmlns:a16="http://schemas.microsoft.com/office/drawing/2014/main" id="{E1B5940B-4FD4-4473-A6E6-F8676F7CD492}"/>
                </a:ext>
              </a:extLst>
            </p:cNvPr>
            <p:cNvSpPr/>
            <p:nvPr/>
          </p:nvSpPr>
          <p:spPr>
            <a:xfrm>
              <a:off x="7078" y="9310"/>
              <a:ext cx="2977" cy="290"/>
            </a:xfrm>
            <a:prstGeom prst="rightArrow">
              <a:avLst>
                <a:gd name="adj1" fmla="val 50000"/>
                <a:gd name="adj2" fmla="val 48864"/>
              </a:avLst>
            </a:prstGeom>
            <a:solidFill>
              <a:schemeClr val="accent1"/>
            </a:solidFill>
            <a:ln w="28575" cap="flat" cmpd="sng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82124" tIns="41061" rIns="82124" bIns="41061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defTabSz="814705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endParaRPr lang="en-US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63122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8C4E6-AD34-4735-9790-1660809CE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720" y="382385"/>
            <a:ext cx="10932160" cy="1492132"/>
          </a:xfrm>
        </p:spPr>
        <p:txBody>
          <a:bodyPr/>
          <a:lstStyle/>
          <a:p>
            <a:pPr algn="ctr"/>
            <a:r>
              <a:rPr lang="en-US" dirty="0"/>
              <a:t>Network Layer- Layer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FF26B-9771-4974-BAD3-6BBE82D14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6839" y="1320801"/>
            <a:ext cx="10178322" cy="4660392"/>
          </a:xfrm>
        </p:spPr>
        <p:txBody>
          <a:bodyPr/>
          <a:lstStyle/>
          <a:p>
            <a:r>
              <a:rPr lang="en-US" dirty="0"/>
              <a:t>The “routing” layer</a:t>
            </a:r>
          </a:p>
          <a:p>
            <a:r>
              <a:rPr lang="en-US" dirty="0"/>
              <a:t> Internet Protocol (IP)</a:t>
            </a:r>
          </a:p>
          <a:p>
            <a:r>
              <a:rPr lang="en-US" dirty="0"/>
              <a:t> Unit of measure at this layer is packets</a:t>
            </a:r>
          </a:p>
          <a:p>
            <a:pPr lvl="1"/>
            <a:r>
              <a:rPr lang="en-US" dirty="0"/>
              <a:t>Data Packets</a:t>
            </a:r>
          </a:p>
          <a:p>
            <a:pPr lvl="1"/>
            <a:r>
              <a:rPr lang="en-US" dirty="0"/>
              <a:t>Router update packets</a:t>
            </a:r>
          </a:p>
          <a:p>
            <a:r>
              <a:rPr lang="en-US" dirty="0"/>
              <a:t>Routers operate at this layer</a:t>
            </a:r>
          </a:p>
          <a:p>
            <a:r>
              <a:rPr lang="en-US" dirty="0"/>
              <a:t>Maintain Route tables- Directions to other networks</a:t>
            </a:r>
          </a:p>
          <a:p>
            <a:r>
              <a:rPr lang="en-US" dirty="0"/>
              <a:t>Protocols operating at this layer:</a:t>
            </a:r>
          </a:p>
          <a:p>
            <a:pPr lvl="1"/>
            <a:r>
              <a:rPr lang="en-US" dirty="0"/>
              <a:t>NAT</a:t>
            </a:r>
          </a:p>
          <a:p>
            <a:pPr lvl="1"/>
            <a:r>
              <a:rPr lang="en-US" dirty="0"/>
              <a:t>ICMP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758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7F887-EAAD-43B1-9822-71A6511EB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2385"/>
            <a:ext cx="11104880" cy="1492132"/>
          </a:xfrm>
        </p:spPr>
        <p:txBody>
          <a:bodyPr/>
          <a:lstStyle/>
          <a:p>
            <a:pPr algn="ctr"/>
            <a:r>
              <a:rPr lang="en-US" dirty="0"/>
              <a:t>Data Layer- Layer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4DF22-1A90-429F-9F73-1DE324425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20801"/>
            <a:ext cx="10178322" cy="4558792"/>
          </a:xfrm>
        </p:spPr>
        <p:txBody>
          <a:bodyPr>
            <a:normAutofit/>
          </a:bodyPr>
          <a:lstStyle/>
          <a:p>
            <a:r>
              <a:rPr lang="en-US" dirty="0"/>
              <a:t>The basic network “language”</a:t>
            </a:r>
          </a:p>
          <a:p>
            <a:pPr lvl="1"/>
            <a:r>
              <a:rPr lang="en-US" dirty="0"/>
              <a:t>The foundation of communication at the data link layer</a:t>
            </a:r>
          </a:p>
          <a:p>
            <a:r>
              <a:rPr lang="pt-BR" dirty="0"/>
              <a:t> Data Link Control (DLC) protocols</a:t>
            </a:r>
          </a:p>
          <a:p>
            <a:pPr lvl="1"/>
            <a:r>
              <a:rPr lang="en-US" dirty="0"/>
              <a:t> MAC (Media Access Control) address on Ethernet</a:t>
            </a:r>
          </a:p>
          <a:p>
            <a:pPr lvl="1"/>
            <a:r>
              <a:rPr lang="en-US" dirty="0"/>
              <a:t>LLC (Logical Link Control) ID Network Layer protocols</a:t>
            </a:r>
          </a:p>
          <a:p>
            <a:r>
              <a:rPr lang="en-US" dirty="0"/>
              <a:t> The “switching” layer</a:t>
            </a:r>
          </a:p>
          <a:p>
            <a:r>
              <a:rPr lang="en-US" dirty="0"/>
              <a:t>Switches operate at this layer</a:t>
            </a:r>
          </a:p>
          <a:p>
            <a:r>
              <a:rPr lang="en-US" dirty="0"/>
              <a:t>Unit of measure at this layer is Frame</a:t>
            </a:r>
          </a:p>
          <a:p>
            <a:r>
              <a:rPr lang="en-US" dirty="0"/>
              <a:t>Protocols operating at this layer:</a:t>
            </a:r>
          </a:p>
          <a:p>
            <a:pPr lvl="1"/>
            <a:r>
              <a:rPr lang="en-US" dirty="0"/>
              <a:t>ARP</a:t>
            </a:r>
          </a:p>
          <a:p>
            <a:pPr lvl="1"/>
            <a:r>
              <a:rPr lang="en-US" dirty="0"/>
              <a:t>NDP</a:t>
            </a:r>
          </a:p>
        </p:txBody>
      </p:sp>
    </p:spTree>
    <p:extLst>
      <p:ext uri="{BB962C8B-B14F-4D97-AF65-F5344CB8AC3E}">
        <p14:creationId xmlns:p14="http://schemas.microsoft.com/office/powerpoint/2010/main" val="1536190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720B5-2643-46D0-B31A-ACB59BF79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655842" cy="1492132"/>
          </a:xfrm>
        </p:spPr>
        <p:txBody>
          <a:bodyPr/>
          <a:lstStyle/>
          <a:p>
            <a:pPr algn="ctr"/>
            <a:r>
              <a:rPr lang="en-US" dirty="0"/>
              <a:t>Physical Layer- Layer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0923C-7F9E-480A-85A2-BF7FA075D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03679"/>
            <a:ext cx="10178322" cy="4375913"/>
          </a:xfrm>
        </p:spPr>
        <p:txBody>
          <a:bodyPr>
            <a:normAutofit/>
          </a:bodyPr>
          <a:lstStyle/>
          <a:p>
            <a:r>
              <a:rPr lang="en-US" dirty="0"/>
              <a:t>The physics of the network</a:t>
            </a:r>
          </a:p>
          <a:p>
            <a:pPr lvl="1"/>
            <a:r>
              <a:rPr lang="en-US" dirty="0"/>
              <a:t>Signaling, cabling, connectors</a:t>
            </a:r>
          </a:p>
          <a:p>
            <a:pPr lvl="1"/>
            <a:r>
              <a:rPr lang="en-US" dirty="0"/>
              <a:t> This layer isn’t about protocols</a:t>
            </a:r>
          </a:p>
          <a:p>
            <a:r>
              <a:rPr lang="en-US" dirty="0"/>
              <a:t>You have a physical layer problem.”</a:t>
            </a:r>
          </a:p>
          <a:p>
            <a:pPr lvl="1"/>
            <a:r>
              <a:rPr lang="en-US" dirty="0"/>
              <a:t> Fix your cabling, punch-downs, etc.</a:t>
            </a:r>
          </a:p>
          <a:p>
            <a:pPr lvl="1"/>
            <a:r>
              <a:rPr lang="en-US" dirty="0"/>
              <a:t> Run loopback tests, test/replace cables, swap adapter cards</a:t>
            </a:r>
          </a:p>
          <a:p>
            <a:pPr marL="228600" lvl="1"/>
            <a:r>
              <a:rPr lang="en-US" dirty="0"/>
              <a:t>Hubs operate at this layer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6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CA3B6-888D-46FD-90B7-6D76E0F76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Encapsulation/De-Encapsulation</a:t>
            </a:r>
          </a:p>
        </p:txBody>
      </p:sp>
      <p:cxnSp>
        <p:nvCxnSpPr>
          <p:cNvPr id="4" name="Straight Connector 74">
            <a:extLst>
              <a:ext uri="{FF2B5EF4-FFF2-40B4-BE49-F238E27FC236}">
                <a16:creationId xmlns:a16="http://schemas.microsoft.com/office/drawing/2014/main" id="{43A66298-ECB5-4F48-8CF9-F8F22A3BEE1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137814" y="6019704"/>
            <a:ext cx="0" cy="639762"/>
          </a:xfrm>
          <a:prstGeom prst="line">
            <a:avLst/>
          </a:prstGeom>
          <a:noFill/>
          <a:ln w="254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" name="Straight Connector 75">
            <a:extLst>
              <a:ext uri="{FF2B5EF4-FFF2-40B4-BE49-F238E27FC236}">
                <a16:creationId xmlns:a16="http://schemas.microsoft.com/office/drawing/2014/main" id="{72B75C77-A994-4585-BD0E-B908022F4B9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816764" y="6019704"/>
            <a:ext cx="0" cy="639762"/>
          </a:xfrm>
          <a:prstGeom prst="line">
            <a:avLst/>
          </a:prstGeom>
          <a:noFill/>
          <a:ln w="254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Round Same Side Corner Rectangle 6">
            <a:extLst>
              <a:ext uri="{FF2B5EF4-FFF2-40B4-BE49-F238E27FC236}">
                <a16:creationId xmlns:a16="http://schemas.microsoft.com/office/drawing/2014/main" id="{BEF9681D-1587-4A98-A612-DDD2969BB168}"/>
              </a:ext>
            </a:extLst>
          </p:cNvPr>
          <p:cNvSpPr/>
          <p:nvPr/>
        </p:nvSpPr>
        <p:spPr>
          <a:xfrm rot="5400000">
            <a:off x="4507392" y="697249"/>
            <a:ext cx="658368" cy="2093976"/>
          </a:xfrm>
          <a:prstGeom prst="round2SameRect">
            <a:avLst>
              <a:gd name="adj1" fmla="val 19842"/>
              <a:gd name="adj2" fmla="val 0"/>
            </a:avLst>
          </a:prstGeom>
          <a:gradFill flip="none" rotWithShape="1">
            <a:gsLst>
              <a:gs pos="0">
                <a:srgbClr val="9BBB59">
                  <a:lumMod val="5000"/>
                  <a:lumOff val="95000"/>
                </a:srgbClr>
              </a:gs>
              <a:gs pos="74000">
                <a:srgbClr val="9BBB59">
                  <a:lumMod val="45000"/>
                  <a:lumOff val="55000"/>
                </a:srgbClr>
              </a:gs>
              <a:gs pos="83000">
                <a:srgbClr val="9BBB59">
                  <a:lumMod val="45000"/>
                  <a:lumOff val="55000"/>
                </a:srgbClr>
              </a:gs>
              <a:gs pos="100000">
                <a:srgbClr val="9BBB59">
                  <a:lumMod val="30000"/>
                  <a:lumOff val="70000"/>
                </a:srgbClr>
              </a:gs>
            </a:gsLst>
            <a:lin ang="5400000" scaled="1"/>
            <a:tileRect/>
          </a:gradFill>
          <a:ln w="3175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vert27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kern="0" dirty="0">
                <a:solidFill>
                  <a:prstClr val="black"/>
                </a:solidFill>
                <a:latin typeface="+mn-lt"/>
                <a:cs typeface="+mn-cs"/>
              </a:rPr>
              <a:t>Application</a:t>
            </a:r>
          </a:p>
        </p:txBody>
      </p:sp>
      <p:sp>
        <p:nvSpPr>
          <p:cNvPr id="7" name="Round Same Side Corner Rectangle 7">
            <a:extLst>
              <a:ext uri="{FF2B5EF4-FFF2-40B4-BE49-F238E27FC236}">
                <a16:creationId xmlns:a16="http://schemas.microsoft.com/office/drawing/2014/main" id="{1BB67E2D-635D-4DCB-A900-63881E283C95}"/>
              </a:ext>
            </a:extLst>
          </p:cNvPr>
          <p:cNvSpPr/>
          <p:nvPr/>
        </p:nvSpPr>
        <p:spPr>
          <a:xfrm rot="16200000">
            <a:off x="3119028" y="1466868"/>
            <a:ext cx="658368" cy="554736"/>
          </a:xfrm>
          <a:prstGeom prst="round2SameRect">
            <a:avLst>
              <a:gd name="adj1" fmla="val 19842"/>
              <a:gd name="adj2" fmla="val 0"/>
            </a:avLst>
          </a:prstGeom>
          <a:gradFill flip="none" rotWithShape="1">
            <a:gsLst>
              <a:gs pos="0">
                <a:srgbClr val="9BBB59">
                  <a:lumMod val="5000"/>
                  <a:lumOff val="95000"/>
                </a:srgbClr>
              </a:gs>
              <a:gs pos="74000">
                <a:srgbClr val="9BBB59">
                  <a:lumMod val="45000"/>
                  <a:lumOff val="55000"/>
                </a:srgbClr>
              </a:gs>
              <a:gs pos="83000">
                <a:srgbClr val="9BBB59">
                  <a:lumMod val="45000"/>
                  <a:lumOff val="55000"/>
                </a:srgbClr>
              </a:gs>
              <a:gs pos="100000">
                <a:srgbClr val="9BBB59">
                  <a:lumMod val="30000"/>
                  <a:lumOff val="70000"/>
                </a:srgbClr>
              </a:gs>
            </a:gsLst>
            <a:lin ang="5400000" scaled="1"/>
            <a:tileRect/>
          </a:gradFill>
          <a:ln w="3175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vert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kern="0" dirty="0">
                <a:solidFill>
                  <a:prstClr val="black"/>
                </a:solidFill>
                <a:latin typeface="+mn-lt"/>
                <a:cs typeface="+mn-cs"/>
              </a:rPr>
              <a:t>7</a:t>
            </a:r>
          </a:p>
        </p:txBody>
      </p:sp>
      <p:sp>
        <p:nvSpPr>
          <p:cNvPr id="8" name="Round Same Side Corner Rectangle 8">
            <a:extLst>
              <a:ext uri="{FF2B5EF4-FFF2-40B4-BE49-F238E27FC236}">
                <a16:creationId xmlns:a16="http://schemas.microsoft.com/office/drawing/2014/main" id="{A336AE1A-C034-4287-9191-8FDC89DAD16F}"/>
              </a:ext>
            </a:extLst>
          </p:cNvPr>
          <p:cNvSpPr/>
          <p:nvPr/>
        </p:nvSpPr>
        <p:spPr>
          <a:xfrm rot="5400000">
            <a:off x="4507392" y="1404385"/>
            <a:ext cx="658368" cy="2093976"/>
          </a:xfrm>
          <a:prstGeom prst="round2SameRect">
            <a:avLst>
              <a:gd name="adj1" fmla="val 19842"/>
              <a:gd name="adj2" fmla="val 0"/>
            </a:avLst>
          </a:prstGeom>
          <a:gradFill flip="none" rotWithShape="1">
            <a:gsLst>
              <a:gs pos="0">
                <a:srgbClr val="4F81BD">
                  <a:lumMod val="5000"/>
                  <a:lumOff val="95000"/>
                </a:srgbClr>
              </a:gs>
              <a:gs pos="74000">
                <a:srgbClr val="4F81BD">
                  <a:lumMod val="45000"/>
                  <a:lumOff val="55000"/>
                </a:srgbClr>
              </a:gs>
              <a:gs pos="83000">
                <a:srgbClr val="4F81BD">
                  <a:lumMod val="45000"/>
                  <a:lumOff val="55000"/>
                </a:srgbClr>
              </a:gs>
              <a:gs pos="100000">
                <a:srgbClr val="4F81BD">
                  <a:lumMod val="30000"/>
                  <a:lumOff val="70000"/>
                </a:srgbClr>
              </a:gs>
            </a:gsLst>
            <a:lin ang="5400000" scaled="1"/>
            <a:tileRect/>
          </a:gradFill>
          <a:ln w="3175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vert27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kern="0" dirty="0">
                <a:solidFill>
                  <a:prstClr val="black"/>
                </a:solidFill>
                <a:latin typeface="+mn-lt"/>
                <a:cs typeface="+mn-cs"/>
              </a:rPr>
              <a:t>Presentation</a:t>
            </a:r>
          </a:p>
        </p:txBody>
      </p:sp>
      <p:sp>
        <p:nvSpPr>
          <p:cNvPr id="9" name="Round Same Side Corner Rectangle 9">
            <a:extLst>
              <a:ext uri="{FF2B5EF4-FFF2-40B4-BE49-F238E27FC236}">
                <a16:creationId xmlns:a16="http://schemas.microsoft.com/office/drawing/2014/main" id="{4B1CE5C8-3D68-44F0-A928-BC9C545F258A}"/>
              </a:ext>
            </a:extLst>
          </p:cNvPr>
          <p:cNvSpPr/>
          <p:nvPr/>
        </p:nvSpPr>
        <p:spPr>
          <a:xfrm rot="16200000">
            <a:off x="3119028" y="2174004"/>
            <a:ext cx="658368" cy="554736"/>
          </a:xfrm>
          <a:prstGeom prst="round2SameRect">
            <a:avLst>
              <a:gd name="adj1" fmla="val 19842"/>
              <a:gd name="adj2" fmla="val 0"/>
            </a:avLst>
          </a:prstGeom>
          <a:gradFill flip="none" rotWithShape="1">
            <a:gsLst>
              <a:gs pos="0">
                <a:srgbClr val="4F81BD">
                  <a:lumMod val="5000"/>
                  <a:lumOff val="95000"/>
                </a:srgbClr>
              </a:gs>
              <a:gs pos="74000">
                <a:srgbClr val="4F81BD">
                  <a:lumMod val="45000"/>
                  <a:lumOff val="55000"/>
                </a:srgbClr>
              </a:gs>
              <a:gs pos="83000">
                <a:srgbClr val="4F81BD">
                  <a:lumMod val="45000"/>
                  <a:lumOff val="55000"/>
                </a:srgbClr>
              </a:gs>
              <a:gs pos="100000">
                <a:srgbClr val="4F81BD">
                  <a:lumMod val="30000"/>
                  <a:lumOff val="70000"/>
                </a:srgbClr>
              </a:gs>
            </a:gsLst>
            <a:lin ang="5400000" scaled="1"/>
            <a:tileRect/>
          </a:gradFill>
          <a:ln w="3175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vert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kern="0" dirty="0">
                <a:solidFill>
                  <a:prstClr val="black"/>
                </a:solidFill>
                <a:latin typeface="+mn-lt"/>
                <a:cs typeface="+mn-cs"/>
              </a:rPr>
              <a:t>6</a:t>
            </a:r>
          </a:p>
        </p:txBody>
      </p:sp>
      <p:sp>
        <p:nvSpPr>
          <p:cNvPr id="10" name="Round Same Side Corner Rectangle 10">
            <a:extLst>
              <a:ext uri="{FF2B5EF4-FFF2-40B4-BE49-F238E27FC236}">
                <a16:creationId xmlns:a16="http://schemas.microsoft.com/office/drawing/2014/main" id="{0C92E109-C89F-4803-8700-80249A82CD58}"/>
              </a:ext>
            </a:extLst>
          </p:cNvPr>
          <p:cNvSpPr/>
          <p:nvPr/>
        </p:nvSpPr>
        <p:spPr>
          <a:xfrm rot="5400000">
            <a:off x="4507392" y="2111521"/>
            <a:ext cx="658368" cy="2093976"/>
          </a:xfrm>
          <a:prstGeom prst="round2SameRect">
            <a:avLst>
              <a:gd name="adj1" fmla="val 19842"/>
              <a:gd name="adj2" fmla="val 0"/>
            </a:avLst>
          </a:prstGeom>
          <a:gradFill flip="none" rotWithShape="1">
            <a:gsLst>
              <a:gs pos="0">
                <a:srgbClr val="9BBB59">
                  <a:lumMod val="5000"/>
                  <a:lumOff val="95000"/>
                </a:srgbClr>
              </a:gs>
              <a:gs pos="74000">
                <a:srgbClr val="9BBB59">
                  <a:lumMod val="45000"/>
                  <a:lumOff val="55000"/>
                </a:srgbClr>
              </a:gs>
              <a:gs pos="83000">
                <a:srgbClr val="9BBB59">
                  <a:lumMod val="45000"/>
                  <a:lumOff val="55000"/>
                </a:srgbClr>
              </a:gs>
              <a:gs pos="100000">
                <a:srgbClr val="9BBB59">
                  <a:lumMod val="30000"/>
                  <a:lumOff val="70000"/>
                </a:srgbClr>
              </a:gs>
            </a:gsLst>
            <a:lin ang="5400000" scaled="1"/>
            <a:tileRect/>
          </a:gradFill>
          <a:ln w="3175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vert27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kern="0" dirty="0">
                <a:solidFill>
                  <a:prstClr val="black"/>
                </a:solidFill>
                <a:latin typeface="+mn-lt"/>
                <a:cs typeface="+mn-cs"/>
              </a:rPr>
              <a:t>Session</a:t>
            </a:r>
          </a:p>
        </p:txBody>
      </p:sp>
      <p:sp>
        <p:nvSpPr>
          <p:cNvPr id="11" name="Round Same Side Corner Rectangle 11">
            <a:extLst>
              <a:ext uri="{FF2B5EF4-FFF2-40B4-BE49-F238E27FC236}">
                <a16:creationId xmlns:a16="http://schemas.microsoft.com/office/drawing/2014/main" id="{89137F2B-EB9C-4825-AA73-62EAF2E016A0}"/>
              </a:ext>
            </a:extLst>
          </p:cNvPr>
          <p:cNvSpPr/>
          <p:nvPr/>
        </p:nvSpPr>
        <p:spPr>
          <a:xfrm rot="16200000">
            <a:off x="3119028" y="2881140"/>
            <a:ext cx="658368" cy="554736"/>
          </a:xfrm>
          <a:prstGeom prst="round2SameRect">
            <a:avLst>
              <a:gd name="adj1" fmla="val 19842"/>
              <a:gd name="adj2" fmla="val 0"/>
            </a:avLst>
          </a:prstGeom>
          <a:gradFill flip="none" rotWithShape="1">
            <a:gsLst>
              <a:gs pos="0">
                <a:srgbClr val="9BBB59">
                  <a:lumMod val="5000"/>
                  <a:lumOff val="95000"/>
                </a:srgbClr>
              </a:gs>
              <a:gs pos="74000">
                <a:srgbClr val="9BBB59">
                  <a:lumMod val="45000"/>
                  <a:lumOff val="55000"/>
                </a:srgbClr>
              </a:gs>
              <a:gs pos="83000">
                <a:srgbClr val="9BBB59">
                  <a:lumMod val="45000"/>
                  <a:lumOff val="55000"/>
                </a:srgbClr>
              </a:gs>
              <a:gs pos="100000">
                <a:srgbClr val="9BBB59">
                  <a:lumMod val="30000"/>
                  <a:lumOff val="70000"/>
                </a:srgbClr>
              </a:gs>
            </a:gsLst>
            <a:lin ang="5400000" scaled="1"/>
            <a:tileRect/>
          </a:gradFill>
          <a:ln w="3175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vert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kern="0" dirty="0">
                <a:solidFill>
                  <a:prstClr val="black"/>
                </a:solidFill>
                <a:latin typeface="+mn-lt"/>
                <a:cs typeface="+mn-cs"/>
              </a:rPr>
              <a:t>5</a:t>
            </a:r>
          </a:p>
        </p:txBody>
      </p:sp>
      <p:sp>
        <p:nvSpPr>
          <p:cNvPr id="12" name="Round Same Side Corner Rectangle 12">
            <a:extLst>
              <a:ext uri="{FF2B5EF4-FFF2-40B4-BE49-F238E27FC236}">
                <a16:creationId xmlns:a16="http://schemas.microsoft.com/office/drawing/2014/main" id="{B0EDDAC9-1E1F-404A-B868-22C915017FAF}"/>
              </a:ext>
            </a:extLst>
          </p:cNvPr>
          <p:cNvSpPr/>
          <p:nvPr/>
        </p:nvSpPr>
        <p:spPr>
          <a:xfrm rot="5400000">
            <a:off x="4507392" y="2814085"/>
            <a:ext cx="658368" cy="2093976"/>
          </a:xfrm>
          <a:prstGeom prst="round2SameRect">
            <a:avLst>
              <a:gd name="adj1" fmla="val 19842"/>
              <a:gd name="adj2" fmla="val 0"/>
            </a:avLst>
          </a:prstGeom>
          <a:gradFill flip="none" rotWithShape="1">
            <a:gsLst>
              <a:gs pos="0">
                <a:srgbClr val="4F81BD">
                  <a:lumMod val="5000"/>
                  <a:lumOff val="95000"/>
                </a:srgbClr>
              </a:gs>
              <a:gs pos="74000">
                <a:srgbClr val="4F81BD">
                  <a:lumMod val="45000"/>
                  <a:lumOff val="55000"/>
                </a:srgbClr>
              </a:gs>
              <a:gs pos="83000">
                <a:srgbClr val="4F81BD">
                  <a:lumMod val="45000"/>
                  <a:lumOff val="55000"/>
                </a:srgbClr>
              </a:gs>
              <a:gs pos="100000">
                <a:srgbClr val="4F81BD">
                  <a:lumMod val="30000"/>
                  <a:lumOff val="70000"/>
                </a:srgbClr>
              </a:gs>
            </a:gsLst>
            <a:lin ang="5400000" scaled="1"/>
            <a:tileRect/>
          </a:gradFill>
          <a:ln w="3175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vert27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kern="0" dirty="0">
                <a:solidFill>
                  <a:prstClr val="black"/>
                </a:solidFill>
                <a:latin typeface="+mn-lt"/>
                <a:cs typeface="+mn-cs"/>
              </a:rPr>
              <a:t>Transport</a:t>
            </a:r>
          </a:p>
        </p:txBody>
      </p:sp>
      <p:sp>
        <p:nvSpPr>
          <p:cNvPr id="13" name="Round Same Side Corner Rectangle 13">
            <a:extLst>
              <a:ext uri="{FF2B5EF4-FFF2-40B4-BE49-F238E27FC236}">
                <a16:creationId xmlns:a16="http://schemas.microsoft.com/office/drawing/2014/main" id="{AB876893-050D-4AD6-88E2-8D372FD8A6C8}"/>
              </a:ext>
            </a:extLst>
          </p:cNvPr>
          <p:cNvSpPr/>
          <p:nvPr/>
        </p:nvSpPr>
        <p:spPr>
          <a:xfrm rot="16200000">
            <a:off x="3119028" y="3582180"/>
            <a:ext cx="658368" cy="554736"/>
          </a:xfrm>
          <a:prstGeom prst="round2SameRect">
            <a:avLst>
              <a:gd name="adj1" fmla="val 19842"/>
              <a:gd name="adj2" fmla="val 0"/>
            </a:avLst>
          </a:prstGeom>
          <a:gradFill flip="none" rotWithShape="1">
            <a:gsLst>
              <a:gs pos="0">
                <a:srgbClr val="4F81BD">
                  <a:lumMod val="5000"/>
                  <a:lumOff val="95000"/>
                </a:srgbClr>
              </a:gs>
              <a:gs pos="74000">
                <a:srgbClr val="4F81BD">
                  <a:lumMod val="45000"/>
                  <a:lumOff val="55000"/>
                </a:srgbClr>
              </a:gs>
              <a:gs pos="83000">
                <a:srgbClr val="4F81BD">
                  <a:lumMod val="45000"/>
                  <a:lumOff val="55000"/>
                </a:srgbClr>
              </a:gs>
              <a:gs pos="100000">
                <a:srgbClr val="4F81BD">
                  <a:lumMod val="30000"/>
                  <a:lumOff val="70000"/>
                </a:srgbClr>
              </a:gs>
            </a:gsLst>
            <a:lin ang="5400000" scaled="1"/>
            <a:tileRect/>
          </a:gradFill>
          <a:ln w="3175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vert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kern="0" dirty="0">
                <a:solidFill>
                  <a:prstClr val="black"/>
                </a:solidFill>
                <a:latin typeface="+mn-lt"/>
                <a:cs typeface="+mn-cs"/>
              </a:rPr>
              <a:t>4</a:t>
            </a:r>
          </a:p>
        </p:txBody>
      </p:sp>
      <p:sp>
        <p:nvSpPr>
          <p:cNvPr id="14" name="Round Same Side Corner Rectangle 14">
            <a:extLst>
              <a:ext uri="{FF2B5EF4-FFF2-40B4-BE49-F238E27FC236}">
                <a16:creationId xmlns:a16="http://schemas.microsoft.com/office/drawing/2014/main" id="{B0617BFF-9809-4B44-9FB2-9306F47F2FD6}"/>
              </a:ext>
            </a:extLst>
          </p:cNvPr>
          <p:cNvSpPr/>
          <p:nvPr/>
        </p:nvSpPr>
        <p:spPr>
          <a:xfrm rot="5400000">
            <a:off x="4507392" y="3518173"/>
            <a:ext cx="658368" cy="2093976"/>
          </a:xfrm>
          <a:prstGeom prst="round2SameRect">
            <a:avLst>
              <a:gd name="adj1" fmla="val 19842"/>
              <a:gd name="adj2" fmla="val 0"/>
            </a:avLst>
          </a:prstGeom>
          <a:gradFill flip="none" rotWithShape="1">
            <a:gsLst>
              <a:gs pos="0">
                <a:srgbClr val="9BBB59">
                  <a:lumMod val="5000"/>
                  <a:lumOff val="95000"/>
                </a:srgbClr>
              </a:gs>
              <a:gs pos="74000">
                <a:srgbClr val="9BBB59">
                  <a:lumMod val="45000"/>
                  <a:lumOff val="55000"/>
                </a:srgbClr>
              </a:gs>
              <a:gs pos="83000">
                <a:srgbClr val="9BBB59">
                  <a:lumMod val="45000"/>
                  <a:lumOff val="55000"/>
                </a:srgbClr>
              </a:gs>
              <a:gs pos="100000">
                <a:srgbClr val="9BBB59">
                  <a:lumMod val="30000"/>
                  <a:lumOff val="70000"/>
                </a:srgbClr>
              </a:gs>
            </a:gsLst>
            <a:lin ang="5400000" scaled="1"/>
            <a:tileRect/>
          </a:gradFill>
          <a:ln w="3175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vert27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kern="0" dirty="0">
                <a:solidFill>
                  <a:prstClr val="black"/>
                </a:solidFill>
                <a:latin typeface="+mn-lt"/>
                <a:cs typeface="+mn-cs"/>
              </a:rPr>
              <a:t>Network</a:t>
            </a:r>
          </a:p>
        </p:txBody>
      </p:sp>
      <p:sp>
        <p:nvSpPr>
          <p:cNvPr id="15" name="Round Same Side Corner Rectangle 15">
            <a:extLst>
              <a:ext uri="{FF2B5EF4-FFF2-40B4-BE49-F238E27FC236}">
                <a16:creationId xmlns:a16="http://schemas.microsoft.com/office/drawing/2014/main" id="{F7241534-E454-4A08-A99D-F424F6BF923A}"/>
              </a:ext>
            </a:extLst>
          </p:cNvPr>
          <p:cNvSpPr/>
          <p:nvPr/>
        </p:nvSpPr>
        <p:spPr>
          <a:xfrm rot="16200000">
            <a:off x="3119028" y="4286268"/>
            <a:ext cx="658368" cy="554736"/>
          </a:xfrm>
          <a:prstGeom prst="round2SameRect">
            <a:avLst>
              <a:gd name="adj1" fmla="val 19842"/>
              <a:gd name="adj2" fmla="val 0"/>
            </a:avLst>
          </a:prstGeom>
          <a:gradFill flip="none" rotWithShape="1">
            <a:gsLst>
              <a:gs pos="0">
                <a:srgbClr val="9BBB59">
                  <a:lumMod val="5000"/>
                  <a:lumOff val="95000"/>
                </a:srgbClr>
              </a:gs>
              <a:gs pos="74000">
                <a:srgbClr val="9BBB59">
                  <a:lumMod val="45000"/>
                  <a:lumOff val="55000"/>
                </a:srgbClr>
              </a:gs>
              <a:gs pos="83000">
                <a:srgbClr val="9BBB59">
                  <a:lumMod val="45000"/>
                  <a:lumOff val="55000"/>
                </a:srgbClr>
              </a:gs>
              <a:gs pos="100000">
                <a:srgbClr val="9BBB59">
                  <a:lumMod val="30000"/>
                  <a:lumOff val="70000"/>
                </a:srgbClr>
              </a:gs>
            </a:gsLst>
            <a:lin ang="5400000" scaled="1"/>
            <a:tileRect/>
          </a:gradFill>
          <a:ln w="3175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vert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kern="0" dirty="0">
                <a:solidFill>
                  <a:prstClr val="black"/>
                </a:solidFill>
                <a:latin typeface="+mn-lt"/>
                <a:cs typeface="+mn-cs"/>
              </a:rPr>
              <a:t>3</a:t>
            </a:r>
          </a:p>
        </p:txBody>
      </p:sp>
      <p:sp>
        <p:nvSpPr>
          <p:cNvPr id="16" name="Round Same Side Corner Rectangle 16">
            <a:extLst>
              <a:ext uri="{FF2B5EF4-FFF2-40B4-BE49-F238E27FC236}">
                <a16:creationId xmlns:a16="http://schemas.microsoft.com/office/drawing/2014/main" id="{B3E944B6-EEE7-4077-8B4B-3BA91CFAF5BE}"/>
              </a:ext>
            </a:extLst>
          </p:cNvPr>
          <p:cNvSpPr/>
          <p:nvPr/>
        </p:nvSpPr>
        <p:spPr>
          <a:xfrm rot="5400000">
            <a:off x="4507392" y="4219212"/>
            <a:ext cx="658368" cy="2093976"/>
          </a:xfrm>
          <a:prstGeom prst="round2SameRect">
            <a:avLst>
              <a:gd name="adj1" fmla="val 19842"/>
              <a:gd name="adj2" fmla="val 0"/>
            </a:avLst>
          </a:prstGeom>
          <a:gradFill flip="none" rotWithShape="1">
            <a:gsLst>
              <a:gs pos="0">
                <a:srgbClr val="4F81BD">
                  <a:lumMod val="5000"/>
                  <a:lumOff val="95000"/>
                </a:srgbClr>
              </a:gs>
              <a:gs pos="74000">
                <a:srgbClr val="4F81BD">
                  <a:lumMod val="45000"/>
                  <a:lumOff val="55000"/>
                </a:srgbClr>
              </a:gs>
              <a:gs pos="83000">
                <a:srgbClr val="4F81BD">
                  <a:lumMod val="45000"/>
                  <a:lumOff val="55000"/>
                </a:srgbClr>
              </a:gs>
              <a:gs pos="100000">
                <a:srgbClr val="4F81BD">
                  <a:lumMod val="30000"/>
                  <a:lumOff val="70000"/>
                </a:srgbClr>
              </a:gs>
            </a:gsLst>
            <a:lin ang="5400000" scaled="1"/>
            <a:tileRect/>
          </a:gradFill>
          <a:ln w="3175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vert27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kern="0" dirty="0">
                <a:solidFill>
                  <a:prstClr val="black"/>
                </a:solidFill>
                <a:latin typeface="+mn-lt"/>
                <a:cs typeface="+mn-cs"/>
              </a:rPr>
              <a:t>Data Link</a:t>
            </a:r>
          </a:p>
        </p:txBody>
      </p:sp>
      <p:sp>
        <p:nvSpPr>
          <p:cNvPr id="17" name="Round Same Side Corner Rectangle 17">
            <a:extLst>
              <a:ext uri="{FF2B5EF4-FFF2-40B4-BE49-F238E27FC236}">
                <a16:creationId xmlns:a16="http://schemas.microsoft.com/office/drawing/2014/main" id="{00FCAB18-AF6B-4C0D-932D-1000CCDE92BD}"/>
              </a:ext>
            </a:extLst>
          </p:cNvPr>
          <p:cNvSpPr/>
          <p:nvPr/>
        </p:nvSpPr>
        <p:spPr>
          <a:xfrm rot="16200000">
            <a:off x="3119028" y="4990356"/>
            <a:ext cx="658368" cy="554736"/>
          </a:xfrm>
          <a:prstGeom prst="round2SameRect">
            <a:avLst>
              <a:gd name="adj1" fmla="val 19842"/>
              <a:gd name="adj2" fmla="val 0"/>
            </a:avLst>
          </a:prstGeom>
          <a:gradFill flip="none" rotWithShape="1">
            <a:gsLst>
              <a:gs pos="0">
                <a:srgbClr val="4F81BD">
                  <a:lumMod val="5000"/>
                  <a:lumOff val="95000"/>
                </a:srgbClr>
              </a:gs>
              <a:gs pos="74000">
                <a:srgbClr val="4F81BD">
                  <a:lumMod val="45000"/>
                  <a:lumOff val="55000"/>
                </a:srgbClr>
              </a:gs>
              <a:gs pos="83000">
                <a:srgbClr val="4F81BD">
                  <a:lumMod val="45000"/>
                  <a:lumOff val="55000"/>
                </a:srgbClr>
              </a:gs>
              <a:gs pos="100000">
                <a:srgbClr val="4F81BD">
                  <a:lumMod val="30000"/>
                  <a:lumOff val="70000"/>
                </a:srgbClr>
              </a:gs>
            </a:gsLst>
            <a:lin ang="5400000" scaled="1"/>
            <a:tileRect/>
          </a:gradFill>
          <a:ln w="3175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vert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kern="0" dirty="0">
                <a:solidFill>
                  <a:prstClr val="black"/>
                </a:solidFill>
                <a:latin typeface="+mn-lt"/>
                <a:cs typeface="+mn-cs"/>
              </a:rPr>
              <a:t>2</a:t>
            </a:r>
          </a:p>
        </p:txBody>
      </p:sp>
      <p:sp>
        <p:nvSpPr>
          <p:cNvPr id="18" name="Round Same Side Corner Rectangle 18">
            <a:extLst>
              <a:ext uri="{FF2B5EF4-FFF2-40B4-BE49-F238E27FC236}">
                <a16:creationId xmlns:a16="http://schemas.microsoft.com/office/drawing/2014/main" id="{BBB51BD1-780B-4913-9960-5B91B1F60692}"/>
              </a:ext>
            </a:extLst>
          </p:cNvPr>
          <p:cNvSpPr/>
          <p:nvPr/>
        </p:nvSpPr>
        <p:spPr>
          <a:xfrm rot="5400000">
            <a:off x="4507392" y="4920251"/>
            <a:ext cx="658368" cy="2093976"/>
          </a:xfrm>
          <a:prstGeom prst="round2SameRect">
            <a:avLst>
              <a:gd name="adj1" fmla="val 19842"/>
              <a:gd name="adj2" fmla="val 0"/>
            </a:avLst>
          </a:prstGeom>
          <a:gradFill flip="none" rotWithShape="1">
            <a:gsLst>
              <a:gs pos="0">
                <a:srgbClr val="9BBB59">
                  <a:lumMod val="5000"/>
                  <a:lumOff val="95000"/>
                </a:srgbClr>
              </a:gs>
              <a:gs pos="74000">
                <a:srgbClr val="9BBB59">
                  <a:lumMod val="45000"/>
                  <a:lumOff val="55000"/>
                </a:srgbClr>
              </a:gs>
              <a:gs pos="83000">
                <a:srgbClr val="9BBB59">
                  <a:lumMod val="45000"/>
                  <a:lumOff val="55000"/>
                </a:srgbClr>
              </a:gs>
              <a:gs pos="100000">
                <a:srgbClr val="9BBB59">
                  <a:lumMod val="30000"/>
                  <a:lumOff val="70000"/>
                </a:srgbClr>
              </a:gs>
            </a:gsLst>
            <a:lin ang="5400000" scaled="1"/>
            <a:tileRect/>
          </a:gradFill>
          <a:ln w="3175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vert27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kern="0" dirty="0">
                <a:solidFill>
                  <a:prstClr val="black"/>
                </a:solidFill>
                <a:latin typeface="+mn-lt"/>
                <a:cs typeface="+mn-cs"/>
              </a:rPr>
              <a:t>Physical</a:t>
            </a:r>
          </a:p>
        </p:txBody>
      </p:sp>
      <p:sp>
        <p:nvSpPr>
          <p:cNvPr id="19" name="Round Same Side Corner Rectangle 19">
            <a:extLst>
              <a:ext uri="{FF2B5EF4-FFF2-40B4-BE49-F238E27FC236}">
                <a16:creationId xmlns:a16="http://schemas.microsoft.com/office/drawing/2014/main" id="{594FDACD-D193-4239-ACCB-4BACE8D44F68}"/>
              </a:ext>
            </a:extLst>
          </p:cNvPr>
          <p:cNvSpPr/>
          <p:nvPr/>
        </p:nvSpPr>
        <p:spPr>
          <a:xfrm rot="16200000">
            <a:off x="3119028" y="5689870"/>
            <a:ext cx="658368" cy="554736"/>
          </a:xfrm>
          <a:prstGeom prst="round2SameRect">
            <a:avLst>
              <a:gd name="adj1" fmla="val 19842"/>
              <a:gd name="adj2" fmla="val 0"/>
            </a:avLst>
          </a:prstGeom>
          <a:gradFill flip="none" rotWithShape="1">
            <a:gsLst>
              <a:gs pos="0">
                <a:srgbClr val="9BBB59">
                  <a:lumMod val="5000"/>
                  <a:lumOff val="95000"/>
                </a:srgbClr>
              </a:gs>
              <a:gs pos="74000">
                <a:srgbClr val="9BBB59">
                  <a:lumMod val="45000"/>
                  <a:lumOff val="55000"/>
                </a:srgbClr>
              </a:gs>
              <a:gs pos="83000">
                <a:srgbClr val="9BBB59">
                  <a:lumMod val="45000"/>
                  <a:lumOff val="55000"/>
                </a:srgbClr>
              </a:gs>
              <a:gs pos="100000">
                <a:srgbClr val="9BBB59">
                  <a:lumMod val="30000"/>
                  <a:lumOff val="70000"/>
                </a:srgbClr>
              </a:gs>
            </a:gsLst>
            <a:lin ang="5400000" scaled="1"/>
            <a:tileRect/>
          </a:gradFill>
          <a:ln w="3175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vert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kern="0" dirty="0">
                <a:solidFill>
                  <a:prstClr val="black"/>
                </a:solidFill>
                <a:latin typeface="+mn-lt"/>
                <a:cs typeface="+mn-cs"/>
              </a:rPr>
              <a:t>1</a:t>
            </a:r>
          </a:p>
        </p:txBody>
      </p:sp>
      <p:sp>
        <p:nvSpPr>
          <p:cNvPr id="20" name="Round Same Side Corner Rectangle 20">
            <a:extLst>
              <a:ext uri="{FF2B5EF4-FFF2-40B4-BE49-F238E27FC236}">
                <a16:creationId xmlns:a16="http://schemas.microsoft.com/office/drawing/2014/main" id="{A087EE94-E7F8-42F0-99A6-943577A5FC6D}"/>
              </a:ext>
            </a:extLst>
          </p:cNvPr>
          <p:cNvSpPr/>
          <p:nvPr/>
        </p:nvSpPr>
        <p:spPr>
          <a:xfrm rot="5400000">
            <a:off x="7802416" y="697250"/>
            <a:ext cx="658368" cy="2093976"/>
          </a:xfrm>
          <a:prstGeom prst="round2SameRect">
            <a:avLst>
              <a:gd name="adj1" fmla="val 19842"/>
              <a:gd name="adj2" fmla="val 0"/>
            </a:avLst>
          </a:prstGeom>
          <a:gradFill flip="none" rotWithShape="1">
            <a:gsLst>
              <a:gs pos="0">
                <a:srgbClr val="9BBB59">
                  <a:lumMod val="5000"/>
                  <a:lumOff val="95000"/>
                </a:srgbClr>
              </a:gs>
              <a:gs pos="74000">
                <a:srgbClr val="9BBB59">
                  <a:lumMod val="45000"/>
                  <a:lumOff val="55000"/>
                </a:srgbClr>
              </a:gs>
              <a:gs pos="83000">
                <a:srgbClr val="9BBB59">
                  <a:lumMod val="45000"/>
                  <a:lumOff val="55000"/>
                </a:srgbClr>
              </a:gs>
              <a:gs pos="100000">
                <a:srgbClr val="9BBB59">
                  <a:lumMod val="30000"/>
                  <a:lumOff val="70000"/>
                </a:srgbClr>
              </a:gs>
            </a:gsLst>
            <a:lin ang="5400000" scaled="1"/>
            <a:tileRect/>
          </a:gradFill>
          <a:ln w="3175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vert27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kern="0" dirty="0">
                <a:solidFill>
                  <a:prstClr val="black"/>
                </a:solidFill>
                <a:latin typeface="+mn-lt"/>
                <a:cs typeface="+mn-cs"/>
              </a:rPr>
              <a:t>Application</a:t>
            </a:r>
          </a:p>
        </p:txBody>
      </p:sp>
      <p:sp>
        <p:nvSpPr>
          <p:cNvPr id="21" name="Round Same Side Corner Rectangle 21">
            <a:extLst>
              <a:ext uri="{FF2B5EF4-FFF2-40B4-BE49-F238E27FC236}">
                <a16:creationId xmlns:a16="http://schemas.microsoft.com/office/drawing/2014/main" id="{B3F3E0A9-0D8C-4578-811A-75EBB8F41489}"/>
              </a:ext>
            </a:extLst>
          </p:cNvPr>
          <p:cNvSpPr/>
          <p:nvPr/>
        </p:nvSpPr>
        <p:spPr>
          <a:xfrm rot="16200000">
            <a:off x="6414052" y="1466869"/>
            <a:ext cx="658368" cy="554736"/>
          </a:xfrm>
          <a:prstGeom prst="round2SameRect">
            <a:avLst>
              <a:gd name="adj1" fmla="val 19842"/>
              <a:gd name="adj2" fmla="val 0"/>
            </a:avLst>
          </a:prstGeom>
          <a:gradFill flip="none" rotWithShape="1">
            <a:gsLst>
              <a:gs pos="0">
                <a:srgbClr val="9BBB59">
                  <a:lumMod val="5000"/>
                  <a:lumOff val="95000"/>
                </a:srgbClr>
              </a:gs>
              <a:gs pos="74000">
                <a:srgbClr val="9BBB59">
                  <a:lumMod val="45000"/>
                  <a:lumOff val="55000"/>
                </a:srgbClr>
              </a:gs>
              <a:gs pos="83000">
                <a:srgbClr val="9BBB59">
                  <a:lumMod val="45000"/>
                  <a:lumOff val="55000"/>
                </a:srgbClr>
              </a:gs>
              <a:gs pos="100000">
                <a:srgbClr val="9BBB59">
                  <a:lumMod val="30000"/>
                  <a:lumOff val="70000"/>
                </a:srgbClr>
              </a:gs>
            </a:gsLst>
            <a:lin ang="5400000" scaled="1"/>
            <a:tileRect/>
          </a:gradFill>
          <a:ln w="3175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vert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kern="0" dirty="0">
                <a:solidFill>
                  <a:prstClr val="black"/>
                </a:solidFill>
                <a:latin typeface="+mn-lt"/>
                <a:cs typeface="+mn-cs"/>
              </a:rPr>
              <a:t>7</a:t>
            </a:r>
          </a:p>
        </p:txBody>
      </p:sp>
      <p:sp>
        <p:nvSpPr>
          <p:cNvPr id="22" name="Round Same Side Corner Rectangle 22">
            <a:extLst>
              <a:ext uri="{FF2B5EF4-FFF2-40B4-BE49-F238E27FC236}">
                <a16:creationId xmlns:a16="http://schemas.microsoft.com/office/drawing/2014/main" id="{E790809F-A77F-448E-B31F-2757738462F5}"/>
              </a:ext>
            </a:extLst>
          </p:cNvPr>
          <p:cNvSpPr/>
          <p:nvPr/>
        </p:nvSpPr>
        <p:spPr>
          <a:xfrm rot="5400000">
            <a:off x="7802416" y="1404386"/>
            <a:ext cx="658368" cy="2093976"/>
          </a:xfrm>
          <a:prstGeom prst="round2SameRect">
            <a:avLst>
              <a:gd name="adj1" fmla="val 19842"/>
              <a:gd name="adj2" fmla="val 0"/>
            </a:avLst>
          </a:prstGeom>
          <a:gradFill flip="none" rotWithShape="1">
            <a:gsLst>
              <a:gs pos="0">
                <a:srgbClr val="4F81BD">
                  <a:lumMod val="5000"/>
                  <a:lumOff val="95000"/>
                </a:srgbClr>
              </a:gs>
              <a:gs pos="74000">
                <a:srgbClr val="4F81BD">
                  <a:lumMod val="45000"/>
                  <a:lumOff val="55000"/>
                </a:srgbClr>
              </a:gs>
              <a:gs pos="83000">
                <a:srgbClr val="4F81BD">
                  <a:lumMod val="45000"/>
                  <a:lumOff val="55000"/>
                </a:srgbClr>
              </a:gs>
              <a:gs pos="100000">
                <a:srgbClr val="4F81BD">
                  <a:lumMod val="30000"/>
                  <a:lumOff val="70000"/>
                </a:srgbClr>
              </a:gs>
            </a:gsLst>
            <a:lin ang="5400000" scaled="1"/>
            <a:tileRect/>
          </a:gradFill>
          <a:ln w="3175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vert27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kern="0" dirty="0">
                <a:solidFill>
                  <a:prstClr val="black"/>
                </a:solidFill>
                <a:latin typeface="+mn-lt"/>
                <a:cs typeface="+mn-cs"/>
              </a:rPr>
              <a:t>Presentation</a:t>
            </a:r>
          </a:p>
        </p:txBody>
      </p:sp>
      <p:sp>
        <p:nvSpPr>
          <p:cNvPr id="23" name="Round Same Side Corner Rectangle 23">
            <a:extLst>
              <a:ext uri="{FF2B5EF4-FFF2-40B4-BE49-F238E27FC236}">
                <a16:creationId xmlns:a16="http://schemas.microsoft.com/office/drawing/2014/main" id="{C151785D-EE66-4A18-851E-00916285A91A}"/>
              </a:ext>
            </a:extLst>
          </p:cNvPr>
          <p:cNvSpPr/>
          <p:nvPr/>
        </p:nvSpPr>
        <p:spPr>
          <a:xfrm rot="16200000">
            <a:off x="6414052" y="2174005"/>
            <a:ext cx="658368" cy="554736"/>
          </a:xfrm>
          <a:prstGeom prst="round2SameRect">
            <a:avLst>
              <a:gd name="adj1" fmla="val 19842"/>
              <a:gd name="adj2" fmla="val 0"/>
            </a:avLst>
          </a:prstGeom>
          <a:gradFill flip="none" rotWithShape="1">
            <a:gsLst>
              <a:gs pos="0">
                <a:srgbClr val="4F81BD">
                  <a:lumMod val="5000"/>
                  <a:lumOff val="95000"/>
                </a:srgbClr>
              </a:gs>
              <a:gs pos="74000">
                <a:srgbClr val="4F81BD">
                  <a:lumMod val="45000"/>
                  <a:lumOff val="55000"/>
                </a:srgbClr>
              </a:gs>
              <a:gs pos="83000">
                <a:srgbClr val="4F81BD">
                  <a:lumMod val="45000"/>
                  <a:lumOff val="55000"/>
                </a:srgbClr>
              </a:gs>
              <a:gs pos="100000">
                <a:srgbClr val="4F81BD">
                  <a:lumMod val="30000"/>
                  <a:lumOff val="70000"/>
                </a:srgbClr>
              </a:gs>
            </a:gsLst>
            <a:lin ang="5400000" scaled="1"/>
            <a:tileRect/>
          </a:gradFill>
          <a:ln w="3175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vert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kern="0" dirty="0">
                <a:solidFill>
                  <a:prstClr val="black"/>
                </a:solidFill>
                <a:latin typeface="+mn-lt"/>
                <a:cs typeface="+mn-cs"/>
              </a:rPr>
              <a:t>6</a:t>
            </a:r>
          </a:p>
        </p:txBody>
      </p:sp>
      <p:sp>
        <p:nvSpPr>
          <p:cNvPr id="24" name="Round Same Side Corner Rectangle 24">
            <a:extLst>
              <a:ext uri="{FF2B5EF4-FFF2-40B4-BE49-F238E27FC236}">
                <a16:creationId xmlns:a16="http://schemas.microsoft.com/office/drawing/2014/main" id="{35933016-14C0-4C74-AE43-C5811A725809}"/>
              </a:ext>
            </a:extLst>
          </p:cNvPr>
          <p:cNvSpPr/>
          <p:nvPr/>
        </p:nvSpPr>
        <p:spPr>
          <a:xfrm rot="5400000">
            <a:off x="7802416" y="2111522"/>
            <a:ext cx="658368" cy="2093976"/>
          </a:xfrm>
          <a:prstGeom prst="round2SameRect">
            <a:avLst>
              <a:gd name="adj1" fmla="val 19842"/>
              <a:gd name="adj2" fmla="val 0"/>
            </a:avLst>
          </a:prstGeom>
          <a:gradFill flip="none" rotWithShape="1">
            <a:gsLst>
              <a:gs pos="0">
                <a:srgbClr val="9BBB59">
                  <a:lumMod val="5000"/>
                  <a:lumOff val="95000"/>
                </a:srgbClr>
              </a:gs>
              <a:gs pos="74000">
                <a:srgbClr val="9BBB59">
                  <a:lumMod val="45000"/>
                  <a:lumOff val="55000"/>
                </a:srgbClr>
              </a:gs>
              <a:gs pos="83000">
                <a:srgbClr val="9BBB59">
                  <a:lumMod val="45000"/>
                  <a:lumOff val="55000"/>
                </a:srgbClr>
              </a:gs>
              <a:gs pos="100000">
                <a:srgbClr val="9BBB59">
                  <a:lumMod val="30000"/>
                  <a:lumOff val="70000"/>
                </a:srgbClr>
              </a:gs>
            </a:gsLst>
            <a:lin ang="5400000" scaled="1"/>
            <a:tileRect/>
          </a:gradFill>
          <a:ln w="3175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vert27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kern="0" dirty="0">
                <a:solidFill>
                  <a:prstClr val="black"/>
                </a:solidFill>
                <a:latin typeface="+mn-lt"/>
                <a:cs typeface="+mn-cs"/>
              </a:rPr>
              <a:t>Session</a:t>
            </a:r>
          </a:p>
        </p:txBody>
      </p:sp>
      <p:sp>
        <p:nvSpPr>
          <p:cNvPr id="25" name="Round Same Side Corner Rectangle 25">
            <a:extLst>
              <a:ext uri="{FF2B5EF4-FFF2-40B4-BE49-F238E27FC236}">
                <a16:creationId xmlns:a16="http://schemas.microsoft.com/office/drawing/2014/main" id="{8F97155D-4ED1-4537-993B-B5D609B1FD22}"/>
              </a:ext>
            </a:extLst>
          </p:cNvPr>
          <p:cNvSpPr/>
          <p:nvPr/>
        </p:nvSpPr>
        <p:spPr>
          <a:xfrm rot="16200000">
            <a:off x="6414052" y="2881141"/>
            <a:ext cx="658368" cy="554736"/>
          </a:xfrm>
          <a:prstGeom prst="round2SameRect">
            <a:avLst>
              <a:gd name="adj1" fmla="val 19842"/>
              <a:gd name="adj2" fmla="val 0"/>
            </a:avLst>
          </a:prstGeom>
          <a:gradFill flip="none" rotWithShape="1">
            <a:gsLst>
              <a:gs pos="0">
                <a:srgbClr val="9BBB59">
                  <a:lumMod val="5000"/>
                  <a:lumOff val="95000"/>
                </a:srgbClr>
              </a:gs>
              <a:gs pos="74000">
                <a:srgbClr val="9BBB59">
                  <a:lumMod val="45000"/>
                  <a:lumOff val="55000"/>
                </a:srgbClr>
              </a:gs>
              <a:gs pos="83000">
                <a:srgbClr val="9BBB59">
                  <a:lumMod val="45000"/>
                  <a:lumOff val="55000"/>
                </a:srgbClr>
              </a:gs>
              <a:gs pos="100000">
                <a:srgbClr val="9BBB59">
                  <a:lumMod val="30000"/>
                  <a:lumOff val="70000"/>
                </a:srgbClr>
              </a:gs>
            </a:gsLst>
            <a:lin ang="5400000" scaled="1"/>
            <a:tileRect/>
          </a:gradFill>
          <a:ln w="3175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vert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kern="0" dirty="0">
                <a:solidFill>
                  <a:prstClr val="black"/>
                </a:solidFill>
                <a:latin typeface="+mn-lt"/>
                <a:cs typeface="+mn-cs"/>
              </a:rPr>
              <a:t>5</a:t>
            </a:r>
          </a:p>
        </p:txBody>
      </p:sp>
      <p:sp>
        <p:nvSpPr>
          <p:cNvPr id="26" name="Round Same Side Corner Rectangle 26">
            <a:extLst>
              <a:ext uri="{FF2B5EF4-FFF2-40B4-BE49-F238E27FC236}">
                <a16:creationId xmlns:a16="http://schemas.microsoft.com/office/drawing/2014/main" id="{8F29E178-C3DA-4AF0-A08B-B32F1A9D9F7F}"/>
              </a:ext>
            </a:extLst>
          </p:cNvPr>
          <p:cNvSpPr/>
          <p:nvPr/>
        </p:nvSpPr>
        <p:spPr>
          <a:xfrm rot="5400000">
            <a:off x="7802416" y="2807736"/>
            <a:ext cx="658368" cy="2093976"/>
          </a:xfrm>
          <a:prstGeom prst="round2SameRect">
            <a:avLst>
              <a:gd name="adj1" fmla="val 19842"/>
              <a:gd name="adj2" fmla="val 0"/>
            </a:avLst>
          </a:prstGeom>
          <a:gradFill flip="none" rotWithShape="1">
            <a:gsLst>
              <a:gs pos="0">
                <a:srgbClr val="4F81BD">
                  <a:lumMod val="5000"/>
                  <a:lumOff val="95000"/>
                </a:srgbClr>
              </a:gs>
              <a:gs pos="74000">
                <a:srgbClr val="4F81BD">
                  <a:lumMod val="45000"/>
                  <a:lumOff val="55000"/>
                </a:srgbClr>
              </a:gs>
              <a:gs pos="83000">
                <a:srgbClr val="4F81BD">
                  <a:lumMod val="45000"/>
                  <a:lumOff val="55000"/>
                </a:srgbClr>
              </a:gs>
              <a:gs pos="100000">
                <a:srgbClr val="4F81BD">
                  <a:lumMod val="30000"/>
                  <a:lumOff val="70000"/>
                </a:srgbClr>
              </a:gs>
            </a:gsLst>
            <a:lin ang="5400000" scaled="1"/>
            <a:tileRect/>
          </a:gradFill>
          <a:ln w="3175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vert27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kern="0" dirty="0">
                <a:solidFill>
                  <a:prstClr val="black"/>
                </a:solidFill>
                <a:latin typeface="+mn-lt"/>
                <a:cs typeface="+mn-cs"/>
              </a:rPr>
              <a:t>Transport</a:t>
            </a:r>
          </a:p>
        </p:txBody>
      </p:sp>
      <p:sp>
        <p:nvSpPr>
          <p:cNvPr id="27" name="Round Same Side Corner Rectangle 27">
            <a:extLst>
              <a:ext uri="{FF2B5EF4-FFF2-40B4-BE49-F238E27FC236}">
                <a16:creationId xmlns:a16="http://schemas.microsoft.com/office/drawing/2014/main" id="{4EBD5F5F-EB10-4220-BAEC-7C0F2DBB6268}"/>
              </a:ext>
            </a:extLst>
          </p:cNvPr>
          <p:cNvSpPr/>
          <p:nvPr/>
        </p:nvSpPr>
        <p:spPr>
          <a:xfrm rot="16200000">
            <a:off x="6414052" y="3575831"/>
            <a:ext cx="658368" cy="554736"/>
          </a:xfrm>
          <a:prstGeom prst="round2SameRect">
            <a:avLst>
              <a:gd name="adj1" fmla="val 19842"/>
              <a:gd name="adj2" fmla="val 0"/>
            </a:avLst>
          </a:prstGeom>
          <a:gradFill flip="none" rotWithShape="1">
            <a:gsLst>
              <a:gs pos="0">
                <a:srgbClr val="4F81BD">
                  <a:lumMod val="5000"/>
                  <a:lumOff val="95000"/>
                </a:srgbClr>
              </a:gs>
              <a:gs pos="74000">
                <a:srgbClr val="4F81BD">
                  <a:lumMod val="45000"/>
                  <a:lumOff val="55000"/>
                </a:srgbClr>
              </a:gs>
              <a:gs pos="83000">
                <a:srgbClr val="4F81BD">
                  <a:lumMod val="45000"/>
                  <a:lumOff val="55000"/>
                </a:srgbClr>
              </a:gs>
              <a:gs pos="100000">
                <a:srgbClr val="4F81BD">
                  <a:lumMod val="30000"/>
                  <a:lumOff val="70000"/>
                </a:srgbClr>
              </a:gs>
            </a:gsLst>
            <a:lin ang="5400000" scaled="1"/>
            <a:tileRect/>
          </a:gradFill>
          <a:ln w="3175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vert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kern="0" dirty="0">
                <a:solidFill>
                  <a:prstClr val="black"/>
                </a:solidFill>
                <a:latin typeface="+mn-lt"/>
                <a:cs typeface="+mn-cs"/>
              </a:rPr>
              <a:t>4</a:t>
            </a:r>
          </a:p>
        </p:txBody>
      </p:sp>
      <p:sp>
        <p:nvSpPr>
          <p:cNvPr id="28" name="Round Same Side Corner Rectangle 28">
            <a:extLst>
              <a:ext uri="{FF2B5EF4-FFF2-40B4-BE49-F238E27FC236}">
                <a16:creationId xmlns:a16="http://schemas.microsoft.com/office/drawing/2014/main" id="{2BA0D3F0-07E2-43B7-9CEB-3503CBC92158}"/>
              </a:ext>
            </a:extLst>
          </p:cNvPr>
          <p:cNvSpPr/>
          <p:nvPr/>
        </p:nvSpPr>
        <p:spPr>
          <a:xfrm rot="5400000">
            <a:off x="7802416" y="3518174"/>
            <a:ext cx="658368" cy="2093976"/>
          </a:xfrm>
          <a:prstGeom prst="round2SameRect">
            <a:avLst>
              <a:gd name="adj1" fmla="val 19842"/>
              <a:gd name="adj2" fmla="val 0"/>
            </a:avLst>
          </a:prstGeom>
          <a:gradFill flip="none" rotWithShape="1">
            <a:gsLst>
              <a:gs pos="0">
                <a:srgbClr val="9BBB59">
                  <a:lumMod val="5000"/>
                  <a:lumOff val="95000"/>
                </a:srgbClr>
              </a:gs>
              <a:gs pos="74000">
                <a:srgbClr val="9BBB59">
                  <a:lumMod val="45000"/>
                  <a:lumOff val="55000"/>
                </a:srgbClr>
              </a:gs>
              <a:gs pos="83000">
                <a:srgbClr val="9BBB59">
                  <a:lumMod val="45000"/>
                  <a:lumOff val="55000"/>
                </a:srgbClr>
              </a:gs>
              <a:gs pos="100000">
                <a:srgbClr val="9BBB59">
                  <a:lumMod val="30000"/>
                  <a:lumOff val="70000"/>
                </a:srgbClr>
              </a:gs>
            </a:gsLst>
            <a:lin ang="5400000" scaled="1"/>
            <a:tileRect/>
          </a:gradFill>
          <a:ln w="3175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vert27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kern="0" dirty="0">
                <a:solidFill>
                  <a:prstClr val="black"/>
                </a:solidFill>
                <a:latin typeface="+mn-lt"/>
                <a:cs typeface="+mn-cs"/>
              </a:rPr>
              <a:t>Network</a:t>
            </a:r>
          </a:p>
        </p:txBody>
      </p:sp>
      <p:sp>
        <p:nvSpPr>
          <p:cNvPr id="29" name="Round Same Side Corner Rectangle 29">
            <a:extLst>
              <a:ext uri="{FF2B5EF4-FFF2-40B4-BE49-F238E27FC236}">
                <a16:creationId xmlns:a16="http://schemas.microsoft.com/office/drawing/2014/main" id="{F11F1B1B-9763-4989-8D8E-C3109115437F}"/>
              </a:ext>
            </a:extLst>
          </p:cNvPr>
          <p:cNvSpPr/>
          <p:nvPr/>
        </p:nvSpPr>
        <p:spPr>
          <a:xfrm rot="16200000">
            <a:off x="6414052" y="4286269"/>
            <a:ext cx="658368" cy="554736"/>
          </a:xfrm>
          <a:prstGeom prst="round2SameRect">
            <a:avLst>
              <a:gd name="adj1" fmla="val 19842"/>
              <a:gd name="adj2" fmla="val 0"/>
            </a:avLst>
          </a:prstGeom>
          <a:gradFill flip="none" rotWithShape="1">
            <a:gsLst>
              <a:gs pos="0">
                <a:srgbClr val="9BBB59">
                  <a:lumMod val="5000"/>
                  <a:lumOff val="95000"/>
                </a:srgbClr>
              </a:gs>
              <a:gs pos="74000">
                <a:srgbClr val="9BBB59">
                  <a:lumMod val="45000"/>
                  <a:lumOff val="55000"/>
                </a:srgbClr>
              </a:gs>
              <a:gs pos="83000">
                <a:srgbClr val="9BBB59">
                  <a:lumMod val="45000"/>
                  <a:lumOff val="55000"/>
                </a:srgbClr>
              </a:gs>
              <a:gs pos="100000">
                <a:srgbClr val="9BBB59">
                  <a:lumMod val="30000"/>
                  <a:lumOff val="70000"/>
                </a:srgbClr>
              </a:gs>
            </a:gsLst>
            <a:lin ang="5400000" scaled="1"/>
            <a:tileRect/>
          </a:gradFill>
          <a:ln w="3175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vert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kern="0" dirty="0">
                <a:solidFill>
                  <a:prstClr val="black"/>
                </a:solidFill>
                <a:latin typeface="+mn-lt"/>
                <a:cs typeface="+mn-cs"/>
              </a:rPr>
              <a:t>3</a:t>
            </a:r>
          </a:p>
        </p:txBody>
      </p:sp>
      <p:sp>
        <p:nvSpPr>
          <p:cNvPr id="30" name="Round Same Side Corner Rectangle 30">
            <a:extLst>
              <a:ext uri="{FF2B5EF4-FFF2-40B4-BE49-F238E27FC236}">
                <a16:creationId xmlns:a16="http://schemas.microsoft.com/office/drawing/2014/main" id="{4519DDF1-7061-44D1-89A4-E8BF88A96DD4}"/>
              </a:ext>
            </a:extLst>
          </p:cNvPr>
          <p:cNvSpPr/>
          <p:nvPr/>
        </p:nvSpPr>
        <p:spPr>
          <a:xfrm rot="5400000">
            <a:off x="7802416" y="4219213"/>
            <a:ext cx="658368" cy="2093976"/>
          </a:xfrm>
          <a:prstGeom prst="round2SameRect">
            <a:avLst>
              <a:gd name="adj1" fmla="val 19842"/>
              <a:gd name="adj2" fmla="val 0"/>
            </a:avLst>
          </a:prstGeom>
          <a:gradFill flip="none" rotWithShape="1">
            <a:gsLst>
              <a:gs pos="0">
                <a:srgbClr val="4F81BD">
                  <a:lumMod val="5000"/>
                  <a:lumOff val="95000"/>
                </a:srgbClr>
              </a:gs>
              <a:gs pos="74000">
                <a:srgbClr val="4F81BD">
                  <a:lumMod val="45000"/>
                  <a:lumOff val="55000"/>
                </a:srgbClr>
              </a:gs>
              <a:gs pos="83000">
                <a:srgbClr val="4F81BD">
                  <a:lumMod val="45000"/>
                  <a:lumOff val="55000"/>
                </a:srgbClr>
              </a:gs>
              <a:gs pos="100000">
                <a:srgbClr val="4F81BD">
                  <a:lumMod val="30000"/>
                  <a:lumOff val="70000"/>
                </a:srgbClr>
              </a:gs>
            </a:gsLst>
            <a:lin ang="5400000" scaled="1"/>
            <a:tileRect/>
          </a:gradFill>
          <a:ln w="3175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vert27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kern="0" dirty="0">
                <a:solidFill>
                  <a:prstClr val="black"/>
                </a:solidFill>
                <a:latin typeface="+mn-lt"/>
                <a:cs typeface="+mn-cs"/>
              </a:rPr>
              <a:t>Data Link</a:t>
            </a:r>
          </a:p>
        </p:txBody>
      </p:sp>
      <p:sp>
        <p:nvSpPr>
          <p:cNvPr id="31" name="Round Same Side Corner Rectangle 31">
            <a:extLst>
              <a:ext uri="{FF2B5EF4-FFF2-40B4-BE49-F238E27FC236}">
                <a16:creationId xmlns:a16="http://schemas.microsoft.com/office/drawing/2014/main" id="{6C0B2FE8-96CD-44DF-B779-E3615E1CDDB6}"/>
              </a:ext>
            </a:extLst>
          </p:cNvPr>
          <p:cNvSpPr/>
          <p:nvPr/>
        </p:nvSpPr>
        <p:spPr>
          <a:xfrm rot="16200000">
            <a:off x="6414052" y="4990357"/>
            <a:ext cx="658368" cy="554736"/>
          </a:xfrm>
          <a:prstGeom prst="round2SameRect">
            <a:avLst>
              <a:gd name="adj1" fmla="val 19842"/>
              <a:gd name="adj2" fmla="val 0"/>
            </a:avLst>
          </a:prstGeom>
          <a:gradFill flip="none" rotWithShape="1">
            <a:gsLst>
              <a:gs pos="0">
                <a:srgbClr val="4F81BD">
                  <a:lumMod val="5000"/>
                  <a:lumOff val="95000"/>
                </a:srgbClr>
              </a:gs>
              <a:gs pos="74000">
                <a:srgbClr val="4F81BD">
                  <a:lumMod val="45000"/>
                  <a:lumOff val="55000"/>
                </a:srgbClr>
              </a:gs>
              <a:gs pos="83000">
                <a:srgbClr val="4F81BD">
                  <a:lumMod val="45000"/>
                  <a:lumOff val="55000"/>
                </a:srgbClr>
              </a:gs>
              <a:gs pos="100000">
                <a:srgbClr val="4F81BD">
                  <a:lumMod val="30000"/>
                  <a:lumOff val="70000"/>
                </a:srgbClr>
              </a:gs>
            </a:gsLst>
            <a:lin ang="5400000" scaled="1"/>
            <a:tileRect/>
          </a:gradFill>
          <a:ln w="3175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vert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kern="0" dirty="0">
                <a:solidFill>
                  <a:prstClr val="black"/>
                </a:solidFill>
                <a:latin typeface="+mn-lt"/>
                <a:cs typeface="+mn-cs"/>
              </a:rPr>
              <a:t>2</a:t>
            </a:r>
          </a:p>
        </p:txBody>
      </p:sp>
      <p:sp>
        <p:nvSpPr>
          <p:cNvPr id="32" name="Round Same Side Corner Rectangle 32">
            <a:extLst>
              <a:ext uri="{FF2B5EF4-FFF2-40B4-BE49-F238E27FC236}">
                <a16:creationId xmlns:a16="http://schemas.microsoft.com/office/drawing/2014/main" id="{D4FC5CD6-1CF2-4CCF-9701-E8B8FBEFD9FB}"/>
              </a:ext>
            </a:extLst>
          </p:cNvPr>
          <p:cNvSpPr/>
          <p:nvPr/>
        </p:nvSpPr>
        <p:spPr>
          <a:xfrm rot="5400000">
            <a:off x="7802416" y="4920252"/>
            <a:ext cx="658368" cy="2093976"/>
          </a:xfrm>
          <a:prstGeom prst="round2SameRect">
            <a:avLst>
              <a:gd name="adj1" fmla="val 19842"/>
              <a:gd name="adj2" fmla="val 0"/>
            </a:avLst>
          </a:prstGeom>
          <a:gradFill flip="none" rotWithShape="1">
            <a:gsLst>
              <a:gs pos="0">
                <a:srgbClr val="9BBB59">
                  <a:lumMod val="5000"/>
                  <a:lumOff val="95000"/>
                </a:srgbClr>
              </a:gs>
              <a:gs pos="74000">
                <a:srgbClr val="9BBB59">
                  <a:lumMod val="45000"/>
                  <a:lumOff val="55000"/>
                </a:srgbClr>
              </a:gs>
              <a:gs pos="83000">
                <a:srgbClr val="9BBB59">
                  <a:lumMod val="45000"/>
                  <a:lumOff val="55000"/>
                </a:srgbClr>
              </a:gs>
              <a:gs pos="100000">
                <a:srgbClr val="9BBB59">
                  <a:lumMod val="30000"/>
                  <a:lumOff val="70000"/>
                </a:srgbClr>
              </a:gs>
            </a:gsLst>
            <a:lin ang="5400000" scaled="1"/>
            <a:tileRect/>
          </a:gradFill>
          <a:ln w="3175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vert27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kern="0" dirty="0">
                <a:solidFill>
                  <a:prstClr val="black"/>
                </a:solidFill>
                <a:latin typeface="+mn-lt"/>
                <a:cs typeface="+mn-cs"/>
              </a:rPr>
              <a:t>Physical</a:t>
            </a:r>
          </a:p>
        </p:txBody>
      </p:sp>
      <p:sp>
        <p:nvSpPr>
          <p:cNvPr id="33" name="Round Same Side Corner Rectangle 33">
            <a:extLst>
              <a:ext uri="{FF2B5EF4-FFF2-40B4-BE49-F238E27FC236}">
                <a16:creationId xmlns:a16="http://schemas.microsoft.com/office/drawing/2014/main" id="{458FB501-360F-4331-A6EA-08323D70064C}"/>
              </a:ext>
            </a:extLst>
          </p:cNvPr>
          <p:cNvSpPr/>
          <p:nvPr/>
        </p:nvSpPr>
        <p:spPr>
          <a:xfrm rot="16200000">
            <a:off x="6414052" y="5689871"/>
            <a:ext cx="658368" cy="554736"/>
          </a:xfrm>
          <a:prstGeom prst="round2SameRect">
            <a:avLst>
              <a:gd name="adj1" fmla="val 19842"/>
              <a:gd name="adj2" fmla="val 0"/>
            </a:avLst>
          </a:prstGeom>
          <a:gradFill flip="none" rotWithShape="1">
            <a:gsLst>
              <a:gs pos="0">
                <a:srgbClr val="9BBB59">
                  <a:lumMod val="5000"/>
                  <a:lumOff val="95000"/>
                </a:srgbClr>
              </a:gs>
              <a:gs pos="74000">
                <a:srgbClr val="9BBB59">
                  <a:lumMod val="45000"/>
                  <a:lumOff val="55000"/>
                </a:srgbClr>
              </a:gs>
              <a:gs pos="83000">
                <a:srgbClr val="9BBB59">
                  <a:lumMod val="45000"/>
                  <a:lumOff val="55000"/>
                </a:srgbClr>
              </a:gs>
              <a:gs pos="100000">
                <a:srgbClr val="9BBB59">
                  <a:lumMod val="30000"/>
                  <a:lumOff val="70000"/>
                </a:srgbClr>
              </a:gs>
            </a:gsLst>
            <a:lin ang="5400000" scaled="1"/>
            <a:tileRect/>
          </a:gradFill>
          <a:ln w="3175" cap="flat" cmpd="sng" algn="ctr">
            <a:solidFill>
              <a:sysClr val="windowText" lastClr="000000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vert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kern="0" dirty="0">
                <a:solidFill>
                  <a:prstClr val="black"/>
                </a:solidFill>
                <a:latin typeface="+mn-lt"/>
                <a:cs typeface="+mn-cs"/>
              </a:rPr>
              <a:t>1</a:t>
            </a:r>
          </a:p>
        </p:txBody>
      </p:sp>
      <p:cxnSp>
        <p:nvCxnSpPr>
          <p:cNvPr id="34" name="Straight Connector 105">
            <a:extLst>
              <a:ext uri="{FF2B5EF4-FFF2-40B4-BE49-F238E27FC236}">
                <a16:creationId xmlns:a16="http://schemas.microsoft.com/office/drawing/2014/main" id="{326F2014-949E-4DE9-B721-059330DF6D7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72089" y="6659466"/>
            <a:ext cx="6400800" cy="0"/>
          </a:xfrm>
          <a:prstGeom prst="line">
            <a:avLst/>
          </a:prstGeom>
          <a:noFill/>
          <a:ln w="254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Down Arrow 35">
            <a:extLst>
              <a:ext uri="{FF2B5EF4-FFF2-40B4-BE49-F238E27FC236}">
                <a16:creationId xmlns:a16="http://schemas.microsoft.com/office/drawing/2014/main" id="{1BBEDDB1-4106-4F8D-B764-6CFA143F56B2}"/>
              </a:ext>
            </a:extLst>
          </p:cNvPr>
          <p:cNvSpPr/>
          <p:nvPr/>
        </p:nvSpPr>
        <p:spPr>
          <a:xfrm>
            <a:off x="2768070" y="1504854"/>
            <a:ext cx="304800" cy="4754563"/>
          </a:xfrm>
          <a:prstGeom prst="downArrow">
            <a:avLst/>
          </a:prstGeom>
          <a:gradFill flip="none" rotWithShape="1">
            <a:gsLst>
              <a:gs pos="0">
                <a:sysClr val="window" lastClr="FFFFFF">
                  <a:lumMod val="65000"/>
                </a:sysClr>
              </a:gs>
              <a:gs pos="100000">
                <a:sysClr val="windowText" lastClr="000000"/>
              </a:gs>
            </a:gsLst>
            <a:lin ang="540000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kern="0" dirty="0">
              <a:solidFill>
                <a:prstClr val="white"/>
              </a:solidFill>
              <a:latin typeface="+mn-lt"/>
              <a:cs typeface="+mn-cs"/>
            </a:endParaRPr>
          </a:p>
        </p:txBody>
      </p:sp>
      <p:sp>
        <p:nvSpPr>
          <p:cNvPr id="36" name="Down Arrow 36">
            <a:extLst>
              <a:ext uri="{FF2B5EF4-FFF2-40B4-BE49-F238E27FC236}">
                <a16:creationId xmlns:a16="http://schemas.microsoft.com/office/drawing/2014/main" id="{F7A97AAF-22F7-49D4-BB0E-7B11D7C3F81C}"/>
              </a:ext>
            </a:extLst>
          </p:cNvPr>
          <p:cNvSpPr/>
          <p:nvPr/>
        </p:nvSpPr>
        <p:spPr>
          <a:xfrm rot="10800000">
            <a:off x="9277020" y="1504854"/>
            <a:ext cx="304800" cy="4754563"/>
          </a:xfrm>
          <a:prstGeom prst="downArrow">
            <a:avLst/>
          </a:prstGeom>
          <a:gradFill flip="none" rotWithShape="1">
            <a:gsLst>
              <a:gs pos="0">
                <a:sysClr val="window" lastClr="FFFFFF">
                  <a:lumMod val="65000"/>
                </a:sysClr>
              </a:gs>
              <a:gs pos="100000">
                <a:sysClr val="windowText" lastClr="000000"/>
              </a:gs>
            </a:gsLst>
            <a:lin ang="540000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kern="0" dirty="0">
              <a:solidFill>
                <a:prstClr val="white"/>
              </a:solidFill>
              <a:latin typeface="+mn-lt"/>
              <a:cs typeface="+mn-cs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5A050E0C-C089-4196-879C-79E471AEF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2582" y="1451937"/>
            <a:ext cx="975496" cy="975496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96E42C0-9089-4B52-A281-FDA3B686F2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2057" y="1577685"/>
            <a:ext cx="590632" cy="849748"/>
          </a:xfrm>
          <a:prstGeom prst="rect">
            <a:avLst/>
          </a:prstGeom>
        </p:spPr>
      </p:pic>
      <p:sp>
        <p:nvSpPr>
          <p:cNvPr id="39" name="Content Placeholder 1">
            <a:extLst>
              <a:ext uri="{FF2B5EF4-FFF2-40B4-BE49-F238E27FC236}">
                <a16:creationId xmlns:a16="http://schemas.microsoft.com/office/drawing/2014/main" id="{8F478521-8A98-4B91-862A-85CD3340CD3A}"/>
              </a:ext>
            </a:extLst>
          </p:cNvPr>
          <p:cNvSpPr>
            <a:spLocks noGrp="1"/>
          </p:cNvSpPr>
          <p:nvPr/>
        </p:nvSpPr>
        <p:spPr>
          <a:xfrm>
            <a:off x="1981200" y="1166019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797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63513"/>
            <a:ext cx="1447800" cy="4111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38" name="Rectangle 8"/>
          <p:cNvSpPr>
            <a:spLocks noGrp="1"/>
          </p:cNvSpPr>
          <p:nvPr>
            <p:ph type="title"/>
          </p:nvPr>
        </p:nvSpPr>
        <p:spPr>
          <a:xfrm>
            <a:off x="946535" y="602498"/>
            <a:ext cx="11033760" cy="708024"/>
          </a:xfrm>
          <a:ln/>
        </p:spPr>
        <p:txBody>
          <a:bodyPr vert="horz" wrap="square" lIns="91440" tIns="45720" rIns="91440" bIns="45720" rtlCol="0" anchor="ctr">
            <a:normAutofit fontScale="90000"/>
          </a:bodyPr>
          <a:lstStyle/>
          <a:p>
            <a:pPr algn="ctr" eaLnBrk="1" hangingPunct="1"/>
            <a:r>
              <a:rPr lang="en-US" altLang="en-US" dirty="0"/>
              <a:t>Data Encapsulation</a:t>
            </a:r>
          </a:p>
        </p:txBody>
      </p:sp>
      <p:sp>
        <p:nvSpPr>
          <p:cNvPr id="18440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EF971F2-1E9F-4D08-9D25-6737A9BDC789}"/>
              </a:ext>
            </a:extLst>
          </p:cNvPr>
          <p:cNvGrpSpPr/>
          <p:nvPr/>
        </p:nvGrpSpPr>
        <p:grpSpPr>
          <a:xfrm>
            <a:off x="2699730" y="1497253"/>
            <a:ext cx="7164016" cy="4535247"/>
            <a:chOff x="3378740" y="1497253"/>
            <a:chExt cx="7164016" cy="4535247"/>
          </a:xfrm>
        </p:grpSpPr>
        <p:sp>
          <p:nvSpPr>
            <p:cNvPr id="18444" name="Down Arrow 22"/>
            <p:cNvSpPr/>
            <p:nvPr/>
          </p:nvSpPr>
          <p:spPr>
            <a:xfrm>
              <a:off x="5331803" y="1934487"/>
              <a:ext cx="330200" cy="495300"/>
            </a:xfrm>
            <a:prstGeom prst="downArrow">
              <a:avLst>
                <a:gd name="adj1" fmla="val 50000"/>
                <a:gd name="adj2" fmla="val 49868"/>
              </a:avLst>
            </a:prstGeom>
            <a:solidFill>
              <a:schemeClr val="bg1"/>
            </a:solidFill>
            <a:ln w="38100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82124" tIns="41061" rIns="82124" bIns="41061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indent="0" algn="ctr" defTabSz="814705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endParaRPr lang="en-US" altLang="en-US" sz="2400" dirty="0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E3A905F-E285-400C-96D9-8C06DE38716A}"/>
                </a:ext>
              </a:extLst>
            </p:cNvPr>
            <p:cNvGrpSpPr/>
            <p:nvPr/>
          </p:nvGrpSpPr>
          <p:grpSpPr>
            <a:xfrm>
              <a:off x="3378740" y="1497253"/>
              <a:ext cx="7164016" cy="4535247"/>
              <a:chOff x="3444359" y="1198564"/>
              <a:chExt cx="7164016" cy="4535247"/>
            </a:xfrm>
          </p:grpSpPr>
          <p:sp>
            <p:nvSpPr>
              <p:cNvPr id="11" name="TextBox 10"/>
              <p:cNvSpPr txBox="1"/>
              <p:nvPr/>
            </p:nvSpPr>
            <p:spPr>
              <a:xfrm>
                <a:off x="5152509" y="2235201"/>
                <a:ext cx="1701800" cy="314325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</p:spPr>
            <p:txBody>
              <a:bodyPr anchor="ctr">
                <a:spAutoFit/>
              </a:bodyPr>
              <a:lstStyle/>
              <a:p>
                <a:pPr algn="ctr" defTabSz="914400">
                  <a:lnSpc>
                    <a:spcPct val="90000"/>
                  </a:lnSpc>
                  <a:defRPr/>
                </a:pPr>
                <a:r>
                  <a:rPr lang="en-US" sz="1600" dirty="0">
                    <a:latin typeface="Arial" panose="020B0604020202020204" pitchFamily="34" charset="0"/>
                    <a:ea typeface="MS PGothic" panose="020B0600070205080204" pitchFamily="34" charset="-128"/>
                  </a:rPr>
                  <a:t>Upper layer data</a:t>
                </a:r>
              </a:p>
            </p:txBody>
          </p:sp>
          <p:pic>
            <p:nvPicPr>
              <p:cNvPr id="18443" name="Picture 23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31934" y="1412875"/>
                <a:ext cx="742950" cy="74295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" name="TextBox 13"/>
              <p:cNvSpPr txBox="1"/>
              <p:nvPr/>
            </p:nvSpPr>
            <p:spPr>
              <a:xfrm>
                <a:off x="5155684" y="2938463"/>
                <a:ext cx="1701800" cy="312738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</p:spPr>
            <p:txBody>
              <a:bodyPr anchor="ctr">
                <a:spAutoFit/>
              </a:bodyPr>
              <a:lstStyle/>
              <a:p>
                <a:pPr algn="ctr" defTabSz="914400">
                  <a:lnSpc>
                    <a:spcPct val="90000"/>
                  </a:lnSpc>
                  <a:defRPr/>
                </a:pPr>
                <a:r>
                  <a:rPr lang="en-US" sz="1600" dirty="0">
                    <a:latin typeface="Arial" panose="020B0604020202020204" pitchFamily="34" charset="0"/>
                    <a:ea typeface="MS PGothic" panose="020B0600070205080204" pitchFamily="34" charset="-128"/>
                  </a:rPr>
                  <a:t>Upper layer data</a:t>
                </a:r>
              </a:p>
            </p:txBody>
          </p:sp>
          <p:sp>
            <p:nvSpPr>
              <p:cNvPr id="18446" name="TextBox 24"/>
              <p:cNvSpPr txBox="1"/>
              <p:nvPr/>
            </p:nvSpPr>
            <p:spPr>
              <a:xfrm>
                <a:off x="3453884" y="2938464"/>
                <a:ext cx="1700212" cy="312737"/>
              </a:xfrm>
              <a:prstGeom prst="rect">
                <a:avLst/>
              </a:prstGeom>
              <a:solidFill>
                <a:srgbClr val="99FF66"/>
              </a:solidFill>
              <a:ln w="63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indent="0" algn="ctr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600" dirty="0"/>
                  <a:t>TCP Header</a:t>
                </a: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5147746" y="3627438"/>
                <a:ext cx="1701800" cy="312738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</p:spPr>
            <p:txBody>
              <a:bodyPr anchor="ctr">
                <a:spAutoFit/>
              </a:bodyPr>
              <a:lstStyle/>
              <a:p>
                <a:pPr algn="ctr" defTabSz="914400">
                  <a:lnSpc>
                    <a:spcPct val="90000"/>
                  </a:lnSpc>
                  <a:defRPr/>
                </a:pPr>
                <a:r>
                  <a:rPr lang="en-US" sz="1600" dirty="0">
                    <a:latin typeface="Arial" panose="020B0604020202020204" pitchFamily="34" charset="0"/>
                    <a:ea typeface="MS PGothic" panose="020B0600070205080204" pitchFamily="34" charset="-128"/>
                  </a:rPr>
                  <a:t>Segment</a:t>
                </a:r>
              </a:p>
            </p:txBody>
          </p:sp>
          <p:sp>
            <p:nvSpPr>
              <p:cNvPr id="18448" name="TextBox 28"/>
              <p:cNvSpPr txBox="1"/>
              <p:nvPr/>
            </p:nvSpPr>
            <p:spPr>
              <a:xfrm>
                <a:off x="3444359" y="3629025"/>
                <a:ext cx="1700212" cy="312738"/>
              </a:xfrm>
              <a:prstGeom prst="rect">
                <a:avLst/>
              </a:prstGeom>
              <a:solidFill>
                <a:srgbClr val="CCFF33"/>
              </a:solidFill>
              <a:ln w="63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indent="0" algn="ctr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600" dirty="0"/>
                  <a:t>IP Header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5181600" y="4224339"/>
                <a:ext cx="1701800" cy="314325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</p:spPr>
            <p:txBody>
              <a:bodyPr anchor="ctr">
                <a:spAutoFit/>
              </a:bodyPr>
              <a:lstStyle/>
              <a:p>
                <a:pPr algn="ctr" defTabSz="914400">
                  <a:lnSpc>
                    <a:spcPct val="90000"/>
                  </a:lnSpc>
                  <a:defRPr/>
                </a:pPr>
                <a:r>
                  <a:rPr lang="en-US" sz="1600" dirty="0">
                    <a:latin typeface="Arial" panose="020B0604020202020204" pitchFamily="34" charset="0"/>
                    <a:ea typeface="MS PGothic" panose="020B0600070205080204" pitchFamily="34" charset="-128"/>
                  </a:rPr>
                  <a:t>Packet</a:t>
                </a:r>
              </a:p>
            </p:txBody>
          </p:sp>
          <p:sp>
            <p:nvSpPr>
              <p:cNvPr id="18450" name="TextBox 31"/>
              <p:cNvSpPr txBox="1"/>
              <p:nvPr/>
            </p:nvSpPr>
            <p:spPr>
              <a:xfrm>
                <a:off x="3478213" y="4225926"/>
                <a:ext cx="1700212" cy="314325"/>
              </a:xfrm>
              <a:prstGeom prst="rect">
                <a:avLst/>
              </a:prstGeom>
              <a:solidFill>
                <a:srgbClr val="FF9933"/>
              </a:solidFill>
              <a:ln w="63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indent="0" algn="ctr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600" dirty="0"/>
                  <a:t>LLC Header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5183188" y="4613276"/>
                <a:ext cx="1701800" cy="314325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</p:spPr>
            <p:txBody>
              <a:bodyPr anchor="ctr">
                <a:spAutoFit/>
              </a:bodyPr>
              <a:lstStyle/>
              <a:p>
                <a:pPr algn="ctr" defTabSz="914400">
                  <a:lnSpc>
                    <a:spcPct val="90000"/>
                  </a:lnSpc>
                  <a:defRPr/>
                </a:pPr>
                <a:r>
                  <a:rPr lang="en-US" sz="1600" dirty="0">
                    <a:latin typeface="Arial" panose="020B0604020202020204" pitchFamily="34" charset="0"/>
                    <a:ea typeface="MS PGothic" panose="020B0600070205080204" pitchFamily="34" charset="-128"/>
                  </a:rPr>
                  <a:t>Packet</a:t>
                </a:r>
              </a:p>
            </p:txBody>
          </p:sp>
          <p:sp>
            <p:nvSpPr>
              <p:cNvPr id="18452" name="TextBox 33"/>
              <p:cNvSpPr txBox="1"/>
              <p:nvPr/>
            </p:nvSpPr>
            <p:spPr>
              <a:xfrm>
                <a:off x="3479801" y="4614864"/>
                <a:ext cx="1700213" cy="314325"/>
              </a:xfrm>
              <a:prstGeom prst="rect">
                <a:avLst/>
              </a:prstGeom>
              <a:solidFill>
                <a:srgbClr val="FF9933"/>
              </a:solidFill>
              <a:ln w="63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indent="0" algn="ctr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600" dirty="0"/>
                  <a:t>MAC Header</a:t>
                </a:r>
              </a:p>
            </p:txBody>
          </p:sp>
          <p:sp>
            <p:nvSpPr>
              <p:cNvPr id="18453" name="TextBox 34"/>
              <p:cNvSpPr txBox="1"/>
              <p:nvPr/>
            </p:nvSpPr>
            <p:spPr>
              <a:xfrm>
                <a:off x="6888163" y="4224339"/>
                <a:ext cx="639762" cy="314325"/>
              </a:xfrm>
              <a:prstGeom prst="rect">
                <a:avLst/>
              </a:prstGeom>
              <a:solidFill>
                <a:srgbClr val="002060"/>
              </a:solidFill>
              <a:ln w="63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indent="0" algn="ctr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600" dirty="0">
                    <a:solidFill>
                      <a:schemeClr val="bg1"/>
                    </a:solidFill>
                  </a:rPr>
                  <a:t>FCS</a:t>
                </a:r>
              </a:p>
            </p:txBody>
          </p:sp>
          <p:sp>
            <p:nvSpPr>
              <p:cNvPr id="18454" name="TextBox 35"/>
              <p:cNvSpPr txBox="1"/>
              <p:nvPr/>
            </p:nvSpPr>
            <p:spPr>
              <a:xfrm>
                <a:off x="6888163" y="4614864"/>
                <a:ext cx="639762" cy="314325"/>
              </a:xfrm>
              <a:prstGeom prst="rect">
                <a:avLst/>
              </a:prstGeom>
              <a:solidFill>
                <a:srgbClr val="002060"/>
              </a:solidFill>
              <a:ln w="63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indent="0" algn="ctr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600" dirty="0">
                    <a:solidFill>
                      <a:schemeClr val="bg1"/>
                    </a:solidFill>
                  </a:rPr>
                  <a:t>FCS</a:t>
                </a:r>
              </a:p>
            </p:txBody>
          </p:sp>
          <p:sp>
            <p:nvSpPr>
              <p:cNvPr id="18455" name="TextBox 36"/>
              <p:cNvSpPr txBox="1"/>
              <p:nvPr/>
            </p:nvSpPr>
            <p:spPr>
              <a:xfrm>
                <a:off x="4606926" y="5160964"/>
                <a:ext cx="2924175" cy="312737"/>
              </a:xfrm>
              <a:prstGeom prst="rect">
                <a:avLst/>
              </a:prstGeom>
              <a:solidFill>
                <a:srgbClr val="FF0000"/>
              </a:solidFill>
              <a:ln w="63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indent="0" algn="ctr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600" dirty="0"/>
                  <a:t>0101110101001000010</a:t>
                </a:r>
              </a:p>
            </p:txBody>
          </p:sp>
          <p:sp>
            <p:nvSpPr>
              <p:cNvPr id="18456" name="TextBox 37"/>
              <p:cNvSpPr txBox="1"/>
              <p:nvPr/>
            </p:nvSpPr>
            <p:spPr>
              <a:xfrm>
                <a:off x="8589963" y="1641476"/>
                <a:ext cx="1701800" cy="314325"/>
              </a:xfrm>
              <a:prstGeom prst="rect">
                <a:avLst/>
              </a:prstGeom>
              <a:solidFill>
                <a:srgbClr val="92D050"/>
              </a:solidFill>
              <a:ln w="63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indent="0" algn="ctr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600" dirty="0"/>
                  <a:t>Application</a:t>
                </a:r>
              </a:p>
            </p:txBody>
          </p:sp>
          <p:sp>
            <p:nvSpPr>
              <p:cNvPr id="18457" name="TextBox 38"/>
              <p:cNvSpPr txBox="1"/>
              <p:nvPr/>
            </p:nvSpPr>
            <p:spPr>
              <a:xfrm>
                <a:off x="8589963" y="2100264"/>
                <a:ext cx="1701800" cy="314325"/>
              </a:xfrm>
              <a:prstGeom prst="rect">
                <a:avLst/>
              </a:prstGeom>
              <a:solidFill>
                <a:srgbClr val="92D050"/>
              </a:solidFill>
              <a:ln w="63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indent="0" algn="ctr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600" dirty="0"/>
                  <a:t>Presentation</a:t>
                </a:r>
              </a:p>
            </p:txBody>
          </p:sp>
          <p:sp>
            <p:nvSpPr>
              <p:cNvPr id="18458" name="TextBox 40"/>
              <p:cNvSpPr txBox="1"/>
              <p:nvPr/>
            </p:nvSpPr>
            <p:spPr>
              <a:xfrm>
                <a:off x="8589963" y="2557464"/>
                <a:ext cx="1701800" cy="314325"/>
              </a:xfrm>
              <a:prstGeom prst="rect">
                <a:avLst/>
              </a:prstGeom>
              <a:solidFill>
                <a:srgbClr val="92D050"/>
              </a:solidFill>
              <a:ln w="63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indent="0" algn="ctr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600" dirty="0"/>
                  <a:t>Session</a:t>
                </a:r>
              </a:p>
            </p:txBody>
          </p:sp>
          <p:sp>
            <p:nvSpPr>
              <p:cNvPr id="18459" name="Down Arrow 41"/>
              <p:cNvSpPr/>
              <p:nvPr/>
            </p:nvSpPr>
            <p:spPr>
              <a:xfrm>
                <a:off x="9045576" y="3154363"/>
                <a:ext cx="784225" cy="552450"/>
              </a:xfrm>
              <a:prstGeom prst="downArrow">
                <a:avLst>
                  <a:gd name="adj1" fmla="val 50000"/>
                  <a:gd name="adj2" fmla="val 50000"/>
                </a:avLst>
              </a:prstGeom>
              <a:solidFill>
                <a:schemeClr val="bg1"/>
              </a:solidFill>
              <a:ln w="38100" cap="flat" cmpd="sng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82124" tIns="41061" rIns="82124" bIns="41061"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indent="0" algn="ctr" defTabSz="814705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endParaRPr lang="en-US" altLang="en-US" sz="2400" dirty="0"/>
              </a:p>
            </p:txBody>
          </p:sp>
          <p:sp>
            <p:nvSpPr>
              <p:cNvPr id="18460" name="Down Arrow 44"/>
              <p:cNvSpPr/>
              <p:nvPr/>
            </p:nvSpPr>
            <p:spPr>
              <a:xfrm>
                <a:off x="9064626" y="3836988"/>
                <a:ext cx="784225" cy="552450"/>
              </a:xfrm>
              <a:prstGeom prst="downArrow">
                <a:avLst>
                  <a:gd name="adj1" fmla="val 50000"/>
                  <a:gd name="adj2" fmla="val 50000"/>
                </a:avLst>
              </a:prstGeom>
              <a:solidFill>
                <a:schemeClr val="bg1"/>
              </a:solidFill>
              <a:ln w="38100" cap="flat" cmpd="sng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82124" tIns="41061" rIns="82124" bIns="41061"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indent="0" algn="ctr" defTabSz="814705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endParaRPr lang="en-US" altLang="en-US" sz="2400" dirty="0"/>
              </a:p>
            </p:txBody>
          </p:sp>
          <p:sp>
            <p:nvSpPr>
              <p:cNvPr id="18461" name="TextBox 46"/>
              <p:cNvSpPr txBox="1"/>
              <p:nvPr/>
            </p:nvSpPr>
            <p:spPr>
              <a:xfrm>
                <a:off x="8605838" y="5160964"/>
                <a:ext cx="1701800" cy="312737"/>
              </a:xfrm>
              <a:prstGeom prst="rect">
                <a:avLst/>
              </a:prstGeom>
              <a:solidFill>
                <a:srgbClr val="FF0000"/>
              </a:solidFill>
              <a:ln w="63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indent="0" algn="ctr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600" dirty="0"/>
                  <a:t>Physical</a:t>
                </a:r>
              </a:p>
            </p:txBody>
          </p:sp>
          <p:sp>
            <p:nvSpPr>
              <p:cNvPr id="18462" name="Down Arrow 47"/>
              <p:cNvSpPr/>
              <p:nvPr/>
            </p:nvSpPr>
            <p:spPr>
              <a:xfrm>
                <a:off x="9064626" y="4651376"/>
                <a:ext cx="784225" cy="550863"/>
              </a:xfrm>
              <a:prstGeom prst="downArrow">
                <a:avLst>
                  <a:gd name="adj1" fmla="val 50000"/>
                  <a:gd name="adj2" fmla="val 50000"/>
                </a:avLst>
              </a:prstGeom>
              <a:solidFill>
                <a:schemeClr val="bg1"/>
              </a:solidFill>
              <a:ln w="38100" cap="flat" cmpd="sng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82124" tIns="41061" rIns="82124" bIns="41061"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indent="0" algn="ctr" defTabSz="814705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endParaRPr lang="en-US" altLang="en-US" sz="2400" dirty="0"/>
              </a:p>
            </p:txBody>
          </p:sp>
          <p:sp>
            <p:nvSpPr>
              <p:cNvPr id="18463" name="TextBox 42"/>
              <p:cNvSpPr txBox="1"/>
              <p:nvPr/>
            </p:nvSpPr>
            <p:spPr>
              <a:xfrm>
                <a:off x="8589963" y="2944814"/>
                <a:ext cx="1701800" cy="314325"/>
              </a:xfrm>
              <a:prstGeom prst="rect">
                <a:avLst/>
              </a:prstGeom>
              <a:solidFill>
                <a:srgbClr val="99FF66"/>
              </a:solidFill>
              <a:ln w="63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indent="0" algn="ctr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600" dirty="0"/>
                  <a:t>Transport</a:t>
                </a:r>
              </a:p>
            </p:txBody>
          </p:sp>
          <p:sp>
            <p:nvSpPr>
              <p:cNvPr id="18464" name="TextBox 43"/>
              <p:cNvSpPr txBox="1"/>
              <p:nvPr/>
            </p:nvSpPr>
            <p:spPr>
              <a:xfrm>
                <a:off x="8589963" y="3625851"/>
                <a:ext cx="1701800" cy="314325"/>
              </a:xfrm>
              <a:prstGeom prst="rect">
                <a:avLst/>
              </a:prstGeom>
              <a:solidFill>
                <a:srgbClr val="CCFF33"/>
              </a:solidFill>
              <a:ln w="63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indent="0" algn="ctr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600" dirty="0"/>
                  <a:t>Network</a:t>
                </a:r>
              </a:p>
            </p:txBody>
          </p:sp>
          <p:sp>
            <p:nvSpPr>
              <p:cNvPr id="18465" name="TextBox 45"/>
              <p:cNvSpPr txBox="1"/>
              <p:nvPr/>
            </p:nvSpPr>
            <p:spPr>
              <a:xfrm>
                <a:off x="8589963" y="4370389"/>
                <a:ext cx="1701800" cy="314325"/>
              </a:xfrm>
              <a:prstGeom prst="rect">
                <a:avLst/>
              </a:prstGeom>
              <a:solidFill>
                <a:srgbClr val="FF9933"/>
              </a:solidFill>
              <a:ln w="63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indent="0" algn="ctr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600" dirty="0"/>
                  <a:t>Data Link</a:t>
                </a:r>
              </a:p>
            </p:txBody>
          </p:sp>
          <p:sp>
            <p:nvSpPr>
              <p:cNvPr id="18466" name="Right Arrow 48"/>
              <p:cNvSpPr/>
              <p:nvPr/>
            </p:nvSpPr>
            <p:spPr>
              <a:xfrm rot="5400000">
                <a:off x="7854950" y="1283733"/>
                <a:ext cx="439738" cy="825022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noFill/>
              <a:ln w="9525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82124" tIns="41061" rIns="82124" bIns="41061"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indent="0" algn="ctr" defTabSz="814705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endParaRPr lang="en-US" altLang="en-US" sz="2400" dirty="0"/>
              </a:p>
            </p:txBody>
          </p:sp>
          <p:sp>
            <p:nvSpPr>
              <p:cNvPr id="18467" name="TextBox 49"/>
              <p:cNvSpPr txBox="1"/>
              <p:nvPr/>
            </p:nvSpPr>
            <p:spPr>
              <a:xfrm>
                <a:off x="7562851" y="2976563"/>
                <a:ext cx="1077539" cy="3139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indent="0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600" dirty="0"/>
                  <a:t>Segment</a:t>
                </a:r>
              </a:p>
            </p:txBody>
          </p:sp>
          <p:sp>
            <p:nvSpPr>
              <p:cNvPr id="18468" name="Right Arrow 50"/>
              <p:cNvSpPr/>
              <p:nvPr/>
            </p:nvSpPr>
            <p:spPr>
              <a:xfrm>
                <a:off x="10387902" y="3375264"/>
                <a:ext cx="220473" cy="825022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noFill/>
              <a:ln w="9525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lIns="82124" tIns="41061" rIns="82124" bIns="41061"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indent="0" algn="ctr" defTabSz="814705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endParaRPr lang="en-US" altLang="en-US" sz="2400" dirty="0"/>
              </a:p>
            </p:txBody>
          </p:sp>
          <p:sp>
            <p:nvSpPr>
              <p:cNvPr id="18469" name="TextBox 51"/>
              <p:cNvSpPr txBox="1"/>
              <p:nvPr/>
            </p:nvSpPr>
            <p:spPr>
              <a:xfrm>
                <a:off x="7767639" y="3679825"/>
                <a:ext cx="883575" cy="3139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indent="0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600" dirty="0"/>
                  <a:t>Packet</a:t>
                </a:r>
              </a:p>
            </p:txBody>
          </p:sp>
          <p:sp>
            <p:nvSpPr>
              <p:cNvPr id="18470" name="Right Arrow 52"/>
              <p:cNvSpPr/>
              <p:nvPr/>
            </p:nvSpPr>
            <p:spPr>
              <a:xfrm>
                <a:off x="10387902" y="4144408"/>
                <a:ext cx="220473" cy="825022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noFill/>
              <a:ln w="9525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lIns="82124" tIns="41061" rIns="82124" bIns="41061"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indent="0" algn="ctr" defTabSz="814705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endParaRPr lang="en-US" altLang="en-US" sz="2400" dirty="0"/>
              </a:p>
            </p:txBody>
          </p:sp>
          <p:sp>
            <p:nvSpPr>
              <p:cNvPr id="18471" name="TextBox 53"/>
              <p:cNvSpPr txBox="1"/>
              <p:nvPr/>
            </p:nvSpPr>
            <p:spPr>
              <a:xfrm>
                <a:off x="7794626" y="4398963"/>
                <a:ext cx="811441" cy="3139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indent="0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600" dirty="0"/>
                  <a:t>Frame</a:t>
                </a:r>
              </a:p>
            </p:txBody>
          </p:sp>
          <p:sp>
            <p:nvSpPr>
              <p:cNvPr id="18472" name="Right Arrow 54"/>
              <p:cNvSpPr/>
              <p:nvPr/>
            </p:nvSpPr>
            <p:spPr>
              <a:xfrm>
                <a:off x="10387902" y="4908789"/>
                <a:ext cx="220473" cy="825022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noFill/>
              <a:ln w="9525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lIns="82124" tIns="41061" rIns="82124" bIns="41061"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indent="0" algn="ctr" defTabSz="814705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endParaRPr lang="en-US" altLang="en-US" sz="2400" dirty="0"/>
              </a:p>
            </p:txBody>
          </p:sp>
          <p:sp>
            <p:nvSpPr>
              <p:cNvPr id="18473" name="TextBox 55"/>
              <p:cNvSpPr txBox="1"/>
              <p:nvPr/>
            </p:nvSpPr>
            <p:spPr>
              <a:xfrm>
                <a:off x="7921625" y="5202238"/>
                <a:ext cx="494046" cy="3139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indent="0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600" dirty="0"/>
                  <a:t>Bits</a:t>
                </a:r>
              </a:p>
            </p:txBody>
          </p:sp>
          <p:sp>
            <p:nvSpPr>
              <p:cNvPr id="18474" name="TextBox 49"/>
              <p:cNvSpPr txBox="1"/>
              <p:nvPr/>
            </p:nvSpPr>
            <p:spPr>
              <a:xfrm>
                <a:off x="7756525" y="1198564"/>
                <a:ext cx="615950" cy="3127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indent="0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600" dirty="0"/>
                  <a:t>PDU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{A74C1714-5C0B-3846-B47C-6ECBC5836BBB}tf10001071</Template>
  <TotalTime>310</TotalTime>
  <Words>1651</Words>
  <Application>Microsoft Macintosh PowerPoint</Application>
  <PresentationFormat>Widescreen</PresentationFormat>
  <Paragraphs>331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Gill Sans MT</vt:lpstr>
      <vt:lpstr>Impact</vt:lpstr>
      <vt:lpstr>Times</vt:lpstr>
      <vt:lpstr>Badge</vt:lpstr>
      <vt:lpstr>Chapter 2</vt:lpstr>
      <vt:lpstr>OSI Model</vt:lpstr>
      <vt:lpstr>      OSI Layer Functions</vt:lpstr>
      <vt:lpstr>The Upper Layers</vt:lpstr>
      <vt:lpstr>The Lower Layers</vt:lpstr>
      <vt:lpstr>Application Layer- Layer 7 </vt:lpstr>
      <vt:lpstr>Presentation Layer-Layer 6</vt:lpstr>
      <vt:lpstr>Session Layer-Layer 5</vt:lpstr>
      <vt:lpstr>Transport Layer- Layer 4</vt:lpstr>
      <vt:lpstr>A Connection Oriented Session</vt:lpstr>
      <vt:lpstr>Flow Control  </vt:lpstr>
      <vt:lpstr>Acknowledgements </vt:lpstr>
      <vt:lpstr>Network Layer- Layer 3</vt:lpstr>
      <vt:lpstr>Data Layer- Layer 2</vt:lpstr>
      <vt:lpstr>Physical Layer- Layer 1</vt:lpstr>
      <vt:lpstr>Encapsulation/De-Encapsulation</vt:lpstr>
      <vt:lpstr>Data Encapsulation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</dc:title>
  <dc:creator>Sam Lee</dc:creator>
  <cp:lastModifiedBy>Adrienne Bailey</cp:lastModifiedBy>
  <cp:revision>18</cp:revision>
  <dcterms:created xsi:type="dcterms:W3CDTF">2018-10-29T15:33:41Z</dcterms:created>
  <dcterms:modified xsi:type="dcterms:W3CDTF">2022-09-19T15:32:44Z</dcterms:modified>
</cp:coreProperties>
</file>