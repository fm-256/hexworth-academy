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13"/>
  </p:notesMasterIdLst>
  <p:sldIdLst>
    <p:sldId id="256" r:id="rId2"/>
    <p:sldId id="257" r:id="rId3"/>
    <p:sldId id="262" r:id="rId4"/>
    <p:sldId id="258" r:id="rId5"/>
    <p:sldId id="259" r:id="rId6"/>
    <p:sldId id="260" r:id="rId7"/>
    <p:sldId id="261" r:id="rId8"/>
    <p:sldId id="266"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57970"/>
  </p:normalViewPr>
  <p:slideViewPr>
    <p:cSldViewPr snapToGrid="0">
      <p:cViewPr varScale="1">
        <p:scale>
          <a:sx n="63" d="100"/>
          <a:sy n="63" d="100"/>
        </p:scale>
        <p:origin x="2480" y="184"/>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CA7F8B-CEA7-3D42-9129-CA8AEA5D0CD8}" type="datetimeFigureOut">
              <a:rPr lang="en-US" smtClean="0"/>
              <a:t>9/14/22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4A228F-EB2D-C241-9AF3-3DA68B198C70}" type="slidenum">
              <a:rPr lang="en-US" smtClean="0"/>
              <a:t>‹#›</a:t>
            </a:fld>
            <a:endParaRPr lang="en-US"/>
          </a:p>
        </p:txBody>
      </p:sp>
    </p:spTree>
    <p:extLst>
      <p:ext uri="{BB962C8B-B14F-4D97-AF65-F5344CB8AC3E}">
        <p14:creationId xmlns:p14="http://schemas.microsoft.com/office/powerpoint/2010/main" val="999168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D4A228F-EB2D-C241-9AF3-3DA68B198C70}" type="slidenum">
              <a:rPr lang="en-US" smtClean="0"/>
              <a:t>1</a:t>
            </a:fld>
            <a:endParaRPr lang="en-US"/>
          </a:p>
        </p:txBody>
      </p:sp>
    </p:spTree>
    <p:extLst>
      <p:ext uri="{BB962C8B-B14F-4D97-AF65-F5344CB8AC3E}">
        <p14:creationId xmlns:p14="http://schemas.microsoft.com/office/powerpoint/2010/main" val="3754000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Bit: Binary digit of 1 or a 0</a:t>
            </a:r>
          </a:p>
          <a:p>
            <a:pPr marL="171450" indent="-171450">
              <a:buFont typeface="Arial" panose="020B0604020202020204" pitchFamily="34" charset="0"/>
              <a:buChar char="•"/>
            </a:pPr>
            <a:r>
              <a:rPr lang="en-US" dirty="0"/>
              <a:t>Byte: usually 8 bits</a:t>
            </a:r>
          </a:p>
          <a:p>
            <a:pPr marL="171450" indent="-171450">
              <a:buFont typeface="Arial" panose="020B0604020202020204" pitchFamily="34" charset="0"/>
              <a:buChar char="•"/>
            </a:pPr>
            <a:r>
              <a:rPr lang="en-US" dirty="0"/>
              <a:t>Octet: made up of 8 bits</a:t>
            </a:r>
          </a:p>
          <a:p>
            <a:pPr marL="171450" indent="-171450">
              <a:buFont typeface="Arial" panose="020B0604020202020204" pitchFamily="34" charset="0"/>
              <a:buChar char="•"/>
            </a:pPr>
            <a:r>
              <a:rPr lang="en-US" dirty="0"/>
              <a:t>Network address: A logical or physical address to uniquely identify a host or device on a network</a:t>
            </a:r>
          </a:p>
          <a:p>
            <a:pPr marL="171450" indent="-171450">
              <a:buFont typeface="Arial" panose="020B0604020202020204" pitchFamily="34" charset="0"/>
              <a:buChar char="•"/>
            </a:pPr>
            <a:r>
              <a:rPr lang="en-US" dirty="0"/>
              <a:t>Broadcast address: used by applications and hosts to send information to all hosts on the network</a:t>
            </a:r>
          </a:p>
        </p:txBody>
      </p:sp>
      <p:sp>
        <p:nvSpPr>
          <p:cNvPr id="4" name="Slide Number Placeholder 3"/>
          <p:cNvSpPr>
            <a:spLocks noGrp="1"/>
          </p:cNvSpPr>
          <p:nvPr>
            <p:ph type="sldNum" sz="quarter" idx="5"/>
          </p:nvPr>
        </p:nvSpPr>
        <p:spPr/>
        <p:txBody>
          <a:bodyPr/>
          <a:lstStyle/>
          <a:p>
            <a:fld id="{5D4A228F-EB2D-C241-9AF3-3DA68B198C70}" type="slidenum">
              <a:rPr lang="en-US" smtClean="0"/>
              <a:t>2</a:t>
            </a:fld>
            <a:endParaRPr lang="en-US"/>
          </a:p>
        </p:txBody>
      </p:sp>
    </p:spTree>
    <p:extLst>
      <p:ext uri="{BB962C8B-B14F-4D97-AF65-F5344CB8AC3E}">
        <p14:creationId xmlns:p14="http://schemas.microsoft.com/office/powerpoint/2010/main" val="1685070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D4A228F-EB2D-C241-9AF3-3DA68B198C70}" type="slidenum">
              <a:rPr lang="en-US" smtClean="0"/>
              <a:t>3</a:t>
            </a:fld>
            <a:endParaRPr lang="en-US"/>
          </a:p>
        </p:txBody>
      </p:sp>
    </p:spTree>
    <p:extLst>
      <p:ext uri="{BB962C8B-B14F-4D97-AF65-F5344CB8AC3E}">
        <p14:creationId xmlns:p14="http://schemas.microsoft.com/office/powerpoint/2010/main" val="1967136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Class A, the first byte is assigned to the network address and the 3 remaining bytes are used for the host addresses</a:t>
            </a:r>
          </a:p>
          <a:p>
            <a:pPr marL="171450" indent="-171450">
              <a:buFont typeface="Arial" panose="020B0604020202020204" pitchFamily="34" charset="0"/>
              <a:buChar char="•"/>
            </a:pPr>
            <a:r>
              <a:rPr lang="en-US" dirty="0"/>
              <a:t>Class B, the first 2 bytes are assigned to the network address and the remaining 2 bytes are used for host addresses</a:t>
            </a:r>
          </a:p>
          <a:p>
            <a:pPr marL="171450" indent="-171450">
              <a:buFont typeface="Arial" panose="020B0604020202020204" pitchFamily="34" charset="0"/>
              <a:buChar char="•"/>
            </a:pPr>
            <a:r>
              <a:rPr lang="en-US" dirty="0"/>
              <a:t>Class C. the first 3 bytes of a Class C network address are dedicated to the network address and the final byte is for the host address</a:t>
            </a:r>
          </a:p>
          <a:p>
            <a:pPr marL="171450" indent="-171450">
              <a:buFont typeface="Arial" panose="020B0604020202020204" pitchFamily="34" charset="0"/>
              <a:buChar char="•"/>
            </a:pPr>
            <a:r>
              <a:rPr lang="en-US" dirty="0"/>
              <a:t>Class D is used for multicast addresses</a:t>
            </a:r>
          </a:p>
          <a:p>
            <a:pPr marL="171450" indent="-171450">
              <a:buFont typeface="Arial" panose="020B0604020202020204" pitchFamily="34" charset="0"/>
              <a:buChar char="•"/>
            </a:pPr>
            <a:r>
              <a:rPr lang="en-US" dirty="0"/>
              <a:t>Class E is used for scientific purposes</a:t>
            </a:r>
          </a:p>
        </p:txBody>
      </p:sp>
      <p:sp>
        <p:nvSpPr>
          <p:cNvPr id="4" name="Slide Number Placeholder 3"/>
          <p:cNvSpPr>
            <a:spLocks noGrp="1"/>
          </p:cNvSpPr>
          <p:nvPr>
            <p:ph type="sldNum" sz="quarter" idx="5"/>
          </p:nvPr>
        </p:nvSpPr>
        <p:spPr/>
        <p:txBody>
          <a:bodyPr/>
          <a:lstStyle/>
          <a:p>
            <a:fld id="{5D4A228F-EB2D-C241-9AF3-3DA68B198C70}" type="slidenum">
              <a:rPr lang="en-US" smtClean="0"/>
              <a:t>4</a:t>
            </a:fld>
            <a:endParaRPr lang="en-US"/>
          </a:p>
        </p:txBody>
      </p:sp>
    </p:spTree>
    <p:extLst>
      <p:ext uri="{BB962C8B-B14F-4D97-AF65-F5344CB8AC3E}">
        <p14:creationId xmlns:p14="http://schemas.microsoft.com/office/powerpoint/2010/main" val="1306224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Private IP addresses can be used on a private network, but they are not routable through the internet</a:t>
            </a:r>
          </a:p>
          <a:p>
            <a:pPr marL="171450" indent="-171450">
              <a:buFont typeface="Arial" panose="020B0604020202020204" pitchFamily="34" charset="0"/>
              <a:buChar char="•"/>
            </a:pPr>
            <a:r>
              <a:rPr lang="en-US" dirty="0"/>
              <a:t>This is helpful so we never run out of unusable IP addresses</a:t>
            </a:r>
          </a:p>
          <a:p>
            <a:pPr marL="171450" indent="-171450">
              <a:buFont typeface="Arial" panose="020B0604020202020204" pitchFamily="34" charset="0"/>
              <a:buChar char="•"/>
            </a:pPr>
            <a:r>
              <a:rPr lang="en-US" dirty="0"/>
              <a:t>We use something called Network Address Translation, which allows us to have multiple private IP addresses on the network, but when we send data out through our router, the destination IP address can only see our public IP address</a:t>
            </a:r>
          </a:p>
        </p:txBody>
      </p:sp>
      <p:sp>
        <p:nvSpPr>
          <p:cNvPr id="4" name="Slide Number Placeholder 3"/>
          <p:cNvSpPr>
            <a:spLocks noGrp="1"/>
          </p:cNvSpPr>
          <p:nvPr>
            <p:ph type="sldNum" sz="quarter" idx="5"/>
          </p:nvPr>
        </p:nvSpPr>
        <p:spPr/>
        <p:txBody>
          <a:bodyPr/>
          <a:lstStyle/>
          <a:p>
            <a:fld id="{5D4A228F-EB2D-C241-9AF3-3DA68B198C70}" type="slidenum">
              <a:rPr lang="en-US" smtClean="0"/>
              <a:t>5</a:t>
            </a:fld>
            <a:endParaRPr lang="en-US"/>
          </a:p>
        </p:txBody>
      </p:sp>
    </p:spTree>
    <p:extLst>
      <p:ext uri="{BB962C8B-B14F-4D97-AF65-F5344CB8AC3E}">
        <p14:creationId xmlns:p14="http://schemas.microsoft.com/office/powerpoint/2010/main" val="1404996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Unicast: Sending packets to a single destination</a:t>
            </a:r>
          </a:p>
          <a:p>
            <a:pPr marL="171450" indent="-171450">
              <a:buFont typeface="Arial" panose="020B0604020202020204" pitchFamily="34" charset="0"/>
              <a:buChar char="•"/>
            </a:pPr>
            <a:r>
              <a:rPr lang="en-US" dirty="0"/>
              <a:t>Multicast: Packets sent from a single source and transmitted to many devices on different networks (one-to-many)</a:t>
            </a:r>
          </a:p>
          <a:p>
            <a:pPr marL="171450" indent="-171450">
              <a:buFont typeface="Arial" panose="020B0604020202020204" pitchFamily="34" charset="0"/>
              <a:buChar char="•"/>
            </a:pPr>
            <a:r>
              <a:rPr lang="en-US" dirty="0"/>
              <a:t>Broadcast: Sent to all hosts on the network</a:t>
            </a:r>
          </a:p>
          <a:p>
            <a:pPr marL="171450" indent="-171450">
              <a:buFont typeface="Arial" panose="020B0604020202020204" pitchFamily="34" charset="0"/>
              <a:buChar char="•"/>
            </a:pPr>
            <a:r>
              <a:rPr lang="en-US" dirty="0"/>
              <a:t>Anycast: Multiple destination devices will have the same anycast address; allows a device to send a request and the closest device with that anycast address will respond</a:t>
            </a:r>
          </a:p>
          <a:p>
            <a:pPr marL="171450" indent="-171450">
              <a:buFont typeface="Arial" panose="020B0604020202020204" pitchFamily="34" charset="0"/>
              <a:buChar char="•"/>
            </a:pPr>
            <a:r>
              <a:rPr lang="en-US" dirty="0"/>
              <a:t>13 Root DNS servers, but there are thousands of DNS servers configured with anycast addresses so your device can reach the closest one to your geographic location</a:t>
            </a:r>
          </a:p>
        </p:txBody>
      </p:sp>
      <p:sp>
        <p:nvSpPr>
          <p:cNvPr id="4" name="Slide Number Placeholder 3"/>
          <p:cNvSpPr>
            <a:spLocks noGrp="1"/>
          </p:cNvSpPr>
          <p:nvPr>
            <p:ph type="sldNum" sz="quarter" idx="5"/>
          </p:nvPr>
        </p:nvSpPr>
        <p:spPr/>
        <p:txBody>
          <a:bodyPr/>
          <a:lstStyle/>
          <a:p>
            <a:fld id="{5D4A228F-EB2D-C241-9AF3-3DA68B198C70}" type="slidenum">
              <a:rPr lang="en-US" smtClean="0"/>
              <a:t>6</a:t>
            </a:fld>
            <a:endParaRPr lang="en-US"/>
          </a:p>
        </p:txBody>
      </p:sp>
    </p:spTree>
    <p:extLst>
      <p:ext uri="{BB962C8B-B14F-4D97-AF65-F5344CB8AC3E}">
        <p14:creationId xmlns:p14="http://schemas.microsoft.com/office/powerpoint/2010/main" val="319688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Next-generation IP</a:t>
            </a:r>
          </a:p>
          <a:p>
            <a:pPr marL="171450" indent="-171450">
              <a:buFont typeface="Arial" panose="020B0604020202020204" pitchFamily="34" charset="0"/>
              <a:buChar char="•"/>
            </a:pPr>
            <a:r>
              <a:rPr lang="en-US" dirty="0"/>
              <a:t>The more time goes by, the more people and more devices that utilize the internet</a:t>
            </a:r>
          </a:p>
          <a:p>
            <a:pPr marL="171450" indent="-171450">
              <a:buFont typeface="Arial" panose="020B0604020202020204" pitchFamily="34" charset="0"/>
              <a:buChar char="•"/>
            </a:pPr>
            <a:r>
              <a:rPr lang="en-US" dirty="0"/>
              <a:t>Shortened Expression rules:</a:t>
            </a:r>
          </a:p>
          <a:p>
            <a:pPr marL="171450" indent="-171450">
              <a:buFont typeface="Arial" panose="020B0604020202020204" pitchFamily="34" charset="0"/>
              <a:buChar char="•"/>
            </a:pPr>
            <a:r>
              <a:rPr lang="en-US" dirty="0"/>
              <a:t>1. Drop any leading zeros in each individual block </a:t>
            </a:r>
          </a:p>
          <a:p>
            <a:pPr marL="171450" indent="-171450">
              <a:buFont typeface="Arial" panose="020B0604020202020204" pitchFamily="34" charset="0"/>
              <a:buChar char="•"/>
            </a:pPr>
            <a:r>
              <a:rPr lang="en-US" dirty="0"/>
              <a:t>2. You can remove consecutive zeros and replace them with a double colon, but you can only do this ONCE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D4A228F-EB2D-C241-9AF3-3DA68B198C70}" type="slidenum">
              <a:rPr lang="en-US" smtClean="0"/>
              <a:t>7</a:t>
            </a:fld>
            <a:endParaRPr lang="en-US"/>
          </a:p>
        </p:txBody>
      </p:sp>
    </p:spTree>
    <p:extLst>
      <p:ext uri="{BB962C8B-B14F-4D97-AF65-F5344CB8AC3E}">
        <p14:creationId xmlns:p14="http://schemas.microsoft.com/office/powerpoint/2010/main" val="308906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4A228F-EB2D-C241-9AF3-3DA68B198C70}" type="slidenum">
              <a:rPr lang="en-US" smtClean="0"/>
              <a:t>8</a:t>
            </a:fld>
            <a:endParaRPr lang="en-US"/>
          </a:p>
        </p:txBody>
      </p:sp>
    </p:spTree>
    <p:extLst>
      <p:ext uri="{BB962C8B-B14F-4D97-AF65-F5344CB8AC3E}">
        <p14:creationId xmlns:p14="http://schemas.microsoft.com/office/powerpoint/2010/main" val="694741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Allows our devices to communicate over the network or the internet over IPv4 or IPv6</a:t>
            </a:r>
          </a:p>
          <a:p>
            <a:pPr marL="171450" indent="-171450">
              <a:buFont typeface="Arial" panose="020B0604020202020204" pitchFamily="34" charset="0"/>
              <a:buChar char="•"/>
            </a:pPr>
            <a:r>
              <a:rPr lang="en-US" dirty="0"/>
              <a:t>6to4: useful for carrying IPv6 packets over a network that’s still running on IPv4</a:t>
            </a:r>
          </a:p>
          <a:p>
            <a:pPr marL="171450" indent="-171450">
              <a:buFont typeface="Arial" panose="020B0604020202020204" pitchFamily="34" charset="0"/>
              <a:buChar char="•"/>
            </a:pPr>
            <a:r>
              <a:rPr lang="en-US" dirty="0"/>
              <a:t>It takes an IPv6 packet and slaps an IPv4 header in front of it</a:t>
            </a:r>
          </a:p>
          <a:p>
            <a:pPr marL="171450" indent="-171450">
              <a:buFont typeface="Arial" panose="020B0604020202020204" pitchFamily="34" charset="0"/>
              <a:buChar char="•"/>
            </a:pPr>
            <a:r>
              <a:rPr lang="en-US" dirty="0"/>
              <a:t>NAT breaks the tunnel encapsulation, so you have to be able to modify the packets to be received </a:t>
            </a:r>
          </a:p>
          <a:p>
            <a:pPr marL="171450" indent="-171450">
              <a:buFont typeface="Arial" panose="020B0604020202020204" pitchFamily="34" charset="0"/>
              <a:buChar char="•"/>
            </a:pPr>
            <a:r>
              <a:rPr lang="en-US" dirty="0"/>
              <a:t>Teredo disguises your tunnel traffic into UDP packets</a:t>
            </a:r>
          </a:p>
          <a:p>
            <a:pPr marL="171450" indent="-171450">
              <a:buFont typeface="Arial" panose="020B0604020202020204" pitchFamily="34" charset="0"/>
              <a:buChar char="•"/>
            </a:pPr>
            <a:r>
              <a:rPr lang="en-US" dirty="0" err="1"/>
              <a:t>Miredo</a:t>
            </a:r>
            <a:r>
              <a:rPr lang="en-US" dirty="0"/>
              <a:t> is used on IPv6 Linux or Unix machines to communicate on the IPv4 directly without a dual-stack router or the 6to4 tunneling (rarely used)</a:t>
            </a:r>
          </a:p>
        </p:txBody>
      </p:sp>
      <p:sp>
        <p:nvSpPr>
          <p:cNvPr id="4" name="Slide Number Placeholder 3"/>
          <p:cNvSpPr>
            <a:spLocks noGrp="1"/>
          </p:cNvSpPr>
          <p:nvPr>
            <p:ph type="sldNum" sz="quarter" idx="5"/>
          </p:nvPr>
        </p:nvSpPr>
        <p:spPr/>
        <p:txBody>
          <a:bodyPr/>
          <a:lstStyle/>
          <a:p>
            <a:fld id="{5D4A228F-EB2D-C241-9AF3-3DA68B198C70}" type="slidenum">
              <a:rPr lang="en-US" smtClean="0"/>
              <a:t>11</a:t>
            </a:fld>
            <a:endParaRPr lang="en-US"/>
          </a:p>
        </p:txBody>
      </p:sp>
    </p:spTree>
    <p:extLst>
      <p:ext uri="{BB962C8B-B14F-4D97-AF65-F5344CB8AC3E}">
        <p14:creationId xmlns:p14="http://schemas.microsoft.com/office/powerpoint/2010/main" val="1839554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3C633830-2244-49AE-BC4A-47F415C177C6}" type="datetimeFigureOut">
              <a:rPr lang="en-US" smtClean="0"/>
              <a:pPr/>
              <a:t>9/14/22</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2AC27A5A-7290-4DE1-BA94-4BE8A8E57DCF}"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6963791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33830-2244-49AE-BC4A-47F415C177C6}" type="datetimeFigureOut">
              <a:rPr lang="en-US" smtClean="0"/>
              <a:t>9/14/22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2318322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3C633830-2244-49AE-BC4A-47F415C177C6}" type="datetimeFigureOut">
              <a:rPr lang="en-US" smtClean="0"/>
              <a:pPr/>
              <a:t>9/14/22</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2AC27A5A-7290-4DE1-BA94-4BE8A8E57DCF}"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138706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633830-2244-49AE-BC4A-47F415C177C6}" type="datetimeFigureOut">
              <a:rPr lang="en-US" smtClean="0"/>
              <a:t>9/14/22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276678240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633830-2244-49AE-BC4A-47F415C177C6}" type="datetimeFigureOut">
              <a:rPr lang="en-US" smtClean="0"/>
              <a:t>9/14/22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169449920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633830-2244-49AE-BC4A-47F415C177C6}" type="datetimeFigureOut">
              <a:rPr lang="en-US" smtClean="0"/>
              <a:t>9/14/22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243580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633830-2244-49AE-BC4A-47F415C177C6}" type="datetimeFigureOut">
              <a:rPr lang="en-US" smtClean="0"/>
              <a:t>9/14/22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3189055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3C633830-2244-49AE-BC4A-47F415C177C6}" type="datetimeFigureOut">
              <a:rPr lang="en-US" smtClean="0"/>
              <a:t>9/14/22</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2AC27A5A-7290-4DE1-BA94-4BE8A8E57DCF}"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19586865"/>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3C633830-2244-49AE-BC4A-47F415C177C6}" type="datetimeFigureOut">
              <a:rPr lang="en-US" smtClean="0"/>
              <a:t>9/14/22</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874790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33830-2244-49AE-BC4A-47F415C177C6}" type="datetimeFigureOut">
              <a:rPr lang="en-US" smtClean="0"/>
              <a:t>9/14/22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3498256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33830-2244-49AE-BC4A-47F415C177C6}" type="datetimeFigureOut">
              <a:rPr lang="en-US" smtClean="0"/>
              <a:t>9/14/22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AC27A5A-7290-4DE1-BA94-4BE8A8E57DCF}" type="slidenum">
              <a:rPr lang="en-US" smtClean="0"/>
              <a:t>‹#›</a:t>
            </a:fld>
            <a:endParaRPr lang="en-US" dirty="0"/>
          </a:p>
        </p:txBody>
      </p:sp>
    </p:spTree>
    <p:extLst>
      <p:ext uri="{BB962C8B-B14F-4D97-AF65-F5344CB8AC3E}">
        <p14:creationId xmlns:p14="http://schemas.microsoft.com/office/powerpoint/2010/main" val="126157583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3C633830-2244-49AE-BC4A-47F415C177C6}" type="datetimeFigureOut">
              <a:rPr lang="en-US" smtClean="0"/>
              <a:pPr/>
              <a:t>9/14/22</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2AC27A5A-7290-4DE1-BA94-4BE8A8E57DCF}"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96048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7D52D-E0BA-4E15-BFF3-1EC7EDC646D0}"/>
              </a:ext>
            </a:extLst>
          </p:cNvPr>
          <p:cNvSpPr>
            <a:spLocks noGrp="1"/>
          </p:cNvSpPr>
          <p:nvPr>
            <p:ph type="ctrTitle"/>
          </p:nvPr>
        </p:nvSpPr>
        <p:spPr/>
        <p:txBody>
          <a:bodyPr/>
          <a:lstStyle/>
          <a:p>
            <a:r>
              <a:rPr lang="en-US" dirty="0"/>
              <a:t>Chapter 7</a:t>
            </a:r>
          </a:p>
        </p:txBody>
      </p:sp>
      <p:sp>
        <p:nvSpPr>
          <p:cNvPr id="3" name="Subtitle 2">
            <a:extLst>
              <a:ext uri="{FF2B5EF4-FFF2-40B4-BE49-F238E27FC236}">
                <a16:creationId xmlns:a16="http://schemas.microsoft.com/office/drawing/2014/main" id="{2E8A6201-3ADC-400B-B9F7-27D65F313FD8}"/>
              </a:ext>
            </a:extLst>
          </p:cNvPr>
          <p:cNvSpPr>
            <a:spLocks noGrp="1"/>
          </p:cNvSpPr>
          <p:nvPr>
            <p:ph type="subTitle" idx="1"/>
          </p:nvPr>
        </p:nvSpPr>
        <p:spPr/>
        <p:txBody>
          <a:bodyPr/>
          <a:lstStyle/>
          <a:p>
            <a:r>
              <a:rPr lang="en-US" dirty="0"/>
              <a:t>IP Addressing</a:t>
            </a:r>
          </a:p>
        </p:txBody>
      </p:sp>
    </p:spTree>
    <p:extLst>
      <p:ext uri="{BB962C8B-B14F-4D97-AF65-F5344CB8AC3E}">
        <p14:creationId xmlns:p14="http://schemas.microsoft.com/office/powerpoint/2010/main" val="4220891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3EA86-9471-4B0C-A82F-B245D420166C}"/>
              </a:ext>
            </a:extLst>
          </p:cNvPr>
          <p:cNvSpPr>
            <a:spLocks noGrp="1"/>
          </p:cNvSpPr>
          <p:nvPr>
            <p:ph type="title"/>
          </p:nvPr>
        </p:nvSpPr>
        <p:spPr>
          <a:xfrm>
            <a:off x="894080" y="382385"/>
            <a:ext cx="10952480" cy="1492132"/>
          </a:xfrm>
        </p:spPr>
        <p:txBody>
          <a:bodyPr/>
          <a:lstStyle/>
          <a:p>
            <a:pPr algn="ctr"/>
            <a:r>
              <a:rPr lang="en-US" dirty="0"/>
              <a:t>IP Terminology</a:t>
            </a:r>
          </a:p>
        </p:txBody>
      </p:sp>
      <p:sp>
        <p:nvSpPr>
          <p:cNvPr id="3" name="Content Placeholder 2">
            <a:extLst>
              <a:ext uri="{FF2B5EF4-FFF2-40B4-BE49-F238E27FC236}">
                <a16:creationId xmlns:a16="http://schemas.microsoft.com/office/drawing/2014/main" id="{D663AF6C-5A45-436A-9A31-0BFB22485E99}"/>
              </a:ext>
            </a:extLst>
          </p:cNvPr>
          <p:cNvSpPr>
            <a:spLocks noGrp="1"/>
          </p:cNvSpPr>
          <p:nvPr>
            <p:ph idx="1"/>
          </p:nvPr>
        </p:nvSpPr>
        <p:spPr>
          <a:xfrm>
            <a:off x="1281159" y="1686561"/>
            <a:ext cx="10178322" cy="4538472"/>
          </a:xfrm>
        </p:spPr>
        <p:txBody>
          <a:bodyPr>
            <a:normAutofit/>
          </a:bodyPr>
          <a:lstStyle/>
          <a:p>
            <a:r>
              <a:rPr lang="en-US" sz="2800" dirty="0"/>
              <a:t>Bit</a:t>
            </a:r>
          </a:p>
          <a:p>
            <a:r>
              <a:rPr lang="en-US" sz="2800" dirty="0"/>
              <a:t>Byte (8 bits)</a:t>
            </a:r>
          </a:p>
          <a:p>
            <a:r>
              <a:rPr lang="en-US" sz="2800" dirty="0"/>
              <a:t>Octet (8 bits)</a:t>
            </a:r>
          </a:p>
          <a:p>
            <a:r>
              <a:rPr lang="en-US" sz="2800" dirty="0"/>
              <a:t>Network Address</a:t>
            </a:r>
          </a:p>
          <a:p>
            <a:r>
              <a:rPr lang="en-US" sz="2800" dirty="0"/>
              <a:t>IP Address</a:t>
            </a:r>
          </a:p>
          <a:p>
            <a:pPr lvl="1"/>
            <a:r>
              <a:rPr lang="en-US" sz="2800" dirty="0"/>
              <a:t>IPv4 or IPv6</a:t>
            </a:r>
          </a:p>
          <a:p>
            <a:r>
              <a:rPr lang="en-US" sz="2800" dirty="0"/>
              <a:t>Broadcast Address</a:t>
            </a:r>
          </a:p>
        </p:txBody>
      </p:sp>
    </p:spTree>
    <p:extLst>
      <p:ext uri="{BB962C8B-B14F-4D97-AF65-F5344CB8AC3E}">
        <p14:creationId xmlns:p14="http://schemas.microsoft.com/office/powerpoint/2010/main" val="2310551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6609D-AF4E-4984-B12B-4725476A9840}"/>
              </a:ext>
            </a:extLst>
          </p:cNvPr>
          <p:cNvSpPr>
            <a:spLocks noGrp="1"/>
          </p:cNvSpPr>
          <p:nvPr>
            <p:ph type="title"/>
          </p:nvPr>
        </p:nvSpPr>
        <p:spPr/>
        <p:txBody>
          <a:bodyPr/>
          <a:lstStyle/>
          <a:p>
            <a:pPr algn="ctr"/>
            <a:r>
              <a:rPr lang="en-US" dirty="0"/>
              <a:t>IPv4</a:t>
            </a:r>
          </a:p>
        </p:txBody>
      </p:sp>
      <p:sp>
        <p:nvSpPr>
          <p:cNvPr id="3" name="Content Placeholder 2">
            <a:extLst>
              <a:ext uri="{FF2B5EF4-FFF2-40B4-BE49-F238E27FC236}">
                <a16:creationId xmlns:a16="http://schemas.microsoft.com/office/drawing/2014/main" id="{94B2211F-7201-46E3-AF49-3CDE58D90FC0}"/>
              </a:ext>
            </a:extLst>
          </p:cNvPr>
          <p:cNvSpPr>
            <a:spLocks noGrp="1"/>
          </p:cNvSpPr>
          <p:nvPr>
            <p:ph idx="1"/>
          </p:nvPr>
        </p:nvSpPr>
        <p:spPr>
          <a:xfrm>
            <a:off x="1251678" y="1874517"/>
            <a:ext cx="10178322" cy="4558792"/>
          </a:xfrm>
        </p:spPr>
        <p:txBody>
          <a:bodyPr>
            <a:normAutofit/>
          </a:bodyPr>
          <a:lstStyle/>
          <a:p>
            <a:r>
              <a:rPr lang="en-US" sz="2800" dirty="0"/>
              <a:t>Uses Dotted Decimal Notation</a:t>
            </a:r>
          </a:p>
          <a:p>
            <a:r>
              <a:rPr lang="en-US" sz="2800" dirty="0"/>
              <a:t>4 sets of Octets</a:t>
            </a:r>
          </a:p>
          <a:p>
            <a:r>
              <a:rPr lang="en-US" sz="2800" dirty="0"/>
              <a:t>Total of 32 bits</a:t>
            </a:r>
          </a:p>
          <a:p>
            <a:r>
              <a:rPr lang="en-US" sz="2800" dirty="0"/>
              <a:t>Example: 192.168.9.35</a:t>
            </a:r>
          </a:p>
        </p:txBody>
      </p:sp>
    </p:spTree>
    <p:extLst>
      <p:ext uri="{BB962C8B-B14F-4D97-AF65-F5344CB8AC3E}">
        <p14:creationId xmlns:p14="http://schemas.microsoft.com/office/powerpoint/2010/main" val="210449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5B98E-1696-459A-A7F7-C00D6B5BDC3A}"/>
              </a:ext>
            </a:extLst>
          </p:cNvPr>
          <p:cNvSpPr>
            <a:spLocks noGrp="1"/>
          </p:cNvSpPr>
          <p:nvPr>
            <p:ph type="title"/>
          </p:nvPr>
        </p:nvSpPr>
        <p:spPr/>
        <p:txBody>
          <a:bodyPr/>
          <a:lstStyle/>
          <a:p>
            <a:pPr algn="ctr"/>
            <a:r>
              <a:rPr lang="en-US" dirty="0"/>
              <a:t>Public IP Addresses</a:t>
            </a:r>
          </a:p>
        </p:txBody>
      </p:sp>
      <p:sp>
        <p:nvSpPr>
          <p:cNvPr id="3" name="Content Placeholder 2">
            <a:extLst>
              <a:ext uri="{FF2B5EF4-FFF2-40B4-BE49-F238E27FC236}">
                <a16:creationId xmlns:a16="http://schemas.microsoft.com/office/drawing/2014/main" id="{BD25D169-D108-4878-8E03-9386FD9514A4}"/>
              </a:ext>
            </a:extLst>
          </p:cNvPr>
          <p:cNvSpPr>
            <a:spLocks noGrp="1"/>
          </p:cNvSpPr>
          <p:nvPr>
            <p:ph idx="1"/>
          </p:nvPr>
        </p:nvSpPr>
        <p:spPr>
          <a:xfrm>
            <a:off x="1251678" y="1625600"/>
            <a:ext cx="10178322" cy="5079999"/>
          </a:xfrm>
        </p:spPr>
        <p:txBody>
          <a:bodyPr>
            <a:noAutofit/>
          </a:bodyPr>
          <a:lstStyle/>
          <a:p>
            <a:r>
              <a:rPr lang="en-US" dirty="0"/>
              <a:t>Class A</a:t>
            </a:r>
          </a:p>
          <a:p>
            <a:pPr lvl="1"/>
            <a:r>
              <a:rPr lang="en-US" sz="2000" dirty="0"/>
              <a:t>IP addresses that start from 1 to 126</a:t>
            </a:r>
          </a:p>
          <a:p>
            <a:pPr lvl="1"/>
            <a:r>
              <a:rPr lang="en-US" sz="2000" dirty="0"/>
              <a:t>/8 Subnet Mask</a:t>
            </a:r>
          </a:p>
          <a:p>
            <a:r>
              <a:rPr lang="en-US" dirty="0"/>
              <a:t>Class B</a:t>
            </a:r>
          </a:p>
          <a:p>
            <a:pPr lvl="1"/>
            <a:r>
              <a:rPr lang="en-US" sz="2000" dirty="0"/>
              <a:t>IP addresses that start from 128 to 191</a:t>
            </a:r>
          </a:p>
          <a:p>
            <a:pPr lvl="1"/>
            <a:r>
              <a:rPr lang="en-US" sz="2000" dirty="0"/>
              <a:t>/16 Subnet Mask</a:t>
            </a:r>
          </a:p>
          <a:p>
            <a:r>
              <a:rPr lang="en-US" dirty="0"/>
              <a:t>Class C</a:t>
            </a:r>
          </a:p>
          <a:p>
            <a:pPr lvl="1"/>
            <a:r>
              <a:rPr lang="en-US" sz="2000" dirty="0"/>
              <a:t>IP address that start from 192 to 223</a:t>
            </a:r>
          </a:p>
          <a:p>
            <a:pPr lvl="1"/>
            <a:r>
              <a:rPr lang="en-US" sz="2000" dirty="0"/>
              <a:t>/24 Subnet Mask</a:t>
            </a:r>
          </a:p>
          <a:p>
            <a:r>
              <a:rPr lang="en-US" dirty="0"/>
              <a:t>Class D – IP addresses from 224 – 239</a:t>
            </a:r>
          </a:p>
          <a:p>
            <a:r>
              <a:rPr lang="en-US" dirty="0"/>
              <a:t>Class E – IP addresses from 240 - 255</a:t>
            </a:r>
          </a:p>
        </p:txBody>
      </p:sp>
    </p:spTree>
    <p:extLst>
      <p:ext uri="{BB962C8B-B14F-4D97-AF65-F5344CB8AC3E}">
        <p14:creationId xmlns:p14="http://schemas.microsoft.com/office/powerpoint/2010/main" val="1749194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12816-0741-46E4-9E0A-625BA499FF6F}"/>
              </a:ext>
            </a:extLst>
          </p:cNvPr>
          <p:cNvSpPr>
            <a:spLocks noGrp="1"/>
          </p:cNvSpPr>
          <p:nvPr>
            <p:ph type="title"/>
          </p:nvPr>
        </p:nvSpPr>
        <p:spPr>
          <a:xfrm>
            <a:off x="1251678" y="544945"/>
            <a:ext cx="10178322" cy="1492132"/>
          </a:xfrm>
        </p:spPr>
        <p:txBody>
          <a:bodyPr/>
          <a:lstStyle/>
          <a:p>
            <a:pPr algn="ctr"/>
            <a:r>
              <a:rPr lang="en-US" dirty="0"/>
              <a:t>Private IP Address</a:t>
            </a:r>
          </a:p>
        </p:txBody>
      </p:sp>
      <p:sp>
        <p:nvSpPr>
          <p:cNvPr id="3" name="Content Placeholder 2">
            <a:extLst>
              <a:ext uri="{FF2B5EF4-FFF2-40B4-BE49-F238E27FC236}">
                <a16:creationId xmlns:a16="http://schemas.microsoft.com/office/drawing/2014/main" id="{AF280514-5EC7-45E7-9DEA-AB9497344DAE}"/>
              </a:ext>
            </a:extLst>
          </p:cNvPr>
          <p:cNvSpPr>
            <a:spLocks noGrp="1"/>
          </p:cNvSpPr>
          <p:nvPr>
            <p:ph idx="1"/>
          </p:nvPr>
        </p:nvSpPr>
        <p:spPr>
          <a:xfrm>
            <a:off x="1251678" y="1524000"/>
            <a:ext cx="10178322" cy="5333999"/>
          </a:xfrm>
        </p:spPr>
        <p:txBody>
          <a:bodyPr>
            <a:noAutofit/>
          </a:bodyPr>
          <a:lstStyle/>
          <a:p>
            <a:r>
              <a:rPr lang="en-US" dirty="0"/>
              <a:t>Class A</a:t>
            </a:r>
          </a:p>
          <a:p>
            <a:pPr lvl="1"/>
            <a:r>
              <a:rPr lang="en-US" sz="2000" dirty="0"/>
              <a:t>Anything from 10.0.0.0 to 10.255.255.255</a:t>
            </a:r>
          </a:p>
          <a:p>
            <a:r>
              <a:rPr lang="en-US" dirty="0"/>
              <a:t>Class B</a:t>
            </a:r>
          </a:p>
          <a:p>
            <a:pPr lvl="1"/>
            <a:r>
              <a:rPr lang="en-US" sz="2000" dirty="0"/>
              <a:t>Anything from 172.16.0.0 to 172.31.255.255</a:t>
            </a:r>
          </a:p>
          <a:p>
            <a:r>
              <a:rPr lang="en-US" dirty="0"/>
              <a:t>Class C </a:t>
            </a:r>
          </a:p>
          <a:p>
            <a:pPr lvl="1"/>
            <a:r>
              <a:rPr lang="en-US" sz="2000" dirty="0"/>
              <a:t>Anything from 192.168.0.0 to 192.168.255.255</a:t>
            </a:r>
          </a:p>
          <a:p>
            <a:pPr lvl="1"/>
            <a:endParaRPr lang="en-US" sz="2000" dirty="0"/>
          </a:p>
          <a:p>
            <a:r>
              <a:rPr lang="en-US" dirty="0"/>
              <a:t>Loopback address: 127.0.0.1</a:t>
            </a:r>
          </a:p>
          <a:p>
            <a:pPr lvl="1"/>
            <a:endParaRPr lang="en-US" sz="2000" dirty="0"/>
          </a:p>
          <a:p>
            <a:r>
              <a:rPr lang="en-US" dirty="0"/>
              <a:t>Automatic Private IP Addressing (APIPA)</a:t>
            </a:r>
          </a:p>
          <a:p>
            <a:pPr lvl="1"/>
            <a:r>
              <a:rPr lang="en-US" sz="2000" dirty="0"/>
              <a:t>Anything from 169.254.0.0 to 169.254.255.255</a:t>
            </a:r>
          </a:p>
        </p:txBody>
      </p:sp>
    </p:spTree>
    <p:extLst>
      <p:ext uri="{BB962C8B-B14F-4D97-AF65-F5344CB8AC3E}">
        <p14:creationId xmlns:p14="http://schemas.microsoft.com/office/powerpoint/2010/main" val="439684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57BDB-CF02-4192-B6CA-8B452EDCD9A9}"/>
              </a:ext>
            </a:extLst>
          </p:cNvPr>
          <p:cNvSpPr>
            <a:spLocks noGrp="1"/>
          </p:cNvSpPr>
          <p:nvPr>
            <p:ph type="title"/>
          </p:nvPr>
        </p:nvSpPr>
        <p:spPr/>
        <p:txBody>
          <a:bodyPr/>
          <a:lstStyle/>
          <a:p>
            <a:pPr algn="ctr"/>
            <a:r>
              <a:rPr lang="en-US" dirty="0"/>
              <a:t>Message types</a:t>
            </a:r>
          </a:p>
        </p:txBody>
      </p:sp>
      <p:sp>
        <p:nvSpPr>
          <p:cNvPr id="3" name="Content Placeholder 2">
            <a:extLst>
              <a:ext uri="{FF2B5EF4-FFF2-40B4-BE49-F238E27FC236}">
                <a16:creationId xmlns:a16="http://schemas.microsoft.com/office/drawing/2014/main" id="{2F9AE4C7-E0EC-4869-A14E-3CAD4E490A2D}"/>
              </a:ext>
            </a:extLst>
          </p:cNvPr>
          <p:cNvSpPr>
            <a:spLocks noGrp="1"/>
          </p:cNvSpPr>
          <p:nvPr>
            <p:ph idx="1"/>
          </p:nvPr>
        </p:nvSpPr>
        <p:spPr>
          <a:xfrm>
            <a:off x="1251678" y="1503681"/>
            <a:ext cx="10178322" cy="4375912"/>
          </a:xfrm>
        </p:spPr>
        <p:txBody>
          <a:bodyPr>
            <a:normAutofit/>
          </a:bodyPr>
          <a:lstStyle/>
          <a:p>
            <a:r>
              <a:rPr lang="en-US" sz="2800" dirty="0"/>
              <a:t>Unicast: one-to-one</a:t>
            </a:r>
          </a:p>
          <a:p>
            <a:r>
              <a:rPr lang="en-US" sz="2800" dirty="0"/>
              <a:t>Broadcast: one-to-all (NOT used in IPv6)</a:t>
            </a:r>
          </a:p>
          <a:p>
            <a:r>
              <a:rPr lang="en-US" sz="2800" dirty="0"/>
              <a:t>Multicast: one-to-many-of-many (specific)</a:t>
            </a:r>
          </a:p>
          <a:p>
            <a:r>
              <a:rPr lang="en-US" sz="2800" dirty="0"/>
              <a:t>Anycast: one-to-one-of-many</a:t>
            </a:r>
          </a:p>
        </p:txBody>
      </p:sp>
    </p:spTree>
    <p:extLst>
      <p:ext uri="{BB962C8B-B14F-4D97-AF65-F5344CB8AC3E}">
        <p14:creationId xmlns:p14="http://schemas.microsoft.com/office/powerpoint/2010/main" val="3368838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52E28-05C7-4FF7-9C3C-FF408DF05A60}"/>
              </a:ext>
            </a:extLst>
          </p:cNvPr>
          <p:cNvSpPr>
            <a:spLocks noGrp="1"/>
          </p:cNvSpPr>
          <p:nvPr>
            <p:ph type="title"/>
          </p:nvPr>
        </p:nvSpPr>
        <p:spPr/>
        <p:txBody>
          <a:bodyPr/>
          <a:lstStyle/>
          <a:p>
            <a:pPr algn="ctr"/>
            <a:r>
              <a:rPr lang="en-US" dirty="0"/>
              <a:t>IPv6</a:t>
            </a:r>
          </a:p>
        </p:txBody>
      </p:sp>
      <p:sp>
        <p:nvSpPr>
          <p:cNvPr id="3" name="Content Placeholder 2">
            <a:extLst>
              <a:ext uri="{FF2B5EF4-FFF2-40B4-BE49-F238E27FC236}">
                <a16:creationId xmlns:a16="http://schemas.microsoft.com/office/drawing/2014/main" id="{998BDF9E-F231-4072-A70B-7A9FC2BEEBCC}"/>
              </a:ext>
            </a:extLst>
          </p:cNvPr>
          <p:cNvSpPr>
            <a:spLocks noGrp="1"/>
          </p:cNvSpPr>
          <p:nvPr>
            <p:ph idx="1"/>
          </p:nvPr>
        </p:nvSpPr>
        <p:spPr>
          <a:xfrm>
            <a:off x="1251678" y="1259841"/>
            <a:ext cx="10178322" cy="4619752"/>
          </a:xfrm>
        </p:spPr>
        <p:txBody>
          <a:bodyPr>
            <a:normAutofit/>
          </a:bodyPr>
          <a:lstStyle/>
          <a:p>
            <a:r>
              <a:rPr lang="en-US" sz="2800" dirty="0"/>
              <a:t>Uses Hexadecimal Notation</a:t>
            </a:r>
          </a:p>
          <a:p>
            <a:r>
              <a:rPr lang="en-US" sz="2800" dirty="0"/>
              <a:t>8 sets of 4 hexadecimal numbers</a:t>
            </a:r>
          </a:p>
          <a:p>
            <a:r>
              <a:rPr lang="en-US" sz="2800" dirty="0"/>
              <a:t>128 Bits</a:t>
            </a:r>
          </a:p>
          <a:p>
            <a:r>
              <a:rPr lang="en-US" sz="2800" dirty="0"/>
              <a:t>Shorten Zeros</a:t>
            </a:r>
          </a:p>
        </p:txBody>
      </p:sp>
      <p:pic>
        <p:nvPicPr>
          <p:cNvPr id="13" name="Picture 12">
            <a:extLst>
              <a:ext uri="{FF2B5EF4-FFF2-40B4-BE49-F238E27FC236}">
                <a16:creationId xmlns:a16="http://schemas.microsoft.com/office/drawing/2014/main" id="{F24839E0-02B9-425D-B8F2-5587C75E73DD}"/>
              </a:ext>
            </a:extLst>
          </p:cNvPr>
          <p:cNvPicPr>
            <a:picLocks noChangeAspect="1"/>
          </p:cNvPicPr>
          <p:nvPr/>
        </p:nvPicPr>
        <p:blipFill>
          <a:blip r:embed="rId3"/>
          <a:stretch>
            <a:fillRect/>
          </a:stretch>
        </p:blipFill>
        <p:spPr>
          <a:xfrm>
            <a:off x="2011323" y="3986791"/>
            <a:ext cx="8230313" cy="1882303"/>
          </a:xfrm>
          <a:prstGeom prst="rect">
            <a:avLst/>
          </a:prstGeom>
        </p:spPr>
      </p:pic>
    </p:spTree>
    <p:extLst>
      <p:ext uri="{BB962C8B-B14F-4D97-AF65-F5344CB8AC3E}">
        <p14:creationId xmlns:p14="http://schemas.microsoft.com/office/powerpoint/2010/main" val="2882208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C5F92-D8E0-2D52-57E6-CD4BD1973E5E}"/>
              </a:ext>
            </a:extLst>
          </p:cNvPr>
          <p:cNvSpPr>
            <a:spLocks noGrp="1"/>
          </p:cNvSpPr>
          <p:nvPr>
            <p:ph type="title"/>
          </p:nvPr>
        </p:nvSpPr>
        <p:spPr>
          <a:xfrm>
            <a:off x="1016000" y="382385"/>
            <a:ext cx="10891520" cy="1492132"/>
          </a:xfrm>
        </p:spPr>
        <p:txBody>
          <a:bodyPr/>
          <a:lstStyle/>
          <a:p>
            <a:pPr algn="ctr"/>
            <a:r>
              <a:rPr lang="en-US" dirty="0"/>
              <a:t>IPv6 Shorten Expression Rules</a:t>
            </a:r>
          </a:p>
        </p:txBody>
      </p:sp>
      <p:sp>
        <p:nvSpPr>
          <p:cNvPr id="3" name="Content Placeholder 2">
            <a:extLst>
              <a:ext uri="{FF2B5EF4-FFF2-40B4-BE49-F238E27FC236}">
                <a16:creationId xmlns:a16="http://schemas.microsoft.com/office/drawing/2014/main" id="{3D77E5AD-0C18-01C4-00DF-48D344E8D7EB}"/>
              </a:ext>
            </a:extLst>
          </p:cNvPr>
          <p:cNvSpPr>
            <a:spLocks noGrp="1"/>
          </p:cNvSpPr>
          <p:nvPr>
            <p:ph idx="1"/>
          </p:nvPr>
        </p:nvSpPr>
        <p:spPr>
          <a:xfrm>
            <a:off x="1251678" y="1605281"/>
            <a:ext cx="10178322" cy="4274312"/>
          </a:xfrm>
        </p:spPr>
        <p:txBody>
          <a:bodyPr>
            <a:normAutofit fontScale="92500" lnSpcReduction="10000"/>
          </a:bodyPr>
          <a:lstStyle/>
          <a:p>
            <a:pPr marL="171450" indent="-171450">
              <a:buFont typeface="Arial" panose="020B0604020202020204" pitchFamily="34" charset="0"/>
              <a:buChar char="•"/>
            </a:pPr>
            <a:r>
              <a:rPr lang="en-US" sz="2800" dirty="0"/>
              <a:t>Step 1. Drop any leading zeros in each individual block </a:t>
            </a:r>
          </a:p>
          <a:p>
            <a:pPr marL="171450" indent="-171450">
              <a:buFont typeface="Arial" panose="020B0604020202020204" pitchFamily="34" charset="0"/>
              <a:buChar char="•"/>
            </a:pPr>
            <a:r>
              <a:rPr lang="en-US" sz="2800" dirty="0"/>
              <a:t>Step 2. You can remove consecutive zeros and replace them with a double colon, but you can only do this ONCE</a:t>
            </a:r>
          </a:p>
          <a:p>
            <a:endParaRPr lang="en-US" dirty="0"/>
          </a:p>
          <a:p>
            <a:pPr marL="201168" lvl="1" indent="0">
              <a:buNone/>
            </a:pPr>
            <a:r>
              <a:rPr lang="en-US" dirty="0"/>
              <a:t>		</a:t>
            </a:r>
            <a:r>
              <a:rPr lang="en-US" sz="2800" dirty="0"/>
              <a:t>2001:0db8:3c4d:0012:0000:0000:1234:56ab</a:t>
            </a:r>
          </a:p>
          <a:p>
            <a:pPr marL="201168" lvl="1" indent="0">
              <a:buNone/>
            </a:pPr>
            <a:endParaRPr lang="en-US" sz="2800" dirty="0"/>
          </a:p>
          <a:p>
            <a:pPr marL="201168" lvl="1" indent="0">
              <a:buNone/>
            </a:pPr>
            <a:r>
              <a:rPr lang="en-US" sz="2800" dirty="0"/>
              <a:t>		Step 1 | 2001:db8:3c4d:12:0:0:1234:56ab</a:t>
            </a:r>
          </a:p>
          <a:p>
            <a:pPr marL="201168" lvl="1" indent="0">
              <a:buNone/>
            </a:pPr>
            <a:r>
              <a:rPr lang="en-US" sz="2800" dirty="0"/>
              <a:t>		</a:t>
            </a:r>
          </a:p>
          <a:p>
            <a:pPr marL="201168" lvl="1" indent="0">
              <a:buNone/>
            </a:pPr>
            <a:r>
              <a:rPr lang="en-US" sz="2800" dirty="0"/>
              <a:t>		Step 2 |  2001:db8:3c4d:12::1234:56ab</a:t>
            </a:r>
          </a:p>
        </p:txBody>
      </p:sp>
    </p:spTree>
    <p:extLst>
      <p:ext uri="{BB962C8B-B14F-4D97-AF65-F5344CB8AC3E}">
        <p14:creationId xmlns:p14="http://schemas.microsoft.com/office/powerpoint/2010/main" val="3988906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7E629-3175-4E1F-AE2B-5E2FCC879C36}"/>
              </a:ext>
            </a:extLst>
          </p:cNvPr>
          <p:cNvSpPr>
            <a:spLocks noGrp="1"/>
          </p:cNvSpPr>
          <p:nvPr>
            <p:ph type="title"/>
          </p:nvPr>
        </p:nvSpPr>
        <p:spPr>
          <a:xfrm>
            <a:off x="934720" y="382385"/>
            <a:ext cx="10993120" cy="1492132"/>
          </a:xfrm>
        </p:spPr>
        <p:txBody>
          <a:bodyPr/>
          <a:lstStyle/>
          <a:p>
            <a:pPr algn="ctr"/>
            <a:r>
              <a:rPr lang="en-US" dirty="0"/>
              <a:t>IPv6 Types of Addresses</a:t>
            </a:r>
          </a:p>
        </p:txBody>
      </p:sp>
      <p:sp>
        <p:nvSpPr>
          <p:cNvPr id="3" name="Content Placeholder 2">
            <a:extLst>
              <a:ext uri="{FF2B5EF4-FFF2-40B4-BE49-F238E27FC236}">
                <a16:creationId xmlns:a16="http://schemas.microsoft.com/office/drawing/2014/main" id="{A97B5F10-4C92-4907-ABE2-A0FA8920D849}"/>
              </a:ext>
            </a:extLst>
          </p:cNvPr>
          <p:cNvSpPr>
            <a:spLocks noGrp="1"/>
          </p:cNvSpPr>
          <p:nvPr>
            <p:ph idx="1"/>
          </p:nvPr>
        </p:nvSpPr>
        <p:spPr>
          <a:xfrm>
            <a:off x="1078958" y="1483361"/>
            <a:ext cx="10178322" cy="4640072"/>
          </a:xfrm>
        </p:spPr>
        <p:txBody>
          <a:bodyPr>
            <a:normAutofit/>
          </a:bodyPr>
          <a:lstStyle/>
          <a:p>
            <a:r>
              <a:rPr lang="en-US" sz="2800" dirty="0"/>
              <a:t>Unicast – Direct one to one message</a:t>
            </a:r>
          </a:p>
          <a:p>
            <a:r>
              <a:rPr lang="en-US" sz="2800" dirty="0"/>
              <a:t>Global Unicast – Public IP</a:t>
            </a:r>
          </a:p>
          <a:p>
            <a:r>
              <a:rPr lang="en-US" sz="2800" dirty="0"/>
              <a:t>Link-Local Address – APIPA</a:t>
            </a:r>
          </a:p>
          <a:p>
            <a:r>
              <a:rPr lang="en-US" sz="2800" dirty="0"/>
              <a:t>Unique Local Address – Private IP</a:t>
            </a:r>
          </a:p>
          <a:p>
            <a:r>
              <a:rPr lang="en-US" sz="2800" dirty="0"/>
              <a:t>Multicast – One to many</a:t>
            </a:r>
          </a:p>
          <a:p>
            <a:r>
              <a:rPr lang="en-US" sz="2800" dirty="0" err="1"/>
              <a:t>AnyCast</a:t>
            </a:r>
            <a:r>
              <a:rPr lang="en-US" sz="2800" dirty="0"/>
              <a:t> – One to Group</a:t>
            </a:r>
          </a:p>
        </p:txBody>
      </p:sp>
    </p:spTree>
    <p:extLst>
      <p:ext uri="{BB962C8B-B14F-4D97-AF65-F5344CB8AC3E}">
        <p14:creationId xmlns:p14="http://schemas.microsoft.com/office/powerpoint/2010/main" val="158372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6E10B-F36A-4B4D-9606-5670ECB162FF}"/>
              </a:ext>
            </a:extLst>
          </p:cNvPr>
          <p:cNvSpPr>
            <a:spLocks noGrp="1"/>
          </p:cNvSpPr>
          <p:nvPr>
            <p:ph type="title"/>
          </p:nvPr>
        </p:nvSpPr>
        <p:spPr>
          <a:xfrm>
            <a:off x="873760" y="382385"/>
            <a:ext cx="10972800" cy="1492132"/>
          </a:xfrm>
        </p:spPr>
        <p:txBody>
          <a:bodyPr/>
          <a:lstStyle/>
          <a:p>
            <a:pPr algn="ctr"/>
            <a:r>
              <a:rPr lang="en-US" dirty="0"/>
              <a:t>IPv6 Special Addresses</a:t>
            </a:r>
          </a:p>
        </p:txBody>
      </p:sp>
      <p:sp>
        <p:nvSpPr>
          <p:cNvPr id="3" name="Content Placeholder 2">
            <a:extLst>
              <a:ext uri="{FF2B5EF4-FFF2-40B4-BE49-F238E27FC236}">
                <a16:creationId xmlns:a16="http://schemas.microsoft.com/office/drawing/2014/main" id="{7AA45395-26DE-4036-BFBC-BBA4FE2D73AF}"/>
              </a:ext>
            </a:extLst>
          </p:cNvPr>
          <p:cNvSpPr>
            <a:spLocks noGrp="1"/>
          </p:cNvSpPr>
          <p:nvPr>
            <p:ph idx="1"/>
          </p:nvPr>
        </p:nvSpPr>
        <p:spPr>
          <a:xfrm>
            <a:off x="1006839" y="1605281"/>
            <a:ext cx="10178322" cy="4558792"/>
          </a:xfrm>
        </p:spPr>
        <p:txBody>
          <a:bodyPr/>
          <a:lstStyle/>
          <a:p>
            <a:r>
              <a:rPr lang="en-US" sz="2800" dirty="0"/>
              <a:t>::1 Loopback address</a:t>
            </a:r>
          </a:p>
          <a:p>
            <a:r>
              <a:rPr lang="en-US" sz="2800" dirty="0"/>
              <a:t>2000::  Global Unicast Range</a:t>
            </a:r>
          </a:p>
          <a:p>
            <a:r>
              <a:rPr lang="en-US" sz="2800" dirty="0"/>
              <a:t>FC00::  Unique Local Range</a:t>
            </a:r>
          </a:p>
          <a:p>
            <a:r>
              <a:rPr lang="en-US" sz="2800" dirty="0"/>
              <a:t>FE80::  Link Local Address</a:t>
            </a:r>
          </a:p>
          <a:p>
            <a:r>
              <a:rPr lang="en-US" sz="2800" dirty="0"/>
              <a:t>FF00::  Multicast Address</a:t>
            </a:r>
          </a:p>
          <a:p>
            <a:endParaRPr lang="en-US" dirty="0"/>
          </a:p>
        </p:txBody>
      </p:sp>
    </p:spTree>
    <p:extLst>
      <p:ext uri="{BB962C8B-B14F-4D97-AF65-F5344CB8AC3E}">
        <p14:creationId xmlns:p14="http://schemas.microsoft.com/office/powerpoint/2010/main" val="3665048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3B3A-15F6-4E87-BAB6-0E401960FEB9}"/>
              </a:ext>
            </a:extLst>
          </p:cNvPr>
          <p:cNvSpPr>
            <a:spLocks noGrp="1"/>
          </p:cNvSpPr>
          <p:nvPr>
            <p:ph type="title"/>
          </p:nvPr>
        </p:nvSpPr>
        <p:spPr>
          <a:xfrm>
            <a:off x="1251678" y="544945"/>
            <a:ext cx="10178322" cy="1492132"/>
          </a:xfrm>
        </p:spPr>
        <p:txBody>
          <a:bodyPr/>
          <a:lstStyle/>
          <a:p>
            <a:pPr algn="ctr"/>
            <a:r>
              <a:rPr lang="en-US" dirty="0"/>
              <a:t>Other IPv6 Terms</a:t>
            </a:r>
          </a:p>
        </p:txBody>
      </p:sp>
      <p:sp>
        <p:nvSpPr>
          <p:cNvPr id="3" name="Content Placeholder 2">
            <a:extLst>
              <a:ext uri="{FF2B5EF4-FFF2-40B4-BE49-F238E27FC236}">
                <a16:creationId xmlns:a16="http://schemas.microsoft.com/office/drawing/2014/main" id="{DA242CD7-1883-43CE-AFCD-40A13562A4CE}"/>
              </a:ext>
            </a:extLst>
          </p:cNvPr>
          <p:cNvSpPr>
            <a:spLocks noGrp="1"/>
          </p:cNvSpPr>
          <p:nvPr>
            <p:ph idx="1"/>
          </p:nvPr>
        </p:nvSpPr>
        <p:spPr>
          <a:xfrm>
            <a:off x="1251678" y="1686561"/>
            <a:ext cx="10178322" cy="4193032"/>
          </a:xfrm>
        </p:spPr>
        <p:txBody>
          <a:bodyPr>
            <a:normAutofit/>
          </a:bodyPr>
          <a:lstStyle/>
          <a:p>
            <a:r>
              <a:rPr lang="en-US" sz="2800" dirty="0" err="1"/>
              <a:t>DualStacking</a:t>
            </a:r>
            <a:r>
              <a:rPr lang="en-US" sz="2800" dirty="0"/>
              <a:t> – Router is able to route IPv4 and IPv6 traffic</a:t>
            </a:r>
          </a:p>
          <a:p>
            <a:r>
              <a:rPr lang="en-US" sz="2800" dirty="0"/>
              <a:t>6to4 tunneling: useful for carrying IPv6 packets over a network that’s still running on IPv4</a:t>
            </a:r>
          </a:p>
          <a:p>
            <a:pPr lvl="1"/>
            <a:r>
              <a:rPr lang="en-US" sz="2800" dirty="0"/>
              <a:t>Teredo: Tunnels IPv6 through </a:t>
            </a:r>
            <a:r>
              <a:rPr lang="en-US" sz="2800" dirty="0" err="1"/>
              <a:t>NATed</a:t>
            </a:r>
            <a:r>
              <a:rPr lang="en-US" sz="2800" dirty="0"/>
              <a:t> Ipv4 (Microsoft implementation)</a:t>
            </a:r>
          </a:p>
          <a:p>
            <a:pPr lvl="1"/>
            <a:r>
              <a:rPr lang="en-US" sz="2800" dirty="0" err="1"/>
              <a:t>Miredo</a:t>
            </a:r>
            <a:r>
              <a:rPr lang="en-US" sz="2800" dirty="0"/>
              <a:t> is Linux Implementation</a:t>
            </a:r>
          </a:p>
        </p:txBody>
      </p:sp>
    </p:spTree>
    <p:extLst>
      <p:ext uri="{BB962C8B-B14F-4D97-AF65-F5344CB8AC3E}">
        <p14:creationId xmlns:p14="http://schemas.microsoft.com/office/powerpoint/2010/main" val="2102027963"/>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{A74C1714-5C0B-3846-B47C-6ECBC5836BBB}tf10001071</Template>
  <TotalTime>204</TotalTime>
  <Words>827</Words>
  <Application>Microsoft Macintosh PowerPoint</Application>
  <PresentationFormat>Widescreen</PresentationFormat>
  <Paragraphs>114</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Gill Sans MT</vt:lpstr>
      <vt:lpstr>Impact</vt:lpstr>
      <vt:lpstr>Badge</vt:lpstr>
      <vt:lpstr>Chapter 7</vt:lpstr>
      <vt:lpstr>IP Terminology</vt:lpstr>
      <vt:lpstr>IPv4</vt:lpstr>
      <vt:lpstr>Public IP Addresses</vt:lpstr>
      <vt:lpstr>Private IP Address</vt:lpstr>
      <vt:lpstr>Message types</vt:lpstr>
      <vt:lpstr>IPv6</vt:lpstr>
      <vt:lpstr>IPv6 Shorten Expression Rules</vt:lpstr>
      <vt:lpstr>IPv6 Types of Addresses</vt:lpstr>
      <vt:lpstr>IPv6 Special Addresses</vt:lpstr>
      <vt:lpstr>Other IPv6 Terms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dc:title>
  <dc:creator>Sam Lee</dc:creator>
  <cp:lastModifiedBy>Adrienne Bailey</cp:lastModifiedBy>
  <cp:revision>19</cp:revision>
  <dcterms:created xsi:type="dcterms:W3CDTF">2018-10-30T17:40:07Z</dcterms:created>
  <dcterms:modified xsi:type="dcterms:W3CDTF">2022-09-14T20:35:58Z</dcterms:modified>
</cp:coreProperties>
</file>