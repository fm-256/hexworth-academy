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61" r:id="rId1"/>
  </p:sldMasterIdLst>
  <p:notesMasterIdLst>
    <p:notesMasterId r:id="rId17"/>
  </p:notesMasterIdLst>
  <p:sldIdLst>
    <p:sldId id="256" r:id="rId2"/>
    <p:sldId id="322" r:id="rId3"/>
    <p:sldId id="273" r:id="rId4"/>
    <p:sldId id="274" r:id="rId5"/>
    <p:sldId id="323" r:id="rId6"/>
    <p:sldId id="333" r:id="rId7"/>
    <p:sldId id="334" r:id="rId8"/>
    <p:sldId id="337" r:id="rId9"/>
    <p:sldId id="336" r:id="rId10"/>
    <p:sldId id="366" r:id="rId11"/>
    <p:sldId id="335" r:id="rId12"/>
    <p:sldId id="325" r:id="rId13"/>
    <p:sldId id="368" r:id="rId14"/>
    <p:sldId id="369" r:id="rId15"/>
    <p:sldId id="37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93" autoAdjust="0"/>
    <p:restoredTop sz="59323"/>
  </p:normalViewPr>
  <p:slideViewPr>
    <p:cSldViewPr snapToGrid="0">
      <p:cViewPr varScale="1">
        <p:scale>
          <a:sx n="65" d="100"/>
          <a:sy n="65" d="100"/>
        </p:scale>
        <p:origin x="2368" y="200"/>
      </p:cViewPr>
      <p:guideLst/>
    </p:cSldViewPr>
  </p:slideViewPr>
  <p:notesTextViewPr>
    <p:cViewPr>
      <p:scale>
        <a:sx n="200" d="100"/>
        <a:sy n="2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C2AE8EC-3A74-4416-A25C-2DBAA06F2643}" type="datetimeFigureOut">
              <a:rPr lang="en-US" smtClean="0"/>
              <a:t>9/21/22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B5B5E0E-3EF2-4750-B30B-C7921EF433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32556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Confidentiality: protecting your data from unauthorized access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Integrity: Doesn’t allow your data to modified without proper authorization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Availability: your data is accessible to authorized users when needed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5B5E0E-3EF2-4750-B30B-C7921EF43349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15085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Adversarial- Individuals, groups, or organizations deliberately trying to undermine your security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AE7C19-FE4F-4535-8093-37FA013AFB1B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579812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b="1" u="sng" dirty="0"/>
              <a:t>CVE</a:t>
            </a:r>
            <a:r>
              <a:rPr lang="en-US" dirty="0"/>
              <a:t>: each entry describes a vulnerability in detail, using a number and letter system to describe what it endangers, </a:t>
            </a:r>
            <a:r>
              <a:rPr lang="en-US" dirty="0" err="1"/>
              <a:t>etc</a:t>
            </a:r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 u="sng" dirty="0"/>
              <a:t>CVSS</a:t>
            </a:r>
            <a:r>
              <a:rPr lang="en-US" dirty="0"/>
              <a:t>: ranks vulnerabilities that are discovered based on predefined metrics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https://</a:t>
            </a:r>
            <a:r>
              <a:rPr lang="en-US" dirty="0" err="1"/>
              <a:t>nvd.nist.gov</a:t>
            </a:r>
            <a:r>
              <a:rPr lang="en-US" dirty="0"/>
              <a:t>/vuln-metrics/</a:t>
            </a:r>
            <a:r>
              <a:rPr lang="en-US" dirty="0" err="1"/>
              <a:t>cvss</a:t>
            </a:r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 u="sng" dirty="0"/>
              <a:t>Zero Day</a:t>
            </a:r>
            <a:r>
              <a:rPr lang="en-US" dirty="0"/>
              <a:t>: first day the virus has been released and no known fixes exists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 u="sng" dirty="0"/>
              <a:t>Exploits</a:t>
            </a:r>
            <a:r>
              <a:rPr lang="en-US" dirty="0"/>
              <a:t>: when a threat takes advantage of a vulnerability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 u="sng" dirty="0"/>
              <a:t>Least privilege</a:t>
            </a:r>
            <a:r>
              <a:rPr lang="en-US" dirty="0"/>
              <a:t>: giving users just enough permissions and access to do their jobs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 u="sng" dirty="0"/>
              <a:t>Role-Based access control</a:t>
            </a:r>
            <a:r>
              <a:rPr lang="en-US" dirty="0"/>
              <a:t>: creating a set of permissions for different job roles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 u="sng" dirty="0"/>
              <a:t>Zero-trust</a:t>
            </a:r>
            <a:r>
              <a:rPr lang="en-US" dirty="0"/>
              <a:t>: When you don’t know someone, you don’t give them access to your network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5B5E0E-3EF2-4750-B30B-C7921EF43349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045684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Defense in depth is having many layers of defense in order to keep your data safe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 u="sng" dirty="0"/>
              <a:t>Network Segmentation</a:t>
            </a:r>
            <a:r>
              <a:rPr lang="en-US" dirty="0"/>
              <a:t>: don’t keep everything in one place. Implement VLANS and port security on layer 2 switches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 u="sng" dirty="0"/>
              <a:t>Screened Subnet</a:t>
            </a:r>
            <a:r>
              <a:rPr lang="en-US" dirty="0"/>
              <a:t>: DMZ, created within two firewalls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 u="sng" dirty="0"/>
              <a:t>Separation of duties</a:t>
            </a:r>
            <a:r>
              <a:rPr lang="en-US" dirty="0"/>
              <a:t>: Having to complete two tasks to be completed by two different employees to prevent fraud or abuse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 u="sng" dirty="0"/>
              <a:t>Network Access Control</a:t>
            </a:r>
            <a:r>
              <a:rPr lang="en-US" dirty="0"/>
              <a:t>: examining the state of a computer’s OS updates and anti-malware updates before allowing access to the network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 u="sng" dirty="0"/>
              <a:t>Honeypot</a:t>
            </a:r>
            <a:r>
              <a:rPr lang="en-US" dirty="0"/>
              <a:t>: strategically configured to be attractive to hackers to lure them into spending enough time attacking them while information is gathered about the attack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A honeynet is an entire network configured to lure hackers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5B5E0E-3EF2-4750-B30B-C7921EF43349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878452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5B5E0E-3EF2-4750-B30B-C7921EF43349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823608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 u="sng" dirty="0"/>
              <a:t>RADIUS</a:t>
            </a:r>
            <a:r>
              <a:rPr lang="en-US" dirty="0"/>
              <a:t>: Combines authentication and authorization together, but runs accounting separately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Uses UDP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Shows the username in plain text and hashes the password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Used for network access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Open Source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 u="sng" dirty="0"/>
              <a:t>TACACS+:</a:t>
            </a:r>
            <a:r>
              <a:rPr lang="en-US" b="0" u="none" dirty="0"/>
              <a:t> Separates authentication, authorization, and accounting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0" u="none" dirty="0"/>
              <a:t>Uses TCP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0" u="none" dirty="0"/>
              <a:t>Encrypts the entire exchange from network device to the server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0" u="none" dirty="0"/>
              <a:t>Used for device administration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0" u="none" dirty="0"/>
              <a:t>CISCO proprietary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 u="sng" dirty="0"/>
              <a:t>LDAP</a:t>
            </a:r>
            <a:r>
              <a:rPr lang="en-US" dirty="0"/>
              <a:t>: Reads and writes data to a directory over an IP network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Organized set of records like a phone book/yellow pages, Windows Active Directory uses this protocol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 u="sng" dirty="0"/>
              <a:t>SSO w/ Kerberos</a:t>
            </a:r>
            <a:r>
              <a:rPr lang="en-US" dirty="0"/>
              <a:t>: authenticate one time, uses cryptographic keys in backend ticketing on the system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ONLY works with Kerberos!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5B5E0E-3EF2-4750-B30B-C7921EF43349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258929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Network authentication protocol, you authenticate one time and the system trust you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Mutual authentication between client and server which prevents man-in-the-middle or (on-path attacks)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5B5E0E-3EF2-4750-B30B-C7921EF43349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53728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 u="sng" dirty="0"/>
              <a:t>Local authentication</a:t>
            </a:r>
            <a:r>
              <a:rPr lang="en-US" dirty="0"/>
              <a:t>: Users local account and password are verified with the local user database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Every change to an account is done on the host device and does not carry over to other devices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 u="sng" dirty="0"/>
              <a:t>802.1X</a:t>
            </a:r>
            <a:r>
              <a:rPr lang="en-US" dirty="0"/>
              <a:t>: when you plug in a device, based on the way you configure that port determines what type of access to grant a user based on the device they have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EAP is the mechanism that attempts to authenticate that specific device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3 components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Supplicant: the user of device requesting access to the network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Authenticator: the device through which the supplicant is attempting to access the network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Authentication server: the centralized device that performs authentication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5B5E0E-3EF2-4750-B30B-C7921EF43349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985315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Research our threats, check on hacker blogs, utilize similar hacker tools to understand how they work and their capabilities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Based off the intelligence you gather, you can apply better prevention measures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5B5E0E-3EF2-4750-B30B-C7921EF43349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525646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Identifying vulnerabilities using a vulnerability scanner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Test threats from the outside and the inside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5B5E0E-3EF2-4750-B30B-C7921EF43349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290973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Simulate an attack, usually contracted through a third-party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5B5E0E-3EF2-4750-B30B-C7921EF43349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197872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Identify assets that may get attacked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Figure out those risk and what would be the effects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Identify the threats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Determine risk level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Create a process to improve the risk levels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 u="sng" dirty="0"/>
              <a:t>Process Assessment</a:t>
            </a:r>
            <a:r>
              <a:rPr lang="en-US" dirty="0"/>
              <a:t>: is assessing how up to date our processes, policies, and procedures as technology is ever-evolving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 u="sng" dirty="0"/>
              <a:t>Vendor Assessment</a:t>
            </a:r>
            <a:r>
              <a:rPr lang="en-US" dirty="0"/>
              <a:t>: perform a risk assessment before sharing data with a vendor; put security policies in the contract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 u="sng" dirty="0"/>
              <a:t>Security Information and Event Management</a:t>
            </a:r>
            <a:r>
              <a:rPr lang="en-US" dirty="0"/>
              <a:t>: large database for logging security events and information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Centralized log information with security alerts, collect data from diverse devices and long-term storage of information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5B5E0E-3EF2-4750-B30B-C7921EF43349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57927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 title="scalloped circle"/>
          <p:cNvSpPr/>
          <p:nvPr/>
        </p:nvSpPr>
        <p:spPr bwMode="auto">
          <a:xfrm>
            <a:off x="3557016" y="630936"/>
            <a:ext cx="5235575" cy="5229225"/>
          </a:xfrm>
          <a:custGeom>
            <a:avLst/>
            <a:gdLst/>
            <a:ahLst/>
            <a:cxnLst/>
            <a:rect l="0" t="0" r="r" b="b"/>
            <a:pathLst>
              <a:path w="3298" h="3294">
                <a:moveTo>
                  <a:pt x="1649" y="0"/>
                </a:moveTo>
                <a:lnTo>
                  <a:pt x="1681" y="3"/>
                </a:lnTo>
                <a:lnTo>
                  <a:pt x="1712" y="11"/>
                </a:lnTo>
                <a:lnTo>
                  <a:pt x="1742" y="23"/>
                </a:lnTo>
                <a:lnTo>
                  <a:pt x="1773" y="38"/>
                </a:lnTo>
                <a:lnTo>
                  <a:pt x="1802" y="55"/>
                </a:lnTo>
                <a:lnTo>
                  <a:pt x="1832" y="73"/>
                </a:lnTo>
                <a:lnTo>
                  <a:pt x="1862" y="89"/>
                </a:lnTo>
                <a:lnTo>
                  <a:pt x="1892" y="105"/>
                </a:lnTo>
                <a:lnTo>
                  <a:pt x="1921" y="117"/>
                </a:lnTo>
                <a:lnTo>
                  <a:pt x="1953" y="125"/>
                </a:lnTo>
                <a:lnTo>
                  <a:pt x="1984" y="129"/>
                </a:lnTo>
                <a:lnTo>
                  <a:pt x="2017" y="129"/>
                </a:lnTo>
                <a:lnTo>
                  <a:pt x="2051" y="127"/>
                </a:lnTo>
                <a:lnTo>
                  <a:pt x="2085" y="123"/>
                </a:lnTo>
                <a:lnTo>
                  <a:pt x="2119" y="118"/>
                </a:lnTo>
                <a:lnTo>
                  <a:pt x="2153" y="114"/>
                </a:lnTo>
                <a:lnTo>
                  <a:pt x="2187" y="111"/>
                </a:lnTo>
                <a:lnTo>
                  <a:pt x="2219" y="112"/>
                </a:lnTo>
                <a:lnTo>
                  <a:pt x="2250" y="116"/>
                </a:lnTo>
                <a:lnTo>
                  <a:pt x="2280" y="125"/>
                </a:lnTo>
                <a:lnTo>
                  <a:pt x="2305" y="138"/>
                </a:lnTo>
                <a:lnTo>
                  <a:pt x="2329" y="155"/>
                </a:lnTo>
                <a:lnTo>
                  <a:pt x="2350" y="175"/>
                </a:lnTo>
                <a:lnTo>
                  <a:pt x="2371" y="198"/>
                </a:lnTo>
                <a:lnTo>
                  <a:pt x="2390" y="222"/>
                </a:lnTo>
                <a:lnTo>
                  <a:pt x="2409" y="247"/>
                </a:lnTo>
                <a:lnTo>
                  <a:pt x="2428" y="272"/>
                </a:lnTo>
                <a:lnTo>
                  <a:pt x="2447" y="296"/>
                </a:lnTo>
                <a:lnTo>
                  <a:pt x="2467" y="319"/>
                </a:lnTo>
                <a:lnTo>
                  <a:pt x="2490" y="339"/>
                </a:lnTo>
                <a:lnTo>
                  <a:pt x="2512" y="357"/>
                </a:lnTo>
                <a:lnTo>
                  <a:pt x="2537" y="371"/>
                </a:lnTo>
                <a:lnTo>
                  <a:pt x="2564" y="383"/>
                </a:lnTo>
                <a:lnTo>
                  <a:pt x="2593" y="393"/>
                </a:lnTo>
                <a:lnTo>
                  <a:pt x="2623" y="402"/>
                </a:lnTo>
                <a:lnTo>
                  <a:pt x="2653" y="410"/>
                </a:lnTo>
                <a:lnTo>
                  <a:pt x="2684" y="418"/>
                </a:lnTo>
                <a:lnTo>
                  <a:pt x="2713" y="427"/>
                </a:lnTo>
                <a:lnTo>
                  <a:pt x="2742" y="437"/>
                </a:lnTo>
                <a:lnTo>
                  <a:pt x="2769" y="449"/>
                </a:lnTo>
                <a:lnTo>
                  <a:pt x="2793" y="464"/>
                </a:lnTo>
                <a:lnTo>
                  <a:pt x="2815" y="482"/>
                </a:lnTo>
                <a:lnTo>
                  <a:pt x="2833" y="504"/>
                </a:lnTo>
                <a:lnTo>
                  <a:pt x="2848" y="528"/>
                </a:lnTo>
                <a:lnTo>
                  <a:pt x="2860" y="555"/>
                </a:lnTo>
                <a:lnTo>
                  <a:pt x="2870" y="584"/>
                </a:lnTo>
                <a:lnTo>
                  <a:pt x="2879" y="613"/>
                </a:lnTo>
                <a:lnTo>
                  <a:pt x="2887" y="644"/>
                </a:lnTo>
                <a:lnTo>
                  <a:pt x="2895" y="674"/>
                </a:lnTo>
                <a:lnTo>
                  <a:pt x="2904" y="704"/>
                </a:lnTo>
                <a:lnTo>
                  <a:pt x="2914" y="733"/>
                </a:lnTo>
                <a:lnTo>
                  <a:pt x="2926" y="760"/>
                </a:lnTo>
                <a:lnTo>
                  <a:pt x="2940" y="785"/>
                </a:lnTo>
                <a:lnTo>
                  <a:pt x="2958" y="807"/>
                </a:lnTo>
                <a:lnTo>
                  <a:pt x="2978" y="830"/>
                </a:lnTo>
                <a:lnTo>
                  <a:pt x="3001" y="850"/>
                </a:lnTo>
                <a:lnTo>
                  <a:pt x="3025" y="869"/>
                </a:lnTo>
                <a:lnTo>
                  <a:pt x="3051" y="888"/>
                </a:lnTo>
                <a:lnTo>
                  <a:pt x="3076" y="907"/>
                </a:lnTo>
                <a:lnTo>
                  <a:pt x="3100" y="926"/>
                </a:lnTo>
                <a:lnTo>
                  <a:pt x="3123" y="947"/>
                </a:lnTo>
                <a:lnTo>
                  <a:pt x="3143" y="968"/>
                </a:lnTo>
                <a:lnTo>
                  <a:pt x="3160" y="992"/>
                </a:lnTo>
                <a:lnTo>
                  <a:pt x="3173" y="1017"/>
                </a:lnTo>
                <a:lnTo>
                  <a:pt x="3182" y="1047"/>
                </a:lnTo>
                <a:lnTo>
                  <a:pt x="3186" y="1078"/>
                </a:lnTo>
                <a:lnTo>
                  <a:pt x="3187" y="1110"/>
                </a:lnTo>
                <a:lnTo>
                  <a:pt x="3184" y="1144"/>
                </a:lnTo>
                <a:lnTo>
                  <a:pt x="3180" y="1178"/>
                </a:lnTo>
                <a:lnTo>
                  <a:pt x="3175" y="1212"/>
                </a:lnTo>
                <a:lnTo>
                  <a:pt x="3171" y="1246"/>
                </a:lnTo>
                <a:lnTo>
                  <a:pt x="3169" y="1280"/>
                </a:lnTo>
                <a:lnTo>
                  <a:pt x="3169" y="1313"/>
                </a:lnTo>
                <a:lnTo>
                  <a:pt x="3173" y="1344"/>
                </a:lnTo>
                <a:lnTo>
                  <a:pt x="3181" y="1375"/>
                </a:lnTo>
                <a:lnTo>
                  <a:pt x="3193" y="1404"/>
                </a:lnTo>
                <a:lnTo>
                  <a:pt x="3209" y="1434"/>
                </a:lnTo>
                <a:lnTo>
                  <a:pt x="3225" y="1464"/>
                </a:lnTo>
                <a:lnTo>
                  <a:pt x="3243" y="1494"/>
                </a:lnTo>
                <a:lnTo>
                  <a:pt x="3260" y="1523"/>
                </a:lnTo>
                <a:lnTo>
                  <a:pt x="3275" y="1554"/>
                </a:lnTo>
                <a:lnTo>
                  <a:pt x="3287" y="1584"/>
                </a:lnTo>
                <a:lnTo>
                  <a:pt x="3295" y="1615"/>
                </a:lnTo>
                <a:lnTo>
                  <a:pt x="3298" y="1647"/>
                </a:lnTo>
                <a:lnTo>
                  <a:pt x="3295" y="1679"/>
                </a:lnTo>
                <a:lnTo>
                  <a:pt x="3287" y="1710"/>
                </a:lnTo>
                <a:lnTo>
                  <a:pt x="3275" y="1740"/>
                </a:lnTo>
                <a:lnTo>
                  <a:pt x="3260" y="1771"/>
                </a:lnTo>
                <a:lnTo>
                  <a:pt x="3243" y="1800"/>
                </a:lnTo>
                <a:lnTo>
                  <a:pt x="3225" y="1830"/>
                </a:lnTo>
                <a:lnTo>
                  <a:pt x="3209" y="1860"/>
                </a:lnTo>
                <a:lnTo>
                  <a:pt x="3193" y="1890"/>
                </a:lnTo>
                <a:lnTo>
                  <a:pt x="3181" y="1919"/>
                </a:lnTo>
                <a:lnTo>
                  <a:pt x="3173" y="1950"/>
                </a:lnTo>
                <a:lnTo>
                  <a:pt x="3169" y="1981"/>
                </a:lnTo>
                <a:lnTo>
                  <a:pt x="3169" y="2014"/>
                </a:lnTo>
                <a:lnTo>
                  <a:pt x="3171" y="2048"/>
                </a:lnTo>
                <a:lnTo>
                  <a:pt x="3175" y="2082"/>
                </a:lnTo>
                <a:lnTo>
                  <a:pt x="3180" y="2116"/>
                </a:lnTo>
                <a:lnTo>
                  <a:pt x="3184" y="2150"/>
                </a:lnTo>
                <a:lnTo>
                  <a:pt x="3187" y="2184"/>
                </a:lnTo>
                <a:lnTo>
                  <a:pt x="3186" y="2216"/>
                </a:lnTo>
                <a:lnTo>
                  <a:pt x="3182" y="2247"/>
                </a:lnTo>
                <a:lnTo>
                  <a:pt x="3173" y="2277"/>
                </a:lnTo>
                <a:lnTo>
                  <a:pt x="3160" y="2302"/>
                </a:lnTo>
                <a:lnTo>
                  <a:pt x="3143" y="2326"/>
                </a:lnTo>
                <a:lnTo>
                  <a:pt x="3123" y="2347"/>
                </a:lnTo>
                <a:lnTo>
                  <a:pt x="3100" y="2368"/>
                </a:lnTo>
                <a:lnTo>
                  <a:pt x="3076" y="2387"/>
                </a:lnTo>
                <a:lnTo>
                  <a:pt x="3051" y="2406"/>
                </a:lnTo>
                <a:lnTo>
                  <a:pt x="3025" y="2425"/>
                </a:lnTo>
                <a:lnTo>
                  <a:pt x="3001" y="2444"/>
                </a:lnTo>
                <a:lnTo>
                  <a:pt x="2978" y="2464"/>
                </a:lnTo>
                <a:lnTo>
                  <a:pt x="2958" y="2487"/>
                </a:lnTo>
                <a:lnTo>
                  <a:pt x="2940" y="2509"/>
                </a:lnTo>
                <a:lnTo>
                  <a:pt x="2926" y="2534"/>
                </a:lnTo>
                <a:lnTo>
                  <a:pt x="2914" y="2561"/>
                </a:lnTo>
                <a:lnTo>
                  <a:pt x="2904" y="2590"/>
                </a:lnTo>
                <a:lnTo>
                  <a:pt x="2895" y="2620"/>
                </a:lnTo>
                <a:lnTo>
                  <a:pt x="2887" y="2650"/>
                </a:lnTo>
                <a:lnTo>
                  <a:pt x="2879" y="2681"/>
                </a:lnTo>
                <a:lnTo>
                  <a:pt x="2870" y="2710"/>
                </a:lnTo>
                <a:lnTo>
                  <a:pt x="2860" y="2739"/>
                </a:lnTo>
                <a:lnTo>
                  <a:pt x="2848" y="2766"/>
                </a:lnTo>
                <a:lnTo>
                  <a:pt x="2833" y="2790"/>
                </a:lnTo>
                <a:lnTo>
                  <a:pt x="2815" y="2812"/>
                </a:lnTo>
                <a:lnTo>
                  <a:pt x="2793" y="2830"/>
                </a:lnTo>
                <a:lnTo>
                  <a:pt x="2769" y="2845"/>
                </a:lnTo>
                <a:lnTo>
                  <a:pt x="2742" y="2857"/>
                </a:lnTo>
                <a:lnTo>
                  <a:pt x="2713" y="2867"/>
                </a:lnTo>
                <a:lnTo>
                  <a:pt x="2684" y="2876"/>
                </a:lnTo>
                <a:lnTo>
                  <a:pt x="2653" y="2884"/>
                </a:lnTo>
                <a:lnTo>
                  <a:pt x="2623" y="2892"/>
                </a:lnTo>
                <a:lnTo>
                  <a:pt x="2593" y="2901"/>
                </a:lnTo>
                <a:lnTo>
                  <a:pt x="2564" y="2911"/>
                </a:lnTo>
                <a:lnTo>
                  <a:pt x="2537" y="2923"/>
                </a:lnTo>
                <a:lnTo>
                  <a:pt x="2512" y="2937"/>
                </a:lnTo>
                <a:lnTo>
                  <a:pt x="2490" y="2955"/>
                </a:lnTo>
                <a:lnTo>
                  <a:pt x="2467" y="2975"/>
                </a:lnTo>
                <a:lnTo>
                  <a:pt x="2447" y="2998"/>
                </a:lnTo>
                <a:lnTo>
                  <a:pt x="2428" y="3022"/>
                </a:lnTo>
                <a:lnTo>
                  <a:pt x="2409" y="3047"/>
                </a:lnTo>
                <a:lnTo>
                  <a:pt x="2390" y="3072"/>
                </a:lnTo>
                <a:lnTo>
                  <a:pt x="2371" y="3096"/>
                </a:lnTo>
                <a:lnTo>
                  <a:pt x="2350" y="3119"/>
                </a:lnTo>
                <a:lnTo>
                  <a:pt x="2329" y="3139"/>
                </a:lnTo>
                <a:lnTo>
                  <a:pt x="2305" y="3156"/>
                </a:lnTo>
                <a:lnTo>
                  <a:pt x="2280" y="3169"/>
                </a:lnTo>
                <a:lnTo>
                  <a:pt x="2250" y="3178"/>
                </a:lnTo>
                <a:lnTo>
                  <a:pt x="2219" y="3182"/>
                </a:lnTo>
                <a:lnTo>
                  <a:pt x="2187" y="3183"/>
                </a:lnTo>
                <a:lnTo>
                  <a:pt x="2153" y="3180"/>
                </a:lnTo>
                <a:lnTo>
                  <a:pt x="2119" y="3176"/>
                </a:lnTo>
                <a:lnTo>
                  <a:pt x="2085" y="3171"/>
                </a:lnTo>
                <a:lnTo>
                  <a:pt x="2051" y="3167"/>
                </a:lnTo>
                <a:lnTo>
                  <a:pt x="2017" y="3165"/>
                </a:lnTo>
                <a:lnTo>
                  <a:pt x="1984" y="3165"/>
                </a:lnTo>
                <a:lnTo>
                  <a:pt x="1953" y="3169"/>
                </a:lnTo>
                <a:lnTo>
                  <a:pt x="1921" y="3177"/>
                </a:lnTo>
                <a:lnTo>
                  <a:pt x="1892" y="3189"/>
                </a:lnTo>
                <a:lnTo>
                  <a:pt x="1862" y="3205"/>
                </a:lnTo>
                <a:lnTo>
                  <a:pt x="1832" y="3221"/>
                </a:lnTo>
                <a:lnTo>
                  <a:pt x="1802" y="3239"/>
                </a:lnTo>
                <a:lnTo>
                  <a:pt x="1773" y="3256"/>
                </a:lnTo>
                <a:lnTo>
                  <a:pt x="1742" y="3271"/>
                </a:lnTo>
                <a:lnTo>
                  <a:pt x="1712" y="3283"/>
                </a:lnTo>
                <a:lnTo>
                  <a:pt x="1681" y="3291"/>
                </a:lnTo>
                <a:lnTo>
                  <a:pt x="1649" y="3294"/>
                </a:lnTo>
                <a:lnTo>
                  <a:pt x="1617" y="3291"/>
                </a:lnTo>
                <a:lnTo>
                  <a:pt x="1586" y="3283"/>
                </a:lnTo>
                <a:lnTo>
                  <a:pt x="1556" y="3271"/>
                </a:lnTo>
                <a:lnTo>
                  <a:pt x="1525" y="3256"/>
                </a:lnTo>
                <a:lnTo>
                  <a:pt x="1496" y="3239"/>
                </a:lnTo>
                <a:lnTo>
                  <a:pt x="1466" y="3221"/>
                </a:lnTo>
                <a:lnTo>
                  <a:pt x="1436" y="3205"/>
                </a:lnTo>
                <a:lnTo>
                  <a:pt x="1406" y="3189"/>
                </a:lnTo>
                <a:lnTo>
                  <a:pt x="1376" y="3177"/>
                </a:lnTo>
                <a:lnTo>
                  <a:pt x="1345" y="3169"/>
                </a:lnTo>
                <a:lnTo>
                  <a:pt x="1314" y="3165"/>
                </a:lnTo>
                <a:lnTo>
                  <a:pt x="1281" y="3165"/>
                </a:lnTo>
                <a:lnTo>
                  <a:pt x="1247" y="3167"/>
                </a:lnTo>
                <a:lnTo>
                  <a:pt x="1213" y="3171"/>
                </a:lnTo>
                <a:lnTo>
                  <a:pt x="1179" y="3176"/>
                </a:lnTo>
                <a:lnTo>
                  <a:pt x="1145" y="3180"/>
                </a:lnTo>
                <a:lnTo>
                  <a:pt x="1111" y="3183"/>
                </a:lnTo>
                <a:lnTo>
                  <a:pt x="1079" y="3182"/>
                </a:lnTo>
                <a:lnTo>
                  <a:pt x="1048" y="3178"/>
                </a:lnTo>
                <a:lnTo>
                  <a:pt x="1018" y="3169"/>
                </a:lnTo>
                <a:lnTo>
                  <a:pt x="993" y="3156"/>
                </a:lnTo>
                <a:lnTo>
                  <a:pt x="969" y="3139"/>
                </a:lnTo>
                <a:lnTo>
                  <a:pt x="948" y="3119"/>
                </a:lnTo>
                <a:lnTo>
                  <a:pt x="927" y="3096"/>
                </a:lnTo>
                <a:lnTo>
                  <a:pt x="908" y="3072"/>
                </a:lnTo>
                <a:lnTo>
                  <a:pt x="889" y="3047"/>
                </a:lnTo>
                <a:lnTo>
                  <a:pt x="870" y="3022"/>
                </a:lnTo>
                <a:lnTo>
                  <a:pt x="851" y="2998"/>
                </a:lnTo>
                <a:lnTo>
                  <a:pt x="831" y="2975"/>
                </a:lnTo>
                <a:lnTo>
                  <a:pt x="808" y="2955"/>
                </a:lnTo>
                <a:lnTo>
                  <a:pt x="786" y="2937"/>
                </a:lnTo>
                <a:lnTo>
                  <a:pt x="761" y="2923"/>
                </a:lnTo>
                <a:lnTo>
                  <a:pt x="734" y="2911"/>
                </a:lnTo>
                <a:lnTo>
                  <a:pt x="705" y="2901"/>
                </a:lnTo>
                <a:lnTo>
                  <a:pt x="675" y="2892"/>
                </a:lnTo>
                <a:lnTo>
                  <a:pt x="645" y="2884"/>
                </a:lnTo>
                <a:lnTo>
                  <a:pt x="614" y="2876"/>
                </a:lnTo>
                <a:lnTo>
                  <a:pt x="585" y="2867"/>
                </a:lnTo>
                <a:lnTo>
                  <a:pt x="556" y="2857"/>
                </a:lnTo>
                <a:lnTo>
                  <a:pt x="529" y="2845"/>
                </a:lnTo>
                <a:lnTo>
                  <a:pt x="505" y="2830"/>
                </a:lnTo>
                <a:lnTo>
                  <a:pt x="483" y="2812"/>
                </a:lnTo>
                <a:lnTo>
                  <a:pt x="465" y="2790"/>
                </a:lnTo>
                <a:lnTo>
                  <a:pt x="450" y="2766"/>
                </a:lnTo>
                <a:lnTo>
                  <a:pt x="438" y="2739"/>
                </a:lnTo>
                <a:lnTo>
                  <a:pt x="428" y="2710"/>
                </a:lnTo>
                <a:lnTo>
                  <a:pt x="419" y="2681"/>
                </a:lnTo>
                <a:lnTo>
                  <a:pt x="411" y="2650"/>
                </a:lnTo>
                <a:lnTo>
                  <a:pt x="403" y="2620"/>
                </a:lnTo>
                <a:lnTo>
                  <a:pt x="394" y="2590"/>
                </a:lnTo>
                <a:lnTo>
                  <a:pt x="384" y="2561"/>
                </a:lnTo>
                <a:lnTo>
                  <a:pt x="372" y="2534"/>
                </a:lnTo>
                <a:lnTo>
                  <a:pt x="358" y="2509"/>
                </a:lnTo>
                <a:lnTo>
                  <a:pt x="340" y="2487"/>
                </a:lnTo>
                <a:lnTo>
                  <a:pt x="320" y="2464"/>
                </a:lnTo>
                <a:lnTo>
                  <a:pt x="297" y="2444"/>
                </a:lnTo>
                <a:lnTo>
                  <a:pt x="272" y="2425"/>
                </a:lnTo>
                <a:lnTo>
                  <a:pt x="247" y="2406"/>
                </a:lnTo>
                <a:lnTo>
                  <a:pt x="222" y="2387"/>
                </a:lnTo>
                <a:lnTo>
                  <a:pt x="198" y="2368"/>
                </a:lnTo>
                <a:lnTo>
                  <a:pt x="175" y="2347"/>
                </a:lnTo>
                <a:lnTo>
                  <a:pt x="155" y="2326"/>
                </a:lnTo>
                <a:lnTo>
                  <a:pt x="138" y="2302"/>
                </a:lnTo>
                <a:lnTo>
                  <a:pt x="125" y="2277"/>
                </a:lnTo>
                <a:lnTo>
                  <a:pt x="116" y="2247"/>
                </a:lnTo>
                <a:lnTo>
                  <a:pt x="112" y="2216"/>
                </a:lnTo>
                <a:lnTo>
                  <a:pt x="111" y="2184"/>
                </a:lnTo>
                <a:lnTo>
                  <a:pt x="114" y="2150"/>
                </a:lnTo>
                <a:lnTo>
                  <a:pt x="118" y="2116"/>
                </a:lnTo>
                <a:lnTo>
                  <a:pt x="123" y="2082"/>
                </a:lnTo>
                <a:lnTo>
                  <a:pt x="127" y="2048"/>
                </a:lnTo>
                <a:lnTo>
                  <a:pt x="129" y="2014"/>
                </a:lnTo>
                <a:lnTo>
                  <a:pt x="129" y="1981"/>
                </a:lnTo>
                <a:lnTo>
                  <a:pt x="125" y="1950"/>
                </a:lnTo>
                <a:lnTo>
                  <a:pt x="117" y="1919"/>
                </a:lnTo>
                <a:lnTo>
                  <a:pt x="105" y="1890"/>
                </a:lnTo>
                <a:lnTo>
                  <a:pt x="90" y="1860"/>
                </a:lnTo>
                <a:lnTo>
                  <a:pt x="73" y="1830"/>
                </a:lnTo>
                <a:lnTo>
                  <a:pt x="55" y="1800"/>
                </a:lnTo>
                <a:lnTo>
                  <a:pt x="38" y="1771"/>
                </a:lnTo>
                <a:lnTo>
                  <a:pt x="23" y="1740"/>
                </a:lnTo>
                <a:lnTo>
                  <a:pt x="11" y="1710"/>
                </a:lnTo>
                <a:lnTo>
                  <a:pt x="3" y="1679"/>
                </a:lnTo>
                <a:lnTo>
                  <a:pt x="0" y="1647"/>
                </a:lnTo>
                <a:lnTo>
                  <a:pt x="3" y="1615"/>
                </a:lnTo>
                <a:lnTo>
                  <a:pt x="11" y="1584"/>
                </a:lnTo>
                <a:lnTo>
                  <a:pt x="23" y="1554"/>
                </a:lnTo>
                <a:lnTo>
                  <a:pt x="38" y="1523"/>
                </a:lnTo>
                <a:lnTo>
                  <a:pt x="55" y="1494"/>
                </a:lnTo>
                <a:lnTo>
                  <a:pt x="73" y="1464"/>
                </a:lnTo>
                <a:lnTo>
                  <a:pt x="90" y="1434"/>
                </a:lnTo>
                <a:lnTo>
                  <a:pt x="105" y="1404"/>
                </a:lnTo>
                <a:lnTo>
                  <a:pt x="117" y="1375"/>
                </a:lnTo>
                <a:lnTo>
                  <a:pt x="125" y="1344"/>
                </a:lnTo>
                <a:lnTo>
                  <a:pt x="129" y="1313"/>
                </a:lnTo>
                <a:lnTo>
                  <a:pt x="129" y="1280"/>
                </a:lnTo>
                <a:lnTo>
                  <a:pt x="127" y="1246"/>
                </a:lnTo>
                <a:lnTo>
                  <a:pt x="123" y="1212"/>
                </a:lnTo>
                <a:lnTo>
                  <a:pt x="118" y="1178"/>
                </a:lnTo>
                <a:lnTo>
                  <a:pt x="114" y="1144"/>
                </a:lnTo>
                <a:lnTo>
                  <a:pt x="111" y="1110"/>
                </a:lnTo>
                <a:lnTo>
                  <a:pt x="112" y="1078"/>
                </a:lnTo>
                <a:lnTo>
                  <a:pt x="116" y="1047"/>
                </a:lnTo>
                <a:lnTo>
                  <a:pt x="125" y="1017"/>
                </a:lnTo>
                <a:lnTo>
                  <a:pt x="138" y="992"/>
                </a:lnTo>
                <a:lnTo>
                  <a:pt x="155" y="968"/>
                </a:lnTo>
                <a:lnTo>
                  <a:pt x="175" y="947"/>
                </a:lnTo>
                <a:lnTo>
                  <a:pt x="198" y="926"/>
                </a:lnTo>
                <a:lnTo>
                  <a:pt x="222" y="907"/>
                </a:lnTo>
                <a:lnTo>
                  <a:pt x="247" y="888"/>
                </a:lnTo>
                <a:lnTo>
                  <a:pt x="272" y="869"/>
                </a:lnTo>
                <a:lnTo>
                  <a:pt x="297" y="850"/>
                </a:lnTo>
                <a:lnTo>
                  <a:pt x="320" y="830"/>
                </a:lnTo>
                <a:lnTo>
                  <a:pt x="340" y="807"/>
                </a:lnTo>
                <a:lnTo>
                  <a:pt x="358" y="785"/>
                </a:lnTo>
                <a:lnTo>
                  <a:pt x="372" y="760"/>
                </a:lnTo>
                <a:lnTo>
                  <a:pt x="384" y="733"/>
                </a:lnTo>
                <a:lnTo>
                  <a:pt x="394" y="704"/>
                </a:lnTo>
                <a:lnTo>
                  <a:pt x="403" y="674"/>
                </a:lnTo>
                <a:lnTo>
                  <a:pt x="411" y="644"/>
                </a:lnTo>
                <a:lnTo>
                  <a:pt x="419" y="613"/>
                </a:lnTo>
                <a:lnTo>
                  <a:pt x="428" y="584"/>
                </a:lnTo>
                <a:lnTo>
                  <a:pt x="438" y="555"/>
                </a:lnTo>
                <a:lnTo>
                  <a:pt x="450" y="528"/>
                </a:lnTo>
                <a:lnTo>
                  <a:pt x="465" y="504"/>
                </a:lnTo>
                <a:lnTo>
                  <a:pt x="483" y="482"/>
                </a:lnTo>
                <a:lnTo>
                  <a:pt x="505" y="464"/>
                </a:lnTo>
                <a:lnTo>
                  <a:pt x="529" y="449"/>
                </a:lnTo>
                <a:lnTo>
                  <a:pt x="556" y="437"/>
                </a:lnTo>
                <a:lnTo>
                  <a:pt x="585" y="427"/>
                </a:lnTo>
                <a:lnTo>
                  <a:pt x="614" y="418"/>
                </a:lnTo>
                <a:lnTo>
                  <a:pt x="645" y="410"/>
                </a:lnTo>
                <a:lnTo>
                  <a:pt x="675" y="402"/>
                </a:lnTo>
                <a:lnTo>
                  <a:pt x="705" y="393"/>
                </a:lnTo>
                <a:lnTo>
                  <a:pt x="734" y="383"/>
                </a:lnTo>
                <a:lnTo>
                  <a:pt x="761" y="371"/>
                </a:lnTo>
                <a:lnTo>
                  <a:pt x="786" y="357"/>
                </a:lnTo>
                <a:lnTo>
                  <a:pt x="808" y="339"/>
                </a:lnTo>
                <a:lnTo>
                  <a:pt x="831" y="319"/>
                </a:lnTo>
                <a:lnTo>
                  <a:pt x="851" y="296"/>
                </a:lnTo>
                <a:lnTo>
                  <a:pt x="870" y="272"/>
                </a:lnTo>
                <a:lnTo>
                  <a:pt x="889" y="247"/>
                </a:lnTo>
                <a:lnTo>
                  <a:pt x="908" y="222"/>
                </a:lnTo>
                <a:lnTo>
                  <a:pt x="927" y="198"/>
                </a:lnTo>
                <a:lnTo>
                  <a:pt x="948" y="175"/>
                </a:lnTo>
                <a:lnTo>
                  <a:pt x="969" y="155"/>
                </a:lnTo>
                <a:lnTo>
                  <a:pt x="993" y="138"/>
                </a:lnTo>
                <a:lnTo>
                  <a:pt x="1018" y="125"/>
                </a:lnTo>
                <a:lnTo>
                  <a:pt x="1048" y="116"/>
                </a:lnTo>
                <a:lnTo>
                  <a:pt x="1079" y="112"/>
                </a:lnTo>
                <a:lnTo>
                  <a:pt x="1111" y="111"/>
                </a:lnTo>
                <a:lnTo>
                  <a:pt x="1145" y="114"/>
                </a:lnTo>
                <a:lnTo>
                  <a:pt x="1179" y="118"/>
                </a:lnTo>
                <a:lnTo>
                  <a:pt x="1213" y="123"/>
                </a:lnTo>
                <a:lnTo>
                  <a:pt x="1247" y="127"/>
                </a:lnTo>
                <a:lnTo>
                  <a:pt x="1281" y="129"/>
                </a:lnTo>
                <a:lnTo>
                  <a:pt x="1314" y="129"/>
                </a:lnTo>
                <a:lnTo>
                  <a:pt x="1345" y="125"/>
                </a:lnTo>
                <a:lnTo>
                  <a:pt x="1376" y="117"/>
                </a:lnTo>
                <a:lnTo>
                  <a:pt x="1406" y="105"/>
                </a:lnTo>
                <a:lnTo>
                  <a:pt x="1436" y="89"/>
                </a:lnTo>
                <a:lnTo>
                  <a:pt x="1466" y="73"/>
                </a:lnTo>
                <a:lnTo>
                  <a:pt x="1496" y="55"/>
                </a:lnTo>
                <a:lnTo>
                  <a:pt x="1525" y="38"/>
                </a:lnTo>
                <a:lnTo>
                  <a:pt x="1556" y="23"/>
                </a:lnTo>
                <a:lnTo>
                  <a:pt x="1586" y="11"/>
                </a:lnTo>
                <a:lnTo>
                  <a:pt x="1617" y="3"/>
                </a:lnTo>
                <a:lnTo>
                  <a:pt x="1649" y="0"/>
                </a:lnTo>
                <a:close/>
              </a:path>
            </a:pathLst>
          </a:custGeom>
          <a:solidFill>
            <a:schemeClr val="bg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78523" y="1098388"/>
            <a:ext cx="10318418" cy="4394988"/>
          </a:xfrm>
        </p:spPr>
        <p:txBody>
          <a:bodyPr anchor="ctr">
            <a:noAutofit/>
          </a:bodyPr>
          <a:lstStyle>
            <a:lvl1pPr algn="ctr">
              <a:defRPr sz="10000" spc="8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15045" y="5979196"/>
            <a:ext cx="8045373" cy="742279"/>
          </a:xfrm>
        </p:spPr>
        <p:txBody>
          <a:bodyPr anchor="t">
            <a:normAutofit/>
          </a:bodyPr>
          <a:lstStyle>
            <a:lvl1pPr marL="0" indent="0" algn="ctr">
              <a:lnSpc>
                <a:spcPct val="100000"/>
              </a:lnSpc>
              <a:buNone/>
              <a:defRPr sz="2000" b="1" i="0" cap="all" spc="400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78523" y="6375679"/>
            <a:ext cx="2329722" cy="348462"/>
          </a:xfr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5A069CB8-F204-4D06-B913-C5A26A89888A}" type="datetimeFigureOut">
              <a:rPr lang="en-US" smtClean="0"/>
              <a:t>9/21/22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80332" y="6375679"/>
            <a:ext cx="4114800" cy="345796"/>
          </a:xfr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067218" y="6375679"/>
            <a:ext cx="2329723" cy="345796"/>
          </a:xfr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3" name="Rectangle 12" title="left edge border"/>
          <p:cNvSpPr/>
          <p:nvPr/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4548015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0BB376-B19C-488D-ABEB-03C7E6E9E3E0}" type="datetimeFigureOut">
              <a:rPr lang="en-US" smtClean="0"/>
              <a:t>9/21/22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63182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42929" y="1073888"/>
            <a:ext cx="8187071" cy="4064627"/>
          </a:xfrm>
        </p:spPr>
        <p:txBody>
          <a:bodyPr anchor="b">
            <a:normAutofit/>
          </a:bodyPr>
          <a:lstStyle>
            <a:lvl1pPr>
              <a:defRPr sz="8400" spc="8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242930" y="5159781"/>
            <a:ext cx="7017488" cy="951135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2000" b="1" i="0" cap="all" spc="40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236546" y="6375679"/>
            <a:ext cx="1493947" cy="348462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486F077B-A50F-4D64-8574-E2D6A98A5553}" type="datetimeFigureOut">
              <a:rPr lang="en-US" smtClean="0"/>
              <a:t>9/21/22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279064" y="6375679"/>
            <a:ext cx="4114800" cy="345796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942434" y="6375679"/>
            <a:ext cx="1487566" cy="345796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  <p:grpSp>
        <p:nvGrpSpPr>
          <p:cNvPr id="7" name="Group 6" title="left scallop shape"/>
          <p:cNvGrpSpPr/>
          <p:nvPr/>
        </p:nvGrpSpPr>
        <p:grpSpPr>
          <a:xfrm>
            <a:off x="0" y="0"/>
            <a:ext cx="2814638" cy="6858000"/>
            <a:chOff x="0" y="0"/>
            <a:chExt cx="2814638" cy="6858000"/>
          </a:xfrm>
        </p:grpSpPr>
        <p:sp>
          <p:nvSpPr>
            <p:cNvPr id="11" name="Freeform 6" title="left scallop shape"/>
            <p:cNvSpPr/>
            <p:nvPr/>
          </p:nvSpPr>
          <p:spPr bwMode="auto">
            <a:xfrm>
              <a:off x="0" y="0"/>
              <a:ext cx="2814638" cy="6858000"/>
            </a:xfrm>
            <a:custGeom>
              <a:avLst/>
              <a:gdLst/>
              <a:ahLst/>
              <a:cxnLst/>
              <a:rect l="0" t="0" r="r" b="b"/>
              <a:pathLst>
                <a:path w="1773" h="4320">
                  <a:moveTo>
                    <a:pt x="0" y="0"/>
                  </a:moveTo>
                  <a:lnTo>
                    <a:pt x="891" y="0"/>
                  </a:lnTo>
                  <a:lnTo>
                    <a:pt x="906" y="56"/>
                  </a:lnTo>
                  <a:lnTo>
                    <a:pt x="921" y="111"/>
                  </a:lnTo>
                  <a:lnTo>
                    <a:pt x="938" y="165"/>
                  </a:lnTo>
                  <a:lnTo>
                    <a:pt x="957" y="217"/>
                  </a:lnTo>
                  <a:lnTo>
                    <a:pt x="980" y="266"/>
                  </a:lnTo>
                  <a:lnTo>
                    <a:pt x="1007" y="312"/>
                  </a:lnTo>
                  <a:lnTo>
                    <a:pt x="1036" y="351"/>
                  </a:lnTo>
                  <a:lnTo>
                    <a:pt x="1069" y="387"/>
                  </a:lnTo>
                  <a:lnTo>
                    <a:pt x="1105" y="422"/>
                  </a:lnTo>
                  <a:lnTo>
                    <a:pt x="1145" y="456"/>
                  </a:lnTo>
                  <a:lnTo>
                    <a:pt x="1185" y="487"/>
                  </a:lnTo>
                  <a:lnTo>
                    <a:pt x="1227" y="520"/>
                  </a:lnTo>
                  <a:lnTo>
                    <a:pt x="1270" y="551"/>
                  </a:lnTo>
                  <a:lnTo>
                    <a:pt x="1311" y="584"/>
                  </a:lnTo>
                  <a:lnTo>
                    <a:pt x="1352" y="617"/>
                  </a:lnTo>
                  <a:lnTo>
                    <a:pt x="1390" y="651"/>
                  </a:lnTo>
                  <a:lnTo>
                    <a:pt x="1425" y="687"/>
                  </a:lnTo>
                  <a:lnTo>
                    <a:pt x="1456" y="725"/>
                  </a:lnTo>
                  <a:lnTo>
                    <a:pt x="1484" y="765"/>
                  </a:lnTo>
                  <a:lnTo>
                    <a:pt x="1505" y="808"/>
                  </a:lnTo>
                  <a:lnTo>
                    <a:pt x="1521" y="856"/>
                  </a:lnTo>
                  <a:lnTo>
                    <a:pt x="1530" y="907"/>
                  </a:lnTo>
                  <a:lnTo>
                    <a:pt x="1534" y="960"/>
                  </a:lnTo>
                  <a:lnTo>
                    <a:pt x="1534" y="1013"/>
                  </a:lnTo>
                  <a:lnTo>
                    <a:pt x="1530" y="1068"/>
                  </a:lnTo>
                  <a:lnTo>
                    <a:pt x="1523" y="1125"/>
                  </a:lnTo>
                  <a:lnTo>
                    <a:pt x="1515" y="1181"/>
                  </a:lnTo>
                  <a:lnTo>
                    <a:pt x="1508" y="1237"/>
                  </a:lnTo>
                  <a:lnTo>
                    <a:pt x="1501" y="1293"/>
                  </a:lnTo>
                  <a:lnTo>
                    <a:pt x="1496" y="1350"/>
                  </a:lnTo>
                  <a:lnTo>
                    <a:pt x="1494" y="1405"/>
                  </a:lnTo>
                  <a:lnTo>
                    <a:pt x="1497" y="1458"/>
                  </a:lnTo>
                  <a:lnTo>
                    <a:pt x="1504" y="1511"/>
                  </a:lnTo>
                  <a:lnTo>
                    <a:pt x="1517" y="1560"/>
                  </a:lnTo>
                  <a:lnTo>
                    <a:pt x="1535" y="1610"/>
                  </a:lnTo>
                  <a:lnTo>
                    <a:pt x="1557" y="1659"/>
                  </a:lnTo>
                  <a:lnTo>
                    <a:pt x="1583" y="1708"/>
                  </a:lnTo>
                  <a:lnTo>
                    <a:pt x="1611" y="1757"/>
                  </a:lnTo>
                  <a:lnTo>
                    <a:pt x="1640" y="1807"/>
                  </a:lnTo>
                  <a:lnTo>
                    <a:pt x="1669" y="1855"/>
                  </a:lnTo>
                  <a:lnTo>
                    <a:pt x="1696" y="1905"/>
                  </a:lnTo>
                  <a:lnTo>
                    <a:pt x="1721" y="1954"/>
                  </a:lnTo>
                  <a:lnTo>
                    <a:pt x="1742" y="2006"/>
                  </a:lnTo>
                  <a:lnTo>
                    <a:pt x="1759" y="2057"/>
                  </a:lnTo>
                  <a:lnTo>
                    <a:pt x="1769" y="2108"/>
                  </a:lnTo>
                  <a:lnTo>
                    <a:pt x="1773" y="2160"/>
                  </a:lnTo>
                  <a:lnTo>
                    <a:pt x="1769" y="2212"/>
                  </a:lnTo>
                  <a:lnTo>
                    <a:pt x="1759" y="2263"/>
                  </a:lnTo>
                  <a:lnTo>
                    <a:pt x="1742" y="2314"/>
                  </a:lnTo>
                  <a:lnTo>
                    <a:pt x="1721" y="2366"/>
                  </a:lnTo>
                  <a:lnTo>
                    <a:pt x="1696" y="2415"/>
                  </a:lnTo>
                  <a:lnTo>
                    <a:pt x="1669" y="2465"/>
                  </a:lnTo>
                  <a:lnTo>
                    <a:pt x="1640" y="2513"/>
                  </a:lnTo>
                  <a:lnTo>
                    <a:pt x="1611" y="2563"/>
                  </a:lnTo>
                  <a:lnTo>
                    <a:pt x="1583" y="2612"/>
                  </a:lnTo>
                  <a:lnTo>
                    <a:pt x="1557" y="2661"/>
                  </a:lnTo>
                  <a:lnTo>
                    <a:pt x="1535" y="2710"/>
                  </a:lnTo>
                  <a:lnTo>
                    <a:pt x="1517" y="2760"/>
                  </a:lnTo>
                  <a:lnTo>
                    <a:pt x="1504" y="2809"/>
                  </a:lnTo>
                  <a:lnTo>
                    <a:pt x="1497" y="2862"/>
                  </a:lnTo>
                  <a:lnTo>
                    <a:pt x="1494" y="2915"/>
                  </a:lnTo>
                  <a:lnTo>
                    <a:pt x="1496" y="2970"/>
                  </a:lnTo>
                  <a:lnTo>
                    <a:pt x="1501" y="3027"/>
                  </a:lnTo>
                  <a:lnTo>
                    <a:pt x="1508" y="3083"/>
                  </a:lnTo>
                  <a:lnTo>
                    <a:pt x="1515" y="3139"/>
                  </a:lnTo>
                  <a:lnTo>
                    <a:pt x="1523" y="3195"/>
                  </a:lnTo>
                  <a:lnTo>
                    <a:pt x="1530" y="3252"/>
                  </a:lnTo>
                  <a:lnTo>
                    <a:pt x="1534" y="3307"/>
                  </a:lnTo>
                  <a:lnTo>
                    <a:pt x="1534" y="3360"/>
                  </a:lnTo>
                  <a:lnTo>
                    <a:pt x="1530" y="3413"/>
                  </a:lnTo>
                  <a:lnTo>
                    <a:pt x="1521" y="3464"/>
                  </a:lnTo>
                  <a:lnTo>
                    <a:pt x="1505" y="3512"/>
                  </a:lnTo>
                  <a:lnTo>
                    <a:pt x="1484" y="3555"/>
                  </a:lnTo>
                  <a:lnTo>
                    <a:pt x="1456" y="3595"/>
                  </a:lnTo>
                  <a:lnTo>
                    <a:pt x="1425" y="3633"/>
                  </a:lnTo>
                  <a:lnTo>
                    <a:pt x="1390" y="3669"/>
                  </a:lnTo>
                  <a:lnTo>
                    <a:pt x="1352" y="3703"/>
                  </a:lnTo>
                  <a:lnTo>
                    <a:pt x="1311" y="3736"/>
                  </a:lnTo>
                  <a:lnTo>
                    <a:pt x="1270" y="3769"/>
                  </a:lnTo>
                  <a:lnTo>
                    <a:pt x="1227" y="3800"/>
                  </a:lnTo>
                  <a:lnTo>
                    <a:pt x="1185" y="3833"/>
                  </a:lnTo>
                  <a:lnTo>
                    <a:pt x="1145" y="3864"/>
                  </a:lnTo>
                  <a:lnTo>
                    <a:pt x="1105" y="3898"/>
                  </a:lnTo>
                  <a:lnTo>
                    <a:pt x="1069" y="3933"/>
                  </a:lnTo>
                  <a:lnTo>
                    <a:pt x="1036" y="3969"/>
                  </a:lnTo>
                  <a:lnTo>
                    <a:pt x="1007" y="4008"/>
                  </a:lnTo>
                  <a:lnTo>
                    <a:pt x="980" y="4054"/>
                  </a:lnTo>
                  <a:lnTo>
                    <a:pt x="957" y="4103"/>
                  </a:lnTo>
                  <a:lnTo>
                    <a:pt x="938" y="4155"/>
                  </a:lnTo>
                  <a:lnTo>
                    <a:pt x="921" y="4209"/>
                  </a:lnTo>
                  <a:lnTo>
                    <a:pt x="906" y="4264"/>
                  </a:lnTo>
                  <a:lnTo>
                    <a:pt x="891" y="4320"/>
                  </a:lnTo>
                  <a:lnTo>
                    <a:pt x="0" y="43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6" name="Freeform 11" title="left scallop inline"/>
            <p:cNvSpPr/>
            <p:nvPr/>
          </p:nvSpPr>
          <p:spPr bwMode="auto">
            <a:xfrm>
              <a:off x="874382" y="0"/>
              <a:ext cx="1646238" cy="6858000"/>
            </a:xfrm>
            <a:custGeom>
              <a:avLst/>
              <a:gdLst/>
              <a:ahLst/>
              <a:cxnLst/>
              <a:rect l="0" t="0" r="r" b="b"/>
              <a:pathLst>
                <a:path w="1037" h="4320">
                  <a:moveTo>
                    <a:pt x="0" y="0"/>
                  </a:moveTo>
                  <a:lnTo>
                    <a:pt x="171" y="0"/>
                  </a:lnTo>
                  <a:lnTo>
                    <a:pt x="188" y="55"/>
                  </a:lnTo>
                  <a:lnTo>
                    <a:pt x="204" y="110"/>
                  </a:lnTo>
                  <a:lnTo>
                    <a:pt x="220" y="166"/>
                  </a:lnTo>
                  <a:lnTo>
                    <a:pt x="234" y="223"/>
                  </a:lnTo>
                  <a:lnTo>
                    <a:pt x="251" y="278"/>
                  </a:lnTo>
                  <a:lnTo>
                    <a:pt x="269" y="331"/>
                  </a:lnTo>
                  <a:lnTo>
                    <a:pt x="292" y="381"/>
                  </a:lnTo>
                  <a:lnTo>
                    <a:pt x="319" y="427"/>
                  </a:lnTo>
                  <a:lnTo>
                    <a:pt x="349" y="466"/>
                  </a:lnTo>
                  <a:lnTo>
                    <a:pt x="382" y="503"/>
                  </a:lnTo>
                  <a:lnTo>
                    <a:pt x="420" y="537"/>
                  </a:lnTo>
                  <a:lnTo>
                    <a:pt x="460" y="571"/>
                  </a:lnTo>
                  <a:lnTo>
                    <a:pt x="502" y="603"/>
                  </a:lnTo>
                  <a:lnTo>
                    <a:pt x="544" y="635"/>
                  </a:lnTo>
                  <a:lnTo>
                    <a:pt x="587" y="668"/>
                  </a:lnTo>
                  <a:lnTo>
                    <a:pt x="628" y="700"/>
                  </a:lnTo>
                  <a:lnTo>
                    <a:pt x="667" y="734"/>
                  </a:lnTo>
                  <a:lnTo>
                    <a:pt x="703" y="771"/>
                  </a:lnTo>
                  <a:lnTo>
                    <a:pt x="736" y="808"/>
                  </a:lnTo>
                  <a:lnTo>
                    <a:pt x="763" y="848"/>
                  </a:lnTo>
                  <a:lnTo>
                    <a:pt x="786" y="893"/>
                  </a:lnTo>
                  <a:lnTo>
                    <a:pt x="800" y="937"/>
                  </a:lnTo>
                  <a:lnTo>
                    <a:pt x="809" y="986"/>
                  </a:lnTo>
                  <a:lnTo>
                    <a:pt x="813" y="1034"/>
                  </a:lnTo>
                  <a:lnTo>
                    <a:pt x="812" y="1085"/>
                  </a:lnTo>
                  <a:lnTo>
                    <a:pt x="808" y="1136"/>
                  </a:lnTo>
                  <a:lnTo>
                    <a:pt x="803" y="1189"/>
                  </a:lnTo>
                  <a:lnTo>
                    <a:pt x="796" y="1242"/>
                  </a:lnTo>
                  <a:lnTo>
                    <a:pt x="788" y="1295"/>
                  </a:lnTo>
                  <a:lnTo>
                    <a:pt x="782" y="1348"/>
                  </a:lnTo>
                  <a:lnTo>
                    <a:pt x="778" y="1401"/>
                  </a:lnTo>
                  <a:lnTo>
                    <a:pt x="775" y="1452"/>
                  </a:lnTo>
                  <a:lnTo>
                    <a:pt x="778" y="1502"/>
                  </a:lnTo>
                  <a:lnTo>
                    <a:pt x="784" y="1551"/>
                  </a:lnTo>
                  <a:lnTo>
                    <a:pt x="797" y="1602"/>
                  </a:lnTo>
                  <a:lnTo>
                    <a:pt x="817" y="1652"/>
                  </a:lnTo>
                  <a:lnTo>
                    <a:pt x="841" y="1702"/>
                  </a:lnTo>
                  <a:lnTo>
                    <a:pt x="868" y="1752"/>
                  </a:lnTo>
                  <a:lnTo>
                    <a:pt x="896" y="1801"/>
                  </a:lnTo>
                  <a:lnTo>
                    <a:pt x="926" y="1851"/>
                  </a:lnTo>
                  <a:lnTo>
                    <a:pt x="953" y="1901"/>
                  </a:lnTo>
                  <a:lnTo>
                    <a:pt x="980" y="1952"/>
                  </a:lnTo>
                  <a:lnTo>
                    <a:pt x="1003" y="2003"/>
                  </a:lnTo>
                  <a:lnTo>
                    <a:pt x="1021" y="2054"/>
                  </a:lnTo>
                  <a:lnTo>
                    <a:pt x="1031" y="2106"/>
                  </a:lnTo>
                  <a:lnTo>
                    <a:pt x="1037" y="2160"/>
                  </a:lnTo>
                  <a:lnTo>
                    <a:pt x="1031" y="2214"/>
                  </a:lnTo>
                  <a:lnTo>
                    <a:pt x="1021" y="2266"/>
                  </a:lnTo>
                  <a:lnTo>
                    <a:pt x="1003" y="2317"/>
                  </a:lnTo>
                  <a:lnTo>
                    <a:pt x="980" y="2368"/>
                  </a:lnTo>
                  <a:lnTo>
                    <a:pt x="953" y="2419"/>
                  </a:lnTo>
                  <a:lnTo>
                    <a:pt x="926" y="2469"/>
                  </a:lnTo>
                  <a:lnTo>
                    <a:pt x="896" y="2519"/>
                  </a:lnTo>
                  <a:lnTo>
                    <a:pt x="868" y="2568"/>
                  </a:lnTo>
                  <a:lnTo>
                    <a:pt x="841" y="2618"/>
                  </a:lnTo>
                  <a:lnTo>
                    <a:pt x="817" y="2668"/>
                  </a:lnTo>
                  <a:lnTo>
                    <a:pt x="797" y="2718"/>
                  </a:lnTo>
                  <a:lnTo>
                    <a:pt x="784" y="2769"/>
                  </a:lnTo>
                  <a:lnTo>
                    <a:pt x="778" y="2818"/>
                  </a:lnTo>
                  <a:lnTo>
                    <a:pt x="775" y="2868"/>
                  </a:lnTo>
                  <a:lnTo>
                    <a:pt x="778" y="2919"/>
                  </a:lnTo>
                  <a:lnTo>
                    <a:pt x="782" y="2972"/>
                  </a:lnTo>
                  <a:lnTo>
                    <a:pt x="788" y="3025"/>
                  </a:lnTo>
                  <a:lnTo>
                    <a:pt x="796" y="3078"/>
                  </a:lnTo>
                  <a:lnTo>
                    <a:pt x="803" y="3131"/>
                  </a:lnTo>
                  <a:lnTo>
                    <a:pt x="808" y="3184"/>
                  </a:lnTo>
                  <a:lnTo>
                    <a:pt x="812" y="3235"/>
                  </a:lnTo>
                  <a:lnTo>
                    <a:pt x="813" y="3286"/>
                  </a:lnTo>
                  <a:lnTo>
                    <a:pt x="809" y="3334"/>
                  </a:lnTo>
                  <a:lnTo>
                    <a:pt x="800" y="3383"/>
                  </a:lnTo>
                  <a:lnTo>
                    <a:pt x="786" y="3427"/>
                  </a:lnTo>
                  <a:lnTo>
                    <a:pt x="763" y="3472"/>
                  </a:lnTo>
                  <a:lnTo>
                    <a:pt x="736" y="3512"/>
                  </a:lnTo>
                  <a:lnTo>
                    <a:pt x="703" y="3549"/>
                  </a:lnTo>
                  <a:lnTo>
                    <a:pt x="667" y="3586"/>
                  </a:lnTo>
                  <a:lnTo>
                    <a:pt x="628" y="3620"/>
                  </a:lnTo>
                  <a:lnTo>
                    <a:pt x="587" y="3652"/>
                  </a:lnTo>
                  <a:lnTo>
                    <a:pt x="544" y="3685"/>
                  </a:lnTo>
                  <a:lnTo>
                    <a:pt x="502" y="3717"/>
                  </a:lnTo>
                  <a:lnTo>
                    <a:pt x="460" y="3749"/>
                  </a:lnTo>
                  <a:lnTo>
                    <a:pt x="420" y="3783"/>
                  </a:lnTo>
                  <a:lnTo>
                    <a:pt x="382" y="3817"/>
                  </a:lnTo>
                  <a:lnTo>
                    <a:pt x="349" y="3854"/>
                  </a:lnTo>
                  <a:lnTo>
                    <a:pt x="319" y="3893"/>
                  </a:lnTo>
                  <a:lnTo>
                    <a:pt x="292" y="3939"/>
                  </a:lnTo>
                  <a:lnTo>
                    <a:pt x="269" y="3989"/>
                  </a:lnTo>
                  <a:lnTo>
                    <a:pt x="251" y="4042"/>
                  </a:lnTo>
                  <a:lnTo>
                    <a:pt x="234" y="4097"/>
                  </a:lnTo>
                  <a:lnTo>
                    <a:pt x="220" y="4154"/>
                  </a:lnTo>
                  <a:lnTo>
                    <a:pt x="204" y="4210"/>
                  </a:lnTo>
                  <a:lnTo>
                    <a:pt x="188" y="4265"/>
                  </a:lnTo>
                  <a:lnTo>
                    <a:pt x="171" y="4320"/>
                  </a:lnTo>
                  <a:lnTo>
                    <a:pt x="0" y="4320"/>
                  </a:lnTo>
                  <a:lnTo>
                    <a:pt x="17" y="4278"/>
                  </a:lnTo>
                  <a:lnTo>
                    <a:pt x="33" y="4232"/>
                  </a:lnTo>
                  <a:lnTo>
                    <a:pt x="46" y="4183"/>
                  </a:lnTo>
                  <a:lnTo>
                    <a:pt x="60" y="4131"/>
                  </a:lnTo>
                  <a:lnTo>
                    <a:pt x="75" y="4075"/>
                  </a:lnTo>
                  <a:lnTo>
                    <a:pt x="90" y="4019"/>
                  </a:lnTo>
                  <a:lnTo>
                    <a:pt x="109" y="3964"/>
                  </a:lnTo>
                  <a:lnTo>
                    <a:pt x="129" y="3909"/>
                  </a:lnTo>
                  <a:lnTo>
                    <a:pt x="156" y="3855"/>
                  </a:lnTo>
                  <a:lnTo>
                    <a:pt x="186" y="3804"/>
                  </a:lnTo>
                  <a:lnTo>
                    <a:pt x="222" y="3756"/>
                  </a:lnTo>
                  <a:lnTo>
                    <a:pt x="261" y="3713"/>
                  </a:lnTo>
                  <a:lnTo>
                    <a:pt x="303" y="3672"/>
                  </a:lnTo>
                  <a:lnTo>
                    <a:pt x="348" y="3634"/>
                  </a:lnTo>
                  <a:lnTo>
                    <a:pt x="392" y="3599"/>
                  </a:lnTo>
                  <a:lnTo>
                    <a:pt x="438" y="3565"/>
                  </a:lnTo>
                  <a:lnTo>
                    <a:pt x="482" y="3531"/>
                  </a:lnTo>
                  <a:lnTo>
                    <a:pt x="523" y="3499"/>
                  </a:lnTo>
                  <a:lnTo>
                    <a:pt x="561" y="3466"/>
                  </a:lnTo>
                  <a:lnTo>
                    <a:pt x="594" y="3434"/>
                  </a:lnTo>
                  <a:lnTo>
                    <a:pt x="620" y="3400"/>
                  </a:lnTo>
                  <a:lnTo>
                    <a:pt x="638" y="3367"/>
                  </a:lnTo>
                  <a:lnTo>
                    <a:pt x="647" y="3336"/>
                  </a:lnTo>
                  <a:lnTo>
                    <a:pt x="652" y="3302"/>
                  </a:lnTo>
                  <a:lnTo>
                    <a:pt x="654" y="3265"/>
                  </a:lnTo>
                  <a:lnTo>
                    <a:pt x="651" y="3224"/>
                  </a:lnTo>
                  <a:lnTo>
                    <a:pt x="647" y="3181"/>
                  </a:lnTo>
                  <a:lnTo>
                    <a:pt x="642" y="3137"/>
                  </a:lnTo>
                  <a:lnTo>
                    <a:pt x="637" y="3091"/>
                  </a:lnTo>
                  <a:lnTo>
                    <a:pt x="626" y="3021"/>
                  </a:lnTo>
                  <a:lnTo>
                    <a:pt x="620" y="2952"/>
                  </a:lnTo>
                  <a:lnTo>
                    <a:pt x="616" y="2881"/>
                  </a:lnTo>
                  <a:lnTo>
                    <a:pt x="618" y="2809"/>
                  </a:lnTo>
                  <a:lnTo>
                    <a:pt x="628" y="2737"/>
                  </a:lnTo>
                  <a:lnTo>
                    <a:pt x="642" y="2681"/>
                  </a:lnTo>
                  <a:lnTo>
                    <a:pt x="661" y="2626"/>
                  </a:lnTo>
                  <a:lnTo>
                    <a:pt x="685" y="2574"/>
                  </a:lnTo>
                  <a:lnTo>
                    <a:pt x="711" y="2521"/>
                  </a:lnTo>
                  <a:lnTo>
                    <a:pt x="739" y="2472"/>
                  </a:lnTo>
                  <a:lnTo>
                    <a:pt x="767" y="2423"/>
                  </a:lnTo>
                  <a:lnTo>
                    <a:pt x="791" y="2381"/>
                  </a:lnTo>
                  <a:lnTo>
                    <a:pt x="813" y="2342"/>
                  </a:lnTo>
                  <a:lnTo>
                    <a:pt x="834" y="2303"/>
                  </a:lnTo>
                  <a:lnTo>
                    <a:pt x="851" y="2265"/>
                  </a:lnTo>
                  <a:lnTo>
                    <a:pt x="864" y="2228"/>
                  </a:lnTo>
                  <a:lnTo>
                    <a:pt x="873" y="2194"/>
                  </a:lnTo>
                  <a:lnTo>
                    <a:pt x="876" y="2160"/>
                  </a:lnTo>
                  <a:lnTo>
                    <a:pt x="873" y="2126"/>
                  </a:lnTo>
                  <a:lnTo>
                    <a:pt x="864" y="2092"/>
                  </a:lnTo>
                  <a:lnTo>
                    <a:pt x="851" y="2055"/>
                  </a:lnTo>
                  <a:lnTo>
                    <a:pt x="834" y="2017"/>
                  </a:lnTo>
                  <a:lnTo>
                    <a:pt x="813" y="1978"/>
                  </a:lnTo>
                  <a:lnTo>
                    <a:pt x="791" y="1939"/>
                  </a:lnTo>
                  <a:lnTo>
                    <a:pt x="767" y="1897"/>
                  </a:lnTo>
                  <a:lnTo>
                    <a:pt x="739" y="1848"/>
                  </a:lnTo>
                  <a:lnTo>
                    <a:pt x="711" y="1799"/>
                  </a:lnTo>
                  <a:lnTo>
                    <a:pt x="685" y="1746"/>
                  </a:lnTo>
                  <a:lnTo>
                    <a:pt x="661" y="1694"/>
                  </a:lnTo>
                  <a:lnTo>
                    <a:pt x="642" y="1639"/>
                  </a:lnTo>
                  <a:lnTo>
                    <a:pt x="628" y="1583"/>
                  </a:lnTo>
                  <a:lnTo>
                    <a:pt x="618" y="1511"/>
                  </a:lnTo>
                  <a:lnTo>
                    <a:pt x="616" y="1439"/>
                  </a:lnTo>
                  <a:lnTo>
                    <a:pt x="620" y="1368"/>
                  </a:lnTo>
                  <a:lnTo>
                    <a:pt x="626" y="1299"/>
                  </a:lnTo>
                  <a:lnTo>
                    <a:pt x="637" y="1229"/>
                  </a:lnTo>
                  <a:lnTo>
                    <a:pt x="642" y="1183"/>
                  </a:lnTo>
                  <a:lnTo>
                    <a:pt x="647" y="1139"/>
                  </a:lnTo>
                  <a:lnTo>
                    <a:pt x="651" y="1096"/>
                  </a:lnTo>
                  <a:lnTo>
                    <a:pt x="654" y="1055"/>
                  </a:lnTo>
                  <a:lnTo>
                    <a:pt x="652" y="1018"/>
                  </a:lnTo>
                  <a:lnTo>
                    <a:pt x="647" y="984"/>
                  </a:lnTo>
                  <a:lnTo>
                    <a:pt x="638" y="953"/>
                  </a:lnTo>
                  <a:lnTo>
                    <a:pt x="620" y="920"/>
                  </a:lnTo>
                  <a:lnTo>
                    <a:pt x="594" y="886"/>
                  </a:lnTo>
                  <a:lnTo>
                    <a:pt x="561" y="854"/>
                  </a:lnTo>
                  <a:lnTo>
                    <a:pt x="523" y="822"/>
                  </a:lnTo>
                  <a:lnTo>
                    <a:pt x="482" y="789"/>
                  </a:lnTo>
                  <a:lnTo>
                    <a:pt x="438" y="755"/>
                  </a:lnTo>
                  <a:lnTo>
                    <a:pt x="392" y="721"/>
                  </a:lnTo>
                  <a:lnTo>
                    <a:pt x="348" y="686"/>
                  </a:lnTo>
                  <a:lnTo>
                    <a:pt x="303" y="648"/>
                  </a:lnTo>
                  <a:lnTo>
                    <a:pt x="261" y="607"/>
                  </a:lnTo>
                  <a:lnTo>
                    <a:pt x="222" y="564"/>
                  </a:lnTo>
                  <a:lnTo>
                    <a:pt x="186" y="516"/>
                  </a:lnTo>
                  <a:lnTo>
                    <a:pt x="156" y="465"/>
                  </a:lnTo>
                  <a:lnTo>
                    <a:pt x="129" y="411"/>
                  </a:lnTo>
                  <a:lnTo>
                    <a:pt x="109" y="356"/>
                  </a:lnTo>
                  <a:lnTo>
                    <a:pt x="90" y="301"/>
                  </a:lnTo>
                  <a:lnTo>
                    <a:pt x="75" y="245"/>
                  </a:lnTo>
                  <a:lnTo>
                    <a:pt x="60" y="189"/>
                  </a:lnTo>
                  <a:lnTo>
                    <a:pt x="46" y="137"/>
                  </a:lnTo>
                  <a:lnTo>
                    <a:pt x="33" y="88"/>
                  </a:lnTo>
                  <a:lnTo>
                    <a:pt x="17" y="4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</p:sp>
      </p:grpSp>
    </p:spTree>
    <p:extLst>
      <p:ext uri="{BB962C8B-B14F-4D97-AF65-F5344CB8AC3E}">
        <p14:creationId xmlns:p14="http://schemas.microsoft.com/office/powerpoint/2010/main" val="356415434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57300" y="2286000"/>
            <a:ext cx="4800600" cy="36195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47796" y="2286000"/>
            <a:ext cx="4800600" cy="36195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9E2A62-1983-43A1-A163-D8AA46534C80}" type="datetimeFigureOut">
              <a:rPr lang="en-US" smtClean="0"/>
              <a:t>9/21/22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00117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2728" y="381000"/>
            <a:ext cx="10172700" cy="149351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1678" y="2199633"/>
            <a:ext cx="4800600" cy="632529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1900" b="1" cap="all" spc="200" baseline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57300" y="2909102"/>
            <a:ext cx="4800600" cy="299639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633864" y="2199633"/>
            <a:ext cx="4800600" cy="632529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1900" b="1" cap="all" spc="200" baseline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33864" y="2909102"/>
            <a:ext cx="4800600" cy="299639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8F3E3B-34E3-4345-B2A1-994B83598A9C}" type="datetimeFigureOut">
              <a:rPr lang="en-US" smtClean="0"/>
              <a:t>9/21/22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766393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816C96-82A1-4D77-8ADA-627AC6FE3D65}" type="datetimeFigureOut">
              <a:rPr lang="en-US" smtClean="0"/>
              <a:t>9/21/22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89694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102C1E-28F2-47E9-802D-339E64E2F920}" type="datetimeFigureOut">
              <a:rPr lang="en-US" smtClean="0"/>
              <a:t>9/21/22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20293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reeform 11" title="right scallop background shape"/>
          <p:cNvSpPr/>
          <p:nvPr/>
        </p:nvSpPr>
        <p:spPr bwMode="auto">
          <a:xfrm>
            <a:off x="7389812" y="0"/>
            <a:ext cx="4802188" cy="6858000"/>
          </a:xfrm>
          <a:custGeom>
            <a:avLst/>
            <a:gdLst/>
            <a:ahLst/>
            <a:cxnLst/>
            <a:rect l="0" t="0" r="r" b="b"/>
            <a:pathLst>
              <a:path w="3025" h="4320">
                <a:moveTo>
                  <a:pt x="0" y="0"/>
                </a:moveTo>
                <a:lnTo>
                  <a:pt x="3025" y="0"/>
                </a:lnTo>
                <a:lnTo>
                  <a:pt x="3025" y="4320"/>
                </a:lnTo>
                <a:lnTo>
                  <a:pt x="0" y="4320"/>
                </a:lnTo>
                <a:lnTo>
                  <a:pt x="3" y="4278"/>
                </a:lnTo>
                <a:lnTo>
                  <a:pt x="8" y="4243"/>
                </a:lnTo>
                <a:lnTo>
                  <a:pt x="14" y="4210"/>
                </a:lnTo>
                <a:lnTo>
                  <a:pt x="24" y="4183"/>
                </a:lnTo>
                <a:lnTo>
                  <a:pt x="34" y="4156"/>
                </a:lnTo>
                <a:lnTo>
                  <a:pt x="46" y="4133"/>
                </a:lnTo>
                <a:lnTo>
                  <a:pt x="58" y="4109"/>
                </a:lnTo>
                <a:lnTo>
                  <a:pt x="69" y="4087"/>
                </a:lnTo>
                <a:lnTo>
                  <a:pt x="80" y="4062"/>
                </a:lnTo>
                <a:lnTo>
                  <a:pt x="90" y="4036"/>
                </a:lnTo>
                <a:lnTo>
                  <a:pt x="99" y="4007"/>
                </a:lnTo>
                <a:lnTo>
                  <a:pt x="106" y="3976"/>
                </a:lnTo>
                <a:lnTo>
                  <a:pt x="111" y="3938"/>
                </a:lnTo>
                <a:lnTo>
                  <a:pt x="113" y="3895"/>
                </a:lnTo>
                <a:lnTo>
                  <a:pt x="111" y="3851"/>
                </a:lnTo>
                <a:lnTo>
                  <a:pt x="106" y="3815"/>
                </a:lnTo>
                <a:lnTo>
                  <a:pt x="99" y="3782"/>
                </a:lnTo>
                <a:lnTo>
                  <a:pt x="90" y="3752"/>
                </a:lnTo>
                <a:lnTo>
                  <a:pt x="80" y="3726"/>
                </a:lnTo>
                <a:lnTo>
                  <a:pt x="68" y="3702"/>
                </a:lnTo>
                <a:lnTo>
                  <a:pt x="56" y="3679"/>
                </a:lnTo>
                <a:lnTo>
                  <a:pt x="44" y="3655"/>
                </a:lnTo>
                <a:lnTo>
                  <a:pt x="33" y="3630"/>
                </a:lnTo>
                <a:lnTo>
                  <a:pt x="22" y="3604"/>
                </a:lnTo>
                <a:lnTo>
                  <a:pt x="13" y="3575"/>
                </a:lnTo>
                <a:lnTo>
                  <a:pt x="7" y="3542"/>
                </a:lnTo>
                <a:lnTo>
                  <a:pt x="1" y="3504"/>
                </a:lnTo>
                <a:lnTo>
                  <a:pt x="0" y="3461"/>
                </a:lnTo>
                <a:lnTo>
                  <a:pt x="1" y="3418"/>
                </a:lnTo>
                <a:lnTo>
                  <a:pt x="7" y="3380"/>
                </a:lnTo>
                <a:lnTo>
                  <a:pt x="13" y="3347"/>
                </a:lnTo>
                <a:lnTo>
                  <a:pt x="22" y="3319"/>
                </a:lnTo>
                <a:lnTo>
                  <a:pt x="33" y="3292"/>
                </a:lnTo>
                <a:lnTo>
                  <a:pt x="44" y="3267"/>
                </a:lnTo>
                <a:lnTo>
                  <a:pt x="56" y="3244"/>
                </a:lnTo>
                <a:lnTo>
                  <a:pt x="68" y="3222"/>
                </a:lnTo>
                <a:lnTo>
                  <a:pt x="80" y="3197"/>
                </a:lnTo>
                <a:lnTo>
                  <a:pt x="90" y="3171"/>
                </a:lnTo>
                <a:lnTo>
                  <a:pt x="99" y="3142"/>
                </a:lnTo>
                <a:lnTo>
                  <a:pt x="106" y="3109"/>
                </a:lnTo>
                <a:lnTo>
                  <a:pt x="111" y="3071"/>
                </a:lnTo>
                <a:lnTo>
                  <a:pt x="113" y="3028"/>
                </a:lnTo>
                <a:lnTo>
                  <a:pt x="111" y="2985"/>
                </a:lnTo>
                <a:lnTo>
                  <a:pt x="106" y="2947"/>
                </a:lnTo>
                <a:lnTo>
                  <a:pt x="99" y="2914"/>
                </a:lnTo>
                <a:lnTo>
                  <a:pt x="90" y="2885"/>
                </a:lnTo>
                <a:lnTo>
                  <a:pt x="80" y="2858"/>
                </a:lnTo>
                <a:lnTo>
                  <a:pt x="68" y="2834"/>
                </a:lnTo>
                <a:lnTo>
                  <a:pt x="44" y="2787"/>
                </a:lnTo>
                <a:lnTo>
                  <a:pt x="33" y="2763"/>
                </a:lnTo>
                <a:lnTo>
                  <a:pt x="22" y="2736"/>
                </a:lnTo>
                <a:lnTo>
                  <a:pt x="13" y="2707"/>
                </a:lnTo>
                <a:lnTo>
                  <a:pt x="7" y="2674"/>
                </a:lnTo>
                <a:lnTo>
                  <a:pt x="1" y="2637"/>
                </a:lnTo>
                <a:lnTo>
                  <a:pt x="0" y="2593"/>
                </a:lnTo>
                <a:lnTo>
                  <a:pt x="1" y="2550"/>
                </a:lnTo>
                <a:lnTo>
                  <a:pt x="7" y="2512"/>
                </a:lnTo>
                <a:lnTo>
                  <a:pt x="13" y="2479"/>
                </a:lnTo>
                <a:lnTo>
                  <a:pt x="22" y="2451"/>
                </a:lnTo>
                <a:lnTo>
                  <a:pt x="33" y="2424"/>
                </a:lnTo>
                <a:lnTo>
                  <a:pt x="44" y="2401"/>
                </a:lnTo>
                <a:lnTo>
                  <a:pt x="68" y="2354"/>
                </a:lnTo>
                <a:lnTo>
                  <a:pt x="80" y="2329"/>
                </a:lnTo>
                <a:lnTo>
                  <a:pt x="90" y="2303"/>
                </a:lnTo>
                <a:lnTo>
                  <a:pt x="99" y="2274"/>
                </a:lnTo>
                <a:lnTo>
                  <a:pt x="106" y="2241"/>
                </a:lnTo>
                <a:lnTo>
                  <a:pt x="111" y="2203"/>
                </a:lnTo>
                <a:lnTo>
                  <a:pt x="113" y="2159"/>
                </a:lnTo>
                <a:lnTo>
                  <a:pt x="111" y="2117"/>
                </a:lnTo>
                <a:lnTo>
                  <a:pt x="106" y="2079"/>
                </a:lnTo>
                <a:lnTo>
                  <a:pt x="99" y="2046"/>
                </a:lnTo>
                <a:lnTo>
                  <a:pt x="90" y="2017"/>
                </a:lnTo>
                <a:lnTo>
                  <a:pt x="80" y="1991"/>
                </a:lnTo>
                <a:lnTo>
                  <a:pt x="68" y="1966"/>
                </a:lnTo>
                <a:lnTo>
                  <a:pt x="56" y="1943"/>
                </a:lnTo>
                <a:lnTo>
                  <a:pt x="44" y="1919"/>
                </a:lnTo>
                <a:lnTo>
                  <a:pt x="33" y="1896"/>
                </a:lnTo>
                <a:lnTo>
                  <a:pt x="22" y="1869"/>
                </a:lnTo>
                <a:lnTo>
                  <a:pt x="13" y="1841"/>
                </a:lnTo>
                <a:lnTo>
                  <a:pt x="7" y="1807"/>
                </a:lnTo>
                <a:lnTo>
                  <a:pt x="1" y="1770"/>
                </a:lnTo>
                <a:lnTo>
                  <a:pt x="0" y="1727"/>
                </a:lnTo>
                <a:lnTo>
                  <a:pt x="1" y="1683"/>
                </a:lnTo>
                <a:lnTo>
                  <a:pt x="7" y="1646"/>
                </a:lnTo>
                <a:lnTo>
                  <a:pt x="13" y="1613"/>
                </a:lnTo>
                <a:lnTo>
                  <a:pt x="22" y="1583"/>
                </a:lnTo>
                <a:lnTo>
                  <a:pt x="33" y="1557"/>
                </a:lnTo>
                <a:lnTo>
                  <a:pt x="44" y="1533"/>
                </a:lnTo>
                <a:lnTo>
                  <a:pt x="56" y="1509"/>
                </a:lnTo>
                <a:lnTo>
                  <a:pt x="68" y="1486"/>
                </a:lnTo>
                <a:lnTo>
                  <a:pt x="80" y="1461"/>
                </a:lnTo>
                <a:lnTo>
                  <a:pt x="90" y="1435"/>
                </a:lnTo>
                <a:lnTo>
                  <a:pt x="99" y="1406"/>
                </a:lnTo>
                <a:lnTo>
                  <a:pt x="106" y="1373"/>
                </a:lnTo>
                <a:lnTo>
                  <a:pt x="111" y="1335"/>
                </a:lnTo>
                <a:lnTo>
                  <a:pt x="113" y="1292"/>
                </a:lnTo>
                <a:lnTo>
                  <a:pt x="111" y="1249"/>
                </a:lnTo>
                <a:lnTo>
                  <a:pt x="106" y="1211"/>
                </a:lnTo>
                <a:lnTo>
                  <a:pt x="99" y="1178"/>
                </a:lnTo>
                <a:lnTo>
                  <a:pt x="90" y="1149"/>
                </a:lnTo>
                <a:lnTo>
                  <a:pt x="80" y="1123"/>
                </a:lnTo>
                <a:lnTo>
                  <a:pt x="68" y="1098"/>
                </a:lnTo>
                <a:lnTo>
                  <a:pt x="56" y="1076"/>
                </a:lnTo>
                <a:lnTo>
                  <a:pt x="44" y="1053"/>
                </a:lnTo>
                <a:lnTo>
                  <a:pt x="33" y="1028"/>
                </a:lnTo>
                <a:lnTo>
                  <a:pt x="22" y="1001"/>
                </a:lnTo>
                <a:lnTo>
                  <a:pt x="13" y="973"/>
                </a:lnTo>
                <a:lnTo>
                  <a:pt x="7" y="940"/>
                </a:lnTo>
                <a:lnTo>
                  <a:pt x="1" y="902"/>
                </a:lnTo>
                <a:lnTo>
                  <a:pt x="0" y="859"/>
                </a:lnTo>
                <a:lnTo>
                  <a:pt x="1" y="816"/>
                </a:lnTo>
                <a:lnTo>
                  <a:pt x="7" y="778"/>
                </a:lnTo>
                <a:lnTo>
                  <a:pt x="13" y="745"/>
                </a:lnTo>
                <a:lnTo>
                  <a:pt x="22" y="716"/>
                </a:lnTo>
                <a:lnTo>
                  <a:pt x="33" y="690"/>
                </a:lnTo>
                <a:lnTo>
                  <a:pt x="44" y="665"/>
                </a:lnTo>
                <a:lnTo>
                  <a:pt x="56" y="641"/>
                </a:lnTo>
                <a:lnTo>
                  <a:pt x="68" y="618"/>
                </a:lnTo>
                <a:lnTo>
                  <a:pt x="80" y="594"/>
                </a:lnTo>
                <a:lnTo>
                  <a:pt x="90" y="568"/>
                </a:lnTo>
                <a:lnTo>
                  <a:pt x="99" y="538"/>
                </a:lnTo>
                <a:lnTo>
                  <a:pt x="106" y="505"/>
                </a:lnTo>
                <a:lnTo>
                  <a:pt x="111" y="469"/>
                </a:lnTo>
                <a:lnTo>
                  <a:pt x="113" y="424"/>
                </a:lnTo>
                <a:lnTo>
                  <a:pt x="111" y="382"/>
                </a:lnTo>
                <a:lnTo>
                  <a:pt x="106" y="344"/>
                </a:lnTo>
                <a:lnTo>
                  <a:pt x="99" y="313"/>
                </a:lnTo>
                <a:lnTo>
                  <a:pt x="90" y="284"/>
                </a:lnTo>
                <a:lnTo>
                  <a:pt x="80" y="258"/>
                </a:lnTo>
                <a:lnTo>
                  <a:pt x="69" y="233"/>
                </a:lnTo>
                <a:lnTo>
                  <a:pt x="58" y="211"/>
                </a:lnTo>
                <a:lnTo>
                  <a:pt x="46" y="187"/>
                </a:lnTo>
                <a:lnTo>
                  <a:pt x="34" y="164"/>
                </a:lnTo>
                <a:lnTo>
                  <a:pt x="24" y="137"/>
                </a:lnTo>
                <a:lnTo>
                  <a:pt x="14" y="110"/>
                </a:lnTo>
                <a:lnTo>
                  <a:pt x="8" y="77"/>
                </a:lnTo>
                <a:lnTo>
                  <a:pt x="3" y="42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37884" y="457199"/>
            <a:ext cx="3092115" cy="1196671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1900" b="1" i="0" cap="all" spc="300" baseline="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5051" y="920377"/>
            <a:ext cx="6158418" cy="4985124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37885" y="1741336"/>
            <a:ext cx="3092115" cy="4164164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200"/>
              </a:spcBef>
              <a:buNone/>
              <a:defRPr sz="1600" baseline="0">
                <a:solidFill>
                  <a:schemeClr val="bg2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65051" y="6375679"/>
            <a:ext cx="1233355" cy="348462"/>
          </a:xfrm>
        </p:spPr>
        <p:txBody>
          <a:bodyPr/>
          <a:lstStyle/>
          <a:p>
            <a:fld id="{24271A48-F18A-45B3-BC05-1E27DA3F88AF}" type="datetimeFigureOut">
              <a:rPr lang="en-US" smtClean="0"/>
              <a:t>9/21/22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103620" y="6375679"/>
            <a:ext cx="3482179" cy="345796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691014" y="6375679"/>
            <a:ext cx="1232456" cy="345796"/>
          </a:xfrm>
        </p:spPr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Rectangle 7" title="left edge border"/>
          <p:cNvSpPr/>
          <p:nvPr/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41397549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96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83464" y="0"/>
            <a:ext cx="7355585" cy="6857999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" name="Freeform 11" title="right scallop background shape"/>
          <p:cNvSpPr/>
          <p:nvPr/>
        </p:nvSpPr>
        <p:spPr bwMode="auto">
          <a:xfrm>
            <a:off x="7389812" y="0"/>
            <a:ext cx="4802188" cy="6858000"/>
          </a:xfrm>
          <a:custGeom>
            <a:avLst/>
            <a:gdLst/>
            <a:ahLst/>
            <a:cxnLst/>
            <a:rect l="0" t="0" r="r" b="b"/>
            <a:pathLst>
              <a:path w="3025" h="4320">
                <a:moveTo>
                  <a:pt x="0" y="0"/>
                </a:moveTo>
                <a:lnTo>
                  <a:pt x="3025" y="0"/>
                </a:lnTo>
                <a:lnTo>
                  <a:pt x="3025" y="4320"/>
                </a:lnTo>
                <a:lnTo>
                  <a:pt x="0" y="4320"/>
                </a:lnTo>
                <a:lnTo>
                  <a:pt x="3" y="4278"/>
                </a:lnTo>
                <a:lnTo>
                  <a:pt x="8" y="4243"/>
                </a:lnTo>
                <a:lnTo>
                  <a:pt x="14" y="4210"/>
                </a:lnTo>
                <a:lnTo>
                  <a:pt x="24" y="4183"/>
                </a:lnTo>
                <a:lnTo>
                  <a:pt x="34" y="4156"/>
                </a:lnTo>
                <a:lnTo>
                  <a:pt x="46" y="4133"/>
                </a:lnTo>
                <a:lnTo>
                  <a:pt x="58" y="4109"/>
                </a:lnTo>
                <a:lnTo>
                  <a:pt x="69" y="4087"/>
                </a:lnTo>
                <a:lnTo>
                  <a:pt x="80" y="4062"/>
                </a:lnTo>
                <a:lnTo>
                  <a:pt x="90" y="4036"/>
                </a:lnTo>
                <a:lnTo>
                  <a:pt x="99" y="4007"/>
                </a:lnTo>
                <a:lnTo>
                  <a:pt x="106" y="3976"/>
                </a:lnTo>
                <a:lnTo>
                  <a:pt x="111" y="3938"/>
                </a:lnTo>
                <a:lnTo>
                  <a:pt x="113" y="3895"/>
                </a:lnTo>
                <a:lnTo>
                  <a:pt x="111" y="3851"/>
                </a:lnTo>
                <a:lnTo>
                  <a:pt x="106" y="3815"/>
                </a:lnTo>
                <a:lnTo>
                  <a:pt x="99" y="3782"/>
                </a:lnTo>
                <a:lnTo>
                  <a:pt x="90" y="3752"/>
                </a:lnTo>
                <a:lnTo>
                  <a:pt x="80" y="3726"/>
                </a:lnTo>
                <a:lnTo>
                  <a:pt x="68" y="3702"/>
                </a:lnTo>
                <a:lnTo>
                  <a:pt x="56" y="3679"/>
                </a:lnTo>
                <a:lnTo>
                  <a:pt x="44" y="3655"/>
                </a:lnTo>
                <a:lnTo>
                  <a:pt x="33" y="3630"/>
                </a:lnTo>
                <a:lnTo>
                  <a:pt x="22" y="3604"/>
                </a:lnTo>
                <a:lnTo>
                  <a:pt x="13" y="3575"/>
                </a:lnTo>
                <a:lnTo>
                  <a:pt x="7" y="3542"/>
                </a:lnTo>
                <a:lnTo>
                  <a:pt x="1" y="3504"/>
                </a:lnTo>
                <a:lnTo>
                  <a:pt x="0" y="3461"/>
                </a:lnTo>
                <a:lnTo>
                  <a:pt x="1" y="3418"/>
                </a:lnTo>
                <a:lnTo>
                  <a:pt x="7" y="3380"/>
                </a:lnTo>
                <a:lnTo>
                  <a:pt x="13" y="3347"/>
                </a:lnTo>
                <a:lnTo>
                  <a:pt x="22" y="3319"/>
                </a:lnTo>
                <a:lnTo>
                  <a:pt x="33" y="3292"/>
                </a:lnTo>
                <a:lnTo>
                  <a:pt x="44" y="3267"/>
                </a:lnTo>
                <a:lnTo>
                  <a:pt x="56" y="3244"/>
                </a:lnTo>
                <a:lnTo>
                  <a:pt x="68" y="3222"/>
                </a:lnTo>
                <a:lnTo>
                  <a:pt x="80" y="3197"/>
                </a:lnTo>
                <a:lnTo>
                  <a:pt x="90" y="3171"/>
                </a:lnTo>
                <a:lnTo>
                  <a:pt x="99" y="3142"/>
                </a:lnTo>
                <a:lnTo>
                  <a:pt x="106" y="3109"/>
                </a:lnTo>
                <a:lnTo>
                  <a:pt x="111" y="3071"/>
                </a:lnTo>
                <a:lnTo>
                  <a:pt x="113" y="3028"/>
                </a:lnTo>
                <a:lnTo>
                  <a:pt x="111" y="2985"/>
                </a:lnTo>
                <a:lnTo>
                  <a:pt x="106" y="2947"/>
                </a:lnTo>
                <a:lnTo>
                  <a:pt x="99" y="2914"/>
                </a:lnTo>
                <a:lnTo>
                  <a:pt x="90" y="2885"/>
                </a:lnTo>
                <a:lnTo>
                  <a:pt x="80" y="2858"/>
                </a:lnTo>
                <a:lnTo>
                  <a:pt x="68" y="2834"/>
                </a:lnTo>
                <a:lnTo>
                  <a:pt x="44" y="2787"/>
                </a:lnTo>
                <a:lnTo>
                  <a:pt x="33" y="2763"/>
                </a:lnTo>
                <a:lnTo>
                  <a:pt x="22" y="2736"/>
                </a:lnTo>
                <a:lnTo>
                  <a:pt x="13" y="2707"/>
                </a:lnTo>
                <a:lnTo>
                  <a:pt x="7" y="2674"/>
                </a:lnTo>
                <a:lnTo>
                  <a:pt x="1" y="2637"/>
                </a:lnTo>
                <a:lnTo>
                  <a:pt x="0" y="2593"/>
                </a:lnTo>
                <a:lnTo>
                  <a:pt x="1" y="2550"/>
                </a:lnTo>
                <a:lnTo>
                  <a:pt x="7" y="2512"/>
                </a:lnTo>
                <a:lnTo>
                  <a:pt x="13" y="2479"/>
                </a:lnTo>
                <a:lnTo>
                  <a:pt x="22" y="2451"/>
                </a:lnTo>
                <a:lnTo>
                  <a:pt x="33" y="2424"/>
                </a:lnTo>
                <a:lnTo>
                  <a:pt x="44" y="2401"/>
                </a:lnTo>
                <a:lnTo>
                  <a:pt x="68" y="2354"/>
                </a:lnTo>
                <a:lnTo>
                  <a:pt x="80" y="2329"/>
                </a:lnTo>
                <a:lnTo>
                  <a:pt x="90" y="2303"/>
                </a:lnTo>
                <a:lnTo>
                  <a:pt x="99" y="2274"/>
                </a:lnTo>
                <a:lnTo>
                  <a:pt x="106" y="2241"/>
                </a:lnTo>
                <a:lnTo>
                  <a:pt x="111" y="2203"/>
                </a:lnTo>
                <a:lnTo>
                  <a:pt x="113" y="2159"/>
                </a:lnTo>
                <a:lnTo>
                  <a:pt x="111" y="2117"/>
                </a:lnTo>
                <a:lnTo>
                  <a:pt x="106" y="2079"/>
                </a:lnTo>
                <a:lnTo>
                  <a:pt x="99" y="2046"/>
                </a:lnTo>
                <a:lnTo>
                  <a:pt x="90" y="2017"/>
                </a:lnTo>
                <a:lnTo>
                  <a:pt x="80" y="1991"/>
                </a:lnTo>
                <a:lnTo>
                  <a:pt x="68" y="1966"/>
                </a:lnTo>
                <a:lnTo>
                  <a:pt x="56" y="1943"/>
                </a:lnTo>
                <a:lnTo>
                  <a:pt x="44" y="1919"/>
                </a:lnTo>
                <a:lnTo>
                  <a:pt x="33" y="1896"/>
                </a:lnTo>
                <a:lnTo>
                  <a:pt x="22" y="1869"/>
                </a:lnTo>
                <a:lnTo>
                  <a:pt x="13" y="1841"/>
                </a:lnTo>
                <a:lnTo>
                  <a:pt x="7" y="1807"/>
                </a:lnTo>
                <a:lnTo>
                  <a:pt x="1" y="1770"/>
                </a:lnTo>
                <a:lnTo>
                  <a:pt x="0" y="1727"/>
                </a:lnTo>
                <a:lnTo>
                  <a:pt x="1" y="1683"/>
                </a:lnTo>
                <a:lnTo>
                  <a:pt x="7" y="1646"/>
                </a:lnTo>
                <a:lnTo>
                  <a:pt x="13" y="1613"/>
                </a:lnTo>
                <a:lnTo>
                  <a:pt x="22" y="1583"/>
                </a:lnTo>
                <a:lnTo>
                  <a:pt x="33" y="1557"/>
                </a:lnTo>
                <a:lnTo>
                  <a:pt x="44" y="1533"/>
                </a:lnTo>
                <a:lnTo>
                  <a:pt x="56" y="1509"/>
                </a:lnTo>
                <a:lnTo>
                  <a:pt x="68" y="1486"/>
                </a:lnTo>
                <a:lnTo>
                  <a:pt x="80" y="1461"/>
                </a:lnTo>
                <a:lnTo>
                  <a:pt x="90" y="1435"/>
                </a:lnTo>
                <a:lnTo>
                  <a:pt x="99" y="1406"/>
                </a:lnTo>
                <a:lnTo>
                  <a:pt x="106" y="1373"/>
                </a:lnTo>
                <a:lnTo>
                  <a:pt x="111" y="1335"/>
                </a:lnTo>
                <a:lnTo>
                  <a:pt x="113" y="1292"/>
                </a:lnTo>
                <a:lnTo>
                  <a:pt x="111" y="1249"/>
                </a:lnTo>
                <a:lnTo>
                  <a:pt x="106" y="1211"/>
                </a:lnTo>
                <a:lnTo>
                  <a:pt x="99" y="1178"/>
                </a:lnTo>
                <a:lnTo>
                  <a:pt x="90" y="1149"/>
                </a:lnTo>
                <a:lnTo>
                  <a:pt x="80" y="1123"/>
                </a:lnTo>
                <a:lnTo>
                  <a:pt x="68" y="1098"/>
                </a:lnTo>
                <a:lnTo>
                  <a:pt x="56" y="1076"/>
                </a:lnTo>
                <a:lnTo>
                  <a:pt x="44" y="1053"/>
                </a:lnTo>
                <a:lnTo>
                  <a:pt x="33" y="1028"/>
                </a:lnTo>
                <a:lnTo>
                  <a:pt x="22" y="1001"/>
                </a:lnTo>
                <a:lnTo>
                  <a:pt x="13" y="973"/>
                </a:lnTo>
                <a:lnTo>
                  <a:pt x="7" y="940"/>
                </a:lnTo>
                <a:lnTo>
                  <a:pt x="1" y="902"/>
                </a:lnTo>
                <a:lnTo>
                  <a:pt x="0" y="859"/>
                </a:lnTo>
                <a:lnTo>
                  <a:pt x="1" y="816"/>
                </a:lnTo>
                <a:lnTo>
                  <a:pt x="7" y="778"/>
                </a:lnTo>
                <a:lnTo>
                  <a:pt x="13" y="745"/>
                </a:lnTo>
                <a:lnTo>
                  <a:pt x="22" y="716"/>
                </a:lnTo>
                <a:lnTo>
                  <a:pt x="33" y="690"/>
                </a:lnTo>
                <a:lnTo>
                  <a:pt x="44" y="665"/>
                </a:lnTo>
                <a:lnTo>
                  <a:pt x="56" y="641"/>
                </a:lnTo>
                <a:lnTo>
                  <a:pt x="68" y="618"/>
                </a:lnTo>
                <a:lnTo>
                  <a:pt x="80" y="594"/>
                </a:lnTo>
                <a:lnTo>
                  <a:pt x="90" y="568"/>
                </a:lnTo>
                <a:lnTo>
                  <a:pt x="99" y="538"/>
                </a:lnTo>
                <a:lnTo>
                  <a:pt x="106" y="505"/>
                </a:lnTo>
                <a:lnTo>
                  <a:pt x="111" y="469"/>
                </a:lnTo>
                <a:lnTo>
                  <a:pt x="113" y="424"/>
                </a:lnTo>
                <a:lnTo>
                  <a:pt x="111" y="382"/>
                </a:lnTo>
                <a:lnTo>
                  <a:pt x="106" y="344"/>
                </a:lnTo>
                <a:lnTo>
                  <a:pt x="99" y="313"/>
                </a:lnTo>
                <a:lnTo>
                  <a:pt x="90" y="284"/>
                </a:lnTo>
                <a:lnTo>
                  <a:pt x="80" y="258"/>
                </a:lnTo>
                <a:lnTo>
                  <a:pt x="69" y="233"/>
                </a:lnTo>
                <a:lnTo>
                  <a:pt x="58" y="211"/>
                </a:lnTo>
                <a:lnTo>
                  <a:pt x="46" y="187"/>
                </a:lnTo>
                <a:lnTo>
                  <a:pt x="34" y="164"/>
                </a:lnTo>
                <a:lnTo>
                  <a:pt x="24" y="137"/>
                </a:lnTo>
                <a:lnTo>
                  <a:pt x="14" y="110"/>
                </a:lnTo>
                <a:lnTo>
                  <a:pt x="8" y="77"/>
                </a:lnTo>
                <a:lnTo>
                  <a:pt x="3" y="42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12" name="Rectangle 11" title="left edge border"/>
          <p:cNvSpPr/>
          <p:nvPr/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37883" y="457200"/>
            <a:ext cx="3092117" cy="1196670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1900" b="1" i="0" spc="300" baseline="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37883" y="1741336"/>
            <a:ext cx="3092117" cy="4164164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200"/>
              </a:spcBef>
              <a:buNone/>
              <a:defRPr sz="1600" baseline="0">
                <a:solidFill>
                  <a:schemeClr val="bg2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65950" y="6375679"/>
            <a:ext cx="1232456" cy="348462"/>
          </a:xfrm>
        </p:spPr>
        <p:txBody>
          <a:bodyPr/>
          <a:lstStyle/>
          <a:p>
            <a:fld id="{65B747F8-9654-4282-85D2-65F41AAE7A75}" type="datetimeFigureOut">
              <a:rPr lang="en-US" smtClean="0"/>
              <a:t>9/21/22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103621" y="6375679"/>
            <a:ext cx="3482178" cy="345796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687568" y="6375679"/>
            <a:ext cx="1234440" cy="345796"/>
          </a:xfrm>
        </p:spPr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3276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6E300-0A13-4A81-945A-7333C271A069}" type="datetimeFigureOut">
              <a:rPr lang="en-US" smtClean="0"/>
              <a:t>9/21/22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58624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066321" y="382386"/>
            <a:ext cx="1492132" cy="560040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57300" y="382385"/>
            <a:ext cx="8392585" cy="560040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671962-1EA4-46E7-BCB0-F36CE46D1A59}" type="datetimeFigureOut">
              <a:rPr lang="en-US" smtClean="0"/>
              <a:t>9/21/22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88904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51678" y="382385"/>
            <a:ext cx="10178322" cy="149213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1678" y="2286001"/>
            <a:ext cx="10178322" cy="35935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51678" y="6375679"/>
            <a:ext cx="2329722" cy="3484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5DC5B261-8843-42D1-AAFC-05E20E2D9B97}" type="datetimeFigureOut">
              <a:rPr lang="en-US" smtClean="0"/>
              <a:t>9/21/22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75679"/>
            <a:ext cx="4114800" cy="3457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1" y="6375679"/>
            <a:ext cx="2819399" cy="3457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Freeform 6" title="Left scallop edge"/>
          <p:cNvSpPr/>
          <p:nvPr/>
        </p:nvSpPr>
        <p:spPr bwMode="auto">
          <a:xfrm>
            <a:off x="0" y="0"/>
            <a:ext cx="885825" cy="6858000"/>
          </a:xfrm>
          <a:custGeom>
            <a:avLst/>
            <a:gdLst/>
            <a:ahLst/>
            <a:cxnLst/>
            <a:rect l="0" t="0" r="r" b="b"/>
            <a:pathLst>
              <a:path w="558" h="4320">
                <a:moveTo>
                  <a:pt x="0" y="0"/>
                </a:moveTo>
                <a:lnTo>
                  <a:pt x="447" y="0"/>
                </a:lnTo>
                <a:lnTo>
                  <a:pt x="448" y="43"/>
                </a:lnTo>
                <a:lnTo>
                  <a:pt x="453" y="81"/>
                </a:lnTo>
                <a:lnTo>
                  <a:pt x="460" y="114"/>
                </a:lnTo>
                <a:lnTo>
                  <a:pt x="469" y="143"/>
                </a:lnTo>
                <a:lnTo>
                  <a:pt x="479" y="169"/>
                </a:lnTo>
                <a:lnTo>
                  <a:pt x="491" y="192"/>
                </a:lnTo>
                <a:lnTo>
                  <a:pt x="503" y="216"/>
                </a:lnTo>
                <a:lnTo>
                  <a:pt x="515" y="240"/>
                </a:lnTo>
                <a:lnTo>
                  <a:pt x="525" y="263"/>
                </a:lnTo>
                <a:lnTo>
                  <a:pt x="535" y="289"/>
                </a:lnTo>
                <a:lnTo>
                  <a:pt x="545" y="318"/>
                </a:lnTo>
                <a:lnTo>
                  <a:pt x="552" y="351"/>
                </a:lnTo>
                <a:lnTo>
                  <a:pt x="556" y="389"/>
                </a:lnTo>
                <a:lnTo>
                  <a:pt x="558" y="432"/>
                </a:lnTo>
                <a:lnTo>
                  <a:pt x="556" y="475"/>
                </a:lnTo>
                <a:lnTo>
                  <a:pt x="552" y="513"/>
                </a:lnTo>
                <a:lnTo>
                  <a:pt x="545" y="546"/>
                </a:lnTo>
                <a:lnTo>
                  <a:pt x="535" y="575"/>
                </a:lnTo>
                <a:lnTo>
                  <a:pt x="525" y="601"/>
                </a:lnTo>
                <a:lnTo>
                  <a:pt x="515" y="624"/>
                </a:lnTo>
                <a:lnTo>
                  <a:pt x="503" y="648"/>
                </a:lnTo>
                <a:lnTo>
                  <a:pt x="491" y="672"/>
                </a:lnTo>
                <a:lnTo>
                  <a:pt x="479" y="695"/>
                </a:lnTo>
                <a:lnTo>
                  <a:pt x="469" y="721"/>
                </a:lnTo>
                <a:lnTo>
                  <a:pt x="460" y="750"/>
                </a:lnTo>
                <a:lnTo>
                  <a:pt x="453" y="783"/>
                </a:lnTo>
                <a:lnTo>
                  <a:pt x="448" y="821"/>
                </a:lnTo>
                <a:lnTo>
                  <a:pt x="447" y="864"/>
                </a:lnTo>
                <a:lnTo>
                  <a:pt x="448" y="907"/>
                </a:lnTo>
                <a:lnTo>
                  <a:pt x="453" y="945"/>
                </a:lnTo>
                <a:lnTo>
                  <a:pt x="460" y="978"/>
                </a:lnTo>
                <a:lnTo>
                  <a:pt x="469" y="1007"/>
                </a:lnTo>
                <a:lnTo>
                  <a:pt x="479" y="1033"/>
                </a:lnTo>
                <a:lnTo>
                  <a:pt x="491" y="1056"/>
                </a:lnTo>
                <a:lnTo>
                  <a:pt x="503" y="1080"/>
                </a:lnTo>
                <a:lnTo>
                  <a:pt x="515" y="1104"/>
                </a:lnTo>
                <a:lnTo>
                  <a:pt x="525" y="1127"/>
                </a:lnTo>
                <a:lnTo>
                  <a:pt x="535" y="1153"/>
                </a:lnTo>
                <a:lnTo>
                  <a:pt x="545" y="1182"/>
                </a:lnTo>
                <a:lnTo>
                  <a:pt x="552" y="1215"/>
                </a:lnTo>
                <a:lnTo>
                  <a:pt x="556" y="1253"/>
                </a:lnTo>
                <a:lnTo>
                  <a:pt x="558" y="1296"/>
                </a:lnTo>
                <a:lnTo>
                  <a:pt x="556" y="1339"/>
                </a:lnTo>
                <a:lnTo>
                  <a:pt x="552" y="1377"/>
                </a:lnTo>
                <a:lnTo>
                  <a:pt x="545" y="1410"/>
                </a:lnTo>
                <a:lnTo>
                  <a:pt x="535" y="1439"/>
                </a:lnTo>
                <a:lnTo>
                  <a:pt x="525" y="1465"/>
                </a:lnTo>
                <a:lnTo>
                  <a:pt x="515" y="1488"/>
                </a:lnTo>
                <a:lnTo>
                  <a:pt x="503" y="1512"/>
                </a:lnTo>
                <a:lnTo>
                  <a:pt x="491" y="1536"/>
                </a:lnTo>
                <a:lnTo>
                  <a:pt x="479" y="1559"/>
                </a:lnTo>
                <a:lnTo>
                  <a:pt x="469" y="1585"/>
                </a:lnTo>
                <a:lnTo>
                  <a:pt x="460" y="1614"/>
                </a:lnTo>
                <a:lnTo>
                  <a:pt x="453" y="1647"/>
                </a:lnTo>
                <a:lnTo>
                  <a:pt x="448" y="1685"/>
                </a:lnTo>
                <a:lnTo>
                  <a:pt x="447" y="1728"/>
                </a:lnTo>
                <a:lnTo>
                  <a:pt x="448" y="1771"/>
                </a:lnTo>
                <a:lnTo>
                  <a:pt x="453" y="1809"/>
                </a:lnTo>
                <a:lnTo>
                  <a:pt x="460" y="1842"/>
                </a:lnTo>
                <a:lnTo>
                  <a:pt x="469" y="1871"/>
                </a:lnTo>
                <a:lnTo>
                  <a:pt x="479" y="1897"/>
                </a:lnTo>
                <a:lnTo>
                  <a:pt x="491" y="1920"/>
                </a:lnTo>
                <a:lnTo>
                  <a:pt x="503" y="1944"/>
                </a:lnTo>
                <a:lnTo>
                  <a:pt x="515" y="1968"/>
                </a:lnTo>
                <a:lnTo>
                  <a:pt x="525" y="1991"/>
                </a:lnTo>
                <a:lnTo>
                  <a:pt x="535" y="2017"/>
                </a:lnTo>
                <a:lnTo>
                  <a:pt x="545" y="2046"/>
                </a:lnTo>
                <a:lnTo>
                  <a:pt x="552" y="2079"/>
                </a:lnTo>
                <a:lnTo>
                  <a:pt x="556" y="2117"/>
                </a:lnTo>
                <a:lnTo>
                  <a:pt x="558" y="2159"/>
                </a:lnTo>
                <a:lnTo>
                  <a:pt x="556" y="2203"/>
                </a:lnTo>
                <a:lnTo>
                  <a:pt x="552" y="2241"/>
                </a:lnTo>
                <a:lnTo>
                  <a:pt x="545" y="2274"/>
                </a:lnTo>
                <a:lnTo>
                  <a:pt x="535" y="2303"/>
                </a:lnTo>
                <a:lnTo>
                  <a:pt x="525" y="2329"/>
                </a:lnTo>
                <a:lnTo>
                  <a:pt x="515" y="2352"/>
                </a:lnTo>
                <a:lnTo>
                  <a:pt x="503" y="2376"/>
                </a:lnTo>
                <a:lnTo>
                  <a:pt x="491" y="2400"/>
                </a:lnTo>
                <a:lnTo>
                  <a:pt x="479" y="2423"/>
                </a:lnTo>
                <a:lnTo>
                  <a:pt x="469" y="2449"/>
                </a:lnTo>
                <a:lnTo>
                  <a:pt x="460" y="2478"/>
                </a:lnTo>
                <a:lnTo>
                  <a:pt x="453" y="2511"/>
                </a:lnTo>
                <a:lnTo>
                  <a:pt x="448" y="2549"/>
                </a:lnTo>
                <a:lnTo>
                  <a:pt x="447" y="2592"/>
                </a:lnTo>
                <a:lnTo>
                  <a:pt x="448" y="2635"/>
                </a:lnTo>
                <a:lnTo>
                  <a:pt x="453" y="2673"/>
                </a:lnTo>
                <a:lnTo>
                  <a:pt x="460" y="2706"/>
                </a:lnTo>
                <a:lnTo>
                  <a:pt x="469" y="2735"/>
                </a:lnTo>
                <a:lnTo>
                  <a:pt x="479" y="2761"/>
                </a:lnTo>
                <a:lnTo>
                  <a:pt x="491" y="2784"/>
                </a:lnTo>
                <a:lnTo>
                  <a:pt x="515" y="2832"/>
                </a:lnTo>
                <a:lnTo>
                  <a:pt x="525" y="2855"/>
                </a:lnTo>
                <a:lnTo>
                  <a:pt x="535" y="2881"/>
                </a:lnTo>
                <a:lnTo>
                  <a:pt x="545" y="2910"/>
                </a:lnTo>
                <a:lnTo>
                  <a:pt x="552" y="2943"/>
                </a:lnTo>
                <a:lnTo>
                  <a:pt x="556" y="2981"/>
                </a:lnTo>
                <a:lnTo>
                  <a:pt x="558" y="3024"/>
                </a:lnTo>
                <a:lnTo>
                  <a:pt x="556" y="3067"/>
                </a:lnTo>
                <a:lnTo>
                  <a:pt x="552" y="3105"/>
                </a:lnTo>
                <a:lnTo>
                  <a:pt x="545" y="3138"/>
                </a:lnTo>
                <a:lnTo>
                  <a:pt x="535" y="3167"/>
                </a:lnTo>
                <a:lnTo>
                  <a:pt x="525" y="3193"/>
                </a:lnTo>
                <a:lnTo>
                  <a:pt x="515" y="3216"/>
                </a:lnTo>
                <a:lnTo>
                  <a:pt x="503" y="3240"/>
                </a:lnTo>
                <a:lnTo>
                  <a:pt x="491" y="3264"/>
                </a:lnTo>
                <a:lnTo>
                  <a:pt x="479" y="3287"/>
                </a:lnTo>
                <a:lnTo>
                  <a:pt x="469" y="3313"/>
                </a:lnTo>
                <a:lnTo>
                  <a:pt x="460" y="3342"/>
                </a:lnTo>
                <a:lnTo>
                  <a:pt x="453" y="3375"/>
                </a:lnTo>
                <a:lnTo>
                  <a:pt x="448" y="3413"/>
                </a:lnTo>
                <a:lnTo>
                  <a:pt x="447" y="3456"/>
                </a:lnTo>
                <a:lnTo>
                  <a:pt x="448" y="3499"/>
                </a:lnTo>
                <a:lnTo>
                  <a:pt x="453" y="3537"/>
                </a:lnTo>
                <a:lnTo>
                  <a:pt x="460" y="3570"/>
                </a:lnTo>
                <a:lnTo>
                  <a:pt x="469" y="3599"/>
                </a:lnTo>
                <a:lnTo>
                  <a:pt x="479" y="3625"/>
                </a:lnTo>
                <a:lnTo>
                  <a:pt x="491" y="3648"/>
                </a:lnTo>
                <a:lnTo>
                  <a:pt x="503" y="3672"/>
                </a:lnTo>
                <a:lnTo>
                  <a:pt x="515" y="3696"/>
                </a:lnTo>
                <a:lnTo>
                  <a:pt x="525" y="3719"/>
                </a:lnTo>
                <a:lnTo>
                  <a:pt x="535" y="3745"/>
                </a:lnTo>
                <a:lnTo>
                  <a:pt x="545" y="3774"/>
                </a:lnTo>
                <a:lnTo>
                  <a:pt x="552" y="3807"/>
                </a:lnTo>
                <a:lnTo>
                  <a:pt x="556" y="3845"/>
                </a:lnTo>
                <a:lnTo>
                  <a:pt x="558" y="3888"/>
                </a:lnTo>
                <a:lnTo>
                  <a:pt x="556" y="3931"/>
                </a:lnTo>
                <a:lnTo>
                  <a:pt x="552" y="3969"/>
                </a:lnTo>
                <a:lnTo>
                  <a:pt x="545" y="4002"/>
                </a:lnTo>
                <a:lnTo>
                  <a:pt x="535" y="4031"/>
                </a:lnTo>
                <a:lnTo>
                  <a:pt x="525" y="4057"/>
                </a:lnTo>
                <a:lnTo>
                  <a:pt x="515" y="4080"/>
                </a:lnTo>
                <a:lnTo>
                  <a:pt x="503" y="4104"/>
                </a:lnTo>
                <a:lnTo>
                  <a:pt x="491" y="4128"/>
                </a:lnTo>
                <a:lnTo>
                  <a:pt x="479" y="4151"/>
                </a:lnTo>
                <a:lnTo>
                  <a:pt x="469" y="4177"/>
                </a:lnTo>
                <a:lnTo>
                  <a:pt x="460" y="4206"/>
                </a:lnTo>
                <a:lnTo>
                  <a:pt x="453" y="4239"/>
                </a:lnTo>
                <a:lnTo>
                  <a:pt x="448" y="4277"/>
                </a:lnTo>
                <a:lnTo>
                  <a:pt x="447" y="4320"/>
                </a:lnTo>
                <a:lnTo>
                  <a:pt x="0" y="4320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12" name="Rectangle 11" title="right edge border"/>
          <p:cNvSpPr/>
          <p:nvPr/>
        </p:nvSpPr>
        <p:spPr>
          <a:xfrm>
            <a:off x="11908536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0975315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100" kern="1200" cap="all" spc="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 baseline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 baseline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792">
          <p15:clr>
            <a:srgbClr val="F26B43"/>
          </p15:clr>
        </p15:guide>
        <p15:guide id="2" pos="7200">
          <p15:clr>
            <a:srgbClr val="F26B43"/>
          </p15:clr>
        </p15:guide>
        <p15:guide id="3" orient="horz" pos="4008">
          <p15:clr>
            <a:srgbClr val="F26B43"/>
          </p15:clr>
        </p15:guide>
        <p15:guide id="4" orient="horz" pos="1440">
          <p15:clr>
            <a:srgbClr val="F26B43"/>
          </p15:clr>
        </p15:guide>
        <p15:guide id="5" orient="horz" pos="3720">
          <p15:clr>
            <a:srgbClr val="F26B43"/>
          </p15:clr>
        </p15:guide>
        <p15:guide id="6" orient="horz" pos="2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Chapter 16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Common security concepts</a:t>
            </a:r>
          </a:p>
        </p:txBody>
      </p:sp>
    </p:spTree>
    <p:extLst>
      <p:ext uri="{BB962C8B-B14F-4D97-AF65-F5344CB8AC3E}">
        <p14:creationId xmlns:p14="http://schemas.microsoft.com/office/powerpoint/2010/main" val="4479376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6" name="Rectangle 8"/>
          <p:cNvSpPr>
            <a:spLocks noGrp="1"/>
          </p:cNvSpPr>
          <p:nvPr>
            <p:ph type="title" idx="4294967295"/>
          </p:nvPr>
        </p:nvSpPr>
        <p:spPr>
          <a:xfrm>
            <a:off x="914400" y="242795"/>
            <a:ext cx="10972800" cy="792162"/>
          </a:xfrm>
          <a:ln/>
        </p:spPr>
        <p:txBody>
          <a:bodyPr vert="horz" wrap="square" lIns="91440" tIns="45720" rIns="91440" bIns="45720" rtlCol="0" anchor="ctr">
            <a:normAutofit/>
          </a:bodyPr>
          <a:lstStyle/>
          <a:p>
            <a:pPr algn="ctr" eaLnBrk="1" hangingPunct="1"/>
            <a:r>
              <a:rPr lang="en-US" altLang="en-US" b="1" dirty="0"/>
              <a:t>CIA</a:t>
            </a:r>
          </a:p>
        </p:txBody>
      </p:sp>
      <p:sp>
        <p:nvSpPr>
          <p:cNvPr id="10248" name="Rectangle 12"/>
          <p:cNvSpPr/>
          <p:nvPr/>
        </p:nvSpPr>
        <p:spPr>
          <a:xfrm>
            <a:off x="4648200" y="6248400"/>
            <a:ext cx="28956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5pPr>
          </a:lstStyle>
          <a:p>
            <a:pPr marL="0" indent="0" algn="ctr">
              <a:spcBef>
                <a:spcPct val="0"/>
              </a:spcBef>
              <a:buNone/>
            </a:pPr>
            <a:endParaRPr lang="en-US" altLang="en-US" sz="1400" dirty="0">
              <a:latin typeface="Times" pitchFamily="-108" charset="0"/>
            </a:endParaRPr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267B2B53-2719-4FFA-A6D9-1477250FF601}"/>
              </a:ext>
            </a:extLst>
          </p:cNvPr>
          <p:cNvGrpSpPr/>
          <p:nvPr/>
        </p:nvGrpSpPr>
        <p:grpSpPr>
          <a:xfrm>
            <a:off x="3110056" y="1034957"/>
            <a:ext cx="5971887" cy="4095313"/>
            <a:chOff x="2205241" y="1333836"/>
            <a:chExt cx="5971887" cy="4095313"/>
          </a:xfrm>
        </p:grpSpPr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3FBF5042-1304-4355-A830-D291A3AF0C03}"/>
                </a:ext>
              </a:extLst>
            </p:cNvPr>
            <p:cNvSpPr txBox="1"/>
            <p:nvPr/>
          </p:nvSpPr>
          <p:spPr>
            <a:xfrm>
              <a:off x="2205241" y="4844374"/>
              <a:ext cx="3165867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/>
                <a:t>CONFIDENTIALITY</a:t>
              </a:r>
            </a:p>
            <a:p>
              <a:r>
                <a:rPr lang="en-US" sz="1400" dirty="0"/>
                <a:t>Protect data against unauthorized access</a:t>
              </a: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B32CFCB0-18CD-4AB6-A234-B482A2748D56}"/>
                </a:ext>
              </a:extLst>
            </p:cNvPr>
            <p:cNvSpPr txBox="1"/>
            <p:nvPr/>
          </p:nvSpPr>
          <p:spPr>
            <a:xfrm>
              <a:off x="4162100" y="1333836"/>
              <a:ext cx="2251770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/>
                <a:t>INTEGRITY</a:t>
              </a:r>
            </a:p>
            <a:p>
              <a:r>
                <a:rPr lang="en-US" sz="1400" dirty="0"/>
                <a:t>No authorized modifications</a:t>
              </a: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F391A099-884A-4FAF-A827-65C7BCD0454F}"/>
                </a:ext>
              </a:extLst>
            </p:cNvPr>
            <p:cNvSpPr txBox="1"/>
            <p:nvPr/>
          </p:nvSpPr>
          <p:spPr>
            <a:xfrm>
              <a:off x="5728637" y="4844374"/>
              <a:ext cx="2448491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/>
                <a:t>AVAILABILITY</a:t>
              </a:r>
            </a:p>
            <a:p>
              <a:r>
                <a:rPr lang="en-US" sz="1400" dirty="0"/>
                <a:t>Meet needs of legitimate users</a:t>
              </a:r>
            </a:p>
          </p:txBody>
        </p:sp>
        <p:pic>
          <p:nvPicPr>
            <p:cNvPr id="36" name="Picture 2" descr="Image result for cia security triad">
              <a:extLst>
                <a:ext uri="{FF2B5EF4-FFF2-40B4-BE49-F238E27FC236}">
                  <a16:creationId xmlns:a16="http://schemas.microsoft.com/office/drawing/2014/main" id="{7B00772C-6C51-4523-A9F9-05BEBE80FEE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623086" y="1918611"/>
              <a:ext cx="3329797" cy="292576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37" name="TextBox 36">
            <a:extLst>
              <a:ext uri="{FF2B5EF4-FFF2-40B4-BE49-F238E27FC236}">
                <a16:creationId xmlns:a16="http://schemas.microsoft.com/office/drawing/2014/main" id="{E751A996-1B9D-4EC7-8E04-8F68D9ECD382}"/>
              </a:ext>
            </a:extLst>
          </p:cNvPr>
          <p:cNvSpPr txBox="1"/>
          <p:nvPr/>
        </p:nvSpPr>
        <p:spPr>
          <a:xfrm>
            <a:off x="2843777" y="5447950"/>
            <a:ext cx="6477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Risks, Attacks, and Security Controls are often characterized by one or more of these goals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75C141-C64E-4AC9-872B-70AD44FA93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328278"/>
            <a:ext cx="11045784" cy="1063200"/>
          </a:xfrm>
        </p:spPr>
        <p:txBody>
          <a:bodyPr/>
          <a:lstStyle/>
          <a:p>
            <a:pPr algn="ctr"/>
            <a:r>
              <a:rPr lang="en-US" dirty="0"/>
              <a:t>Identify Threats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3E6C6B-055A-40AF-AF05-89324F0176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492133"/>
            <a:ext cx="10588584" cy="5037589"/>
          </a:xfrm>
        </p:spPr>
        <p:txBody>
          <a:bodyPr>
            <a:normAutofit/>
          </a:bodyPr>
          <a:lstStyle/>
          <a:p>
            <a:r>
              <a:rPr lang="en-US" dirty="0"/>
              <a:t>Adversarial Threats</a:t>
            </a:r>
          </a:p>
          <a:p>
            <a:pPr lvl="1"/>
            <a:r>
              <a:rPr lang="en-US" sz="2000" dirty="0"/>
              <a:t>deliberately undermine security</a:t>
            </a:r>
          </a:p>
          <a:p>
            <a:pPr lvl="1"/>
            <a:r>
              <a:rPr lang="en-US" sz="2000" dirty="0"/>
              <a:t>Example:  Trusted insiders, Competitors, Suppliers, Customers, Business Partners, Nation-States</a:t>
            </a:r>
          </a:p>
          <a:p>
            <a:pPr lvl="1"/>
            <a:r>
              <a:rPr lang="en-US" sz="2000" dirty="0"/>
              <a:t>Consider their capability, intent, and likelihood</a:t>
            </a:r>
          </a:p>
          <a:p>
            <a:r>
              <a:rPr lang="en-US" dirty="0"/>
              <a:t>Accidental Threats </a:t>
            </a:r>
          </a:p>
          <a:p>
            <a:pPr lvl="1"/>
            <a:r>
              <a:rPr lang="en-US" sz="2000" dirty="0"/>
              <a:t>Occurs when someone makes a mistake that hurts the security of the system</a:t>
            </a:r>
          </a:p>
          <a:p>
            <a:pPr lvl="1"/>
            <a:r>
              <a:rPr lang="en-US" sz="2000" dirty="0"/>
              <a:t>Example: System administrator accidently takes servers offline causing loss of availability</a:t>
            </a:r>
          </a:p>
          <a:p>
            <a:pPr lvl="1"/>
            <a:r>
              <a:rPr lang="en-US" sz="2000" dirty="0"/>
              <a:t> Amazon Web Services (Feb 2017)</a:t>
            </a:r>
          </a:p>
          <a:p>
            <a:pPr lvl="2"/>
            <a:r>
              <a:rPr lang="en-US" sz="1600" dirty="0"/>
              <a:t>Technician utilized a SOP to take a small number of servers offline, but input the command incorrectly</a:t>
            </a:r>
          </a:p>
          <a:p>
            <a:pPr lvl="2"/>
            <a:r>
              <a:rPr lang="en-US" sz="1600" dirty="0"/>
              <a:t>Caused a large number of servers to go offline</a:t>
            </a:r>
          </a:p>
          <a:p>
            <a:pPr lvl="2"/>
            <a:r>
              <a:rPr lang="en-US" sz="1600" dirty="0"/>
              <a:t> It took down the entire US-EAST-1 region!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52871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75C141-C64E-4AC9-872B-70AD44FA93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3913" y="382385"/>
            <a:ext cx="10817786" cy="1492132"/>
          </a:xfrm>
        </p:spPr>
        <p:txBody>
          <a:bodyPr/>
          <a:lstStyle/>
          <a:p>
            <a:pPr algn="ctr"/>
            <a:r>
              <a:rPr lang="en-US" dirty="0"/>
              <a:t>Identify Threats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3E6C6B-055A-40AF-AF05-89324F0176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93913" y="1293438"/>
            <a:ext cx="11001882" cy="4889733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Structural Threats</a:t>
            </a:r>
          </a:p>
          <a:p>
            <a:pPr lvl="1"/>
            <a:r>
              <a:rPr lang="en-US" sz="2000" dirty="0"/>
              <a:t>Occurs when equipment, software, or environmental controls fail</a:t>
            </a:r>
          </a:p>
          <a:p>
            <a:pPr lvl="1"/>
            <a:r>
              <a:rPr lang="en-US" dirty="0"/>
              <a:t>▪ </a:t>
            </a:r>
            <a:r>
              <a:rPr lang="en-US" sz="2000" dirty="0"/>
              <a:t>Example:</a:t>
            </a:r>
          </a:p>
          <a:p>
            <a:pPr lvl="2"/>
            <a:r>
              <a:rPr lang="en-US" sz="1600" dirty="0"/>
              <a:t> </a:t>
            </a:r>
            <a:r>
              <a:rPr lang="en-US" sz="2000" dirty="0"/>
              <a:t>IT server fails due to hard drive failure</a:t>
            </a:r>
          </a:p>
          <a:p>
            <a:pPr lvl="2"/>
            <a:r>
              <a:rPr lang="en-US" sz="2000" dirty="0"/>
              <a:t> Servers fail due to overheating (HVAC fail)</a:t>
            </a:r>
          </a:p>
          <a:p>
            <a:pPr lvl="2"/>
            <a:r>
              <a:rPr lang="en-US" sz="2000" dirty="0"/>
              <a:t> Software failure (OS bug or crash) </a:t>
            </a:r>
          </a:p>
          <a:p>
            <a:r>
              <a:rPr lang="en-US" dirty="0"/>
              <a:t>Environmental Threats </a:t>
            </a:r>
          </a:p>
          <a:p>
            <a:pPr lvl="1"/>
            <a:r>
              <a:rPr lang="en-US" sz="2400" dirty="0"/>
              <a:t>Occurs when natural or man-made disasters occur</a:t>
            </a:r>
          </a:p>
          <a:p>
            <a:pPr lvl="1"/>
            <a:r>
              <a:rPr lang="en-US" dirty="0"/>
              <a:t> </a:t>
            </a:r>
            <a:r>
              <a:rPr lang="en-US" sz="2200" dirty="0"/>
              <a:t>Example: </a:t>
            </a:r>
          </a:p>
          <a:p>
            <a:pPr lvl="2"/>
            <a:r>
              <a:rPr lang="en-US" sz="1900" dirty="0"/>
              <a:t> Fires</a:t>
            </a:r>
          </a:p>
          <a:p>
            <a:pPr lvl="2"/>
            <a:r>
              <a:rPr lang="en-US" sz="1900" dirty="0"/>
              <a:t> Flooding</a:t>
            </a:r>
          </a:p>
          <a:p>
            <a:pPr lvl="2"/>
            <a:r>
              <a:rPr lang="en-US" sz="1900" dirty="0"/>
              <a:t> Severe storms</a:t>
            </a:r>
          </a:p>
          <a:p>
            <a:pPr lvl="2"/>
            <a:r>
              <a:rPr lang="en-US" sz="1900" dirty="0"/>
              <a:t> Loss of power from the city power grid</a:t>
            </a:r>
          </a:p>
          <a:p>
            <a:pPr lvl="2"/>
            <a:r>
              <a:rPr lang="en-US" sz="1900" dirty="0"/>
              <a:t> Fiber or telecommunication lines cut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11578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70" name="Rectangle 8"/>
          <p:cNvSpPr>
            <a:spLocks noGrp="1"/>
          </p:cNvSpPr>
          <p:nvPr>
            <p:ph type="title" idx="4294967295"/>
          </p:nvPr>
        </p:nvSpPr>
        <p:spPr>
          <a:xfrm>
            <a:off x="1033669" y="58738"/>
            <a:ext cx="10853531" cy="1143000"/>
          </a:xfrm>
          <a:ln/>
        </p:spPr>
        <p:txBody>
          <a:bodyPr vert="horz" wrap="square" lIns="91440" tIns="45720" rIns="91440" bIns="45720" rtlCol="0" anchor="ctr">
            <a:normAutofit/>
          </a:bodyPr>
          <a:lstStyle/>
          <a:p>
            <a:pPr algn="ctr" eaLnBrk="1" hangingPunct="1"/>
            <a:r>
              <a:rPr lang="en-US" altLang="en-US" b="1" dirty="0"/>
              <a:t>Vulnerabilities</a:t>
            </a:r>
          </a:p>
        </p:txBody>
      </p:sp>
      <p:sp>
        <p:nvSpPr>
          <p:cNvPr id="11273" name="Content Placeholder 9"/>
          <p:cNvSpPr>
            <a:spLocks noGrp="1"/>
          </p:cNvSpPr>
          <p:nvPr>
            <p:ph idx="4294967295"/>
          </p:nvPr>
        </p:nvSpPr>
        <p:spPr>
          <a:xfrm>
            <a:off x="1033669" y="1317625"/>
            <a:ext cx="7688263" cy="4814888"/>
          </a:xfrm>
          <a:ln/>
        </p:spPr>
        <p:txBody>
          <a:bodyPr vert="horz" wrap="square" lIns="91440" tIns="45720" rIns="91440" bIns="45720" anchor="t"/>
          <a:lstStyle/>
          <a:p>
            <a:pPr>
              <a:buFont typeface="Wingdings" panose="05000000000000000000" pitchFamily="2" charset="2"/>
              <a:buChar char="§"/>
            </a:pPr>
            <a:r>
              <a:rPr lang="en-US" altLang="en-US" sz="1800" dirty="0"/>
              <a:t> Common Vulnerabilities and Exposure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Common Vulnerabilities and Exposures (CVE)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en-US" dirty="0"/>
              <a:t>Standard names for security-related software flaws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Common Vulnerability Scoring System (CVSS)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en-US" dirty="0"/>
              <a:t>Standard approach for severity of software flaws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en-US" dirty="0"/>
              <a:t>https://</a:t>
            </a:r>
            <a:r>
              <a:rPr lang="en-US" dirty="0" err="1"/>
              <a:t>nvd.nist.gov</a:t>
            </a:r>
            <a:r>
              <a:rPr lang="en-US" dirty="0"/>
              <a:t>/vuln-metrics/</a:t>
            </a:r>
            <a:r>
              <a:rPr lang="en-US" dirty="0" err="1"/>
              <a:t>cvss</a:t>
            </a:r>
            <a:endParaRPr lang="en-US" dirty="0"/>
          </a:p>
          <a:p>
            <a:pPr lvl="1">
              <a:buFont typeface="Wingdings" panose="05000000000000000000" pitchFamily="2" charset="2"/>
              <a:buChar char="§"/>
            </a:pPr>
            <a:endParaRPr lang="en-US" altLang="en-US" sz="1600" dirty="0"/>
          </a:p>
          <a:p>
            <a:pPr>
              <a:buFont typeface="Wingdings" panose="05000000000000000000" pitchFamily="2" charset="2"/>
              <a:buChar char="§"/>
            </a:pPr>
            <a:r>
              <a:rPr lang="en-US" altLang="en-US" sz="1800" dirty="0"/>
              <a:t> Zero Day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altLang="en-US" sz="1800" dirty="0"/>
              <a:t> Exploits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altLang="en-US" sz="1800" dirty="0"/>
              <a:t> Least Privilege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altLang="en-US" sz="1800" dirty="0"/>
              <a:t> Role-Based access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altLang="en-US" sz="1800" dirty="0"/>
              <a:t> Zero Trust</a:t>
            </a:r>
          </a:p>
        </p:txBody>
      </p:sp>
      <p:sp>
        <p:nvSpPr>
          <p:cNvPr id="11272" name="Rectangle 12"/>
          <p:cNvSpPr/>
          <p:nvPr/>
        </p:nvSpPr>
        <p:spPr>
          <a:xfrm>
            <a:off x="4648200" y="6248400"/>
            <a:ext cx="28956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5pPr>
          </a:lstStyle>
          <a:p>
            <a:pPr marL="0" indent="0" algn="ctr">
              <a:spcBef>
                <a:spcPct val="0"/>
              </a:spcBef>
              <a:buNone/>
            </a:pPr>
            <a:endParaRPr lang="en-US" altLang="en-US" sz="1400" dirty="0">
              <a:latin typeface="Times" pitchFamily="-10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70" name="Rectangle 8"/>
          <p:cNvSpPr>
            <a:spLocks noGrp="1"/>
          </p:cNvSpPr>
          <p:nvPr>
            <p:ph type="title" idx="4294967295"/>
          </p:nvPr>
        </p:nvSpPr>
        <p:spPr>
          <a:xfrm>
            <a:off x="854765" y="117475"/>
            <a:ext cx="11012557" cy="1143000"/>
          </a:xfrm>
          <a:ln/>
        </p:spPr>
        <p:txBody>
          <a:bodyPr vert="horz" wrap="square" lIns="91440" tIns="45720" rIns="91440" bIns="45720" rtlCol="0" anchor="ctr">
            <a:normAutofit/>
          </a:bodyPr>
          <a:lstStyle/>
          <a:p>
            <a:pPr algn="ctr" eaLnBrk="1" hangingPunct="1"/>
            <a:r>
              <a:rPr lang="en-US" altLang="en-US" sz="3200" b="1" dirty="0"/>
              <a:t>Defense in Depth</a:t>
            </a:r>
          </a:p>
        </p:txBody>
      </p:sp>
      <p:sp>
        <p:nvSpPr>
          <p:cNvPr id="11273" name="Content Placeholder 9"/>
          <p:cNvSpPr>
            <a:spLocks noGrp="1"/>
          </p:cNvSpPr>
          <p:nvPr>
            <p:ph idx="4294967295"/>
          </p:nvPr>
        </p:nvSpPr>
        <p:spPr>
          <a:xfrm>
            <a:off x="1053548" y="1662112"/>
            <a:ext cx="7688263" cy="4814888"/>
          </a:xfrm>
          <a:ln/>
        </p:spPr>
        <p:txBody>
          <a:bodyPr vert="horz" wrap="square" lIns="91440" tIns="45720" rIns="91440" bIns="45720" anchor="t"/>
          <a:lstStyle/>
          <a:p>
            <a:pPr>
              <a:buFont typeface="Wingdings" panose="05000000000000000000" pitchFamily="2" charset="2"/>
              <a:buChar char="§"/>
            </a:pPr>
            <a:r>
              <a:rPr lang="en-US" altLang="en-US" sz="1800" dirty="0"/>
              <a:t> Network Segmentation enforcement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altLang="en-US" sz="1800" dirty="0"/>
              <a:t> Screened Subnet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altLang="en-US" sz="1800" dirty="0"/>
              <a:t> Separation of Duties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altLang="en-US" sz="1800" dirty="0"/>
              <a:t> Network Access Control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altLang="en-US" sz="1800" dirty="0"/>
              <a:t>Honeypot</a:t>
            </a:r>
          </a:p>
        </p:txBody>
      </p:sp>
      <p:sp>
        <p:nvSpPr>
          <p:cNvPr id="11272" name="Rectangle 12"/>
          <p:cNvSpPr/>
          <p:nvPr/>
        </p:nvSpPr>
        <p:spPr>
          <a:xfrm>
            <a:off x="4648200" y="6248400"/>
            <a:ext cx="28956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5pPr>
          </a:lstStyle>
          <a:p>
            <a:pPr marL="0" indent="0" algn="ctr">
              <a:spcBef>
                <a:spcPct val="0"/>
              </a:spcBef>
              <a:buNone/>
            </a:pPr>
            <a:endParaRPr lang="en-US" altLang="en-US" sz="1400" dirty="0">
              <a:latin typeface="Times" pitchFamily="-108" charset="0"/>
            </a:endParaRPr>
          </a:p>
        </p:txBody>
      </p:sp>
      <p:pic>
        <p:nvPicPr>
          <p:cNvPr id="1026" name="Picture 2" descr="Defense In Depth – Got Your Six – Cybersecurity">
            <a:extLst>
              <a:ext uri="{FF2B5EF4-FFF2-40B4-BE49-F238E27FC236}">
                <a16:creationId xmlns:a16="http://schemas.microsoft.com/office/drawing/2014/main" id="{18DFD04E-6110-2EF2-DD57-22317F7261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31005" y="1662112"/>
            <a:ext cx="4221612" cy="38320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45889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70" name="Rectangle 8"/>
          <p:cNvSpPr>
            <a:spLocks noGrp="1"/>
          </p:cNvSpPr>
          <p:nvPr>
            <p:ph type="title" idx="4294967295"/>
          </p:nvPr>
        </p:nvSpPr>
        <p:spPr>
          <a:xfrm>
            <a:off x="993913" y="117475"/>
            <a:ext cx="10873409" cy="1143000"/>
          </a:xfrm>
          <a:ln/>
        </p:spPr>
        <p:txBody>
          <a:bodyPr vert="horz" wrap="square" lIns="91440" tIns="45720" rIns="91440" bIns="45720" rtlCol="0" anchor="ctr">
            <a:normAutofit/>
          </a:bodyPr>
          <a:lstStyle/>
          <a:p>
            <a:pPr algn="ctr" eaLnBrk="1" hangingPunct="1"/>
            <a:r>
              <a:rPr lang="en-US" altLang="en-US" sz="3200" b="1" dirty="0"/>
              <a:t>Authentication Methods</a:t>
            </a:r>
          </a:p>
        </p:txBody>
      </p:sp>
      <p:sp>
        <p:nvSpPr>
          <p:cNvPr id="11273" name="Content Placeholder 9"/>
          <p:cNvSpPr>
            <a:spLocks noGrp="1"/>
          </p:cNvSpPr>
          <p:nvPr>
            <p:ph idx="4294967295"/>
          </p:nvPr>
        </p:nvSpPr>
        <p:spPr>
          <a:xfrm>
            <a:off x="1227137" y="1441657"/>
            <a:ext cx="7688263" cy="4814888"/>
          </a:xfrm>
          <a:ln/>
        </p:spPr>
        <p:txBody>
          <a:bodyPr vert="horz" wrap="square" lIns="91440" tIns="45720" rIns="91440" bIns="45720" anchor="t">
            <a:normAutofit lnSpcReduction="10000"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altLang="en-US" sz="1800" dirty="0"/>
              <a:t> </a:t>
            </a:r>
            <a:r>
              <a:rPr lang="en-US" altLang="en-US" sz="2800" dirty="0"/>
              <a:t>Multifactor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altLang="en-US" sz="2800" dirty="0"/>
              <a:t> Terminal Access Controller Access Control System (TACACS+)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altLang="en-US" sz="2800" dirty="0"/>
              <a:t> Single sign-on (SSO)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altLang="en-US" sz="2800" dirty="0"/>
              <a:t> Remote Authentication Dial in User Service (RADIUS)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altLang="en-US" sz="2800" dirty="0"/>
              <a:t>Kerberos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altLang="en-US" sz="2800" dirty="0"/>
              <a:t> Local Authentication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altLang="en-US" sz="2800" dirty="0"/>
              <a:t> 802.1x</a:t>
            </a:r>
          </a:p>
        </p:txBody>
      </p:sp>
      <p:sp>
        <p:nvSpPr>
          <p:cNvPr id="11272" name="Rectangle 12"/>
          <p:cNvSpPr/>
          <p:nvPr/>
        </p:nvSpPr>
        <p:spPr>
          <a:xfrm>
            <a:off x="4648200" y="6248400"/>
            <a:ext cx="28956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5pPr>
          </a:lstStyle>
          <a:p>
            <a:pPr marL="0" indent="0" algn="ctr">
              <a:spcBef>
                <a:spcPct val="0"/>
              </a:spcBef>
              <a:buNone/>
            </a:pPr>
            <a:endParaRPr lang="en-US" altLang="en-US" sz="1400" dirty="0">
              <a:latin typeface="Times" pitchFamily="-10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890158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382385"/>
            <a:ext cx="10992678" cy="1492132"/>
          </a:xfrm>
        </p:spPr>
        <p:txBody>
          <a:bodyPr/>
          <a:lstStyle/>
          <a:p>
            <a:pPr algn="ctr"/>
            <a:r>
              <a:rPr lang="en-US" dirty="0"/>
              <a:t>Factors of Authentication</a:t>
            </a:r>
          </a:p>
        </p:txBody>
      </p:sp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1981200" y="1752601"/>
            <a:ext cx="8229600" cy="4373563"/>
          </a:xfrm>
        </p:spPr>
        <p:txBody>
          <a:bodyPr>
            <a:normAutofit fontScale="85000" lnSpcReduction="20000"/>
          </a:bodyPr>
          <a:lstStyle/>
          <a:p>
            <a:r>
              <a:rPr lang="en-US" b="1" dirty="0"/>
              <a:t>Something you know </a:t>
            </a:r>
          </a:p>
          <a:p>
            <a:pPr lvl="1"/>
            <a:r>
              <a:rPr lang="en-US" dirty="0"/>
              <a:t>Such as username and password</a:t>
            </a:r>
          </a:p>
          <a:p>
            <a:pPr marL="457200" lvl="1" indent="0">
              <a:buNone/>
            </a:pPr>
            <a:endParaRPr lang="en-US" dirty="0"/>
          </a:p>
          <a:p>
            <a:r>
              <a:rPr lang="en-US" b="1" dirty="0"/>
              <a:t>Something you have </a:t>
            </a:r>
          </a:p>
          <a:p>
            <a:pPr lvl="1"/>
            <a:r>
              <a:rPr lang="en-US" dirty="0"/>
              <a:t>Such as a smart card</a:t>
            </a:r>
          </a:p>
          <a:p>
            <a:pPr lvl="1"/>
            <a:endParaRPr lang="en-US" dirty="0"/>
          </a:p>
          <a:p>
            <a:r>
              <a:rPr lang="en-US" b="1" dirty="0"/>
              <a:t>Something you are </a:t>
            </a:r>
          </a:p>
          <a:p>
            <a:pPr lvl="1"/>
            <a:r>
              <a:rPr lang="en-US" dirty="0"/>
              <a:t>Such as a fingerprint or other biometric identification</a:t>
            </a:r>
          </a:p>
          <a:p>
            <a:pPr lvl="1"/>
            <a:endParaRPr lang="en-US" dirty="0"/>
          </a:p>
          <a:p>
            <a:r>
              <a:rPr lang="en-US" b="1" dirty="0"/>
              <a:t>Somewhere you are</a:t>
            </a:r>
          </a:p>
          <a:p>
            <a:pPr lvl="1"/>
            <a:r>
              <a:rPr lang="en-US" dirty="0"/>
              <a:t>Such as your location obtained using geolocation</a:t>
            </a:r>
          </a:p>
          <a:p>
            <a:pPr marL="457200" lvl="1" indent="0">
              <a:buNone/>
            </a:pPr>
            <a:endParaRPr lang="en-US" dirty="0"/>
          </a:p>
          <a:p>
            <a:r>
              <a:rPr lang="en-US" b="1" dirty="0"/>
              <a:t>Something you do</a:t>
            </a:r>
          </a:p>
          <a:p>
            <a:pPr lvl="1"/>
            <a:r>
              <a:rPr lang="en-US" dirty="0"/>
              <a:t>Such as gestures on a touch screen</a:t>
            </a:r>
          </a:p>
          <a:p>
            <a:endParaRPr lang="en-US" dirty="0"/>
          </a:p>
        </p:txBody>
      </p:sp>
      <p:pic>
        <p:nvPicPr>
          <p:cNvPr id="3" name="Picture 3" descr="Graphical user interface&#10;&#10;Description automatically generated">
            <a:extLst>
              <a:ext uri="{FF2B5EF4-FFF2-40B4-BE49-F238E27FC236}">
                <a16:creationId xmlns:a16="http://schemas.microsoft.com/office/drawing/2014/main" id="{0119548C-62B4-42D1-B852-06ABCB7C4D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7454" y="1836158"/>
            <a:ext cx="2743200" cy="1365098"/>
          </a:xfrm>
          <a:prstGeom prst="rect">
            <a:avLst/>
          </a:prstGeom>
        </p:spPr>
      </p:pic>
      <p:pic>
        <p:nvPicPr>
          <p:cNvPr id="4" name="Picture 5" descr="Shape&#10;&#10;Description automatically generated">
            <a:extLst>
              <a:ext uri="{FF2B5EF4-FFF2-40B4-BE49-F238E27FC236}">
                <a16:creationId xmlns:a16="http://schemas.microsoft.com/office/drawing/2014/main" id="{082E9528-AD0E-4A5B-8E4C-7E05E030D5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44814" y="4920652"/>
            <a:ext cx="2743200" cy="1302909"/>
          </a:xfrm>
          <a:prstGeom prst="rect">
            <a:avLst/>
          </a:prstGeom>
        </p:spPr>
      </p:pic>
      <p:pic>
        <p:nvPicPr>
          <p:cNvPr id="6" name="Picture 2">
            <a:extLst>
              <a:ext uri="{FF2B5EF4-FFF2-40B4-BE49-F238E27FC236}">
                <a16:creationId xmlns:a16="http://schemas.microsoft.com/office/drawing/2014/main" id="{24CD37D7-77CC-45AB-AB67-B1F26BFC72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278214" y="3208228"/>
            <a:ext cx="1676400" cy="12316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D09CA5F0-792A-4729-829A-19B23313D264}"/>
              </a:ext>
            </a:extLst>
          </p:cNvPr>
          <p:cNvGrpSpPr/>
          <p:nvPr/>
        </p:nvGrpSpPr>
        <p:grpSpPr>
          <a:xfrm>
            <a:off x="7601933" y="3671780"/>
            <a:ext cx="1352563" cy="1126049"/>
            <a:chOff x="3442366" y="2908165"/>
            <a:chExt cx="1352563" cy="1126049"/>
          </a:xfrm>
        </p:grpSpPr>
        <p:sp>
          <p:nvSpPr>
            <p:cNvPr id="8" name="Rounded Rectangle 11">
              <a:extLst>
                <a:ext uri="{FF2B5EF4-FFF2-40B4-BE49-F238E27FC236}">
                  <a16:creationId xmlns:a16="http://schemas.microsoft.com/office/drawing/2014/main" id="{E0AE4A3C-34B1-4D9E-81E5-8A1ABDF1F628}"/>
                </a:ext>
              </a:extLst>
            </p:cNvPr>
            <p:cNvSpPr/>
            <p:nvPr/>
          </p:nvSpPr>
          <p:spPr>
            <a:xfrm rot="18948893">
              <a:off x="3442366" y="3067925"/>
              <a:ext cx="1352563" cy="762000"/>
            </a:xfrm>
            <a:prstGeom prst="roundRect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1F5F86B8-B58F-485E-9BF8-8FEC9078DF86}"/>
                </a:ext>
              </a:extLst>
            </p:cNvPr>
            <p:cNvGrpSpPr/>
            <p:nvPr/>
          </p:nvGrpSpPr>
          <p:grpSpPr>
            <a:xfrm rot="19108090">
              <a:off x="3591786" y="3442677"/>
              <a:ext cx="442186" cy="423088"/>
              <a:chOff x="2315180" y="1718347"/>
              <a:chExt cx="498849" cy="504713"/>
            </a:xfrm>
          </p:grpSpPr>
          <p:sp>
            <p:nvSpPr>
              <p:cNvPr id="30" name="Oval 29">
                <a:extLst>
                  <a:ext uri="{FF2B5EF4-FFF2-40B4-BE49-F238E27FC236}">
                    <a16:creationId xmlns:a16="http://schemas.microsoft.com/office/drawing/2014/main" id="{0B86462C-4716-4CCB-9449-B6CA92066377}"/>
                  </a:ext>
                </a:extLst>
              </p:cNvPr>
              <p:cNvSpPr/>
              <p:nvPr/>
            </p:nvSpPr>
            <p:spPr>
              <a:xfrm>
                <a:off x="2315180" y="1718347"/>
                <a:ext cx="498849" cy="504713"/>
              </a:xfrm>
              <a:prstGeom prst="ellipse">
                <a:avLst/>
              </a:prstGeom>
              <a:gradFill flip="none" rotWithShape="1">
                <a:gsLst>
                  <a:gs pos="0">
                    <a:schemeClr val="accent1">
                      <a:tint val="66000"/>
                      <a:satMod val="160000"/>
                    </a:schemeClr>
                  </a:gs>
                  <a:gs pos="50000">
                    <a:schemeClr val="accent1">
                      <a:tint val="44500"/>
                      <a:satMod val="160000"/>
                    </a:schemeClr>
                  </a:gs>
                  <a:gs pos="100000">
                    <a:schemeClr val="accent1">
                      <a:tint val="23500"/>
                      <a:satMod val="160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1" name="Arc 30">
                <a:extLst>
                  <a:ext uri="{FF2B5EF4-FFF2-40B4-BE49-F238E27FC236}">
                    <a16:creationId xmlns:a16="http://schemas.microsoft.com/office/drawing/2014/main" id="{070B1BF2-9426-4DF6-9F4B-1F479B14CD9B}"/>
                  </a:ext>
                </a:extLst>
              </p:cNvPr>
              <p:cNvSpPr/>
              <p:nvPr/>
            </p:nvSpPr>
            <p:spPr>
              <a:xfrm rot="10532077">
                <a:off x="2457983" y="2071143"/>
                <a:ext cx="354804" cy="45719"/>
              </a:xfrm>
              <a:prstGeom prst="arc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2" name="Oval 31">
                <a:extLst>
                  <a:ext uri="{FF2B5EF4-FFF2-40B4-BE49-F238E27FC236}">
                    <a16:creationId xmlns:a16="http://schemas.microsoft.com/office/drawing/2014/main" id="{CED8550A-4DAC-4FED-899D-4606DAF1A6AD}"/>
                  </a:ext>
                </a:extLst>
              </p:cNvPr>
              <p:cNvSpPr/>
              <p:nvPr/>
            </p:nvSpPr>
            <p:spPr>
              <a:xfrm>
                <a:off x="2438400" y="1828800"/>
                <a:ext cx="98948" cy="100111"/>
              </a:xfrm>
              <a:prstGeom prst="ellipse">
                <a:avLst/>
              </a:prstGeom>
              <a:gradFill flip="none" rotWithShape="1">
                <a:gsLst>
                  <a:gs pos="0">
                    <a:schemeClr val="accent1">
                      <a:tint val="66000"/>
                      <a:satMod val="160000"/>
                    </a:schemeClr>
                  </a:gs>
                  <a:gs pos="50000">
                    <a:schemeClr val="accent1">
                      <a:tint val="44500"/>
                      <a:satMod val="160000"/>
                    </a:schemeClr>
                  </a:gs>
                  <a:gs pos="100000">
                    <a:schemeClr val="accent1">
                      <a:tint val="23500"/>
                      <a:satMod val="160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solidFill>
                  <a:schemeClr val="tx2">
                    <a:lumMod val="40000"/>
                    <a:lumOff val="6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3" name="Oval 32">
                <a:extLst>
                  <a:ext uri="{FF2B5EF4-FFF2-40B4-BE49-F238E27FC236}">
                    <a16:creationId xmlns:a16="http://schemas.microsoft.com/office/drawing/2014/main" id="{1EB05BD5-8703-4B3E-8E8D-C89CA327DD1F}"/>
                  </a:ext>
                </a:extLst>
              </p:cNvPr>
              <p:cNvSpPr/>
              <p:nvPr/>
            </p:nvSpPr>
            <p:spPr>
              <a:xfrm>
                <a:off x="2611749" y="1828800"/>
                <a:ext cx="98948" cy="100111"/>
              </a:xfrm>
              <a:prstGeom prst="ellipse">
                <a:avLst/>
              </a:prstGeom>
              <a:gradFill flip="none" rotWithShape="1">
                <a:gsLst>
                  <a:gs pos="0">
                    <a:schemeClr val="accent1">
                      <a:tint val="66000"/>
                      <a:satMod val="160000"/>
                    </a:schemeClr>
                  </a:gs>
                  <a:gs pos="50000">
                    <a:schemeClr val="accent1">
                      <a:tint val="44500"/>
                      <a:satMod val="160000"/>
                    </a:schemeClr>
                  </a:gs>
                  <a:gs pos="100000">
                    <a:schemeClr val="accent1">
                      <a:tint val="23500"/>
                      <a:satMod val="160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solidFill>
                  <a:schemeClr val="tx2">
                    <a:lumMod val="40000"/>
                    <a:lumOff val="6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4" name="Arc 33">
                <a:extLst>
                  <a:ext uri="{FF2B5EF4-FFF2-40B4-BE49-F238E27FC236}">
                    <a16:creationId xmlns:a16="http://schemas.microsoft.com/office/drawing/2014/main" id="{06A04FF6-BB2F-479D-8E0D-A53F8D257E9C}"/>
                  </a:ext>
                </a:extLst>
              </p:cNvPr>
              <p:cNvSpPr/>
              <p:nvPr/>
            </p:nvSpPr>
            <p:spPr>
              <a:xfrm rot="5400000">
                <a:off x="2438795" y="1924348"/>
                <a:ext cx="217001" cy="49103"/>
              </a:xfrm>
              <a:prstGeom prst="arc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23593E77-86D1-498F-A310-C1FF1440C343}"/>
                </a:ext>
              </a:extLst>
            </p:cNvPr>
            <p:cNvSpPr/>
            <p:nvPr/>
          </p:nvSpPr>
          <p:spPr>
            <a:xfrm rot="18915895">
              <a:off x="4169987" y="2908165"/>
              <a:ext cx="416901" cy="523876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06148928-83FB-4DCC-82CE-41B094E38021}"/>
                </a:ext>
              </a:extLst>
            </p:cNvPr>
            <p:cNvCxnSpPr/>
            <p:nvPr/>
          </p:nvCxnSpPr>
          <p:spPr>
            <a:xfrm rot="18915895">
              <a:off x="4180928" y="3078494"/>
              <a:ext cx="271800" cy="0"/>
            </a:xfrm>
            <a:prstGeom prst="line">
              <a:avLst/>
            </a:prstGeom>
            <a:ln w="28575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7285BFF4-5F25-45C1-ACEF-426EB81C2B36}"/>
                </a:ext>
              </a:extLst>
            </p:cNvPr>
            <p:cNvCxnSpPr/>
            <p:nvPr/>
          </p:nvCxnSpPr>
          <p:spPr>
            <a:xfrm rot="18915895">
              <a:off x="4108951" y="3007186"/>
              <a:ext cx="271800" cy="0"/>
            </a:xfrm>
            <a:prstGeom prst="line">
              <a:avLst/>
            </a:prstGeom>
            <a:ln w="28575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BB50C2AA-FF68-42EA-875B-6285CAD62FFE}"/>
                </a:ext>
              </a:extLst>
            </p:cNvPr>
            <p:cNvCxnSpPr/>
            <p:nvPr/>
          </p:nvCxnSpPr>
          <p:spPr>
            <a:xfrm rot="18915895">
              <a:off x="4145379" y="3044426"/>
              <a:ext cx="271800" cy="0"/>
            </a:xfrm>
            <a:prstGeom prst="line">
              <a:avLst/>
            </a:prstGeom>
            <a:ln w="28575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05A7CE76-AE9A-4B44-A894-E315302B42D4}"/>
                </a:ext>
              </a:extLst>
            </p:cNvPr>
            <p:cNvCxnSpPr/>
            <p:nvPr/>
          </p:nvCxnSpPr>
          <p:spPr>
            <a:xfrm rot="18915895">
              <a:off x="4292836" y="3188490"/>
              <a:ext cx="271800" cy="0"/>
            </a:xfrm>
            <a:prstGeom prst="line">
              <a:avLst/>
            </a:prstGeom>
            <a:ln w="28575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FD2D453A-502F-4192-9860-F80C60098100}"/>
                </a:ext>
              </a:extLst>
            </p:cNvPr>
            <p:cNvCxnSpPr/>
            <p:nvPr/>
          </p:nvCxnSpPr>
          <p:spPr>
            <a:xfrm rot="18915895">
              <a:off x="4220859" y="3117182"/>
              <a:ext cx="271800" cy="0"/>
            </a:xfrm>
            <a:prstGeom prst="line">
              <a:avLst/>
            </a:prstGeom>
            <a:ln w="28575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B97F5BD8-5C8A-4A13-9DB9-55B6ED402D2A}"/>
                </a:ext>
              </a:extLst>
            </p:cNvPr>
            <p:cNvCxnSpPr/>
            <p:nvPr/>
          </p:nvCxnSpPr>
          <p:spPr>
            <a:xfrm rot="18915895">
              <a:off x="4257287" y="3154422"/>
              <a:ext cx="271800" cy="0"/>
            </a:xfrm>
            <a:prstGeom prst="line">
              <a:avLst/>
            </a:prstGeom>
            <a:ln w="28575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F89F7C32-F742-464A-9C37-794A7B211C03}"/>
                </a:ext>
              </a:extLst>
            </p:cNvPr>
            <p:cNvCxnSpPr/>
            <p:nvPr/>
          </p:nvCxnSpPr>
          <p:spPr>
            <a:xfrm rot="18915895">
              <a:off x="4398872" y="3298022"/>
              <a:ext cx="271800" cy="0"/>
            </a:xfrm>
            <a:prstGeom prst="line">
              <a:avLst/>
            </a:prstGeom>
            <a:ln w="28575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6D8BC1DC-6108-4B9F-899A-8BC7BB8942DA}"/>
                </a:ext>
              </a:extLst>
            </p:cNvPr>
            <p:cNvCxnSpPr/>
            <p:nvPr/>
          </p:nvCxnSpPr>
          <p:spPr>
            <a:xfrm rot="18915895">
              <a:off x="4326895" y="3226714"/>
              <a:ext cx="271800" cy="0"/>
            </a:xfrm>
            <a:prstGeom prst="line">
              <a:avLst/>
            </a:prstGeom>
            <a:ln w="28575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C9BF012B-9E73-44DC-B4DF-827F9613FE58}"/>
                </a:ext>
              </a:extLst>
            </p:cNvPr>
            <p:cNvCxnSpPr/>
            <p:nvPr/>
          </p:nvCxnSpPr>
          <p:spPr>
            <a:xfrm rot="18915895">
              <a:off x="4363323" y="3263954"/>
              <a:ext cx="271800" cy="0"/>
            </a:xfrm>
            <a:prstGeom prst="line">
              <a:avLst/>
            </a:prstGeom>
            <a:ln w="28575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FEC7C05C-EBD3-4252-BEC3-FD654DCE6F4A}"/>
                </a:ext>
              </a:extLst>
            </p:cNvPr>
            <p:cNvCxnSpPr/>
            <p:nvPr/>
          </p:nvCxnSpPr>
          <p:spPr>
            <a:xfrm flipV="1">
              <a:off x="3930199" y="3568606"/>
              <a:ext cx="411192" cy="431758"/>
            </a:xfrm>
            <a:prstGeom prst="line">
              <a:avLst/>
            </a:prstGeom>
            <a:ln>
              <a:prstDash val="lgDash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84D1A7F2-4508-4704-9240-A5E055312C2D}"/>
                </a:ext>
              </a:extLst>
            </p:cNvPr>
            <p:cNvCxnSpPr/>
            <p:nvPr/>
          </p:nvCxnSpPr>
          <p:spPr>
            <a:xfrm flipV="1">
              <a:off x="3900367" y="3502890"/>
              <a:ext cx="431829" cy="456284"/>
            </a:xfrm>
            <a:prstGeom prst="line">
              <a:avLst/>
            </a:prstGeom>
            <a:ln>
              <a:prstDash val="dash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25A435EF-12D8-4629-B2D1-B45944EE4DD3}"/>
                </a:ext>
              </a:extLst>
            </p:cNvPr>
            <p:cNvCxnSpPr/>
            <p:nvPr/>
          </p:nvCxnSpPr>
          <p:spPr>
            <a:xfrm flipV="1">
              <a:off x="3981284" y="3600287"/>
              <a:ext cx="411903" cy="433927"/>
            </a:xfrm>
            <a:prstGeom prst="line">
              <a:avLst/>
            </a:prstGeom>
            <a:ln>
              <a:prstDash val="lgDashDot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CA569FCD-F0C0-47B2-BCBE-2EB3BE3E0D4B}"/>
                </a:ext>
              </a:extLst>
            </p:cNvPr>
            <p:cNvCxnSpPr/>
            <p:nvPr/>
          </p:nvCxnSpPr>
          <p:spPr>
            <a:xfrm flipV="1">
              <a:off x="3900367" y="3200064"/>
              <a:ext cx="130779" cy="133874"/>
            </a:xfrm>
            <a:prstGeom prst="line">
              <a:avLst/>
            </a:prstGeom>
            <a:ln>
              <a:prstDash val="dash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F8CB9FA8-EABB-46B7-91BF-E4F0F173718D}"/>
                </a:ext>
              </a:extLst>
            </p:cNvPr>
            <p:cNvCxnSpPr/>
            <p:nvPr/>
          </p:nvCxnSpPr>
          <p:spPr>
            <a:xfrm flipV="1">
              <a:off x="3937360" y="3240289"/>
              <a:ext cx="130779" cy="133874"/>
            </a:xfrm>
            <a:prstGeom prst="line">
              <a:avLst/>
            </a:prstGeom>
            <a:ln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9ABBC392-15B6-469D-A60F-908F377D93FC}"/>
                </a:ext>
              </a:extLst>
            </p:cNvPr>
            <p:cNvCxnSpPr/>
            <p:nvPr/>
          </p:nvCxnSpPr>
          <p:spPr>
            <a:xfrm flipV="1">
              <a:off x="3987869" y="3282332"/>
              <a:ext cx="130779" cy="133874"/>
            </a:xfrm>
            <a:prstGeom prst="line">
              <a:avLst/>
            </a:prstGeom>
            <a:ln>
              <a:prstDash val="dash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543F123F-ABEF-4FC3-9CB2-7EA763789DE6}"/>
                </a:ext>
              </a:extLst>
            </p:cNvPr>
            <p:cNvCxnSpPr/>
            <p:nvPr/>
          </p:nvCxnSpPr>
          <p:spPr>
            <a:xfrm flipV="1">
              <a:off x="4032581" y="3315051"/>
              <a:ext cx="130779" cy="133874"/>
            </a:xfrm>
            <a:prstGeom prst="line">
              <a:avLst/>
            </a:prstGeom>
            <a:ln>
              <a:prstDash val="lgDashDot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8C2A3404-289D-4163-BDEF-14537677D79B}"/>
                </a:ext>
              </a:extLst>
            </p:cNvPr>
            <p:cNvCxnSpPr/>
            <p:nvPr/>
          </p:nvCxnSpPr>
          <p:spPr>
            <a:xfrm flipV="1">
              <a:off x="4052767" y="3352464"/>
              <a:ext cx="130779" cy="133874"/>
            </a:xfrm>
            <a:prstGeom prst="line">
              <a:avLst/>
            </a:prstGeom>
            <a:ln>
              <a:prstDash val="dash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919A050D-62A6-4197-A845-2B7CBFC92210}"/>
                </a:ext>
              </a:extLst>
            </p:cNvPr>
            <p:cNvCxnSpPr/>
            <p:nvPr/>
          </p:nvCxnSpPr>
          <p:spPr>
            <a:xfrm flipV="1">
              <a:off x="4089760" y="3392689"/>
              <a:ext cx="130779" cy="133874"/>
            </a:xfrm>
            <a:prstGeom prst="line">
              <a:avLst/>
            </a:prstGeom>
            <a:ln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5F97DF4D-EDE6-4DB4-BAF1-89C8486D04BE}"/>
                </a:ext>
              </a:extLst>
            </p:cNvPr>
            <p:cNvCxnSpPr/>
            <p:nvPr/>
          </p:nvCxnSpPr>
          <p:spPr>
            <a:xfrm flipV="1">
              <a:off x="4140269" y="3434732"/>
              <a:ext cx="130779" cy="133874"/>
            </a:xfrm>
            <a:prstGeom prst="line">
              <a:avLst/>
            </a:prstGeom>
            <a:ln>
              <a:prstDash val="dash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7014222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70" name="Rectangle 8"/>
          <p:cNvSpPr>
            <a:spLocks noGrp="1"/>
          </p:cNvSpPr>
          <p:nvPr>
            <p:ph type="title" idx="4294967295"/>
          </p:nvPr>
        </p:nvSpPr>
        <p:spPr>
          <a:xfrm>
            <a:off x="914400" y="117475"/>
            <a:ext cx="11277600" cy="1143000"/>
          </a:xfrm>
          <a:ln/>
        </p:spPr>
        <p:txBody>
          <a:bodyPr vert="horz" wrap="square" lIns="91440" tIns="45720" rIns="91440" bIns="45720" rtlCol="0" anchor="ctr">
            <a:normAutofit/>
          </a:bodyPr>
          <a:lstStyle/>
          <a:p>
            <a:pPr algn="ctr" eaLnBrk="1" hangingPunct="1"/>
            <a:r>
              <a:rPr lang="en-US" altLang="en-US" sz="3200" b="1" dirty="0"/>
              <a:t>Authentication Methods</a:t>
            </a:r>
          </a:p>
        </p:txBody>
      </p:sp>
      <p:sp>
        <p:nvSpPr>
          <p:cNvPr id="11273" name="Content Placeholder 9"/>
          <p:cNvSpPr>
            <a:spLocks noGrp="1"/>
          </p:cNvSpPr>
          <p:nvPr>
            <p:ph idx="4294967295"/>
          </p:nvPr>
        </p:nvSpPr>
        <p:spPr>
          <a:xfrm>
            <a:off x="1073427" y="1433512"/>
            <a:ext cx="9223512" cy="4814888"/>
          </a:xfrm>
          <a:ln/>
        </p:spPr>
        <p:txBody>
          <a:bodyPr vert="horz" wrap="square" lIns="91440" tIns="45720" rIns="91440" bIns="45720" anchor="t"/>
          <a:lstStyle/>
          <a:p>
            <a:pPr>
              <a:buFont typeface="Wingdings" panose="05000000000000000000" pitchFamily="2" charset="2"/>
              <a:buChar char="§"/>
            </a:pPr>
            <a:r>
              <a:rPr lang="en-US" altLang="en-US" dirty="0"/>
              <a:t>Authentication, Authorization, Accounting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altLang="en-US" sz="2000" dirty="0"/>
              <a:t>Terminal Access Controller Access Control System (TACACS+)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altLang="en-US" sz="2000" dirty="0"/>
              <a:t>Remote Authentication Dial in User Service (RADIUS)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altLang="en-US" dirty="0"/>
              <a:t>LDAP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altLang="en-US" sz="2000" dirty="0"/>
              <a:t>Lightweight directory access protocol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altLang="en-US" sz="2000" dirty="0"/>
              <a:t>Ports 389 and 636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altLang="en-US" dirty="0"/>
              <a:t>  Single sign-on (SSO) w/ Kerberos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altLang="en-US" dirty="0"/>
              <a:t>Kerberos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altLang="en-US" sz="2000" dirty="0"/>
              <a:t>Microsoft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altLang="en-US" sz="2000" dirty="0"/>
              <a:t>Port 88</a:t>
            </a:r>
          </a:p>
          <a:p>
            <a:pPr marL="0" indent="0">
              <a:buNone/>
            </a:pPr>
            <a:endParaRPr lang="en-US" altLang="en-US" sz="1800" dirty="0"/>
          </a:p>
        </p:txBody>
      </p:sp>
      <p:sp>
        <p:nvSpPr>
          <p:cNvPr id="11272" name="Rectangle 12"/>
          <p:cNvSpPr/>
          <p:nvPr/>
        </p:nvSpPr>
        <p:spPr>
          <a:xfrm>
            <a:off x="4648200" y="6248400"/>
            <a:ext cx="28956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5pPr>
          </a:lstStyle>
          <a:p>
            <a:pPr marL="0" indent="0" algn="ctr">
              <a:spcBef>
                <a:spcPct val="0"/>
              </a:spcBef>
              <a:buNone/>
            </a:pPr>
            <a:endParaRPr lang="en-US" altLang="en-US" sz="1400" dirty="0">
              <a:latin typeface="Times" pitchFamily="-10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417927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2" name="Rectangle 8">
            <a:extLst>
              <a:ext uri="{FF2B5EF4-FFF2-40B4-BE49-F238E27FC236}">
                <a16:creationId xmlns:a16="http://schemas.microsoft.com/office/drawing/2014/main" id="{605F8A3B-9144-47C3-99CF-B82F1BF4C053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894522" y="152400"/>
            <a:ext cx="10972800" cy="831850"/>
          </a:xfrm>
        </p:spPr>
        <p:txBody>
          <a:bodyPr/>
          <a:lstStyle/>
          <a:p>
            <a:pPr algn="ctr">
              <a:spcBef>
                <a:spcPts val="1800"/>
              </a:spcBef>
              <a:spcAft>
                <a:spcPts val="1200"/>
              </a:spcAft>
            </a:pPr>
            <a:r>
              <a:rPr lang="en-US" altLang="en-US" dirty="0">
                <a:ea typeface="ＭＳ Ｐゴシック" panose="020B0600070205080204" pitchFamily="34" charset="-128"/>
                <a:cs typeface="Times New Roman" panose="02020603050405020304" pitchFamily="18" charset="0"/>
              </a:rPr>
              <a:t>Kerberos</a:t>
            </a:r>
            <a:endParaRPr lang="en-US" altLang="en-US" dirty="0">
              <a:ea typeface="ＭＳ Ｐゴシック" panose="020B0600070205080204" pitchFamily="34" charset="-128"/>
            </a:endParaRPr>
          </a:p>
        </p:txBody>
      </p:sp>
      <p:sp>
        <p:nvSpPr>
          <p:cNvPr id="9226" name="Content Placeholder 9">
            <a:extLst>
              <a:ext uri="{FF2B5EF4-FFF2-40B4-BE49-F238E27FC236}">
                <a16:creationId xmlns:a16="http://schemas.microsoft.com/office/drawing/2014/main" id="{8D41A39A-7429-4324-A43D-FEBAD817AE7C}"/>
              </a:ext>
            </a:extLst>
          </p:cNvPr>
          <p:cNvSpPr>
            <a:spLocks noGrp="1" noChangeArrowheads="1"/>
          </p:cNvSpPr>
          <p:nvPr>
            <p:ph idx="4294967295"/>
          </p:nvPr>
        </p:nvSpPr>
        <p:spPr>
          <a:xfrm>
            <a:off x="7775575" y="6464300"/>
            <a:ext cx="4416425" cy="457200"/>
          </a:xfrm>
        </p:spPr>
        <p:txBody>
          <a:bodyPr/>
          <a:lstStyle/>
          <a:p>
            <a:pPr marL="57150" indent="0">
              <a:buNone/>
            </a:pPr>
            <a:r>
              <a:rPr lang="en-US" altLang="en-US" sz="1600" i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Figure 16. 3: Kerberos authentication</a:t>
            </a:r>
            <a:endParaRPr lang="en-US" altLang="en-US" sz="1600" i="1">
              <a:ea typeface="ＭＳ Ｐゴシック" panose="020B0600070205080204" pitchFamily="34" charset="-128"/>
            </a:endParaRPr>
          </a:p>
        </p:txBody>
      </p:sp>
      <p:sp>
        <p:nvSpPr>
          <p:cNvPr id="9223" name="Rectangle 11">
            <a:extLst>
              <a:ext uri="{FF2B5EF4-FFF2-40B4-BE49-F238E27FC236}">
                <a16:creationId xmlns:a16="http://schemas.microsoft.com/office/drawing/2014/main" id="{3857DEAB-7597-4FDB-8E30-97812F6FF2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20200" y="6248400"/>
            <a:ext cx="762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>
              <a:spcBef>
                <a:spcPct val="0"/>
              </a:spcBef>
              <a:buFontTx/>
              <a:buNone/>
            </a:pPr>
            <a:fld id="{46393355-6C5B-419B-8090-817360972812}" type="slidenum">
              <a:rPr lang="en-US" altLang="en-US" sz="1400">
                <a:latin typeface="Times" panose="02020603050405020304" pitchFamily="18" charset="0"/>
              </a:rPr>
              <a:pPr algn="r">
                <a:spcBef>
                  <a:spcPct val="0"/>
                </a:spcBef>
                <a:buFontTx/>
                <a:buNone/>
              </a:pPr>
              <a:t>10</a:t>
            </a:fld>
            <a:endParaRPr lang="en-US" altLang="en-US" sz="1400">
              <a:latin typeface="Times" panose="02020603050405020304" pitchFamily="18" charset="0"/>
            </a:endParaRPr>
          </a:p>
        </p:txBody>
      </p:sp>
      <p:sp>
        <p:nvSpPr>
          <p:cNvPr id="9224" name="Rectangle 12">
            <a:extLst>
              <a:ext uri="{FF2B5EF4-FFF2-40B4-BE49-F238E27FC236}">
                <a16:creationId xmlns:a16="http://schemas.microsoft.com/office/drawing/2014/main" id="{F94E2DAD-461A-461E-9015-E3570E74FD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482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en-US" altLang="en-US" sz="1400">
              <a:latin typeface="Times" panose="02020603050405020304" pitchFamily="18" charset="0"/>
            </a:endParaRPr>
          </a:p>
        </p:txBody>
      </p:sp>
      <p:sp>
        <p:nvSpPr>
          <p:cNvPr id="9225" name="TextBox 1">
            <a:extLst>
              <a:ext uri="{FF2B5EF4-FFF2-40B4-BE49-F238E27FC236}">
                <a16:creationId xmlns:a16="http://schemas.microsoft.com/office/drawing/2014/main" id="{CF5ED8CA-0CE3-4730-B07D-61611D0788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52700" y="1131728"/>
            <a:ext cx="7086600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If your only Kerberos authentication server goes down, no one can log in to the network. So when running Kerberos, having redundant servers is vital. </a:t>
            </a:r>
            <a:endParaRPr lang="en-US" altLang="en-US" sz="2400" dirty="0">
              <a:cs typeface="Times New Roman" panose="02020603050405020304" pitchFamily="18" charset="0"/>
            </a:endParaRPr>
          </a:p>
        </p:txBody>
      </p:sp>
      <p:pic>
        <p:nvPicPr>
          <p:cNvPr id="9227" name="Picture 2">
            <a:extLst>
              <a:ext uri="{FF2B5EF4-FFF2-40B4-BE49-F238E27FC236}">
                <a16:creationId xmlns:a16="http://schemas.microsoft.com/office/drawing/2014/main" id="{FC60B8DB-0990-44F4-AB1C-101AD00E31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6600" y="2697258"/>
            <a:ext cx="5029200" cy="3384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70" name="Rectangle 8"/>
          <p:cNvSpPr>
            <a:spLocks noGrp="1"/>
          </p:cNvSpPr>
          <p:nvPr>
            <p:ph type="title" idx="4294967295"/>
          </p:nvPr>
        </p:nvSpPr>
        <p:spPr>
          <a:xfrm>
            <a:off x="939800" y="117475"/>
            <a:ext cx="10828130" cy="1143000"/>
          </a:xfrm>
          <a:ln/>
        </p:spPr>
        <p:txBody>
          <a:bodyPr vert="horz" wrap="square" lIns="91440" tIns="45720" rIns="91440" bIns="45720" rtlCol="0" anchor="ctr">
            <a:normAutofit/>
          </a:bodyPr>
          <a:lstStyle/>
          <a:p>
            <a:pPr algn="ctr" eaLnBrk="1" hangingPunct="1"/>
            <a:r>
              <a:rPr lang="en-US" altLang="en-US" sz="3200" b="1" dirty="0"/>
              <a:t>Authentication Methods</a:t>
            </a:r>
          </a:p>
        </p:txBody>
      </p:sp>
      <p:sp>
        <p:nvSpPr>
          <p:cNvPr id="11273" name="Content Placeholder 9"/>
          <p:cNvSpPr>
            <a:spLocks noGrp="1"/>
          </p:cNvSpPr>
          <p:nvPr>
            <p:ph idx="4294967295"/>
          </p:nvPr>
        </p:nvSpPr>
        <p:spPr>
          <a:xfrm>
            <a:off x="939800" y="1227137"/>
            <a:ext cx="7688263" cy="4814888"/>
          </a:xfrm>
          <a:ln/>
        </p:spPr>
        <p:txBody>
          <a:bodyPr vert="horz" wrap="square" lIns="91440" tIns="45720" rIns="91440" bIns="45720" anchor="t"/>
          <a:lstStyle/>
          <a:p>
            <a:pPr>
              <a:buFont typeface="Wingdings" panose="05000000000000000000" pitchFamily="2" charset="2"/>
              <a:buChar char="§"/>
            </a:pPr>
            <a:r>
              <a:rPr lang="en-US" altLang="en-US" sz="1800" dirty="0"/>
              <a:t>Local Authentication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altLang="en-US" sz="1600" dirty="0"/>
              <a:t>Authentication is done on the host system only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altLang="en-US" sz="1600" dirty="0"/>
              <a:t>Security Accounts manager (SAM)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altLang="en-US" sz="1800" dirty="0"/>
              <a:t> 802.1x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altLang="en-US" sz="1600" dirty="0"/>
              <a:t>Framework for port-based authentication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altLang="en-US" sz="1600" dirty="0"/>
              <a:t>Uses EAP (Extensible Authentication Protocol)- authenticates the device</a:t>
            </a:r>
          </a:p>
          <a:p>
            <a:pPr lvl="1">
              <a:buFont typeface="Wingdings" panose="05000000000000000000" pitchFamily="2" charset="2"/>
              <a:buChar char="§"/>
            </a:pPr>
            <a:endParaRPr lang="en-US" altLang="en-US" sz="1600" dirty="0"/>
          </a:p>
          <a:p>
            <a:pPr lvl="1">
              <a:buFont typeface="Wingdings" panose="05000000000000000000" pitchFamily="2" charset="2"/>
              <a:buChar char="§"/>
            </a:pPr>
            <a:endParaRPr lang="en-US" altLang="en-US" sz="1600" dirty="0"/>
          </a:p>
          <a:p>
            <a:pPr lvl="1">
              <a:buFont typeface="Wingdings" panose="05000000000000000000" pitchFamily="2" charset="2"/>
              <a:buChar char="§"/>
            </a:pPr>
            <a:endParaRPr lang="en-US" altLang="en-US" sz="1600" dirty="0"/>
          </a:p>
          <a:p>
            <a:pPr lvl="1">
              <a:buFont typeface="Wingdings" panose="05000000000000000000" pitchFamily="2" charset="2"/>
              <a:buChar char="§"/>
            </a:pPr>
            <a:endParaRPr lang="en-US" altLang="en-US" sz="1600" dirty="0"/>
          </a:p>
          <a:p>
            <a:pPr lvl="1">
              <a:buFont typeface="Wingdings" panose="05000000000000000000" pitchFamily="2" charset="2"/>
              <a:buChar char="§"/>
            </a:pPr>
            <a:endParaRPr lang="en-US" altLang="en-US" sz="1600" dirty="0"/>
          </a:p>
          <a:p>
            <a:pPr marL="0" indent="0">
              <a:buNone/>
            </a:pPr>
            <a:endParaRPr lang="en-US" altLang="en-US" sz="1800" dirty="0"/>
          </a:p>
        </p:txBody>
      </p:sp>
      <p:sp>
        <p:nvSpPr>
          <p:cNvPr id="11272" name="Rectangle 12"/>
          <p:cNvSpPr/>
          <p:nvPr/>
        </p:nvSpPr>
        <p:spPr>
          <a:xfrm>
            <a:off x="4648200" y="6248400"/>
            <a:ext cx="28956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5pPr>
          </a:lstStyle>
          <a:p>
            <a:pPr marL="0" indent="0" algn="ctr">
              <a:spcBef>
                <a:spcPct val="0"/>
              </a:spcBef>
              <a:buNone/>
            </a:pPr>
            <a:endParaRPr lang="en-US" altLang="en-US" sz="1400" dirty="0">
              <a:latin typeface="Times" pitchFamily="-108" charset="0"/>
            </a:endParaRPr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5D08BA05-D0CB-42B2-86A5-C992B55478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79663" y="3634581"/>
            <a:ext cx="6248400" cy="2987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51739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8" name="Rectangle 8"/>
          <p:cNvSpPr>
            <a:spLocks noGrp="1"/>
          </p:cNvSpPr>
          <p:nvPr>
            <p:ph type="title" idx="4294967295"/>
          </p:nvPr>
        </p:nvSpPr>
        <p:spPr>
          <a:xfrm>
            <a:off x="934278" y="274638"/>
            <a:ext cx="10913165" cy="1143000"/>
          </a:xfrm>
          <a:ln/>
        </p:spPr>
        <p:txBody>
          <a:bodyPr vert="horz" wrap="square" lIns="91440" tIns="45720" rIns="91440" bIns="45720" rtlCol="0" anchor="ctr">
            <a:normAutofit/>
          </a:bodyPr>
          <a:lstStyle/>
          <a:p>
            <a:pPr algn="ctr" eaLnBrk="1" hangingPunct="1"/>
            <a:r>
              <a:rPr lang="en-US" altLang="en-US" dirty="0"/>
              <a:t>Threat Intelligence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91AB4B05-6EF6-4393-816A-AF38F6BBFAF8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1188243" y="1603375"/>
            <a:ext cx="9815513" cy="464502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What is threat intelligence?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" altLang="zh-CN" sz="2400" dirty="0"/>
              <a:t>Data and information about adversaries (motivations, capabilities, tools, and methodologies)</a:t>
            </a:r>
          </a:p>
          <a:p>
            <a:pPr marL="400050" lvl="1" indent="0" fontAlgn="base">
              <a:buNone/>
            </a:pPr>
            <a:endParaRPr lang="en" altLang="zh-CN" sz="2400" dirty="0"/>
          </a:p>
          <a:p>
            <a:pPr marL="0" indent="0" fontAlgn="base">
              <a:buNone/>
            </a:pPr>
            <a:r>
              <a:rPr lang="en-US" altLang="zh-CN" sz="2400" dirty="0"/>
              <a:t>Why do we need threat intelligence?</a:t>
            </a:r>
            <a:endParaRPr lang="en" altLang="zh-CN" sz="2400" dirty="0"/>
          </a:p>
          <a:p>
            <a:pPr lvl="1" indent="-342900" fontAlgn="base">
              <a:buFont typeface="Arial" panose="020B0604020202020204" pitchFamily="34" charset="0"/>
              <a:buChar char="•"/>
            </a:pPr>
            <a:r>
              <a:rPr lang="en" sz="2400" dirty="0"/>
              <a:t>Help s</a:t>
            </a:r>
            <a:r>
              <a:rPr lang="en" altLang="zh-CN" sz="2400" dirty="0"/>
              <a:t>ecurity professionals fully understand threats to prevent them or to limit their impact</a:t>
            </a:r>
            <a:endParaRPr lang="en-US" sz="2400" dirty="0"/>
          </a:p>
        </p:txBody>
      </p:sp>
      <p:sp>
        <p:nvSpPr>
          <p:cNvPr id="13320" name="Rectangle 12"/>
          <p:cNvSpPr/>
          <p:nvPr/>
        </p:nvSpPr>
        <p:spPr>
          <a:xfrm>
            <a:off x="4648200" y="6248400"/>
            <a:ext cx="28956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5pPr>
          </a:lstStyle>
          <a:p>
            <a:pPr marL="0" indent="0" algn="ctr">
              <a:spcBef>
                <a:spcPct val="0"/>
              </a:spcBef>
              <a:buNone/>
            </a:pPr>
            <a:endParaRPr lang="en-US" altLang="en-US" sz="1400" dirty="0">
              <a:latin typeface="Times" pitchFamily="-108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8" name="Rectangle 8"/>
          <p:cNvSpPr>
            <a:spLocks noGrp="1"/>
          </p:cNvSpPr>
          <p:nvPr>
            <p:ph type="title" idx="4294967295"/>
          </p:nvPr>
        </p:nvSpPr>
        <p:spPr>
          <a:xfrm>
            <a:off x="934279" y="176213"/>
            <a:ext cx="10933044" cy="1143000"/>
          </a:xfrm>
          <a:ln/>
        </p:spPr>
        <p:txBody>
          <a:bodyPr vert="horz" wrap="square" lIns="91440" tIns="45720" rIns="91440" bIns="45720" rtlCol="0" anchor="ctr">
            <a:normAutofit/>
          </a:bodyPr>
          <a:lstStyle/>
          <a:p>
            <a:pPr algn="ctr" eaLnBrk="1" hangingPunct="1"/>
            <a:r>
              <a:rPr lang="en-US" altLang="en-US" dirty="0"/>
              <a:t>Vulnerability Assessment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91AB4B05-6EF6-4393-816A-AF38F6BBFAF8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1188243" y="1461294"/>
            <a:ext cx="9815513" cy="4645025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2400" dirty="0"/>
              <a:t>  </a:t>
            </a:r>
            <a:r>
              <a:rPr lang="en-US" sz="3600" dirty="0"/>
              <a:t>Identification, prioritization, and remediation of vulnerabilities before a threat can exploit them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3600" dirty="0"/>
              <a:t> An organized approach to scanning and continuous assessment of your organizational security posture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3600" dirty="0"/>
              <a:t> Non- Intrusive</a:t>
            </a:r>
          </a:p>
          <a:p>
            <a:pPr marL="0" indent="0">
              <a:buNone/>
            </a:pPr>
            <a:endParaRPr lang="en-US" sz="2400" dirty="0"/>
          </a:p>
        </p:txBody>
      </p:sp>
      <p:sp>
        <p:nvSpPr>
          <p:cNvPr id="13320" name="Rectangle 12"/>
          <p:cNvSpPr/>
          <p:nvPr/>
        </p:nvSpPr>
        <p:spPr>
          <a:xfrm>
            <a:off x="4648200" y="6248400"/>
            <a:ext cx="28956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5pPr>
          </a:lstStyle>
          <a:p>
            <a:pPr marL="0" indent="0" algn="ctr">
              <a:spcBef>
                <a:spcPct val="0"/>
              </a:spcBef>
              <a:buNone/>
            </a:pPr>
            <a:endParaRPr lang="en-US" altLang="en-US" sz="1400" dirty="0">
              <a:latin typeface="Times" pitchFamily="-10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5662841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8" name="Rectangle 8"/>
          <p:cNvSpPr>
            <a:spLocks noGrp="1"/>
          </p:cNvSpPr>
          <p:nvPr>
            <p:ph type="title" idx="4294967295"/>
          </p:nvPr>
        </p:nvSpPr>
        <p:spPr>
          <a:xfrm>
            <a:off x="990599" y="152400"/>
            <a:ext cx="10856843" cy="1143000"/>
          </a:xfrm>
          <a:ln/>
        </p:spPr>
        <p:txBody>
          <a:bodyPr vert="horz" wrap="square" lIns="91440" tIns="45720" rIns="91440" bIns="45720" rtlCol="0" anchor="ctr">
            <a:normAutofit/>
          </a:bodyPr>
          <a:lstStyle/>
          <a:p>
            <a:pPr algn="ctr" eaLnBrk="1" hangingPunct="1"/>
            <a:r>
              <a:rPr lang="en-US" altLang="en-US" dirty="0"/>
              <a:t>Penetration Testing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91AB4B05-6EF6-4393-816A-AF38F6BBFAF8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990599" y="1449387"/>
            <a:ext cx="9815513" cy="4645025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2400" dirty="0"/>
              <a:t> Very Intrusive 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400" dirty="0"/>
              <a:t>Blind Test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200" dirty="0"/>
              <a:t> </a:t>
            </a:r>
            <a:r>
              <a:rPr lang="en-US" sz="2200" dirty="0" err="1"/>
              <a:t>Pentester</a:t>
            </a:r>
            <a:r>
              <a:rPr lang="en-US" sz="2200" dirty="0"/>
              <a:t> knows very little about the organization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200" dirty="0"/>
              <a:t> Security team knows the test is coming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400" dirty="0"/>
              <a:t> Double-Blind Test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200" dirty="0"/>
              <a:t>Same as blind test but security team does not know the test is coming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400" dirty="0"/>
              <a:t> Target Test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200" dirty="0"/>
              <a:t>Maximum information is given to both the testers and the security teams</a:t>
            </a:r>
          </a:p>
        </p:txBody>
      </p:sp>
      <p:sp>
        <p:nvSpPr>
          <p:cNvPr id="13320" name="Rectangle 12"/>
          <p:cNvSpPr/>
          <p:nvPr/>
        </p:nvSpPr>
        <p:spPr>
          <a:xfrm>
            <a:off x="4648200" y="6248400"/>
            <a:ext cx="28956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5pPr>
          </a:lstStyle>
          <a:p>
            <a:pPr marL="0" indent="0" algn="ctr">
              <a:spcBef>
                <a:spcPct val="0"/>
              </a:spcBef>
              <a:buNone/>
            </a:pPr>
            <a:endParaRPr lang="en-US" altLang="en-US" sz="1400" dirty="0">
              <a:latin typeface="Times" pitchFamily="-10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1805858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8" name="Rectangle 8"/>
          <p:cNvSpPr>
            <a:spLocks noGrp="1"/>
          </p:cNvSpPr>
          <p:nvPr>
            <p:ph type="title" idx="4294967295"/>
          </p:nvPr>
        </p:nvSpPr>
        <p:spPr>
          <a:xfrm>
            <a:off x="954157" y="125896"/>
            <a:ext cx="10913165" cy="1143000"/>
          </a:xfrm>
          <a:ln/>
        </p:spPr>
        <p:txBody>
          <a:bodyPr vert="horz" wrap="square" lIns="91440" tIns="45720" rIns="91440" bIns="45720" rtlCol="0" anchor="ctr">
            <a:normAutofit/>
          </a:bodyPr>
          <a:lstStyle/>
          <a:p>
            <a:pPr algn="ctr" eaLnBrk="1" hangingPunct="1"/>
            <a:r>
              <a:rPr lang="en-US" altLang="en-US" dirty="0"/>
              <a:t>Risk Assessments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91AB4B05-6EF6-4393-816A-AF38F6BBFAF8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1188243" y="1225827"/>
            <a:ext cx="9815513" cy="4645025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2400" dirty="0"/>
              <a:t> Quantitative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400" dirty="0"/>
              <a:t>Qualitative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400" dirty="0"/>
              <a:t>Process Assessment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400" dirty="0"/>
              <a:t> Vendor Assessment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400" dirty="0"/>
              <a:t> SIEM</a:t>
            </a:r>
          </a:p>
          <a:p>
            <a:pPr marL="0" indent="0">
              <a:buNone/>
            </a:pPr>
            <a:endParaRPr lang="en-US" sz="2400" dirty="0"/>
          </a:p>
        </p:txBody>
      </p:sp>
      <p:sp>
        <p:nvSpPr>
          <p:cNvPr id="13320" name="Rectangle 12"/>
          <p:cNvSpPr/>
          <p:nvPr/>
        </p:nvSpPr>
        <p:spPr>
          <a:xfrm>
            <a:off x="4648200" y="6248400"/>
            <a:ext cx="28956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5pPr>
          </a:lstStyle>
          <a:p>
            <a:pPr marL="0" indent="0" algn="ctr">
              <a:spcBef>
                <a:spcPct val="0"/>
              </a:spcBef>
              <a:buNone/>
            </a:pPr>
            <a:endParaRPr lang="en-US" altLang="en-US" sz="1400" dirty="0">
              <a:latin typeface="Times" pitchFamily="-10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66506141"/>
      </p:ext>
    </p:extLst>
  </p:cSld>
  <p:clrMapOvr>
    <a:masterClrMapping/>
  </p:clrMapOvr>
</p:sld>
</file>

<file path=ppt/theme/theme1.xml><?xml version="1.0" encoding="utf-8"?>
<a:theme xmlns:a="http://schemas.openxmlformats.org/drawingml/2006/main" name="Badge">
  <a:themeElements>
    <a:clrScheme name="Badge">
      <a:dk1>
        <a:sysClr val="windowText" lastClr="000000"/>
      </a:dk1>
      <a:lt1>
        <a:sysClr val="window" lastClr="FFFFFF"/>
      </a:lt1>
      <a:dk2>
        <a:srgbClr val="2A1A00"/>
      </a:dk2>
      <a:lt2>
        <a:srgbClr val="F3F3F2"/>
      </a:lt2>
      <a:accent1>
        <a:srgbClr val="F8B323"/>
      </a:accent1>
      <a:accent2>
        <a:srgbClr val="656A59"/>
      </a:accent2>
      <a:accent3>
        <a:srgbClr val="46B2B5"/>
      </a:accent3>
      <a:accent4>
        <a:srgbClr val="8CAA7E"/>
      </a:accent4>
      <a:accent5>
        <a:srgbClr val="D36F68"/>
      </a:accent5>
      <a:accent6>
        <a:srgbClr val="826276"/>
      </a:accent6>
      <a:hlink>
        <a:srgbClr val="46B2B5"/>
      </a:hlink>
      <a:folHlink>
        <a:srgbClr val="A46694"/>
      </a:folHlink>
    </a:clrScheme>
    <a:fontScheme name="Badge">
      <a:majorFont>
        <a:latin typeface="Impact" panose="020B080603090205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メイリオ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Badg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12700" cap="flat" cmpd="sng" algn="in">
          <a:solidFill>
            <a:schemeClr val="phClr"/>
          </a:solidFill>
          <a:prstDash val="solid"/>
        </a:ln>
        <a:ln w="5080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38100" dist="25400" dir="5400000" algn="ctr" rotWithShape="0">
              <a:srgbClr val="000000">
                <a:alpha val="2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dge" id="{71A07785-5930-41D4-9A83-E23602B48E98}" vid="{771EA782-DFA6-45B1-AEA3-661F1715B31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{A74C1714-5C0B-3846-B47C-6ECBC5836BBB}tf10001071</Template>
  <TotalTime>439</TotalTime>
  <Words>1343</Words>
  <Application>Microsoft Macintosh PowerPoint</Application>
  <PresentationFormat>Widescreen</PresentationFormat>
  <Paragraphs>201</Paragraphs>
  <Slides>15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2" baseType="lpstr">
      <vt:lpstr>Arial</vt:lpstr>
      <vt:lpstr>Calibri</vt:lpstr>
      <vt:lpstr>Gill Sans MT</vt:lpstr>
      <vt:lpstr>Impact</vt:lpstr>
      <vt:lpstr>Times</vt:lpstr>
      <vt:lpstr>Wingdings</vt:lpstr>
      <vt:lpstr>Badge</vt:lpstr>
      <vt:lpstr>Chapter 16</vt:lpstr>
      <vt:lpstr>CIA</vt:lpstr>
      <vt:lpstr>Identify Threats</vt:lpstr>
      <vt:lpstr>Identify Threats</vt:lpstr>
      <vt:lpstr>Vulnerabilities</vt:lpstr>
      <vt:lpstr>Defense in Depth</vt:lpstr>
      <vt:lpstr>Authentication Methods</vt:lpstr>
      <vt:lpstr>Factors of Authentication</vt:lpstr>
      <vt:lpstr>Authentication Methods</vt:lpstr>
      <vt:lpstr>Kerberos</vt:lpstr>
      <vt:lpstr>Authentication Methods</vt:lpstr>
      <vt:lpstr>Threat Intelligence</vt:lpstr>
      <vt:lpstr>Vulnerability Assessment</vt:lpstr>
      <vt:lpstr>Penetration Testing</vt:lpstr>
      <vt:lpstr>Risk Assessments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16</dc:title>
  <dc:creator>Student</dc:creator>
  <cp:lastModifiedBy>Adrienne Bailey</cp:lastModifiedBy>
  <cp:revision>27</cp:revision>
  <dcterms:created xsi:type="dcterms:W3CDTF">2018-11-01T20:01:45Z</dcterms:created>
  <dcterms:modified xsi:type="dcterms:W3CDTF">2022-09-21T15:07:34Z</dcterms:modified>
</cp:coreProperties>
</file>