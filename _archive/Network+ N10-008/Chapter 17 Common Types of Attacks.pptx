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307" r:id="rId6"/>
    <p:sldId id="308" r:id="rId7"/>
    <p:sldId id="275" r:id="rId8"/>
    <p:sldId id="258" r:id="rId9"/>
    <p:sldId id="373" r:id="rId10"/>
    <p:sldId id="259" r:id="rId11"/>
    <p:sldId id="374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58434"/>
  </p:normalViewPr>
  <p:slideViewPr>
    <p:cSldViewPr snapToGrid="0">
      <p:cViewPr varScale="1">
        <p:scale>
          <a:sx n="64" d="100"/>
          <a:sy n="64" d="100"/>
        </p:scale>
        <p:origin x="2368" y="17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857FA5-40A3-3B49-971E-12DCFD901A4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FD15E-71CA-434A-89DA-0B1131B4290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Traffic Spike</a:t>
            </a:r>
            <a:r>
              <a:rPr lang="en-US" dirty="0"/>
              <a:t>: major spike in the network as bots are recruited to mount the attack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IDS can be used to prevent them from growing larger or in some cases prevent traffic in the first place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Physical attack: causing damage to hardware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Permanent DoS: the device is damaged and must be replaced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FD15E-71CA-434A-89DA-0B1131B4290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Sends a request from a spoofed IP address to DNS servers with domains that have 100s of records which will flood an individual’s system with hundreds of replies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DNS amplification attack is a form of reflection attack in that the attacker delivers traffic to the victim by reflecting it off a third party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Relies on the exploitation of publicly accessible open DNS servers to deluge victims with DNS response traffic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FD15E-71CA-434A-89DA-0B1131B4290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Send 1 echo ICMP request from a spoofed IP address to 15.255.255.255 address which will result in about 16 million replies per request sent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FD15E-71CA-434A-89DA-0B1131B4290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Floods the receiving machine with lots of packets that cause the victim to waste resources by holding connections open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FD15E-71CA-434A-89DA-0B1131B4290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VLAN hopping attack results in traffic from one VLAN being sent to the wrong VLAN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 attacker can circumvent trunking by double tagging, which applies a fake VLAN tag to a packet along with the real tag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One-way trip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Good for DoS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FD15E-71CA-434A-89DA-0B1131B4290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get an IP address from an unauthorized DHCP server and you have intermittent connectivity or no connectivity at 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FD15E-71CA-434A-89DA-0B1131B4290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Logic Bomb: time-based or event-based viruses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Macro-virus: a virus that can be ran in a small amount of code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Multi-partite virus: affects both the boot sector and files on your computer, making such a virus particularly dangerous and exasperatingly difficult to remove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Boot-sector: work their way into the master boot record, they overwrite your boot sector, making it appear as if there’s no point to your 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FD15E-71CA-434A-89DA-0B1131B4290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Deauthentication</a:t>
            </a:r>
            <a:r>
              <a:rPr lang="en-US" dirty="0"/>
              <a:t>: a form of a DoS attack in which the attacker sends a large number of management packets causing stations to be disconnected from the access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FD15E-71CA-434A-89DA-0B1131B4290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Phishing: attempts to learn personal info by posing with a fake website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Piggybacking: is done with authorization of the person </a:t>
            </a:r>
            <a:r>
              <a:rPr lang="en-US"/>
              <a:t>with access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FD15E-71CA-434A-89DA-0B1131B4290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17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Common Types of Attacks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Threats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Denial of Service(DOS)/Ping of Death</a:t>
            </a:r>
            <a:endParaRPr lang="en-US" dirty="0"/>
          </a:p>
          <a:p>
            <a:r>
              <a:rPr lang="en-US" dirty="0"/>
              <a:t>Distributed Denial of Service (</a:t>
            </a:r>
            <a:r>
              <a:rPr lang="en-US" dirty="0" err="1"/>
              <a:t>DDoS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dirty="0"/>
              <a:t>Botnets</a:t>
            </a:r>
            <a:endParaRPr lang="en-US" dirty="0"/>
          </a:p>
          <a:p>
            <a:pPr lvl="1"/>
            <a:r>
              <a:rPr lang="en-US" dirty="0"/>
              <a:t>Traffic Spike</a:t>
            </a:r>
            <a:endParaRPr lang="en-US" dirty="0"/>
          </a:p>
          <a:p>
            <a:r>
              <a:rPr lang="en-US" dirty="0"/>
              <a:t>Friendly/Unintentional DoS</a:t>
            </a:r>
            <a:endParaRPr lang="en-US" dirty="0"/>
          </a:p>
          <a:p>
            <a:r>
              <a:rPr lang="en-US" dirty="0"/>
              <a:t>Physical Attack</a:t>
            </a:r>
            <a:endParaRPr lang="en-US" dirty="0"/>
          </a:p>
          <a:p>
            <a:r>
              <a:rPr lang="en-US" dirty="0"/>
              <a:t>Permanent DoS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486" y="1874517"/>
            <a:ext cx="3684588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0996" y="2037011"/>
            <a:ext cx="7870825" cy="4475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993913" y="440233"/>
            <a:ext cx="108336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  <a:latin typeface="+mj-lt"/>
              </a:rPr>
              <a:t>Reflective/Amplified Attack</a:t>
            </a:r>
            <a:endParaRPr lang="en-US" sz="3600" dirty="0">
              <a:solidFill>
                <a:schemeClr val="tx2"/>
              </a:solidFill>
              <a:latin typeface="+mj-lt"/>
            </a:endParaRPr>
          </a:p>
          <a:p>
            <a:pPr lvl="1" algn="ctr"/>
            <a:r>
              <a:rPr lang="en-US" sz="3600" dirty="0">
                <a:solidFill>
                  <a:schemeClr val="tx2"/>
                </a:solidFill>
                <a:latin typeface="+mj-lt"/>
              </a:rPr>
              <a:t>DNS</a:t>
            </a:r>
            <a:endParaRPr lang="en-US" sz="3600" dirty="0">
              <a:solidFill>
                <a:schemeClr val="tx2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69909" y="265836"/>
            <a:ext cx="1076925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j-lt"/>
              </a:rPr>
              <a:t>Smurf Attack</a:t>
            </a:r>
            <a:endParaRPr lang="en-US" sz="3600" b="1" dirty="0">
              <a:solidFill>
                <a:schemeClr val="tx2"/>
              </a:solidFill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A ping is normally unicast</a:t>
            </a:r>
            <a:endParaRPr lang="en-US" sz="2800" dirty="0">
              <a:solidFill>
                <a:schemeClr val="tx2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Smurf attack sends the ping out as a broadcast</a:t>
            </a:r>
            <a:endParaRPr lang="en-US" sz="2800" dirty="0">
              <a:solidFill>
                <a:schemeClr val="tx2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Smurf attack spoofs the source IP</a:t>
            </a:r>
            <a:endParaRPr lang="en-US" sz="2800" dirty="0">
              <a:solidFill>
                <a:schemeClr val="tx2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Directed broadcast through an amplifying network</a:t>
            </a:r>
            <a:endParaRPr lang="en-US" sz="2800" dirty="0">
              <a:solidFill>
                <a:schemeClr val="tx2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483" y="2571225"/>
            <a:ext cx="6514938" cy="414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69" y="638848"/>
            <a:ext cx="10178322" cy="3593591"/>
          </a:xfrm>
        </p:spPr>
        <p:txBody>
          <a:bodyPr>
            <a:normAutofit/>
          </a:bodyPr>
          <a:lstStyle/>
          <a:p>
            <a:r>
              <a:rPr lang="en-US" dirty="0"/>
              <a:t>SYN flood attack</a:t>
            </a:r>
            <a:endParaRPr lang="en-US" dirty="0"/>
          </a:p>
          <a:p>
            <a:pPr lvl="1"/>
            <a:r>
              <a:rPr lang="en-US" dirty="0"/>
              <a:t>Common attack against Internet servers </a:t>
            </a:r>
            <a:endParaRPr lang="en-US" dirty="0"/>
          </a:p>
          <a:p>
            <a:pPr lvl="1"/>
            <a:r>
              <a:rPr lang="en-US" dirty="0"/>
              <a:t>Disrupts the TCP three-way handshake</a:t>
            </a:r>
            <a:endParaRPr lang="en-US" dirty="0"/>
          </a:p>
          <a:p>
            <a:pPr lvl="1"/>
            <a:r>
              <a:rPr lang="en-US" dirty="0"/>
              <a:t>Withholds 3</a:t>
            </a:r>
            <a:r>
              <a:rPr lang="en-US" baseline="30000" dirty="0"/>
              <a:t>rd</a:t>
            </a:r>
            <a:r>
              <a:rPr lang="en-US" dirty="0"/>
              <a:t> packet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917" y="2784303"/>
            <a:ext cx="8168640" cy="22222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108" y="646044"/>
            <a:ext cx="10538680" cy="6051062"/>
          </a:xfrm>
        </p:spPr>
        <p:txBody>
          <a:bodyPr>
            <a:normAutofit/>
          </a:bodyPr>
          <a:lstStyle/>
          <a:p>
            <a:r>
              <a:rPr lang="en-US" dirty="0"/>
              <a:t>On Path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DNS Poisoning</a:t>
            </a:r>
            <a:endParaRPr lang="en-US" dirty="0"/>
          </a:p>
          <a:p>
            <a:r>
              <a:rPr lang="en-US" dirty="0"/>
              <a:t>VLAN Hopping</a:t>
            </a:r>
            <a:endParaRPr lang="en-US" dirty="0"/>
          </a:p>
          <a:p>
            <a:pPr lvl="1"/>
            <a:r>
              <a:rPr lang="en-US" dirty="0"/>
              <a:t>Double Tagging</a:t>
            </a:r>
            <a:endParaRPr lang="en-US" dirty="0"/>
          </a:p>
          <a:p>
            <a:r>
              <a:rPr lang="en-US" dirty="0"/>
              <a:t>ARP Spoofing</a:t>
            </a:r>
            <a:endParaRPr lang="en-US" dirty="0"/>
          </a:p>
          <a:p>
            <a:r>
              <a:rPr lang="en-US" dirty="0"/>
              <a:t>Rouge DHCP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" y="1164529"/>
            <a:ext cx="7004050" cy="177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1033670" y="184150"/>
            <a:ext cx="10853530" cy="831850"/>
          </a:xfrm>
        </p:spPr>
        <p:txBody>
          <a:bodyPr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altLang="en-US" dirty="0">
                <a:ea typeface="MS PGothic" panose="020B0600070205080204" pitchFamily="34" charset="-128"/>
                <a:cs typeface="Times New Roman" panose="02020603050405020304" pitchFamily="18" charset="0"/>
              </a:rPr>
              <a:t>Rogue DHCP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13321" name="Content Placeholder 9"/>
          <p:cNvSpPr>
            <a:spLocks noGrp="1" noChangeArrowheads="1"/>
          </p:cNvSpPr>
          <p:nvPr>
            <p:ph idx="4294967295"/>
          </p:nvPr>
        </p:nvSpPr>
        <p:spPr>
          <a:xfrm>
            <a:off x="8382000" y="6464300"/>
            <a:ext cx="3810000" cy="457200"/>
          </a:xfrm>
        </p:spPr>
        <p:txBody>
          <a:bodyPr/>
          <a:lstStyle/>
          <a:p>
            <a:pPr marL="57150" indent="0">
              <a:buNone/>
            </a:pPr>
            <a:r>
              <a:rPr lang="en-US" altLang="en-US" sz="1600" i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17.7: Rogue DHCP</a:t>
            </a:r>
            <a:endParaRPr lang="en-US" altLang="en-US" sz="1600" i="1"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3319" name="Rectangle 11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753D53DA-601F-44C5-937F-0884ADCFCC41}" type="slidenum">
              <a:rPr lang="en-US" altLang="en-US" sz="1400">
                <a:latin typeface="Times" panose="02020603050405020304" pitchFamily="18" charset="0"/>
              </a:rPr>
            </a:fld>
            <a:endParaRPr lang="en-US" altLang="en-US" sz="1400">
              <a:latin typeface="Times" panose="02020603050405020304" pitchFamily="18" charset="0"/>
            </a:endParaRPr>
          </a:p>
        </p:txBody>
      </p:sp>
      <p:sp>
        <p:nvSpPr>
          <p:cNvPr id="13320" name="Rectangle 12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anose="02020603050405020304" pitchFamily="18" charset="0"/>
            </a:endParaRPr>
          </a:p>
        </p:txBody>
      </p:sp>
      <p:pic>
        <p:nvPicPr>
          <p:cNvPr id="133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789112"/>
            <a:ext cx="5486400" cy="456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3" name="TextBox 12"/>
          <p:cNvSpPr txBox="1">
            <a:spLocks noChangeArrowheads="1"/>
          </p:cNvSpPr>
          <p:nvPr/>
        </p:nvSpPr>
        <p:spPr bwMode="auto">
          <a:xfrm>
            <a:off x="3048000" y="1016000"/>
            <a:ext cx="6096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An unsuspecting hosts may accept DHCP Offer packets from the illegitimate DHCP server 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913" y="382385"/>
            <a:ext cx="10933044" cy="826601"/>
          </a:xfrm>
        </p:spPr>
        <p:txBody>
          <a:bodyPr/>
          <a:lstStyle/>
          <a:p>
            <a:pPr algn="ctr"/>
            <a:r>
              <a:rPr lang="en-US" dirty="0"/>
              <a:t>More Threats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Rouge AP</a:t>
            </a:r>
            <a:endParaRPr lang="en-US" dirty="0"/>
          </a:p>
          <a:p>
            <a:r>
              <a:rPr lang="en-US" dirty="0"/>
              <a:t>Evil Twin</a:t>
            </a:r>
            <a:endParaRPr lang="en-US" dirty="0"/>
          </a:p>
          <a:p>
            <a:r>
              <a:rPr lang="en-US" dirty="0"/>
              <a:t>Logic Bombs</a:t>
            </a:r>
            <a:endParaRPr lang="en-US" dirty="0"/>
          </a:p>
          <a:p>
            <a:r>
              <a:rPr lang="en-US" dirty="0"/>
              <a:t>Ransomware</a:t>
            </a:r>
            <a:endParaRPr lang="en-US" dirty="0"/>
          </a:p>
          <a:p>
            <a:r>
              <a:rPr lang="en-US" dirty="0"/>
              <a:t>Boot Sector</a:t>
            </a:r>
            <a:endParaRPr lang="en-US" dirty="0"/>
          </a:p>
          <a:p>
            <a:r>
              <a:rPr lang="en-US" dirty="0"/>
              <a:t>Macro Viruses</a:t>
            </a:r>
            <a:endParaRPr lang="en-US" dirty="0"/>
          </a:p>
          <a:p>
            <a:r>
              <a:rPr lang="en-US" dirty="0"/>
              <a:t>Multi-partite Virus</a:t>
            </a:r>
            <a:endParaRPr lang="en-US" dirty="0"/>
          </a:p>
          <a:p>
            <a:r>
              <a:rPr lang="en-US" dirty="0"/>
              <a:t>Zero Day Attack</a:t>
            </a:r>
            <a:endParaRPr lang="en-US" dirty="0"/>
          </a:p>
          <a:p>
            <a:r>
              <a:rPr lang="en-US" dirty="0"/>
              <a:t>Insider Threats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440124" y="1303695"/>
            <a:ext cx="3886835" cy="2811145"/>
            <a:chOff x="5254" y="5461"/>
            <a:chExt cx="6121" cy="4427"/>
          </a:xfrm>
        </p:grpSpPr>
        <p:grpSp>
          <p:nvGrpSpPr>
            <p:cNvPr id="5" name="Group 4"/>
            <p:cNvGrpSpPr/>
            <p:nvPr/>
          </p:nvGrpSpPr>
          <p:grpSpPr>
            <a:xfrm>
              <a:off x="5254" y="5463"/>
              <a:ext cx="1860" cy="930"/>
              <a:chOff x="2200275" y="2771775"/>
              <a:chExt cx="1181100" cy="590550"/>
            </a:xfrm>
          </p:grpSpPr>
          <p:sp>
            <p:nvSpPr>
              <p:cNvPr id="15" name="Rounded Rectangle 11"/>
              <p:cNvSpPr/>
              <p:nvPr/>
            </p:nvSpPr>
            <p:spPr bwMode="auto">
              <a:xfrm>
                <a:off x="2200275" y="2771775"/>
                <a:ext cx="1181100" cy="59055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82124" tIns="41061" rIns="82124" bIns="41061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814705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6" name="TextBox 8"/>
              <p:cNvSpPr txBox="1"/>
              <p:nvPr/>
            </p:nvSpPr>
            <p:spPr>
              <a:xfrm>
                <a:off x="2320150" y="2906000"/>
                <a:ext cx="916534" cy="3139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Memory</a:t>
                </a:r>
                <a:endPara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5642" y="7593"/>
              <a:ext cx="1525" cy="1455"/>
              <a:chOff x="1979827" y="4267200"/>
              <a:chExt cx="968535" cy="923925"/>
            </a:xfrm>
          </p:grpSpPr>
          <p:sp>
            <p:nvSpPr>
              <p:cNvPr id="13" name="Can 14"/>
              <p:cNvSpPr/>
              <p:nvPr/>
            </p:nvSpPr>
            <p:spPr bwMode="auto">
              <a:xfrm>
                <a:off x="2029047" y="4267200"/>
                <a:ext cx="876445" cy="923925"/>
              </a:xfrm>
              <a:prstGeom prst="can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82124" tIns="41061" rIns="82124" bIns="41061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814705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" name="TextBox 9"/>
              <p:cNvSpPr txBox="1"/>
              <p:nvPr/>
            </p:nvSpPr>
            <p:spPr>
              <a:xfrm>
                <a:off x="1979827" y="4649075"/>
                <a:ext cx="968535" cy="3139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Disk Files</a:t>
                </a:r>
                <a:endPara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" name="TextBox 10"/>
            <p:cNvSpPr txBox="1"/>
            <p:nvPr/>
          </p:nvSpPr>
          <p:spPr>
            <a:xfrm>
              <a:off x="5432" y="9396"/>
              <a:ext cx="1855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Boot Sector</a:t>
              </a:r>
              <a:endParaRPr lang="en-US" altLang="en-US" sz="1600" b="1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rot="-180000" flipH="1">
              <a:off x="7212" y="7591"/>
              <a:ext cx="2297" cy="1835"/>
            </a:xfrm>
            <a:prstGeom prst="straightConnector1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9" name="Straight Arrow Connector 8"/>
            <p:cNvCxnSpPr/>
            <p:nvPr/>
          </p:nvCxnSpPr>
          <p:spPr>
            <a:xfrm rot="-1080000" flipH="1" flipV="1">
              <a:off x="7363" y="5461"/>
              <a:ext cx="2297" cy="1835"/>
            </a:xfrm>
            <a:prstGeom prst="straightConnector1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" name="Straight Arrow Connector 9"/>
            <p:cNvCxnSpPr/>
            <p:nvPr/>
          </p:nvCxnSpPr>
          <p:spPr>
            <a:xfrm rot="660000" flipH="1">
              <a:off x="7333" y="6796"/>
              <a:ext cx="2297" cy="1835"/>
            </a:xfrm>
            <a:prstGeom prst="straightConnector1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cxn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633" y="5715"/>
              <a:ext cx="2742" cy="263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TextBox 11"/>
            <p:cNvSpPr txBox="1"/>
            <p:nvPr/>
          </p:nvSpPr>
          <p:spPr>
            <a:xfrm>
              <a:off x="9120" y="6688"/>
              <a:ext cx="1923" cy="84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Multipartite</a:t>
              </a:r>
              <a:endParaRPr lang="en-US" altLang="en-US" sz="1600" b="1" dirty="0">
                <a:latin typeface="Calibri" panose="020F0502020204030204" pitchFamily="34" charset="0"/>
              </a:endParaRP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Virus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More Threats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570383"/>
            <a:ext cx="10178322" cy="4309209"/>
          </a:xfrm>
        </p:spPr>
        <p:txBody>
          <a:bodyPr>
            <a:normAutofit/>
          </a:bodyPr>
          <a:lstStyle/>
          <a:p>
            <a:r>
              <a:rPr lang="en-US" dirty="0"/>
              <a:t>Password Attacks</a:t>
            </a:r>
            <a:endParaRPr lang="en-US" dirty="0"/>
          </a:p>
          <a:p>
            <a:pPr lvl="1"/>
            <a:r>
              <a:rPr lang="en-US" dirty="0"/>
              <a:t>Brute Force</a:t>
            </a:r>
            <a:endParaRPr lang="en-US" dirty="0"/>
          </a:p>
          <a:p>
            <a:pPr lvl="1"/>
            <a:r>
              <a:rPr lang="en-US" dirty="0"/>
              <a:t>Dictionary</a:t>
            </a:r>
            <a:endParaRPr lang="en-US" dirty="0"/>
          </a:p>
          <a:p>
            <a:pPr lvl="1"/>
            <a:r>
              <a:rPr lang="en-US" dirty="0"/>
              <a:t>Rainbow Table</a:t>
            </a:r>
            <a:endParaRPr lang="en-US" dirty="0"/>
          </a:p>
          <a:p>
            <a:r>
              <a:rPr lang="en-US" dirty="0"/>
              <a:t>MAC Spoofing</a:t>
            </a:r>
            <a:endParaRPr lang="en-US" dirty="0"/>
          </a:p>
          <a:p>
            <a:r>
              <a:rPr lang="en-US" dirty="0"/>
              <a:t>IP Spoofing</a:t>
            </a:r>
            <a:endParaRPr lang="en-US" dirty="0"/>
          </a:p>
          <a:p>
            <a:r>
              <a:rPr lang="en-US" dirty="0" err="1"/>
              <a:t>Deauthentication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21" y="-254044"/>
            <a:ext cx="11012557" cy="1232452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dirty="0"/>
              <a:t>Social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4005075"/>
          </a:xfrm>
        </p:spPr>
        <p:txBody>
          <a:bodyPr/>
          <a:lstStyle/>
          <a:p>
            <a:r>
              <a:rPr lang="en-US" dirty="0"/>
              <a:t>Phishing</a:t>
            </a:r>
            <a:endParaRPr lang="en-US" dirty="0"/>
          </a:p>
          <a:p>
            <a:pPr lvl="1"/>
            <a:r>
              <a:rPr lang="en-US" dirty="0"/>
              <a:t>Spear Fishing</a:t>
            </a:r>
            <a:endParaRPr lang="en-US" dirty="0"/>
          </a:p>
          <a:p>
            <a:pPr lvl="1"/>
            <a:r>
              <a:rPr lang="en-US" dirty="0"/>
              <a:t>Whaling</a:t>
            </a:r>
            <a:endParaRPr lang="en-US" dirty="0"/>
          </a:p>
          <a:p>
            <a:r>
              <a:rPr lang="en-US" dirty="0"/>
              <a:t>Tailgating</a:t>
            </a:r>
            <a:endParaRPr lang="en-US" dirty="0"/>
          </a:p>
          <a:p>
            <a:r>
              <a:rPr lang="en-US" dirty="0"/>
              <a:t>Piggybacking</a:t>
            </a:r>
            <a:endParaRPr lang="en-US" dirty="0"/>
          </a:p>
          <a:p>
            <a:r>
              <a:rPr lang="en-US" dirty="0"/>
              <a:t>Shoulder Surfing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0</TotalTime>
  <Words>1034</Words>
  <Application>WPS Presentation</Application>
  <PresentationFormat>Widescreen</PresentationFormat>
  <Paragraphs>91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Gill Sans MT</vt:lpstr>
      <vt:lpstr>MS PGothic</vt:lpstr>
      <vt:lpstr>Times New Roman</vt:lpstr>
      <vt:lpstr>Calibri</vt:lpstr>
      <vt:lpstr>Times</vt:lpstr>
      <vt:lpstr>Impact</vt:lpstr>
      <vt:lpstr>Microsoft YaHei</vt:lpstr>
      <vt:lpstr>Arial Unicode MS</vt:lpstr>
      <vt:lpstr>Badge</vt:lpstr>
      <vt:lpstr>Chapter 17</vt:lpstr>
      <vt:lpstr>Threats</vt:lpstr>
      <vt:lpstr>PowerPoint 演示文稿</vt:lpstr>
      <vt:lpstr>PowerPoint 演示文稿</vt:lpstr>
      <vt:lpstr>PowerPoint 演示文稿</vt:lpstr>
      <vt:lpstr>PowerPoint 演示文稿</vt:lpstr>
      <vt:lpstr>Rogue DHCP</vt:lpstr>
      <vt:lpstr>More Threats</vt:lpstr>
      <vt:lpstr>More Threats</vt:lpstr>
      <vt:lpstr> Social Engineering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</dc:title>
  <dc:creator>Student</dc:creator>
  <cp:lastModifiedBy>Student</cp:lastModifiedBy>
  <cp:revision>23</cp:revision>
  <dcterms:created xsi:type="dcterms:W3CDTF">2018-10-31T21:47:00Z</dcterms:created>
  <dcterms:modified xsi:type="dcterms:W3CDTF">2022-09-23T00:30:46Z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63372D91FA504814B740A9F390D1DDD4</vt:lpwstr>
  </property>
  <property fmtid="{D5CDD505-2E9C-101B-9397-08002B2CF9AE}" pid="3" name="KSOProductBuildVer">
    <vt:lpwstr>1033-11.2.0.11306</vt:lpwstr>
  </property>
</Properties>
</file>