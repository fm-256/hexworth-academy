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3"/>
  </p:notesMasterIdLst>
  <p:sldIdLst>
    <p:sldId id="256" r:id="rId2"/>
    <p:sldId id="257" r:id="rId3"/>
    <p:sldId id="407" r:id="rId4"/>
    <p:sldId id="258" r:id="rId5"/>
    <p:sldId id="385" r:id="rId6"/>
    <p:sldId id="386" r:id="rId7"/>
    <p:sldId id="388" r:id="rId8"/>
    <p:sldId id="387" r:id="rId9"/>
    <p:sldId id="401" r:id="rId10"/>
    <p:sldId id="402" r:id="rId11"/>
    <p:sldId id="40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58421"/>
  </p:normalViewPr>
  <p:slideViewPr>
    <p:cSldViewPr snapToGrid="0">
      <p:cViewPr varScale="1">
        <p:scale>
          <a:sx n="64" d="100"/>
          <a:sy n="64" d="100"/>
        </p:scale>
        <p:origin x="2368" y="17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FF68BE-1FA0-524B-8E78-60EDD55E5124}" type="datetimeFigureOut">
              <a:rPr lang="en-US" smtClean="0"/>
              <a:t>9/21/22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7D347-C048-A941-A00B-E83F4B11C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4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Change Management</a:t>
            </a:r>
            <a:r>
              <a:rPr lang="en-US" dirty="0"/>
              <a:t>: Formal process of how changes are made in an organization or company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Document the reason for the change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Put in a change request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Exact steps required to implement the change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rollback process if it all fails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list of departments of people that it will impact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Notify all potentially impacted individuals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Approval process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Maintenance window is the amount of time a system will be down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BCP</a:t>
            </a:r>
            <a:r>
              <a:rPr lang="en-US" dirty="0"/>
              <a:t>: is a plan to keep business operational in the even that it needs to recover from a disaster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System Life Cycle</a:t>
            </a:r>
            <a:r>
              <a:rPr lang="en-US" dirty="0"/>
              <a:t>: managing asset disposal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Standard Operating Procedures</a:t>
            </a:r>
            <a:r>
              <a:rPr lang="en-US" dirty="0"/>
              <a:t>: the business objectives or how to handle different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7D347-C048-A941-A00B-E83F4B11C49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85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NDA</a:t>
            </a:r>
            <a:r>
              <a:rPr lang="en-US" dirty="0"/>
              <a:t>: agreement between two parties that defines what information is considered confidential and cannot be shared outside the two parties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SLA</a:t>
            </a:r>
            <a:r>
              <a:rPr lang="en-US" dirty="0"/>
              <a:t>: an agreement that defines the allowable time in which a party must respond to issues on behalf of the other party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MOU</a:t>
            </a:r>
            <a:r>
              <a:rPr lang="en-US" dirty="0"/>
              <a:t>: Both sides agree on the contents, it’s an informal letter of intent, not a contract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7D347-C048-A941-A00B-E83F4B11C4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37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Acceptable Use Policy</a:t>
            </a:r>
            <a:r>
              <a:rPr lang="en-US" dirty="0"/>
              <a:t>: Outlines every action that is allowed in addition to those that aren’t allowed using company assets or on the company’s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Password Policy</a:t>
            </a:r>
            <a:r>
              <a:rPr lang="en-US" dirty="0"/>
              <a:t>: defines the requirements for all passwords, including length, complexity, and 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BYOD policy</a:t>
            </a:r>
            <a:r>
              <a:rPr lang="en-US" dirty="0"/>
              <a:t>: Implement control over personal devices to protect the safety of your network and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Remote Access Policy</a:t>
            </a:r>
            <a:r>
              <a:rPr lang="en-US" dirty="0"/>
              <a:t>: define requirements for all remote access connections to the network; VPNs, specific internet speeds, wired vs wireless methods, </a:t>
            </a:r>
            <a:r>
              <a:rPr lang="en-US" dirty="0" err="1"/>
              <a:t>etc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Onboarding/Offboarding policy</a:t>
            </a:r>
            <a:r>
              <a:rPr lang="en-US" dirty="0"/>
              <a:t>: documentation, training, and equipment inventory when adding an individual to your company or firing an individual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Security Policy</a:t>
            </a:r>
            <a:r>
              <a:rPr lang="en-US" dirty="0"/>
              <a:t>: Documentation of IT security; Notification bulletins, emails, documentation to inform users and staff on the standards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Data Loss Prevention</a:t>
            </a:r>
            <a:r>
              <a:rPr lang="en-US" dirty="0"/>
              <a:t>: designed to look for sensitive data and block it from leaving the network, define policies around how sensitive data is to be transferred outside the network like adding encryption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7D347-C048-A941-A00B-E83F4B11C4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20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7D347-C048-A941-A00B-E83F4B11C4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01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Follows the physical wires and devices, shows the flow of data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7D347-C048-A941-A00B-E83F4B11C4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51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Logical diagram includes protocols, configurations, addressing schemes, access lists, firewalls,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7D347-C048-A941-A00B-E83F4B11C4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18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1619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7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52332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844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1633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452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6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498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76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02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82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3880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wmf"/><Relationship Id="rId5" Type="http://schemas.openxmlformats.org/officeDocument/2006/relationships/image" Target="../media/image5.wmf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wmf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Organizational Documents and Policies </a:t>
            </a:r>
          </a:p>
        </p:txBody>
      </p:sp>
    </p:spTree>
    <p:extLst>
      <p:ext uri="{BB962C8B-B14F-4D97-AF65-F5344CB8AC3E}">
        <p14:creationId xmlns:p14="http://schemas.microsoft.com/office/powerpoint/2010/main" val="3370925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134" y="224874"/>
            <a:ext cx="10873409" cy="1507067"/>
          </a:xfrm>
        </p:spPr>
        <p:txBody>
          <a:bodyPr/>
          <a:lstStyle/>
          <a:p>
            <a:pPr algn="ctr"/>
            <a:r>
              <a:rPr lang="en-US" dirty="0"/>
              <a:t>Plans and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7" y="1470991"/>
            <a:ext cx="10178322" cy="4706775"/>
          </a:xfrm>
        </p:spPr>
        <p:txBody>
          <a:bodyPr>
            <a:normAutofit/>
          </a:bodyPr>
          <a:lstStyle/>
          <a:p>
            <a:r>
              <a:rPr lang="en-US" sz="2800" dirty="0"/>
              <a:t>Change Management</a:t>
            </a:r>
          </a:p>
          <a:p>
            <a:r>
              <a:rPr lang="en-US" sz="2800" dirty="0"/>
              <a:t>Incident Response Plan</a:t>
            </a:r>
          </a:p>
          <a:p>
            <a:r>
              <a:rPr lang="en-US" sz="2800" dirty="0"/>
              <a:t>Disaster Recovery Plan</a:t>
            </a:r>
          </a:p>
          <a:p>
            <a:r>
              <a:rPr lang="en-US" sz="2800" dirty="0"/>
              <a:t>Business Continuity Plan</a:t>
            </a:r>
          </a:p>
          <a:p>
            <a:r>
              <a:rPr lang="en-US" sz="2800" dirty="0"/>
              <a:t>System Life Cycle</a:t>
            </a:r>
          </a:p>
          <a:p>
            <a:r>
              <a:rPr lang="en-US" sz="2800" dirty="0"/>
              <a:t>Standard Operating Procedure</a:t>
            </a:r>
          </a:p>
        </p:txBody>
      </p:sp>
    </p:spTree>
    <p:extLst>
      <p:ext uri="{BB962C8B-B14F-4D97-AF65-F5344CB8AC3E}">
        <p14:creationId xmlns:p14="http://schemas.microsoft.com/office/powerpoint/2010/main" val="17231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BC95-F8A9-40B8-A5E1-2204B8C89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382385"/>
            <a:ext cx="10952922" cy="1492132"/>
          </a:xfrm>
        </p:spPr>
        <p:txBody>
          <a:bodyPr/>
          <a:lstStyle/>
          <a:p>
            <a:pPr algn="ctr"/>
            <a:r>
              <a:rPr lang="en-US" dirty="0"/>
              <a:t>Common Agreements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A0CDE-1F4C-4E81-8DE9-77BB51580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874517"/>
            <a:ext cx="10178322" cy="4005075"/>
          </a:xfrm>
        </p:spPr>
        <p:txBody>
          <a:bodyPr/>
          <a:lstStyle/>
          <a:p>
            <a:r>
              <a:rPr lang="en-US" sz="2800" dirty="0"/>
              <a:t>Non-disclosure agreement (NDA)</a:t>
            </a:r>
          </a:p>
          <a:p>
            <a:r>
              <a:rPr lang="en-US" sz="2800" dirty="0"/>
              <a:t>Service-level agreement (SLA)</a:t>
            </a:r>
          </a:p>
          <a:p>
            <a:r>
              <a:rPr lang="en-US" sz="2800" dirty="0"/>
              <a:t>Memorandum of Understanding (MOU)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77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277" y="382385"/>
            <a:ext cx="10913165" cy="1492132"/>
          </a:xfrm>
        </p:spPr>
        <p:txBody>
          <a:bodyPr/>
          <a:lstStyle/>
          <a:p>
            <a:pPr algn="ctr"/>
            <a:r>
              <a:rPr lang="en-US" dirty="0"/>
              <a:t>Hardening and security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371601"/>
            <a:ext cx="10178322" cy="4507992"/>
          </a:xfrm>
        </p:spPr>
        <p:txBody>
          <a:bodyPr>
            <a:normAutofit/>
          </a:bodyPr>
          <a:lstStyle/>
          <a:p>
            <a:r>
              <a:rPr lang="en-US" sz="2800" dirty="0"/>
              <a:t>Acceptable Use Policy</a:t>
            </a:r>
          </a:p>
          <a:p>
            <a:r>
              <a:rPr lang="en-US" sz="2800" dirty="0"/>
              <a:t>Password Policy</a:t>
            </a:r>
          </a:p>
          <a:p>
            <a:r>
              <a:rPr lang="en-US" sz="2800" dirty="0"/>
              <a:t>BYOD Policy</a:t>
            </a:r>
          </a:p>
          <a:p>
            <a:r>
              <a:rPr lang="en-US" sz="2800" dirty="0"/>
              <a:t>Remote Access Policy</a:t>
            </a:r>
          </a:p>
          <a:p>
            <a:r>
              <a:rPr lang="en-US" sz="2800" dirty="0"/>
              <a:t>Onboarding/Offboarding Policy</a:t>
            </a:r>
          </a:p>
          <a:p>
            <a:r>
              <a:rPr lang="en-US" sz="2800" dirty="0"/>
              <a:t>Security Policy</a:t>
            </a:r>
          </a:p>
          <a:p>
            <a:r>
              <a:rPr lang="en-US" sz="2800" dirty="0"/>
              <a:t>Data Loss Prevention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96754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8"/>
          <p:cNvSpPr>
            <a:spLocks noGrp="1"/>
          </p:cNvSpPr>
          <p:nvPr>
            <p:ph type="title" idx="4294967295"/>
          </p:nvPr>
        </p:nvSpPr>
        <p:spPr>
          <a:xfrm>
            <a:off x="990599" y="152400"/>
            <a:ext cx="10836965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Schematics and Diagrams</a:t>
            </a:r>
          </a:p>
        </p:txBody>
      </p:sp>
      <p:sp>
        <p:nvSpPr>
          <p:cNvPr id="14345" name="Content Placeholder 9"/>
          <p:cNvSpPr>
            <a:spLocks noGrp="1"/>
          </p:cNvSpPr>
          <p:nvPr>
            <p:ph idx="4294967295"/>
          </p:nvPr>
        </p:nvSpPr>
        <p:spPr>
          <a:xfrm>
            <a:off x="990599" y="1295400"/>
            <a:ext cx="8312427" cy="4525962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2400" dirty="0"/>
              <a:t>Schematics and diagrams can be simple sketches created while brainstorming or troubleshooting on the fly; or they can be highly detailed, refined illustrations created with some of the flashy software packages available today.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Fall into these three groups: </a:t>
            </a:r>
          </a:p>
          <a:p>
            <a:pPr lvl="1"/>
            <a:r>
              <a:rPr lang="en-US" altLang="en-US" sz="2400" dirty="0"/>
              <a:t>Wiring diagrams/schematics</a:t>
            </a:r>
          </a:p>
          <a:p>
            <a:pPr lvl="1"/>
            <a:r>
              <a:rPr lang="en-US" altLang="en-US" sz="2400" dirty="0"/>
              <a:t>Physical network diagrams</a:t>
            </a:r>
          </a:p>
          <a:p>
            <a:pPr lvl="1"/>
            <a:r>
              <a:rPr lang="en-US" altLang="en-US" sz="2400" dirty="0"/>
              <a:t>Logical network diagrams</a:t>
            </a:r>
          </a:p>
          <a:p>
            <a:endParaRPr lang="en-US" altLang="en-US" sz="1800" dirty="0"/>
          </a:p>
        </p:txBody>
      </p:sp>
      <p:sp>
        <p:nvSpPr>
          <p:cNvPr id="14344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8"/>
          <p:cNvSpPr>
            <a:spLocks noGrp="1"/>
          </p:cNvSpPr>
          <p:nvPr>
            <p:ph type="title" idx="4294967295"/>
          </p:nvPr>
        </p:nvSpPr>
        <p:spPr>
          <a:xfrm>
            <a:off x="934278" y="274638"/>
            <a:ext cx="11257722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Wiring schematics</a:t>
            </a:r>
          </a:p>
        </p:txBody>
      </p:sp>
      <p:sp>
        <p:nvSpPr>
          <p:cNvPr id="15369" name="Content Placeholder 9"/>
          <p:cNvSpPr>
            <a:spLocks noGrp="1"/>
          </p:cNvSpPr>
          <p:nvPr>
            <p:ph idx="4294967295"/>
          </p:nvPr>
        </p:nvSpPr>
        <p:spPr>
          <a:xfrm>
            <a:off x="934278" y="1737519"/>
            <a:ext cx="2819400" cy="1066800"/>
          </a:xfrm>
          <a:ln/>
        </p:spPr>
        <p:txBody>
          <a:bodyPr vert="horz" wrap="square" lIns="91440" tIns="45720" rIns="91440" bIns="45720" anchor="t">
            <a:normAutofit fontScale="85000" lnSpcReduction="10000"/>
          </a:bodyPr>
          <a:lstStyle/>
          <a:p>
            <a:pPr lvl="1"/>
            <a:r>
              <a:rPr lang="en-US" altLang="en-US" dirty="0"/>
              <a:t>Made up of cabled and other physical media:</a:t>
            </a:r>
            <a:br>
              <a:rPr lang="en-US" altLang="en-US" dirty="0"/>
            </a:br>
            <a:r>
              <a:rPr lang="en-US" altLang="en-US" dirty="0"/>
              <a:t>coax, fiber, and twisted pair.</a:t>
            </a:r>
          </a:p>
          <a:p>
            <a:pPr lvl="1"/>
            <a:endParaRPr lang="en-US" altLang="en-US" dirty="0"/>
          </a:p>
        </p:txBody>
      </p:sp>
      <p:sp>
        <p:nvSpPr>
          <p:cNvPr id="15368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15370" name="Content Placeholder 9"/>
          <p:cNvSpPr/>
          <p:nvPr/>
        </p:nvSpPr>
        <p:spPr>
          <a:xfrm>
            <a:off x="2343978" y="4597665"/>
            <a:ext cx="6324600" cy="1066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r>
              <a:rPr lang="en-US" altLang="en-US" sz="1800" dirty="0"/>
              <a:t>For example, in an RJ45 connector, pin 1 is on the left and pin 8 is on the right, so clearly, within your UTP cable, make sure the right wires get to the right pins.</a:t>
            </a:r>
            <a:endParaRPr lang="en-US" altLang="en-US" sz="2000" dirty="0"/>
          </a:p>
          <a:p>
            <a:pPr lvl="1"/>
            <a:endParaRPr lang="en-US" altLang="en-US" dirty="0"/>
          </a:p>
        </p:txBody>
      </p:sp>
      <p:sp>
        <p:nvSpPr>
          <p:cNvPr id="15371" name="Text Box 12"/>
          <p:cNvSpPr txBox="1"/>
          <p:nvPr/>
        </p:nvSpPr>
        <p:spPr>
          <a:xfrm>
            <a:off x="6791222" y="4158703"/>
            <a:ext cx="1505156" cy="338554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1600" b="1" dirty="0"/>
              <a:t>RJ45 Connector</a:t>
            </a:r>
          </a:p>
        </p:txBody>
      </p:sp>
      <p:pic>
        <p:nvPicPr>
          <p:cNvPr id="15372" name="Picture 6" descr="http://www.usb2can.com/fileadmin/pics/rj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459433"/>
            <a:ext cx="3533775" cy="2657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8" name="Rectangle 8"/>
          <p:cNvSpPr>
            <a:spLocks noGrp="1"/>
          </p:cNvSpPr>
          <p:nvPr>
            <p:ph type="title" idx="4294967295"/>
          </p:nvPr>
        </p:nvSpPr>
        <p:spPr>
          <a:xfrm>
            <a:off x="1053548" y="-46038"/>
            <a:ext cx="10853530" cy="792163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Physical Network Diagram</a:t>
            </a:r>
          </a:p>
        </p:txBody>
      </p:sp>
      <p:sp>
        <p:nvSpPr>
          <p:cNvPr id="18441" name="Content Placeholder 9"/>
          <p:cNvSpPr>
            <a:spLocks noGrp="1"/>
          </p:cNvSpPr>
          <p:nvPr>
            <p:ph idx="4294967295"/>
          </p:nvPr>
        </p:nvSpPr>
        <p:spPr>
          <a:xfrm>
            <a:off x="4467225" y="792163"/>
            <a:ext cx="7724775" cy="2922587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Physical Network Diagrams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i="1" dirty="0"/>
              <a:t>physical network diagram</a:t>
            </a:r>
            <a:r>
              <a:rPr lang="en-US" altLang="en-US" dirty="0"/>
              <a:t> contains all the physical devices and connectivity paths on your network and should accurately picture how your network physically fits together in detail.</a:t>
            </a:r>
          </a:p>
          <a:p>
            <a:r>
              <a:rPr lang="en-US" altLang="en-US" sz="1800" dirty="0"/>
              <a:t>Avoiding Confusion</a:t>
            </a:r>
          </a:p>
          <a:p>
            <a:pPr lvl="1"/>
            <a:r>
              <a:rPr lang="en-US" altLang="en-US" dirty="0"/>
              <a:t>Come up with systems for naming devices and numbering connections that are intuitive</a:t>
            </a:r>
            <a:endParaRPr lang="en-US" altLang="en-US" sz="1600" dirty="0"/>
          </a:p>
        </p:txBody>
      </p:sp>
      <p:sp>
        <p:nvSpPr>
          <p:cNvPr id="18440" name="Rectangle 12"/>
          <p:cNvSpPr/>
          <p:nvPr/>
        </p:nvSpPr>
        <p:spPr>
          <a:xfrm>
            <a:off x="4646613" y="60785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94B255-D76C-4127-8E86-97D93C2AC3D8}"/>
              </a:ext>
            </a:extLst>
          </p:cNvPr>
          <p:cNvGrpSpPr/>
          <p:nvPr/>
        </p:nvGrpSpPr>
        <p:grpSpPr>
          <a:xfrm>
            <a:off x="1716461" y="3551667"/>
            <a:ext cx="6636274" cy="3118442"/>
            <a:chOff x="4240607" y="3154363"/>
            <a:chExt cx="5741593" cy="370363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552037C-7262-465F-8C0F-8EE0F088EE44}"/>
                </a:ext>
              </a:extLst>
            </p:cNvPr>
            <p:cNvGrpSpPr/>
            <p:nvPr/>
          </p:nvGrpSpPr>
          <p:grpSpPr>
            <a:xfrm>
              <a:off x="4240607" y="3182393"/>
              <a:ext cx="5741593" cy="3675607"/>
              <a:chOff x="4288006" y="3154363"/>
              <a:chExt cx="5741593" cy="3675607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EE9C7929-B61A-46EE-9DFA-D5AD741051A5}"/>
                  </a:ext>
                </a:extLst>
              </p:cNvPr>
              <p:cNvGrpSpPr/>
              <p:nvPr/>
            </p:nvGrpSpPr>
            <p:grpSpPr>
              <a:xfrm>
                <a:off x="4288006" y="3154363"/>
                <a:ext cx="5741593" cy="3675607"/>
                <a:chOff x="4213621" y="3286125"/>
                <a:chExt cx="5741593" cy="3675607"/>
              </a:xfrm>
            </p:grpSpPr>
            <p:cxnSp>
              <p:nvCxnSpPr>
                <p:cNvPr id="18442" name="Straight Connector 40"/>
                <p:cNvCxnSpPr/>
                <p:nvPr/>
              </p:nvCxnSpPr>
              <p:spPr>
                <a:xfrm flipV="1">
                  <a:off x="5962650" y="4718050"/>
                  <a:ext cx="0" cy="1644650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8444" name="Straight Connector 40"/>
                <p:cNvCxnSpPr/>
                <p:nvPr/>
              </p:nvCxnSpPr>
              <p:spPr>
                <a:xfrm flipV="1">
                  <a:off x="8053388" y="4735514"/>
                  <a:ext cx="608012" cy="1049337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8445" name="Straight Connector 40"/>
                <p:cNvCxnSpPr/>
                <p:nvPr/>
              </p:nvCxnSpPr>
              <p:spPr>
                <a:xfrm flipH="1" flipV="1">
                  <a:off x="8896350" y="4805364"/>
                  <a:ext cx="622300" cy="1177925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8446" name="Straight Connector 40"/>
                <p:cNvCxnSpPr/>
                <p:nvPr/>
              </p:nvCxnSpPr>
              <p:spPr>
                <a:xfrm>
                  <a:off x="6034088" y="4732338"/>
                  <a:ext cx="2862262" cy="0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8447" name="Straight Connector 40"/>
                <p:cNvCxnSpPr/>
                <p:nvPr/>
              </p:nvCxnSpPr>
              <p:spPr>
                <a:xfrm flipH="1">
                  <a:off x="4779964" y="3698876"/>
                  <a:ext cx="2573337" cy="2182813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8448" name="Straight Connector 40"/>
                <p:cNvCxnSpPr/>
                <p:nvPr/>
              </p:nvCxnSpPr>
              <p:spPr>
                <a:xfrm>
                  <a:off x="5649913" y="3679825"/>
                  <a:ext cx="1892300" cy="0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pic>
              <p:nvPicPr>
                <p:cNvPr id="18450" name="Picture 4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89989" y="5907088"/>
                  <a:ext cx="1165225" cy="43656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grpSp>
              <p:nvGrpSpPr>
                <p:cNvPr id="18451" name="Group 3"/>
                <p:cNvGrpSpPr/>
                <p:nvPr/>
              </p:nvGrpSpPr>
              <p:grpSpPr>
                <a:xfrm>
                  <a:off x="7588250" y="5137150"/>
                  <a:ext cx="719138" cy="1130300"/>
                  <a:chOff x="1036648" y="3420094"/>
                  <a:chExt cx="718509" cy="1130964"/>
                </a:xfrm>
              </p:grpSpPr>
              <p:pic>
                <p:nvPicPr>
                  <p:cNvPr id="18469" name="Picture 4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163638" y="3420094"/>
                    <a:ext cx="591519" cy="59151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18470" name="Picture 4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145871" y="3572493"/>
                    <a:ext cx="591519" cy="59151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18471" name="Picture 4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095154" y="3749365"/>
                    <a:ext cx="591519" cy="59151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18472" name="Picture 4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036648" y="3959539"/>
                    <a:ext cx="591519" cy="59151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18452" name="Picture 35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86289" y="5337176"/>
                  <a:ext cx="479425" cy="10255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8453" name="Picture 27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13401" y="5530851"/>
                  <a:ext cx="481013" cy="10255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8454" name="Picture 27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78601" y="5394326"/>
                  <a:ext cx="481013" cy="102552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8455" name="Picture 37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15163" y="3463926"/>
                  <a:ext cx="601662" cy="43021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grpSp>
              <p:nvGrpSpPr>
                <p:cNvPr id="18456" name="Group 12"/>
                <p:cNvGrpSpPr/>
                <p:nvPr/>
              </p:nvGrpSpPr>
              <p:grpSpPr>
                <a:xfrm>
                  <a:off x="4518026" y="3286125"/>
                  <a:ext cx="1323975" cy="787400"/>
                  <a:chOff x="3952191" y="3774446"/>
                  <a:chExt cx="1325027" cy="787854"/>
                </a:xfrm>
              </p:grpSpPr>
              <p:pic>
                <p:nvPicPr>
                  <p:cNvPr id="18467" name="Picture 2"/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952191" y="3774446"/>
                    <a:ext cx="1325027" cy="78785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8468" name="TextBox 20"/>
                  <p:cNvSpPr txBox="1"/>
                  <p:nvPr/>
                </p:nvSpPr>
                <p:spPr>
                  <a:xfrm>
                    <a:off x="4213472" y="4021494"/>
                    <a:ext cx="881973" cy="3139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b="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5pPr>
                  </a:lstStyle>
                  <a:p>
                    <a:pPr marL="0" indent="0" eaLnBrk="1" hangingPunct="1">
                      <a:lnSpc>
                        <a:spcPct val="90000"/>
                      </a:lnSpc>
                      <a:spcBef>
                        <a:spcPct val="0"/>
                      </a:spcBef>
                      <a:buNone/>
                    </a:pPr>
                    <a:r>
                      <a:rPr lang="en-US" altLang="en-US" sz="1600" b="1" dirty="0"/>
                      <a:t>Internet</a:t>
                    </a:r>
                  </a:p>
                </p:txBody>
              </p:sp>
            </p:grpSp>
            <p:pic>
              <p:nvPicPr>
                <p:cNvPr id="18457" name="Picture 41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00701" y="4595814"/>
                  <a:ext cx="746125" cy="3333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8458" name="Picture 41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23289" y="4583114"/>
                  <a:ext cx="746125" cy="33178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8459" name="TextBox 20"/>
                <p:cNvSpPr txBox="1"/>
                <p:nvPr/>
              </p:nvSpPr>
              <p:spPr>
                <a:xfrm>
                  <a:off x="4213621" y="6388101"/>
                  <a:ext cx="883447" cy="5355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/>
                    <a:t>Server 1</a:t>
                  </a:r>
                </a:p>
                <a:p>
                  <a:pPr mar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/>
                    <a:t>(Login)</a:t>
                  </a:r>
                </a:p>
              </p:txBody>
            </p:sp>
            <p:sp>
              <p:nvSpPr>
                <p:cNvPr id="18460" name="TextBox 20"/>
                <p:cNvSpPr txBox="1"/>
                <p:nvPr/>
              </p:nvSpPr>
              <p:spPr>
                <a:xfrm>
                  <a:off x="5459809" y="6388101"/>
                  <a:ext cx="883447" cy="5355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/>
                    <a:t>Server 2</a:t>
                  </a:r>
                </a:p>
                <a:p>
                  <a:pPr mar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/>
                    <a:t>(Files)</a:t>
                  </a:r>
                </a:p>
              </p:txBody>
            </p:sp>
            <p:sp>
              <p:nvSpPr>
                <p:cNvPr id="18461" name="TextBox 20"/>
                <p:cNvSpPr txBox="1"/>
                <p:nvPr/>
              </p:nvSpPr>
              <p:spPr>
                <a:xfrm>
                  <a:off x="6478984" y="6426201"/>
                  <a:ext cx="883447" cy="5355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/>
                    <a:t>Server 3</a:t>
                  </a:r>
                </a:p>
                <a:p>
                  <a:pPr mar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/>
                    <a:t>(Mail)</a:t>
                  </a:r>
                </a:p>
              </p:txBody>
            </p:sp>
            <p:sp>
              <p:nvSpPr>
                <p:cNvPr id="18462" name="TextBox 20"/>
                <p:cNvSpPr txBox="1"/>
                <p:nvPr/>
              </p:nvSpPr>
              <p:spPr>
                <a:xfrm>
                  <a:off x="7321551" y="6334126"/>
                  <a:ext cx="1323975" cy="5365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/>
                    <a:t>19 </a:t>
                  </a:r>
                </a:p>
                <a:p>
                  <a:pPr mar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/>
                    <a:t>workstations</a:t>
                  </a:r>
                </a:p>
              </p:txBody>
            </p:sp>
            <p:sp>
              <p:nvSpPr>
                <p:cNvPr id="18463" name="TextBox 20"/>
                <p:cNvSpPr txBox="1"/>
                <p:nvPr/>
              </p:nvSpPr>
              <p:spPr>
                <a:xfrm>
                  <a:off x="8783659" y="6346825"/>
                  <a:ext cx="1000082" cy="3139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/>
                    <a:t>2 Printers</a:t>
                  </a:r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D4BCE690-73FB-4794-83A3-0802C773D416}"/>
                  </a:ext>
                </a:extLst>
              </p:cNvPr>
              <p:cNvGrpSpPr/>
              <p:nvPr/>
            </p:nvGrpSpPr>
            <p:grpSpPr>
              <a:xfrm>
                <a:off x="5567528" y="4238625"/>
                <a:ext cx="4405148" cy="1744664"/>
                <a:chOff x="5567528" y="4238625"/>
                <a:chExt cx="4405148" cy="1744664"/>
              </a:xfrm>
            </p:grpSpPr>
            <p:cxnSp>
              <p:nvCxnSpPr>
                <p:cNvPr id="18443" name="Straight Connector 40"/>
                <p:cNvCxnSpPr>
                  <a:cxnSpLocks/>
                </p:cNvCxnSpPr>
                <p:nvPr/>
              </p:nvCxnSpPr>
              <p:spPr>
                <a:xfrm flipH="1" flipV="1">
                  <a:off x="6196013" y="4789490"/>
                  <a:ext cx="518704" cy="649286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pic>
              <p:nvPicPr>
                <p:cNvPr id="18449" name="Picture 4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807451" y="5548314"/>
                  <a:ext cx="1165225" cy="434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8464" name="TextBox 20"/>
                <p:cNvSpPr txBox="1"/>
                <p:nvPr/>
              </p:nvSpPr>
              <p:spPr>
                <a:xfrm>
                  <a:off x="8488528" y="4238625"/>
                  <a:ext cx="898195" cy="3139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/>
                    <a:t>Switch 2</a:t>
                  </a:r>
                </a:p>
              </p:txBody>
            </p:sp>
            <p:sp>
              <p:nvSpPr>
                <p:cNvPr id="18465" name="TextBox 20"/>
                <p:cNvSpPr txBox="1"/>
                <p:nvPr/>
              </p:nvSpPr>
              <p:spPr>
                <a:xfrm>
                  <a:off x="5567528" y="4241800"/>
                  <a:ext cx="898195" cy="3139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/>
                    <a:t>Switch 1</a:t>
                  </a:r>
                </a:p>
              </p:txBody>
            </p:sp>
          </p:grpSp>
        </p:grpSp>
        <p:sp>
          <p:nvSpPr>
            <p:cNvPr id="18466" name="TextBox 20"/>
            <p:cNvSpPr txBox="1"/>
            <p:nvPr/>
          </p:nvSpPr>
          <p:spPr>
            <a:xfrm>
              <a:off x="6972267" y="3154363"/>
              <a:ext cx="762067" cy="3139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/>
                <a:t>Router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Rectangle 8"/>
          <p:cNvSpPr>
            <a:spLocks noGrp="1"/>
          </p:cNvSpPr>
          <p:nvPr>
            <p:ph type="title" idx="4294967295"/>
          </p:nvPr>
        </p:nvSpPr>
        <p:spPr>
          <a:xfrm>
            <a:off x="954158" y="274638"/>
            <a:ext cx="10873408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Schematics and Diagrams</a:t>
            </a:r>
          </a:p>
        </p:txBody>
      </p:sp>
      <p:sp>
        <p:nvSpPr>
          <p:cNvPr id="17417" name="Content Placeholder 9"/>
          <p:cNvSpPr>
            <a:spLocks noGrp="1"/>
          </p:cNvSpPr>
          <p:nvPr>
            <p:ph idx="4294967295"/>
          </p:nvPr>
        </p:nvSpPr>
        <p:spPr>
          <a:xfrm>
            <a:off x="6096000" y="1570038"/>
            <a:ext cx="6096000" cy="4525962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All wires have to plug in somewhere.</a:t>
            </a:r>
          </a:p>
          <a:p>
            <a:r>
              <a:rPr lang="en-US" altLang="en-US" sz="1800" dirty="0"/>
              <a:t>It’s really good to know where that is. </a:t>
            </a:r>
          </a:p>
          <a:p>
            <a:r>
              <a:rPr lang="en-US" altLang="en-US" sz="1800" dirty="0"/>
              <a:t>Whether it’s into a hub, a switch, a router, a workstation, or the wall, you positively need to know the who, what, where, when, and how of the way the wiring is attached.</a:t>
            </a:r>
            <a:endParaRPr lang="en-US" altLang="en-US" dirty="0"/>
          </a:p>
        </p:txBody>
      </p:sp>
      <p:sp>
        <p:nvSpPr>
          <p:cNvPr id="1741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graphicFrame>
        <p:nvGraphicFramePr>
          <p:cNvPr id="174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711476"/>
              </p:ext>
            </p:extLst>
          </p:nvPr>
        </p:nvGraphicFramePr>
        <p:xfrm>
          <a:off x="5416142" y="4024618"/>
          <a:ext cx="36576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57600" imgH="2743200" progId="Photoshop.Image.10">
                  <p:embed/>
                </p:oleObj>
              </mc:Choice>
              <mc:Fallback>
                <p:oleObj r:id="rId2" imgW="3657600" imgH="2743200" progId="Photoshop.Image.10">
                  <p:embed/>
                  <p:pic>
                    <p:nvPicPr>
                      <p:cNvPr id="17418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16142" y="4024618"/>
                        <a:ext cx="3657600" cy="274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Rectangle 8"/>
          <p:cNvSpPr>
            <a:spLocks noGrp="1"/>
          </p:cNvSpPr>
          <p:nvPr>
            <p:ph type="title" idx="4294967295"/>
          </p:nvPr>
        </p:nvSpPr>
        <p:spPr>
          <a:xfrm>
            <a:off x="954156" y="274638"/>
            <a:ext cx="11237843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Detailed-Physical Diagram</a:t>
            </a:r>
          </a:p>
        </p:txBody>
      </p:sp>
      <p:sp>
        <p:nvSpPr>
          <p:cNvPr id="19465" name="Content Placeholder 9"/>
          <p:cNvSpPr>
            <a:spLocks noGrp="1"/>
          </p:cNvSpPr>
          <p:nvPr>
            <p:ph idx="4294967295"/>
          </p:nvPr>
        </p:nvSpPr>
        <p:spPr>
          <a:xfrm>
            <a:off x="6096000" y="1295400"/>
            <a:ext cx="6096000" cy="914400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A more detailed </a:t>
            </a:r>
            <a:r>
              <a:rPr lang="en-US" altLang="en-US" i="1" dirty="0"/>
              <a:t>physical network diagram</a:t>
            </a:r>
            <a:r>
              <a:rPr lang="en-US" altLang="en-US" dirty="0"/>
              <a:t> is necessary in many cases.</a:t>
            </a:r>
          </a:p>
        </p:txBody>
      </p:sp>
      <p:sp>
        <p:nvSpPr>
          <p:cNvPr id="19464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cxnSp>
        <p:nvCxnSpPr>
          <p:cNvPr id="19466" name="Straight Connector 40"/>
          <p:cNvCxnSpPr/>
          <p:nvPr/>
        </p:nvCxnSpPr>
        <p:spPr>
          <a:xfrm flipH="1">
            <a:off x="4848225" y="5824539"/>
            <a:ext cx="133350" cy="541337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67" name="Straight Connector 40"/>
          <p:cNvCxnSpPr/>
          <p:nvPr/>
        </p:nvCxnSpPr>
        <p:spPr>
          <a:xfrm flipH="1">
            <a:off x="5632451" y="5738813"/>
            <a:ext cx="93663" cy="595312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68" name="Straight Connector 40"/>
          <p:cNvCxnSpPr/>
          <p:nvPr/>
        </p:nvCxnSpPr>
        <p:spPr>
          <a:xfrm flipH="1">
            <a:off x="6072189" y="5688013"/>
            <a:ext cx="92075" cy="5969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69" name="Straight Connector 40"/>
          <p:cNvCxnSpPr/>
          <p:nvPr/>
        </p:nvCxnSpPr>
        <p:spPr>
          <a:xfrm flipH="1">
            <a:off x="7629526" y="5759451"/>
            <a:ext cx="93663" cy="595313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70" name="Straight Connector 40"/>
          <p:cNvCxnSpPr/>
          <p:nvPr/>
        </p:nvCxnSpPr>
        <p:spPr>
          <a:xfrm>
            <a:off x="7986714" y="2352675"/>
            <a:ext cx="28575" cy="338455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71" name="Straight Connector 40"/>
          <p:cNvCxnSpPr/>
          <p:nvPr/>
        </p:nvCxnSpPr>
        <p:spPr>
          <a:xfrm flipH="1">
            <a:off x="4649789" y="4524375"/>
            <a:ext cx="663575" cy="122555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72" name="Straight Connector 40"/>
          <p:cNvCxnSpPr/>
          <p:nvPr/>
        </p:nvCxnSpPr>
        <p:spPr>
          <a:xfrm flipH="1">
            <a:off x="5005388" y="4562476"/>
            <a:ext cx="271462" cy="1196975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73" name="Straight Connector 40"/>
          <p:cNvCxnSpPr/>
          <p:nvPr/>
        </p:nvCxnSpPr>
        <p:spPr>
          <a:xfrm flipH="1">
            <a:off x="5276851" y="4524375"/>
            <a:ext cx="36513" cy="172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74" name="Straight Connector 40"/>
          <p:cNvCxnSpPr/>
          <p:nvPr/>
        </p:nvCxnSpPr>
        <p:spPr>
          <a:xfrm>
            <a:off x="5276850" y="4524376"/>
            <a:ext cx="450850" cy="1243013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75" name="Straight Connector 40"/>
          <p:cNvCxnSpPr/>
          <p:nvPr/>
        </p:nvCxnSpPr>
        <p:spPr>
          <a:xfrm>
            <a:off x="5276851" y="4524376"/>
            <a:ext cx="841375" cy="1243013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1" name="Isosceles Triangle 20"/>
          <p:cNvSpPr/>
          <p:nvPr/>
        </p:nvSpPr>
        <p:spPr bwMode="auto">
          <a:xfrm rot="15872155">
            <a:off x="8011320" y="2081439"/>
            <a:ext cx="542925" cy="659948"/>
          </a:xfrm>
          <a:prstGeom prst="triangl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algn="ctr" defTabSz="81470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2" name="Isosceles Triangle 21"/>
          <p:cNvSpPr/>
          <p:nvPr/>
        </p:nvSpPr>
        <p:spPr bwMode="auto">
          <a:xfrm rot="761788">
            <a:off x="7531100" y="4837338"/>
            <a:ext cx="300038" cy="659948"/>
          </a:xfrm>
          <a:prstGeom prst="triangle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algn="ctr" defTabSz="81470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3" name="Isosceles Triangle 22"/>
          <p:cNvSpPr/>
          <p:nvPr/>
        </p:nvSpPr>
        <p:spPr bwMode="auto">
          <a:xfrm rot="19838144">
            <a:off x="8207375" y="4750026"/>
            <a:ext cx="300038" cy="659948"/>
          </a:xfrm>
          <a:prstGeom prst="triangl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82124" tIns="41061" rIns="82124" bIns="41061" anchor="ctr">
            <a:spAutoFit/>
          </a:bodyPr>
          <a:lstStyle/>
          <a:p>
            <a:pPr algn="ctr" defTabSz="81470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19479" name="Straight Connector 40"/>
          <p:cNvCxnSpPr/>
          <p:nvPr/>
        </p:nvCxnSpPr>
        <p:spPr>
          <a:xfrm>
            <a:off x="4646613" y="4562475"/>
            <a:ext cx="10795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80" name="Straight Connector 40"/>
          <p:cNvCxnSpPr/>
          <p:nvPr/>
        </p:nvCxnSpPr>
        <p:spPr>
          <a:xfrm>
            <a:off x="5243513" y="2395539"/>
            <a:ext cx="2671762" cy="3175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81" name="Straight Connector 40"/>
          <p:cNvCxnSpPr/>
          <p:nvPr/>
        </p:nvCxnSpPr>
        <p:spPr>
          <a:xfrm>
            <a:off x="5356225" y="2266950"/>
            <a:ext cx="0" cy="23241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82" name="Straight Connector 40"/>
          <p:cNvCxnSpPr/>
          <p:nvPr/>
        </p:nvCxnSpPr>
        <p:spPr>
          <a:xfrm>
            <a:off x="6707188" y="2200275"/>
            <a:ext cx="0" cy="2827338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19483" name="Picture 1028"/>
          <p:cNvPicPr/>
          <p:nvPr/>
        </p:nvPicPr>
        <p:blipFill>
          <a:blip r:embed="rId2"/>
          <a:stretch>
            <a:fillRect/>
          </a:stretch>
        </p:blipFill>
        <p:spPr>
          <a:xfrm>
            <a:off x="5241926" y="3282951"/>
            <a:ext cx="320675" cy="525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8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963" y="4267201"/>
            <a:ext cx="265112" cy="5953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9485" name="Group 3"/>
          <p:cNvGrpSpPr/>
          <p:nvPr/>
        </p:nvGrpSpPr>
        <p:grpSpPr>
          <a:xfrm>
            <a:off x="6219826" y="2082800"/>
            <a:ext cx="1095375" cy="558800"/>
            <a:chOff x="263866" y="3233904"/>
            <a:chExt cx="939800" cy="558800"/>
          </a:xfrm>
        </p:grpSpPr>
        <p:pic>
          <p:nvPicPr>
            <p:cNvPr id="19513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3866" y="3233904"/>
              <a:ext cx="939800" cy="5588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514" name="TextBox 49"/>
            <p:cNvSpPr txBox="1"/>
            <p:nvPr/>
          </p:nvSpPr>
          <p:spPr>
            <a:xfrm>
              <a:off x="424943" y="3397888"/>
              <a:ext cx="617645" cy="233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000" b="1" dirty="0"/>
                <a:t>Internet</a:t>
              </a:r>
            </a:p>
          </p:txBody>
        </p:sp>
      </p:grpSp>
      <p:pic>
        <p:nvPicPr>
          <p:cNvPr id="19486" name="Picture 1028"/>
          <p:cNvPicPr/>
          <p:nvPr/>
        </p:nvPicPr>
        <p:blipFill>
          <a:blip r:embed="rId2"/>
          <a:stretch>
            <a:fillRect/>
          </a:stretch>
        </p:blipFill>
        <p:spPr>
          <a:xfrm>
            <a:off x="6572251" y="3282951"/>
            <a:ext cx="320675" cy="525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87" name="Picture 1028"/>
          <p:cNvPicPr/>
          <p:nvPr/>
        </p:nvPicPr>
        <p:blipFill>
          <a:blip r:embed="rId2"/>
          <a:stretch>
            <a:fillRect/>
          </a:stretch>
        </p:blipFill>
        <p:spPr>
          <a:xfrm>
            <a:off x="7915276" y="3282951"/>
            <a:ext cx="320675" cy="525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88" name="Picture 37"/>
          <p:cNvPicPr/>
          <p:nvPr/>
        </p:nvPicPr>
        <p:blipFill>
          <a:blip r:embed="rId5"/>
          <a:stretch>
            <a:fillRect/>
          </a:stretch>
        </p:blipFill>
        <p:spPr>
          <a:xfrm>
            <a:off x="5191125" y="2246314"/>
            <a:ext cx="369888" cy="263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89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9688" y="4402139"/>
            <a:ext cx="512762" cy="2301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0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0013" y="4410075"/>
            <a:ext cx="514350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1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3188" y="4410075"/>
            <a:ext cx="512762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2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0250" y="1898650"/>
            <a:ext cx="482600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3" name="Picture 37"/>
          <p:cNvPicPr/>
          <p:nvPr/>
        </p:nvPicPr>
        <p:blipFill>
          <a:blip r:embed="rId5"/>
          <a:stretch>
            <a:fillRect/>
          </a:stretch>
        </p:blipFill>
        <p:spPr>
          <a:xfrm>
            <a:off x="7794625" y="2266951"/>
            <a:ext cx="369888" cy="263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4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8514" y="2524125"/>
            <a:ext cx="414337" cy="368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5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4839" y="5545138"/>
            <a:ext cx="415925" cy="3667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6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076" y="5545138"/>
            <a:ext cx="415925" cy="3667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7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6676" y="5545138"/>
            <a:ext cx="415925" cy="3667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8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8151" y="5545138"/>
            <a:ext cx="415925" cy="3667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99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2326" y="5545138"/>
            <a:ext cx="415925" cy="3667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00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1364" y="5545138"/>
            <a:ext cx="415925" cy="3667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01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6964" y="5554663"/>
            <a:ext cx="415925" cy="3667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02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8964" y="5465764"/>
            <a:ext cx="446087" cy="446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03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2014" y="5465764"/>
            <a:ext cx="447675" cy="446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04" name="Picture 37"/>
          <p:cNvPicPr/>
          <p:nvPr/>
        </p:nvPicPr>
        <p:blipFill>
          <a:blip r:embed="rId5"/>
          <a:stretch>
            <a:fillRect/>
          </a:stretch>
        </p:blipFill>
        <p:spPr>
          <a:xfrm>
            <a:off x="6540500" y="2832101"/>
            <a:ext cx="368300" cy="263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505" name="TextBox 49"/>
          <p:cNvSpPr txBox="1"/>
          <p:nvPr/>
        </p:nvSpPr>
        <p:spPr>
          <a:xfrm>
            <a:off x="6415089" y="5272089"/>
            <a:ext cx="619125" cy="231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000" b="1" dirty="0"/>
              <a:t>Clients</a:t>
            </a:r>
          </a:p>
        </p:txBody>
      </p:sp>
      <p:pic>
        <p:nvPicPr>
          <p:cNvPr id="19506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0339" y="5600700"/>
            <a:ext cx="446087" cy="4460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07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8225" y="6142039"/>
            <a:ext cx="446088" cy="446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08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9938" y="6132513"/>
            <a:ext cx="444500" cy="44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09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4" y="4862514"/>
            <a:ext cx="446087" cy="446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10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6863" y="6151564"/>
            <a:ext cx="444500" cy="446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11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1263" y="6135689"/>
            <a:ext cx="444500" cy="446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12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525" y="6151564"/>
            <a:ext cx="446088" cy="4460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8"/>
          <p:cNvSpPr>
            <a:spLocks noGrp="1"/>
          </p:cNvSpPr>
          <p:nvPr>
            <p:ph type="title" idx="4294967295"/>
          </p:nvPr>
        </p:nvSpPr>
        <p:spPr>
          <a:xfrm>
            <a:off x="934278" y="0"/>
            <a:ext cx="11257722" cy="884238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Physical diagram</a:t>
            </a:r>
          </a:p>
        </p:txBody>
      </p:sp>
      <p:sp>
        <p:nvSpPr>
          <p:cNvPr id="20489" name="Content Placeholder 9"/>
          <p:cNvSpPr>
            <a:spLocks noGrp="1"/>
          </p:cNvSpPr>
          <p:nvPr>
            <p:ph idx="4294967295"/>
          </p:nvPr>
        </p:nvSpPr>
        <p:spPr>
          <a:xfrm>
            <a:off x="6096000" y="762000"/>
            <a:ext cx="6096000" cy="914400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dirty="0"/>
              <a:t>Detailed </a:t>
            </a:r>
            <a:r>
              <a:rPr lang="en-US" altLang="en-US" i="1" dirty="0"/>
              <a:t>physical network diagrams are </a:t>
            </a:r>
            <a:r>
              <a:rPr lang="en-US" altLang="en-US" dirty="0"/>
              <a:t>necessary even down to rack space.</a:t>
            </a:r>
          </a:p>
        </p:txBody>
      </p:sp>
      <p:sp>
        <p:nvSpPr>
          <p:cNvPr id="20488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20490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513" y="1781176"/>
            <a:ext cx="2025650" cy="5038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91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363" y="1771651"/>
            <a:ext cx="2024062" cy="5038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9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413" y="1943100"/>
            <a:ext cx="1731962" cy="254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9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626" y="4937125"/>
            <a:ext cx="1731963" cy="254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94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413" y="4518025"/>
            <a:ext cx="1731962" cy="254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95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413" y="5054600"/>
            <a:ext cx="1731962" cy="254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96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563" y="4635500"/>
            <a:ext cx="1731962" cy="254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97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564" y="6065838"/>
            <a:ext cx="1724025" cy="5635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98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739" y="5502276"/>
            <a:ext cx="1722437" cy="563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99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389" y="3779839"/>
            <a:ext cx="1730375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00" name="TextBox 10"/>
          <p:cNvSpPr txBox="1"/>
          <p:nvPr/>
        </p:nvSpPr>
        <p:spPr>
          <a:xfrm>
            <a:off x="4527551" y="3586163"/>
            <a:ext cx="1406525" cy="258762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200" b="1" dirty="0">
                <a:latin typeface="Calibri" panose="020F0502020204030204" pitchFamily="34" charset="0"/>
              </a:rPr>
              <a:t>Router 55.800.50.1</a:t>
            </a:r>
          </a:p>
        </p:txBody>
      </p:sp>
      <p:sp>
        <p:nvSpPr>
          <p:cNvPr id="20501" name="TextBox 27"/>
          <p:cNvSpPr txBox="1"/>
          <p:nvPr/>
        </p:nvSpPr>
        <p:spPr>
          <a:xfrm>
            <a:off x="4527551" y="4283075"/>
            <a:ext cx="1431925" cy="425450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200" b="1" dirty="0">
                <a:latin typeface="Calibri" panose="020F0502020204030204" pitchFamily="34" charset="0"/>
              </a:rPr>
              <a:t>VLAN1 Netware 5.1</a:t>
            </a:r>
          </a:p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200" b="1" dirty="0">
                <a:latin typeface="Calibri" panose="020F0502020204030204" pitchFamily="34" charset="0"/>
              </a:rPr>
              <a:t>55.811.50.20</a:t>
            </a:r>
          </a:p>
        </p:txBody>
      </p:sp>
      <p:sp>
        <p:nvSpPr>
          <p:cNvPr id="20502" name="TextBox 28"/>
          <p:cNvSpPr txBox="1"/>
          <p:nvPr/>
        </p:nvSpPr>
        <p:spPr>
          <a:xfrm>
            <a:off x="4562475" y="5126038"/>
            <a:ext cx="1352550" cy="423862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200" b="1" dirty="0">
                <a:latin typeface="Calibri" panose="020F0502020204030204" pitchFamily="34" charset="0"/>
              </a:rPr>
              <a:t>VLAN1 RedHat 7.1</a:t>
            </a:r>
          </a:p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200" b="1" dirty="0">
                <a:latin typeface="Calibri" panose="020F0502020204030204" pitchFamily="34" charset="0"/>
              </a:rPr>
              <a:t>55.812.50.20</a:t>
            </a:r>
          </a:p>
        </p:txBody>
      </p:sp>
      <p:sp>
        <p:nvSpPr>
          <p:cNvPr id="20503" name="TextBox 11"/>
          <p:cNvSpPr txBox="1"/>
          <p:nvPr/>
        </p:nvSpPr>
        <p:spPr>
          <a:xfrm>
            <a:off x="4562475" y="5654676"/>
            <a:ext cx="439738" cy="258763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UPS</a:t>
            </a:r>
          </a:p>
        </p:txBody>
      </p:sp>
      <p:sp>
        <p:nvSpPr>
          <p:cNvPr id="20504" name="TextBox 30"/>
          <p:cNvSpPr txBox="1"/>
          <p:nvPr/>
        </p:nvSpPr>
        <p:spPr>
          <a:xfrm>
            <a:off x="4562475" y="6218238"/>
            <a:ext cx="439738" cy="258762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200" b="1" dirty="0">
                <a:solidFill>
                  <a:schemeClr val="bg1"/>
                </a:solidFill>
                <a:latin typeface="Calibri" panose="020F0502020204030204" pitchFamily="34" charset="0"/>
              </a:rPr>
              <a:t>UPS</a:t>
            </a:r>
          </a:p>
        </p:txBody>
      </p:sp>
      <p:sp>
        <p:nvSpPr>
          <p:cNvPr id="20505" name="TextBox 31"/>
          <p:cNvSpPr txBox="1"/>
          <p:nvPr/>
        </p:nvSpPr>
        <p:spPr>
          <a:xfrm>
            <a:off x="7488238" y="2138363"/>
            <a:ext cx="1504950" cy="258762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200" b="1" dirty="0">
                <a:latin typeface="Calibri" panose="020F0502020204030204" pitchFamily="34" charset="0"/>
              </a:rPr>
              <a:t>Cisco 2960 XL Switch</a:t>
            </a:r>
          </a:p>
        </p:txBody>
      </p:sp>
      <p:sp>
        <p:nvSpPr>
          <p:cNvPr id="20506" name="TextBox 32"/>
          <p:cNvSpPr txBox="1"/>
          <p:nvPr/>
        </p:nvSpPr>
        <p:spPr>
          <a:xfrm>
            <a:off x="7526339" y="4338638"/>
            <a:ext cx="1506537" cy="258762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200" b="1" dirty="0">
                <a:latin typeface="Calibri" panose="020F0502020204030204" pitchFamily="34" charset="0"/>
              </a:rPr>
              <a:t>Cisco 2900 XL Switch</a:t>
            </a:r>
          </a:p>
        </p:txBody>
      </p:sp>
      <p:sp>
        <p:nvSpPr>
          <p:cNvPr id="20507" name="TextBox 33"/>
          <p:cNvSpPr txBox="1"/>
          <p:nvPr/>
        </p:nvSpPr>
        <p:spPr>
          <a:xfrm>
            <a:off x="7491414" y="4872038"/>
            <a:ext cx="1506537" cy="258762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200" b="1" dirty="0">
                <a:latin typeface="Calibri" panose="020F0502020204030204" pitchFamily="34" charset="0"/>
              </a:rPr>
              <a:t>Cisco 2900 XL Switch</a:t>
            </a:r>
          </a:p>
        </p:txBody>
      </p:sp>
      <p:pic>
        <p:nvPicPr>
          <p:cNvPr id="20508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5339" y="1982789"/>
            <a:ext cx="1258887" cy="1260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09" name="TextBox 7"/>
          <p:cNvSpPr txBox="1"/>
          <p:nvPr/>
        </p:nvSpPr>
        <p:spPr>
          <a:xfrm>
            <a:off x="4659314" y="2295525"/>
            <a:ext cx="1169987" cy="425450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200" b="1" dirty="0">
                <a:latin typeface="Calibri" panose="020F0502020204030204" pitchFamily="34" charset="0"/>
              </a:rPr>
              <a:t>8U Rack Mount</a:t>
            </a:r>
          </a:p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1200" b="1" dirty="0">
                <a:latin typeface="Calibri" panose="020F0502020204030204" pitchFamily="34" charset="0"/>
              </a:rPr>
              <a:t>Monitor</a:t>
            </a:r>
          </a:p>
        </p:txBody>
      </p:sp>
      <p:grpSp>
        <p:nvGrpSpPr>
          <p:cNvPr id="20510" name="Group 13"/>
          <p:cNvGrpSpPr/>
          <p:nvPr/>
        </p:nvGrpSpPr>
        <p:grpSpPr>
          <a:xfrm>
            <a:off x="7364413" y="2351089"/>
            <a:ext cx="1731962" cy="257175"/>
            <a:chOff x="5839965" y="2350304"/>
            <a:chExt cx="1732335" cy="258532"/>
          </a:xfrm>
        </p:grpSpPr>
        <p:pic>
          <p:nvPicPr>
            <p:cNvPr id="20536" name="Pictur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9965" y="2354820"/>
              <a:ext cx="1732335" cy="24338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37" name="TextBox 12"/>
            <p:cNvSpPr txBox="1"/>
            <p:nvPr/>
          </p:nvSpPr>
          <p:spPr>
            <a:xfrm>
              <a:off x="6081713" y="2350304"/>
              <a:ext cx="473206" cy="2585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PC-1</a:t>
              </a:r>
            </a:p>
          </p:txBody>
        </p:sp>
      </p:grpSp>
      <p:grpSp>
        <p:nvGrpSpPr>
          <p:cNvPr id="20511" name="Group 38"/>
          <p:cNvGrpSpPr/>
          <p:nvPr/>
        </p:nvGrpSpPr>
        <p:grpSpPr>
          <a:xfrm>
            <a:off x="7364413" y="2595563"/>
            <a:ext cx="1731962" cy="258762"/>
            <a:chOff x="5839965" y="2350304"/>
            <a:chExt cx="1732335" cy="258532"/>
          </a:xfrm>
        </p:grpSpPr>
        <p:pic>
          <p:nvPicPr>
            <p:cNvPr id="20534" name="Pictur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9965" y="2354820"/>
              <a:ext cx="1732335" cy="24338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35" name="TextBox 40"/>
            <p:cNvSpPr txBox="1"/>
            <p:nvPr/>
          </p:nvSpPr>
          <p:spPr>
            <a:xfrm>
              <a:off x="6081713" y="2350304"/>
              <a:ext cx="473206" cy="2585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PC-2</a:t>
              </a:r>
            </a:p>
          </p:txBody>
        </p:sp>
      </p:grpSp>
      <p:grpSp>
        <p:nvGrpSpPr>
          <p:cNvPr id="20512" name="Group 41"/>
          <p:cNvGrpSpPr/>
          <p:nvPr/>
        </p:nvGrpSpPr>
        <p:grpSpPr>
          <a:xfrm>
            <a:off x="7366001" y="2840038"/>
            <a:ext cx="1731963" cy="258762"/>
            <a:chOff x="5839965" y="2350304"/>
            <a:chExt cx="1732335" cy="258532"/>
          </a:xfrm>
        </p:grpSpPr>
        <p:pic>
          <p:nvPicPr>
            <p:cNvPr id="20532" name="Pictur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9965" y="2354820"/>
              <a:ext cx="1732335" cy="24338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33" name="TextBox 43"/>
            <p:cNvSpPr txBox="1"/>
            <p:nvPr/>
          </p:nvSpPr>
          <p:spPr>
            <a:xfrm>
              <a:off x="6081713" y="2350304"/>
              <a:ext cx="473206" cy="2585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PC-3</a:t>
              </a:r>
            </a:p>
          </p:txBody>
        </p:sp>
      </p:grpSp>
      <p:grpSp>
        <p:nvGrpSpPr>
          <p:cNvPr id="20513" name="Group 44"/>
          <p:cNvGrpSpPr/>
          <p:nvPr/>
        </p:nvGrpSpPr>
        <p:grpSpPr>
          <a:xfrm>
            <a:off x="7361238" y="3086101"/>
            <a:ext cx="1731962" cy="258763"/>
            <a:chOff x="5839965" y="2350304"/>
            <a:chExt cx="1732335" cy="258532"/>
          </a:xfrm>
        </p:grpSpPr>
        <p:pic>
          <p:nvPicPr>
            <p:cNvPr id="20530" name="Pictur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9965" y="2354820"/>
              <a:ext cx="1732335" cy="24338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31" name="TextBox 46"/>
            <p:cNvSpPr txBox="1"/>
            <p:nvPr/>
          </p:nvSpPr>
          <p:spPr>
            <a:xfrm>
              <a:off x="6081713" y="2350304"/>
              <a:ext cx="473206" cy="2585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PC-4</a:t>
              </a:r>
            </a:p>
          </p:txBody>
        </p:sp>
      </p:grpSp>
      <p:grpSp>
        <p:nvGrpSpPr>
          <p:cNvPr id="20514" name="Group 47"/>
          <p:cNvGrpSpPr/>
          <p:nvPr/>
        </p:nvGrpSpPr>
        <p:grpSpPr>
          <a:xfrm>
            <a:off x="7361238" y="3576638"/>
            <a:ext cx="1731962" cy="258762"/>
            <a:chOff x="5839965" y="2350304"/>
            <a:chExt cx="1732335" cy="258532"/>
          </a:xfrm>
        </p:grpSpPr>
        <p:pic>
          <p:nvPicPr>
            <p:cNvPr id="20528" name="Pictur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9965" y="2354820"/>
              <a:ext cx="1732335" cy="24338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29" name="TextBox 49"/>
            <p:cNvSpPr txBox="1"/>
            <p:nvPr/>
          </p:nvSpPr>
          <p:spPr>
            <a:xfrm>
              <a:off x="6081713" y="2350304"/>
              <a:ext cx="473206" cy="2585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PC-6</a:t>
              </a:r>
            </a:p>
          </p:txBody>
        </p:sp>
      </p:grpSp>
      <p:grpSp>
        <p:nvGrpSpPr>
          <p:cNvPr id="20515" name="Group 50"/>
          <p:cNvGrpSpPr/>
          <p:nvPr/>
        </p:nvGrpSpPr>
        <p:grpSpPr>
          <a:xfrm>
            <a:off x="7361238" y="3330576"/>
            <a:ext cx="1731962" cy="258763"/>
            <a:chOff x="5839965" y="2350304"/>
            <a:chExt cx="1732335" cy="258532"/>
          </a:xfrm>
        </p:grpSpPr>
        <p:pic>
          <p:nvPicPr>
            <p:cNvPr id="20526" name="Pictur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9965" y="2354820"/>
              <a:ext cx="1732335" cy="24338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27" name="TextBox 52"/>
            <p:cNvSpPr txBox="1"/>
            <p:nvPr/>
          </p:nvSpPr>
          <p:spPr>
            <a:xfrm>
              <a:off x="6081713" y="2350304"/>
              <a:ext cx="473206" cy="2585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PC-5</a:t>
              </a:r>
            </a:p>
          </p:txBody>
        </p:sp>
      </p:grpSp>
      <p:grpSp>
        <p:nvGrpSpPr>
          <p:cNvPr id="20516" name="Group 53"/>
          <p:cNvGrpSpPr/>
          <p:nvPr/>
        </p:nvGrpSpPr>
        <p:grpSpPr>
          <a:xfrm>
            <a:off x="7354888" y="5384801"/>
            <a:ext cx="1733550" cy="258763"/>
            <a:chOff x="5839965" y="2350304"/>
            <a:chExt cx="1732335" cy="258532"/>
          </a:xfrm>
        </p:grpSpPr>
        <p:pic>
          <p:nvPicPr>
            <p:cNvPr id="20524" name="Pictur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9965" y="2354820"/>
              <a:ext cx="1732335" cy="24338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25" name="TextBox 55"/>
            <p:cNvSpPr txBox="1"/>
            <p:nvPr/>
          </p:nvSpPr>
          <p:spPr>
            <a:xfrm>
              <a:off x="6081713" y="2350304"/>
              <a:ext cx="473206" cy="2585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PC-7</a:t>
              </a:r>
            </a:p>
          </p:txBody>
        </p:sp>
      </p:grpSp>
      <p:grpSp>
        <p:nvGrpSpPr>
          <p:cNvPr id="20517" name="Group 56"/>
          <p:cNvGrpSpPr/>
          <p:nvPr/>
        </p:nvGrpSpPr>
        <p:grpSpPr>
          <a:xfrm>
            <a:off x="7354888" y="5875338"/>
            <a:ext cx="1733550" cy="258762"/>
            <a:chOff x="5839965" y="2350304"/>
            <a:chExt cx="1732335" cy="258532"/>
          </a:xfrm>
        </p:grpSpPr>
        <p:pic>
          <p:nvPicPr>
            <p:cNvPr id="20522" name="Pictur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9965" y="2354820"/>
              <a:ext cx="1732335" cy="24338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23" name="TextBox 58"/>
            <p:cNvSpPr txBox="1"/>
            <p:nvPr/>
          </p:nvSpPr>
          <p:spPr>
            <a:xfrm>
              <a:off x="6081713" y="2350304"/>
              <a:ext cx="473206" cy="2585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PC-9</a:t>
              </a:r>
            </a:p>
          </p:txBody>
        </p:sp>
      </p:grpSp>
      <p:grpSp>
        <p:nvGrpSpPr>
          <p:cNvPr id="20518" name="Group 59"/>
          <p:cNvGrpSpPr/>
          <p:nvPr/>
        </p:nvGrpSpPr>
        <p:grpSpPr>
          <a:xfrm>
            <a:off x="7354888" y="5629276"/>
            <a:ext cx="1733550" cy="258763"/>
            <a:chOff x="5839965" y="2350304"/>
            <a:chExt cx="1732335" cy="258532"/>
          </a:xfrm>
        </p:grpSpPr>
        <p:pic>
          <p:nvPicPr>
            <p:cNvPr id="20520" name="Picture 1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9965" y="2354820"/>
              <a:ext cx="1732335" cy="24338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21" name="TextBox 61"/>
            <p:cNvSpPr txBox="1"/>
            <p:nvPr/>
          </p:nvSpPr>
          <p:spPr>
            <a:xfrm>
              <a:off x="6081713" y="2350304"/>
              <a:ext cx="473206" cy="2585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PC-8</a:t>
              </a:r>
            </a:p>
          </p:txBody>
        </p:sp>
      </p:grpSp>
      <p:sp>
        <p:nvSpPr>
          <p:cNvPr id="20519" name="TextBox 14"/>
          <p:cNvSpPr txBox="1"/>
          <p:nvPr/>
        </p:nvSpPr>
        <p:spPr>
          <a:xfrm>
            <a:off x="2219326" y="3506788"/>
            <a:ext cx="1927225" cy="425450"/>
          </a:xfrm>
          <a:prstGeom prst="rect">
            <a:avLst/>
          </a:prstGeom>
          <a:noFill/>
          <a:ln w="1905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sz="2400" b="1" dirty="0">
                <a:latin typeface="Calibri" panose="020F0502020204030204" pitchFamily="34" charset="0"/>
              </a:rPr>
              <a:t>Rack Diagram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9">
            <a:extLst>
              <a:ext uri="{FF2B5EF4-FFF2-40B4-BE49-F238E27FC236}">
                <a16:creationId xmlns:a16="http://schemas.microsoft.com/office/drawing/2014/main" id="{54F5BCC2-6C38-4A47-AE6F-251D66756E7A}"/>
              </a:ext>
            </a:extLst>
          </p:cNvPr>
          <p:cNvSpPr>
            <a:spLocks noGrp="1"/>
          </p:cNvSpPr>
          <p:nvPr/>
        </p:nvSpPr>
        <p:spPr>
          <a:xfrm>
            <a:off x="419357" y="606163"/>
            <a:ext cx="7239000" cy="15954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n-US" altLang="en-US" sz="1800" dirty="0"/>
          </a:p>
          <a:p>
            <a:pPr lvl="1"/>
            <a:r>
              <a:rPr lang="en-US" altLang="en-US" sz="1800" dirty="0"/>
              <a:t>A </a:t>
            </a:r>
            <a:r>
              <a:rPr lang="en-US" altLang="en-US" sz="1800" i="1" dirty="0"/>
              <a:t>logical network diagram</a:t>
            </a:r>
            <a:r>
              <a:rPr lang="en-US" altLang="en-US" sz="1800" dirty="0"/>
              <a:t> includes protocols, configurations, addressing schemes, access lists, firewalls, types of applications, etc. that apply logically to your network. 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57E629B-38A6-4C9C-B661-E588FAA41732}"/>
              </a:ext>
            </a:extLst>
          </p:cNvPr>
          <p:cNvGrpSpPr/>
          <p:nvPr/>
        </p:nvGrpSpPr>
        <p:grpSpPr>
          <a:xfrm>
            <a:off x="3210446" y="1664844"/>
            <a:ext cx="5477189" cy="5043805"/>
            <a:chOff x="4027" y="2858"/>
            <a:chExt cx="8625" cy="7943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AB6648F-EC93-4E79-A051-010EEE4462A6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309" y="3563"/>
              <a:ext cx="1860" cy="112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3BDED5D-DB33-424F-9DC0-84D598871DC6}"/>
                </a:ext>
              </a:extLst>
            </p:cNvPr>
            <p:cNvGrpSpPr/>
            <p:nvPr/>
          </p:nvGrpSpPr>
          <p:grpSpPr>
            <a:xfrm>
              <a:off x="4027" y="2858"/>
              <a:ext cx="8625" cy="7943"/>
              <a:chOff x="3999" y="2738"/>
              <a:chExt cx="8625" cy="7943"/>
            </a:xfrm>
          </p:grpSpPr>
          <p:sp>
            <p:nvSpPr>
              <p:cNvPr id="35" name="TextBox 9">
                <a:extLst>
                  <a:ext uri="{FF2B5EF4-FFF2-40B4-BE49-F238E27FC236}">
                    <a16:creationId xmlns:a16="http://schemas.microsoft.com/office/drawing/2014/main" id="{5DAB9AAD-FEF7-4539-BCD9-944E9F568577}"/>
                  </a:ext>
                </a:extLst>
              </p:cNvPr>
              <p:cNvSpPr txBox="1"/>
              <p:nvPr/>
            </p:nvSpPr>
            <p:spPr>
              <a:xfrm>
                <a:off x="6003" y="3288"/>
                <a:ext cx="2112" cy="45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400" b="1" dirty="0">
                    <a:latin typeface="Calibri" panose="020F0502020204030204" pitchFamily="34" charset="0"/>
                  </a:rPr>
                  <a:t>External Router</a:t>
                </a:r>
              </a:p>
            </p:txBody>
          </p:sp>
          <p:sp>
            <p:nvSpPr>
              <p:cNvPr id="36" name="TextBox 22">
                <a:extLst>
                  <a:ext uri="{FF2B5EF4-FFF2-40B4-BE49-F238E27FC236}">
                    <a16:creationId xmlns:a16="http://schemas.microsoft.com/office/drawing/2014/main" id="{47F3A52F-9E3C-4808-8364-4F0E53C4457C}"/>
                  </a:ext>
                </a:extLst>
              </p:cNvPr>
              <p:cNvSpPr txBox="1"/>
              <p:nvPr/>
            </p:nvSpPr>
            <p:spPr>
              <a:xfrm>
                <a:off x="9720" y="3288"/>
                <a:ext cx="2073" cy="45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b="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400" b="1" dirty="0">
                    <a:latin typeface="Calibri" panose="020F0502020204030204" pitchFamily="34" charset="0"/>
                  </a:rPr>
                  <a:t>Internal Router</a:t>
                </a: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B01AA9D-31F6-4CB0-BFEB-5A8D66B449C2}"/>
                  </a:ext>
                </a:extLst>
              </p:cNvPr>
              <p:cNvGrpSpPr/>
              <p:nvPr/>
            </p:nvGrpSpPr>
            <p:grpSpPr>
              <a:xfrm>
                <a:off x="3999" y="2738"/>
                <a:ext cx="8625" cy="7943"/>
                <a:chOff x="3960" y="2882"/>
                <a:chExt cx="8625" cy="7943"/>
              </a:xfrm>
            </p:grpSpPr>
            <p:sp>
              <p:nvSpPr>
                <p:cNvPr id="38" name="TextBox 10">
                  <a:extLst>
                    <a:ext uri="{FF2B5EF4-FFF2-40B4-BE49-F238E27FC236}">
                      <a16:creationId xmlns:a16="http://schemas.microsoft.com/office/drawing/2014/main" id="{CE653B62-674D-40D7-8161-C7377D0AA450}"/>
                    </a:ext>
                  </a:extLst>
                </p:cNvPr>
                <p:cNvSpPr txBox="1"/>
                <p:nvPr/>
              </p:nvSpPr>
              <p:spPr>
                <a:xfrm>
                  <a:off x="8308" y="2882"/>
                  <a:ext cx="1212" cy="45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b="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400" b="1" dirty="0">
                      <a:latin typeface="Calibri" panose="020F0502020204030204" pitchFamily="34" charset="0"/>
                    </a:rPr>
                    <a:t>Firewall</a:t>
                  </a:r>
                </a:p>
              </p:txBody>
            </p: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650C9659-6A52-4760-93D5-F0D6CE205680}"/>
                    </a:ext>
                  </a:extLst>
                </p:cNvPr>
                <p:cNvGrpSpPr/>
                <p:nvPr/>
              </p:nvGrpSpPr>
              <p:grpSpPr>
                <a:xfrm>
                  <a:off x="3960" y="3360"/>
                  <a:ext cx="8625" cy="7465"/>
                  <a:chOff x="3960" y="3331"/>
                  <a:chExt cx="8625" cy="7465"/>
                </a:xfrm>
              </p:grpSpPr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2B5DDD67-6492-4FE5-8C01-2A16256256F8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4936" y="4141"/>
                    <a:ext cx="6253" cy="0"/>
                  </a:xfrm>
                  <a:prstGeom prst="line">
                    <a:avLst/>
                  </a:prstGeom>
                  <a:ln w="38100">
                    <a:solidFill>
                      <a:schemeClr val="accent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41" name="Picture 40">
                    <a:extLst>
                      <a:ext uri="{FF2B5EF4-FFF2-40B4-BE49-F238E27FC236}">
                        <a16:creationId xmlns:a16="http://schemas.microsoft.com/office/drawing/2014/main" id="{7811671B-290A-461A-8DAF-0345281720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385" y="3791"/>
                    <a:ext cx="1175" cy="69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42" name="Picture 41">
                    <a:extLst>
                      <a:ext uri="{FF2B5EF4-FFF2-40B4-BE49-F238E27FC236}">
                        <a16:creationId xmlns:a16="http://schemas.microsoft.com/office/drawing/2014/main" id="{E5B3A67C-2B50-43A9-9CCA-2CE2016429BA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8428" y="3331"/>
                    <a:ext cx="667" cy="158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43" name="TextBox 8">
                    <a:extLst>
                      <a:ext uri="{FF2B5EF4-FFF2-40B4-BE49-F238E27FC236}">
                        <a16:creationId xmlns:a16="http://schemas.microsoft.com/office/drawing/2014/main" id="{F9879E69-B5A7-412D-9530-161D8C07BD0B}"/>
                      </a:ext>
                    </a:extLst>
                  </p:cNvPr>
                  <p:cNvSpPr txBox="1"/>
                  <p:nvPr/>
                </p:nvSpPr>
                <p:spPr>
                  <a:xfrm>
                    <a:off x="4618" y="3931"/>
                    <a:ext cx="1242" cy="45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none" anchor="ctr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b="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5pPr>
                  </a:lstStyle>
                  <a:p>
                    <a:pPr marL="0" lvl="0" indent="0" eaLnBrk="1" hangingPunct="1">
                      <a:lnSpc>
                        <a:spcPct val="90000"/>
                      </a:lnSpc>
                      <a:spcBef>
                        <a:spcPct val="0"/>
                      </a:spcBef>
                      <a:buNone/>
                    </a:pPr>
                    <a:r>
                      <a:rPr lang="en-US" altLang="en-US" sz="1400" b="1" dirty="0">
                        <a:latin typeface="Calibri" panose="020F0502020204030204" pitchFamily="34" charset="0"/>
                      </a:rPr>
                      <a:t>Internet</a:t>
                    </a:r>
                  </a:p>
                </p:txBody>
              </p: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AEA06D05-13B8-47EC-A074-4AAB6D7915F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936" y="4428"/>
                    <a:ext cx="5385" cy="1795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C4A62F26-5E81-4F54-9BE8-0B616E87417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601" y="4247"/>
                    <a:ext cx="3088" cy="189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E9C4994B-6E86-42AC-ACF9-44065452075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010" y="4322"/>
                    <a:ext cx="1648" cy="4205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836DEEDC-6972-4B40-A06D-B13EF96579E3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10713" y="4301"/>
                    <a:ext cx="897" cy="185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  <p:pic>
                <p:nvPicPr>
                  <p:cNvPr id="48" name="Picture 47">
                    <a:extLst>
                      <a:ext uri="{FF2B5EF4-FFF2-40B4-BE49-F238E27FC236}">
                        <a16:creationId xmlns:a16="http://schemas.microsoft.com/office/drawing/2014/main" id="{ED5CE6A4-147B-48A7-A7DA-7EC15761A0A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0129" y="3791"/>
                    <a:ext cx="1172" cy="6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FD0EA849-96A1-4D50-87A7-947D32137C59}"/>
                      </a:ext>
                    </a:extLst>
                  </p:cNvPr>
                  <p:cNvGrpSpPr/>
                  <p:nvPr/>
                </p:nvGrpSpPr>
                <p:grpSpPr>
                  <a:xfrm>
                    <a:off x="3960" y="6121"/>
                    <a:ext cx="2025" cy="3745"/>
                    <a:chOff x="462274" y="2322265"/>
                    <a:chExt cx="1285929" cy="2377440"/>
                  </a:xfrm>
                </p:grpSpPr>
                <p:sp>
                  <p:nvSpPr>
                    <p:cNvPr id="59" name="Rectangle 58">
                      <a:extLst>
                        <a:ext uri="{FF2B5EF4-FFF2-40B4-BE49-F238E27FC236}">
                          <a16:creationId xmlns:a16="http://schemas.microsoft.com/office/drawing/2014/main" id="{4B664ADD-CFF6-4C55-AD93-8FBD63B15A2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1013" y="2322265"/>
                      <a:ext cx="1190675" cy="2377440"/>
                    </a:xfrm>
                    <a:prstGeom prst="rect">
                      <a:avLst/>
                    </a:prstGeom>
                    <a:solidFill>
                      <a:srgbClr val="999999"/>
                    </a:solidFill>
                    <a:ln w="12700">
                      <a:solidFill>
                        <a:schemeClr val="bg2"/>
                      </a:solidFill>
                      <a:round/>
                    </a:ln>
                    <a:effectLst>
                      <a:outerShdw blurRad="12700" dist="38100" dir="2700000" algn="tl" rotWithShape="0">
                        <a:srgbClr val="808080">
                          <a:alpha val="74997"/>
                        </a:srgbClr>
                      </a:outerShdw>
                    </a:effectLst>
                  </p:spPr>
                  <p:txBody>
                    <a:bodyPr wrap="none" lIns="82124" tIns="41061" rIns="82124" bIns="41061" anchor="ctr">
                      <a:sp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81470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60" name="TextBox 23">
                      <a:extLst>
                        <a:ext uri="{FF2B5EF4-FFF2-40B4-BE49-F238E27FC236}">
                          <a16:creationId xmlns:a16="http://schemas.microsoft.com/office/drawing/2014/main" id="{5C423622-08FB-4918-91C6-1DBA808D25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2274" y="2354618"/>
                      <a:ext cx="1285929" cy="2252924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none" anchor="ctr">
                      <a:spAutoFit/>
                    </a:bodyPr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b="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  <a:cs typeface="MS PGothic" panose="020B0600070205080204" pitchFamily="34" charset="-128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R&amp;D subnet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192.168.5.0/24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altLang="en-US" sz="1200" b="1" dirty="0">
                        <a:latin typeface="Calibri" panose="020F0502020204030204" pitchFamily="34" charset="0"/>
                      </a:endParaRP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File Server IP: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192.168.5.10/24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altLang="en-US" sz="1200" b="1" dirty="0">
                        <a:latin typeface="Calibri" panose="020F0502020204030204" pitchFamily="34" charset="0"/>
                      </a:endParaRP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Printer IPs: 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192.168.5.20/24-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192.168.5.39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altLang="en-US" sz="1200" b="1" dirty="0">
                        <a:latin typeface="Calibri" panose="020F0502020204030204" pitchFamily="34" charset="0"/>
                      </a:endParaRP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Workstation IPs: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192.168.5.50/24-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192.168.5.99</a:t>
                      </a:r>
                    </a:p>
                  </p:txBody>
                </p:sp>
              </p:grpSp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BBB13914-B1DF-4DF9-885A-FEA01452CE65}"/>
                      </a:ext>
                    </a:extLst>
                  </p:cNvPr>
                  <p:cNvGrpSpPr/>
                  <p:nvPr/>
                </p:nvGrpSpPr>
                <p:grpSpPr>
                  <a:xfrm>
                    <a:off x="10560" y="6136"/>
                    <a:ext cx="2025" cy="3745"/>
                    <a:chOff x="462274" y="2322265"/>
                    <a:chExt cx="1285929" cy="2377440"/>
                  </a:xfrm>
                </p:grpSpPr>
                <p:sp>
                  <p:nvSpPr>
                    <p:cNvPr id="57" name="Rectangle 56">
                      <a:extLst>
                        <a:ext uri="{FF2B5EF4-FFF2-40B4-BE49-F238E27FC236}">
                          <a16:creationId xmlns:a16="http://schemas.microsoft.com/office/drawing/2014/main" id="{4AB32505-C205-4803-8EA9-631D86F20B6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1014" y="2322265"/>
                      <a:ext cx="1190675" cy="2377440"/>
                    </a:xfrm>
                    <a:prstGeom prst="rect">
                      <a:avLst/>
                    </a:prstGeom>
                    <a:solidFill>
                      <a:srgbClr val="999999"/>
                    </a:solidFill>
                    <a:ln w="12700">
                      <a:solidFill>
                        <a:schemeClr val="bg2"/>
                      </a:solidFill>
                      <a:round/>
                    </a:ln>
                    <a:effectLst>
                      <a:outerShdw blurRad="12700" dist="38100" dir="2700000" algn="tl" rotWithShape="0">
                        <a:srgbClr val="808080">
                          <a:alpha val="74997"/>
                        </a:srgbClr>
                      </a:outerShdw>
                    </a:effectLst>
                  </p:spPr>
                  <p:txBody>
                    <a:bodyPr wrap="none" lIns="82124" tIns="41061" rIns="82124" bIns="41061" anchor="ctr">
                      <a:sp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81470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58" name="TextBox 28">
                      <a:extLst>
                        <a:ext uri="{FF2B5EF4-FFF2-40B4-BE49-F238E27FC236}">
                          <a16:creationId xmlns:a16="http://schemas.microsoft.com/office/drawing/2014/main" id="{B19AA483-F6BA-4B6D-AAE5-E2E9863A65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2274" y="2354618"/>
                      <a:ext cx="1285929" cy="2252924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none" anchor="ctr">
                      <a:spAutoFit/>
                    </a:bodyPr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b="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  <a:cs typeface="MS PGothic" panose="020B0600070205080204" pitchFamily="34" charset="-128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Admin subnet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192.168.6.0/24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altLang="en-US" sz="1200" b="1" dirty="0">
                        <a:latin typeface="Calibri" panose="020F0502020204030204" pitchFamily="34" charset="0"/>
                      </a:endParaRP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File Server IP: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192.168.6.10/24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altLang="en-US" sz="1200" b="1" dirty="0">
                        <a:latin typeface="Calibri" panose="020F0502020204030204" pitchFamily="34" charset="0"/>
                      </a:endParaRP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Printer IPs: 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192.168.6.20/24-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192.168.6.39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altLang="en-US" sz="1200" b="1" dirty="0">
                        <a:latin typeface="Calibri" panose="020F0502020204030204" pitchFamily="34" charset="0"/>
                      </a:endParaRP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Workstation IPs: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192.168.6.50/24-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192.168.6.99</a:t>
                      </a:r>
                    </a:p>
                  </p:txBody>
                </p:sp>
              </p:grpSp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3694E8DF-B511-40CA-8831-748ABA10C89B}"/>
                      </a:ext>
                    </a:extLst>
                  </p:cNvPr>
                  <p:cNvGrpSpPr/>
                  <p:nvPr/>
                </p:nvGrpSpPr>
                <p:grpSpPr>
                  <a:xfrm>
                    <a:off x="6575" y="6191"/>
                    <a:ext cx="2237" cy="2275"/>
                    <a:chOff x="1970441" y="2215387"/>
                    <a:chExt cx="1420645" cy="1442268"/>
                  </a:xfrm>
                </p:grpSpPr>
                <p:sp>
                  <p:nvSpPr>
                    <p:cNvPr id="55" name="Rectangle 54">
                      <a:extLst>
                        <a:ext uri="{FF2B5EF4-FFF2-40B4-BE49-F238E27FC236}">
                          <a16:creationId xmlns:a16="http://schemas.microsoft.com/office/drawing/2014/main" id="{C9A10590-9CA7-4716-B610-29B14DE2B2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05362" y="2215387"/>
                      <a:ext cx="1371439" cy="1280607"/>
                    </a:xfrm>
                    <a:prstGeom prst="rect">
                      <a:avLst/>
                    </a:prstGeom>
                    <a:solidFill>
                      <a:srgbClr val="999999"/>
                    </a:solidFill>
                    <a:ln w="12700">
                      <a:solidFill>
                        <a:schemeClr val="bg2"/>
                      </a:solidFill>
                      <a:round/>
                    </a:ln>
                    <a:effectLst>
                      <a:outerShdw blurRad="12700" dist="38100" dir="2700000" algn="tl" rotWithShape="0">
                        <a:srgbClr val="808080">
                          <a:alpha val="74997"/>
                        </a:srgbClr>
                      </a:outerShdw>
                    </a:effectLst>
                  </p:spPr>
                  <p:txBody>
                    <a:bodyPr wrap="none" lIns="82124" tIns="41061" rIns="82124" bIns="41061" anchor="ctr">
                      <a:sp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81470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56" name="TextBox 31">
                      <a:extLst>
                        <a:ext uri="{FF2B5EF4-FFF2-40B4-BE49-F238E27FC236}">
                          <a16:creationId xmlns:a16="http://schemas.microsoft.com/office/drawing/2014/main" id="{33422D97-6327-46CC-9887-E9407AD45D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70441" y="2235727"/>
                      <a:ext cx="1420645" cy="1421928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none" anchor="ctr">
                      <a:spAutoFit/>
                    </a:bodyPr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b="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  <a:cs typeface="MS PGothic" panose="020B0600070205080204" pitchFamily="34" charset="-128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Web Server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www.example.com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192.168.3.10/24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altLang="en-US" sz="1200" b="1" dirty="0">
                        <a:latin typeface="Calibri" panose="020F0502020204030204" pitchFamily="34" charset="0"/>
                      </a:endParaRP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Mail Server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mail.example.com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192.168.3.15/24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altLang="en-US" sz="1200" b="1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6DFAB5DE-CA5E-49B2-8CC6-EAF40C43830D}"/>
                      </a:ext>
                    </a:extLst>
                  </p:cNvPr>
                  <p:cNvGrpSpPr/>
                  <p:nvPr/>
                </p:nvGrpSpPr>
                <p:grpSpPr>
                  <a:xfrm>
                    <a:off x="7978" y="8491"/>
                    <a:ext cx="2025" cy="2305"/>
                    <a:chOff x="474149" y="2322265"/>
                    <a:chExt cx="1285929" cy="2377440"/>
                  </a:xfrm>
                </p:grpSpPr>
                <p:sp>
                  <p:nvSpPr>
                    <p:cNvPr id="53" name="Rectangle 52">
                      <a:extLst>
                        <a:ext uri="{FF2B5EF4-FFF2-40B4-BE49-F238E27FC236}">
                          <a16:creationId xmlns:a16="http://schemas.microsoft.com/office/drawing/2014/main" id="{7781ECA4-0F1C-41AE-B039-A79F2D8675D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0188" y="2322265"/>
                      <a:ext cx="1190675" cy="2377440"/>
                    </a:xfrm>
                    <a:prstGeom prst="rect">
                      <a:avLst/>
                    </a:prstGeom>
                    <a:solidFill>
                      <a:srgbClr val="999999"/>
                    </a:solidFill>
                    <a:ln w="12700">
                      <a:solidFill>
                        <a:schemeClr val="bg2"/>
                      </a:solidFill>
                      <a:round/>
                    </a:ln>
                    <a:effectLst>
                      <a:outerShdw blurRad="12700" dist="38100" dir="2700000" algn="tl" rotWithShape="0">
                        <a:srgbClr val="808080">
                          <a:alpha val="74997"/>
                        </a:srgbClr>
                      </a:outerShdw>
                    </a:effectLst>
                  </p:spPr>
                  <p:txBody>
                    <a:bodyPr wrap="none" lIns="82124" tIns="41061" rIns="82124" bIns="41061" anchor="ctr">
                      <a:sp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ctr" defTabSz="814705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MS PGothic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54" name="TextBox 34">
                      <a:extLst>
                        <a:ext uri="{FF2B5EF4-FFF2-40B4-BE49-F238E27FC236}">
                          <a16:creationId xmlns:a16="http://schemas.microsoft.com/office/drawing/2014/main" id="{322B6168-5637-4A5D-8FFF-CCC9F882FA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4149" y="2825032"/>
                      <a:ext cx="1285929" cy="142192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none" anchor="ctr">
                      <a:spAutoFit/>
                    </a:bodyPr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b="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  <a:cs typeface="MS PGothic" panose="020B0600070205080204" pitchFamily="34" charset="-128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+mn-lt"/>
                          <a:ea typeface="MS PGothic" panose="020B0600070205080204" pitchFamily="34" charset="-128"/>
                        </a:defRPr>
                      </a:lvl5pPr>
                    </a:lstStyle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Server subnet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192.168.4.0/24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altLang="en-US" sz="1200" b="1" dirty="0">
                        <a:latin typeface="Calibri" panose="020F0502020204030204" pitchFamily="34" charset="0"/>
                      </a:endParaRP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Server IPs: 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192.168.4.10/24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192.168.4.11/24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192.168.4.12/24</a:t>
                      </a:r>
                    </a:p>
                    <a:p>
                      <a:pPr marL="0" lvl="0" indent="0" ea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en-US" sz="1200" b="1" dirty="0">
                          <a:latin typeface="Calibri" panose="020F0502020204030204" pitchFamily="34" charset="0"/>
                        </a:rPr>
                        <a:t>192.168.4.13/24</a:t>
                      </a:r>
                    </a:p>
                  </p:txBody>
                </p:sp>
              </p:grpSp>
            </p:grpSp>
          </p:grpSp>
        </p:grpSp>
      </p:grpSp>
      <p:sp>
        <p:nvSpPr>
          <p:cNvPr id="2" name="Rectangle 8">
            <a:extLst>
              <a:ext uri="{FF2B5EF4-FFF2-40B4-BE49-F238E27FC236}">
                <a16:creationId xmlns:a16="http://schemas.microsoft.com/office/drawing/2014/main" id="{DAD8E85D-194A-4D7E-C61F-3F0FC983103F}"/>
              </a:ext>
            </a:extLst>
          </p:cNvPr>
          <p:cNvSpPr txBox="1">
            <a:spLocks/>
          </p:cNvSpPr>
          <p:nvPr/>
        </p:nvSpPr>
        <p:spPr>
          <a:xfrm>
            <a:off x="993913" y="147193"/>
            <a:ext cx="10694503" cy="737411"/>
          </a:xfrm>
          <a:prstGeom prst="rect">
            <a:avLst/>
          </a:prstGeom>
          <a:ln/>
          <a:effectLst/>
        </p:spPr>
        <p:txBody>
          <a:bodyPr vert="horz" wrap="square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en-US" b="1" dirty="0"/>
              <a:t>Logical Network diagram</a:t>
            </a:r>
          </a:p>
        </p:txBody>
      </p:sp>
    </p:spTree>
    <p:extLst>
      <p:ext uri="{BB962C8B-B14F-4D97-AF65-F5344CB8AC3E}">
        <p14:creationId xmlns:p14="http://schemas.microsoft.com/office/powerpoint/2010/main" val="952003607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212</TotalTime>
  <Words>866</Words>
  <Application>Microsoft Macintosh PowerPoint</Application>
  <PresentationFormat>Widescreen</PresentationFormat>
  <Paragraphs>159</Paragraphs>
  <Slides>11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Gill Sans MT</vt:lpstr>
      <vt:lpstr>Impact</vt:lpstr>
      <vt:lpstr>Times</vt:lpstr>
      <vt:lpstr>Badge</vt:lpstr>
      <vt:lpstr>Photoshop.Image.10</vt:lpstr>
      <vt:lpstr>Chapter 14</vt:lpstr>
      <vt:lpstr>Plans and Procedures</vt:lpstr>
      <vt:lpstr>Common Agreements</vt:lpstr>
      <vt:lpstr>Hardening and security policies</vt:lpstr>
      <vt:lpstr>Schematics and Diagrams</vt:lpstr>
      <vt:lpstr>Wiring schematics</vt:lpstr>
      <vt:lpstr>Physical Network Diagram</vt:lpstr>
      <vt:lpstr>Schematics and Diagrams</vt:lpstr>
      <vt:lpstr>Detailed-Physical Diagram</vt:lpstr>
      <vt:lpstr>Physical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</dc:title>
  <dc:creator>Student</dc:creator>
  <cp:lastModifiedBy>Adrienne Bailey</cp:lastModifiedBy>
  <cp:revision>20</cp:revision>
  <dcterms:created xsi:type="dcterms:W3CDTF">2018-10-31T21:47:39Z</dcterms:created>
  <dcterms:modified xsi:type="dcterms:W3CDTF">2022-09-21T14:12:33Z</dcterms:modified>
</cp:coreProperties>
</file>