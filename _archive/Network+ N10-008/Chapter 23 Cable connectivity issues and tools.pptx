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notesMasterIdLst>
    <p:notesMasterId r:id="rId16"/>
  </p:notesMasterIdLst>
  <p:sldIdLst>
    <p:sldId id="256" r:id="rId2"/>
    <p:sldId id="380" r:id="rId3"/>
    <p:sldId id="381" r:id="rId4"/>
    <p:sldId id="382" r:id="rId5"/>
    <p:sldId id="357" r:id="rId6"/>
    <p:sldId id="367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61521"/>
  </p:normalViewPr>
  <p:slideViewPr>
    <p:cSldViewPr snapToGrid="0">
      <p:cViewPr varScale="1">
        <p:scale>
          <a:sx n="68" d="100"/>
          <a:sy n="68" d="100"/>
        </p:scale>
        <p:origin x="2256" y="19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B281FF-4C66-2D45-8CC7-668502214B10}" type="datetimeFigureOut">
              <a:rPr lang="en-US" smtClean="0"/>
              <a:t>9/23/22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C9277-A0B2-BF49-BBB3-655873B30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96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Rollover cable: reverse the pin out on the other end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Crossover cable: Like devices; T568A + T568B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C9277-A0B2-BF49-BBB3-655873B309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80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Attenuation</a:t>
            </a:r>
            <a:r>
              <a:rPr lang="en-US" dirty="0"/>
              <a:t>: 100m distance meaning the closer you are to that 100m, the more your signal degrades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dB</a:t>
            </a:r>
            <a:r>
              <a:rPr lang="en-US" dirty="0"/>
              <a:t>: how much of the transmission is lost in transit to its destination (UPC vs APC)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Bad ports can lead to CRC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C9277-A0B2-BF49-BBB3-655873B309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87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Dirty Optical cables: dirty fiber optic cables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C9277-A0B2-BF49-BBB3-655873B309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21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Protocol analyzer: Wire-shark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C9277-A0B2-BF49-BBB3-655873B309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03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TDR finds faults in twisted wire pairs and coaxial cables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OTDR: same thing, but for fiber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C9277-A0B2-BF49-BBB3-655873B309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62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C9277-A0B2-BF49-BBB3-655873B3096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16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A069CB8-F204-4D06-B913-C5A26A89888A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69399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46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6F077B-A50F-4D64-8574-E2D6A98A5553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110241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773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661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95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9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24271A48-F18A-45B3-BC05-1E27DA3F88AF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71144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65B747F8-9654-4282-85D2-65F41AAE7A75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67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12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980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DC5B261-8843-42D1-AAFC-05E20E2D9B97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14265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Cable connectivity issues and tools</a:t>
            </a:r>
          </a:p>
        </p:txBody>
      </p:sp>
    </p:spTree>
    <p:extLst>
      <p:ext uri="{BB962C8B-B14F-4D97-AF65-F5344CB8AC3E}">
        <p14:creationId xmlns:p14="http://schemas.microsoft.com/office/powerpoint/2010/main" val="3969921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7177" name="Content Placeholder 9"/>
          <p:cNvSpPr>
            <a:spLocks noGrp="1"/>
          </p:cNvSpPr>
          <p:nvPr>
            <p:ph idx="4294967295"/>
          </p:nvPr>
        </p:nvSpPr>
        <p:spPr>
          <a:xfrm>
            <a:off x="1135063" y="490538"/>
            <a:ext cx="11056937" cy="5689600"/>
          </a:xfrm>
          <a:ln/>
        </p:spPr>
        <p:txBody>
          <a:bodyPr vert="horz" wrap="square" lIns="91440" tIns="45720" rIns="91440" bIns="45720" anchor="t">
            <a:normAutofit fontScale="85000" lnSpcReduction="20000"/>
          </a:bodyPr>
          <a:lstStyle/>
          <a:p>
            <a:r>
              <a:rPr lang="en-US" altLang="en-US" sz="2000" dirty="0"/>
              <a:t>Specifications and Limitations</a:t>
            </a:r>
          </a:p>
          <a:p>
            <a:pPr lvl="1"/>
            <a:r>
              <a:rPr lang="en-US" altLang="en-US" dirty="0"/>
              <a:t>Throughput </a:t>
            </a:r>
          </a:p>
          <a:p>
            <a:pPr lvl="2"/>
            <a:r>
              <a:rPr lang="en-US" altLang="en-US" dirty="0"/>
              <a:t>Capabilities are ever increasing</a:t>
            </a:r>
          </a:p>
          <a:p>
            <a:pPr lvl="2"/>
            <a:r>
              <a:rPr lang="en-US" altLang="en-US" dirty="0"/>
              <a:t>AWS datacenters operate at petabyte speeds</a:t>
            </a:r>
          </a:p>
          <a:p>
            <a:pPr lvl="1"/>
            <a:r>
              <a:rPr lang="en-US" altLang="en-US" dirty="0"/>
              <a:t>Speed Distance</a:t>
            </a:r>
          </a:p>
          <a:p>
            <a:pPr lvl="2"/>
            <a:r>
              <a:rPr lang="en-US" altLang="en-US" dirty="0"/>
              <a:t>Higher speeds are more sensitive to distance</a:t>
            </a:r>
          </a:p>
          <a:p>
            <a:pPr lvl="2"/>
            <a:r>
              <a:rPr lang="en-US" altLang="en-US" dirty="0"/>
              <a:t>Optical cable have overcome this but are very expensive</a:t>
            </a:r>
          </a:p>
          <a:p>
            <a:r>
              <a:rPr lang="en-US" altLang="en-US" dirty="0"/>
              <a:t>Cable considerations</a:t>
            </a:r>
          </a:p>
          <a:p>
            <a:pPr lvl="1"/>
            <a:r>
              <a:rPr lang="en-US" altLang="en-US" dirty="0"/>
              <a:t>Shielded vs Unshielded</a:t>
            </a:r>
          </a:p>
          <a:p>
            <a:pPr lvl="2"/>
            <a:r>
              <a:rPr lang="en-US" altLang="en-US" dirty="0"/>
              <a:t>Both are twisted pair cables to reduce the effects of crosstalk and noise</a:t>
            </a:r>
          </a:p>
          <a:p>
            <a:pPr lvl="2"/>
            <a:r>
              <a:rPr lang="en-US" altLang="en-US" dirty="0"/>
              <a:t>Shielded adds a layer of foil or mesh shielding to protect against electromagnetic interference </a:t>
            </a:r>
          </a:p>
          <a:p>
            <a:pPr lvl="1"/>
            <a:r>
              <a:rPr lang="en-US" altLang="en-US" dirty="0"/>
              <a:t>Plenum and riser-rated</a:t>
            </a:r>
          </a:p>
          <a:p>
            <a:pPr lvl="2"/>
            <a:r>
              <a:rPr lang="en-US" altLang="en-US" dirty="0"/>
              <a:t>Used inside buildings</a:t>
            </a:r>
          </a:p>
          <a:p>
            <a:pPr lvl="2"/>
            <a:r>
              <a:rPr lang="en-US" altLang="en-US" dirty="0"/>
              <a:t>Plenum are fire resistant and have low fume emittance and can be use din air ducts</a:t>
            </a:r>
          </a:p>
          <a:p>
            <a:pPr lvl="2"/>
            <a:r>
              <a:rPr lang="en-US" altLang="en-US" dirty="0"/>
              <a:t>Riser cables are cheaper and can be used to run between floors that don’t traverse air ducts</a:t>
            </a:r>
          </a:p>
          <a:p>
            <a:r>
              <a:rPr lang="en-US" altLang="en-US" sz="2000" dirty="0"/>
              <a:t>Cable Application</a:t>
            </a:r>
          </a:p>
          <a:p>
            <a:pPr lvl="1"/>
            <a:r>
              <a:rPr lang="en-US" altLang="en-US" dirty="0"/>
              <a:t>Rollover/console cable</a:t>
            </a:r>
          </a:p>
          <a:p>
            <a:pPr lvl="1"/>
            <a:r>
              <a:rPr lang="en-US" altLang="en-US" dirty="0"/>
              <a:t>Crossover Cable</a:t>
            </a:r>
          </a:p>
          <a:p>
            <a:pPr lvl="1"/>
            <a:r>
              <a:rPr lang="en-US" altLang="en-US" dirty="0"/>
              <a:t>Power over Ethernet</a:t>
            </a:r>
          </a:p>
        </p:txBody>
      </p:sp>
    </p:spTree>
    <p:extLst>
      <p:ext uri="{BB962C8B-B14F-4D97-AF65-F5344CB8AC3E}">
        <p14:creationId xmlns:p14="http://schemas.microsoft.com/office/powerpoint/2010/main" val="3706613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7177" name="Content Placeholder 9"/>
          <p:cNvSpPr>
            <a:spLocks noGrp="1"/>
          </p:cNvSpPr>
          <p:nvPr>
            <p:ph idx="4294967295"/>
          </p:nvPr>
        </p:nvSpPr>
        <p:spPr>
          <a:xfrm>
            <a:off x="914400" y="787400"/>
            <a:ext cx="11056938" cy="5689600"/>
          </a:xfrm>
          <a:ln/>
        </p:spPr>
        <p:txBody>
          <a:bodyPr vert="horz" wrap="square" lIns="91440" tIns="45720" rIns="91440" bIns="45720" anchor="t">
            <a:normAutofit/>
          </a:bodyPr>
          <a:lstStyle/>
          <a:p>
            <a:r>
              <a:rPr lang="en-US" altLang="en-US" sz="2000" dirty="0"/>
              <a:t>Common issues</a:t>
            </a:r>
          </a:p>
          <a:p>
            <a:pPr lvl="1"/>
            <a:r>
              <a:rPr lang="en-US" altLang="en-US" dirty="0"/>
              <a:t>Attenuation</a:t>
            </a:r>
          </a:p>
          <a:p>
            <a:pPr lvl="1"/>
            <a:r>
              <a:rPr lang="en-US" altLang="en-US" dirty="0"/>
              <a:t>Interference</a:t>
            </a:r>
          </a:p>
          <a:p>
            <a:pPr lvl="2"/>
            <a:r>
              <a:rPr lang="en-US" altLang="en-US" dirty="0"/>
              <a:t>EMI/RFI</a:t>
            </a:r>
          </a:p>
          <a:p>
            <a:pPr lvl="1"/>
            <a:r>
              <a:rPr lang="en-US" altLang="en-US" dirty="0"/>
              <a:t>Decibel (dB) loss</a:t>
            </a:r>
          </a:p>
          <a:p>
            <a:pPr lvl="2"/>
            <a:r>
              <a:rPr lang="en-US" altLang="en-US" dirty="0"/>
              <a:t>Measure of signal loss</a:t>
            </a:r>
          </a:p>
          <a:p>
            <a:pPr lvl="2"/>
            <a:r>
              <a:rPr lang="en-US" altLang="en-US" dirty="0"/>
              <a:t>To much loss end to end may cause link failure</a:t>
            </a:r>
          </a:p>
          <a:p>
            <a:pPr lvl="1"/>
            <a:r>
              <a:rPr lang="en-US" altLang="en-US" dirty="0"/>
              <a:t>Incorrect pinout</a:t>
            </a:r>
          </a:p>
          <a:p>
            <a:pPr lvl="1"/>
            <a:r>
              <a:rPr lang="en-US" altLang="en-US" dirty="0"/>
              <a:t>Bad ports</a:t>
            </a:r>
          </a:p>
          <a:p>
            <a:pPr lvl="1"/>
            <a:r>
              <a:rPr lang="en-US" altLang="en-US" dirty="0"/>
              <a:t>Open/short</a:t>
            </a:r>
          </a:p>
          <a:p>
            <a:pPr lvl="2"/>
            <a:r>
              <a:rPr lang="en-US" altLang="en-US" dirty="0"/>
              <a:t>Physical fault in the cable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54869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7177" name="Content Placeholder 9"/>
          <p:cNvSpPr>
            <a:spLocks noGrp="1"/>
          </p:cNvSpPr>
          <p:nvPr>
            <p:ph idx="4294967295"/>
          </p:nvPr>
        </p:nvSpPr>
        <p:spPr>
          <a:xfrm>
            <a:off x="1135063" y="881063"/>
            <a:ext cx="11056937" cy="5691187"/>
          </a:xfrm>
          <a:ln/>
        </p:spPr>
        <p:txBody>
          <a:bodyPr vert="horz" wrap="square" lIns="91440" tIns="45720" rIns="91440" bIns="45720" anchor="t">
            <a:normAutofit/>
          </a:bodyPr>
          <a:lstStyle/>
          <a:p>
            <a:r>
              <a:rPr lang="en-US" altLang="en-US" sz="2000" dirty="0"/>
              <a:t>Common issues</a:t>
            </a:r>
          </a:p>
          <a:p>
            <a:pPr lvl="1"/>
            <a:r>
              <a:rPr lang="en-US" altLang="en-US" dirty="0"/>
              <a:t>Light emitting diode (LED) status indicators</a:t>
            </a:r>
          </a:p>
          <a:p>
            <a:pPr lvl="1"/>
            <a:r>
              <a:rPr lang="en-US" altLang="en-US" dirty="0"/>
              <a:t>Incorrect transceivers</a:t>
            </a:r>
          </a:p>
          <a:p>
            <a:pPr lvl="2"/>
            <a:r>
              <a:rPr lang="en-US" altLang="en-US" dirty="0"/>
              <a:t>Convert signals from devices to cabling requirements-</a:t>
            </a:r>
          </a:p>
          <a:p>
            <a:pPr lvl="1"/>
            <a:r>
              <a:rPr lang="en-US" altLang="en-US" dirty="0"/>
              <a:t>Duplexing issues</a:t>
            </a:r>
          </a:p>
          <a:p>
            <a:pPr lvl="1"/>
            <a:r>
              <a:rPr lang="en-US" altLang="en-US" dirty="0"/>
              <a:t>Transmit and received (TX/RX) reversed</a:t>
            </a:r>
          </a:p>
          <a:p>
            <a:pPr lvl="1"/>
            <a:r>
              <a:rPr lang="en-US" altLang="en-US" dirty="0"/>
              <a:t>Dirty optical cables</a:t>
            </a:r>
          </a:p>
          <a:p>
            <a:pPr lvl="1"/>
            <a:r>
              <a:rPr lang="en-US" altLang="en-US" dirty="0"/>
              <a:t>Bent Pins</a:t>
            </a:r>
          </a:p>
          <a:p>
            <a:pPr lvl="1"/>
            <a:r>
              <a:rPr lang="en-US" altLang="en-US" dirty="0"/>
              <a:t>Split Pairs</a:t>
            </a:r>
          </a:p>
          <a:p>
            <a:pPr lvl="2"/>
            <a:r>
              <a:rPr lang="en-US" altLang="en-US" dirty="0"/>
              <a:t>Wire pairs connected to the wrong pair on the other end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26574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Rectangle 8"/>
          <p:cNvSpPr>
            <a:spLocks noGrp="1"/>
          </p:cNvSpPr>
          <p:nvPr>
            <p:ph type="title" idx="4294967295"/>
          </p:nvPr>
        </p:nvSpPr>
        <p:spPr>
          <a:xfrm>
            <a:off x="952500" y="274638"/>
            <a:ext cx="1123950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Hardware Tools </a:t>
            </a:r>
          </a:p>
        </p:txBody>
      </p:sp>
      <p:sp>
        <p:nvSpPr>
          <p:cNvPr id="20489" name="Content Placeholder 9"/>
          <p:cNvSpPr>
            <a:spLocks noGrp="1"/>
          </p:cNvSpPr>
          <p:nvPr>
            <p:ph idx="4294967295"/>
          </p:nvPr>
        </p:nvSpPr>
        <p:spPr>
          <a:xfrm>
            <a:off x="952500" y="1570037"/>
            <a:ext cx="6858000" cy="4525963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dirty="0"/>
              <a:t>Cable Testers</a:t>
            </a:r>
          </a:p>
          <a:p>
            <a:pPr lvl="1"/>
            <a:r>
              <a:rPr lang="en-US" altLang="en-US" dirty="0"/>
              <a:t>Cable-testing tools can range from simple, inexpensive mechanical devices to elaborate electronic testers that automatically supply you with test results.</a:t>
            </a:r>
          </a:p>
        </p:txBody>
      </p:sp>
      <p:sp>
        <p:nvSpPr>
          <p:cNvPr id="20488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20491" name="Text Box 11"/>
          <p:cNvSpPr txBox="1"/>
          <p:nvPr/>
        </p:nvSpPr>
        <p:spPr>
          <a:xfrm>
            <a:off x="7543800" y="5440362"/>
            <a:ext cx="2848024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1800" b="1" dirty="0"/>
              <a:t>An inexpensive cable tester </a:t>
            </a:r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5ECE9791-56DF-4A0B-8588-650C35BD8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0" y="2469374"/>
            <a:ext cx="2497171" cy="2818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Rectangle 8"/>
          <p:cNvSpPr>
            <a:spLocks noGrp="1"/>
          </p:cNvSpPr>
          <p:nvPr>
            <p:ph type="title" idx="4294967295"/>
          </p:nvPr>
        </p:nvSpPr>
        <p:spPr>
          <a:xfrm>
            <a:off x="1009650" y="274638"/>
            <a:ext cx="1085850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Loopback Plug</a:t>
            </a:r>
            <a:endParaRPr lang="en-US" altLang="en-US" dirty="0"/>
          </a:p>
        </p:txBody>
      </p:sp>
      <p:sp>
        <p:nvSpPr>
          <p:cNvPr id="21513" name="Content Placeholder 9"/>
          <p:cNvSpPr>
            <a:spLocks noGrp="1"/>
          </p:cNvSpPr>
          <p:nvPr>
            <p:ph idx="4294967295"/>
          </p:nvPr>
        </p:nvSpPr>
        <p:spPr>
          <a:xfrm>
            <a:off x="1009650" y="1362075"/>
            <a:ext cx="6858000" cy="1600200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A loopback test is a diagnostic procedure in which a signal is transmitted and returned to the sending device after passing through all or a portion of a network or circuit.</a:t>
            </a:r>
          </a:p>
        </p:txBody>
      </p:sp>
      <p:sp>
        <p:nvSpPr>
          <p:cNvPr id="21512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2151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863" y="2894807"/>
            <a:ext cx="2441575" cy="1828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636" y="3067844"/>
            <a:ext cx="2238375" cy="16557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4" name="Rectangle 8"/>
          <p:cNvSpPr>
            <a:spLocks noGrp="1"/>
          </p:cNvSpPr>
          <p:nvPr>
            <p:ph type="title" idx="4294967295"/>
          </p:nvPr>
        </p:nvSpPr>
        <p:spPr>
          <a:xfrm>
            <a:off x="1026869" y="152400"/>
            <a:ext cx="10822231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Hardware Tools</a:t>
            </a:r>
          </a:p>
        </p:txBody>
      </p:sp>
      <p:sp>
        <p:nvSpPr>
          <p:cNvPr id="22537" name="Content Placeholder 9"/>
          <p:cNvSpPr>
            <a:spLocks noGrp="1"/>
          </p:cNvSpPr>
          <p:nvPr>
            <p:ph idx="4294967295"/>
          </p:nvPr>
        </p:nvSpPr>
        <p:spPr>
          <a:xfrm>
            <a:off x="1026869" y="1203447"/>
            <a:ext cx="6705600" cy="4421187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dirty="0"/>
              <a:t>Wire-Map Testers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i="1" dirty="0"/>
              <a:t>wire-map tester</a:t>
            </a:r>
            <a:r>
              <a:rPr lang="en-US" altLang="en-US" dirty="0"/>
              <a:t> is a device that transmits signals through each wire in a copper twisted-pair cable to determine if it’s connected to the correct pin at the other end. </a:t>
            </a:r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r>
              <a:rPr lang="en-US" altLang="en-US" sz="1800" dirty="0"/>
              <a:t>Continuity Testers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i="1" dirty="0"/>
              <a:t>continuity tester</a:t>
            </a:r>
            <a:r>
              <a:rPr lang="en-US" altLang="en-US" dirty="0"/>
              <a:t> is an even simpler and less expensive device than a wire-map tester that’s designed to check a copper cable connection for basic installation problems like opens, shorts, and crossed pairs.</a:t>
            </a:r>
          </a:p>
        </p:txBody>
      </p:sp>
      <p:sp>
        <p:nvSpPr>
          <p:cNvPr id="22536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16386" name="Picture 2" descr="Lan Cable RJ45/RJ11 Wiremap Tester">
            <a:extLst>
              <a:ext uri="{FF2B5EF4-FFF2-40B4-BE49-F238E27FC236}">
                <a16:creationId xmlns:a16="http://schemas.microsoft.com/office/drawing/2014/main" id="{D0D5BB26-40C8-4CF3-8C21-699D082E9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644" y="1279647"/>
            <a:ext cx="260985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Doss Network Ethernet Cable Continuity Lan Tester CAT5 CAT6 RJ11 ...">
            <a:extLst>
              <a:ext uri="{FF2B5EF4-FFF2-40B4-BE49-F238E27FC236}">
                <a16:creationId xmlns:a16="http://schemas.microsoft.com/office/drawing/2014/main" id="{02348125-BAEF-4DAC-BF49-EB98D04EA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644" y="382575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Rectangle 8"/>
          <p:cNvSpPr>
            <a:spLocks noGrp="1"/>
          </p:cNvSpPr>
          <p:nvPr>
            <p:ph type="title" idx="4294967295"/>
          </p:nvPr>
        </p:nvSpPr>
        <p:spPr>
          <a:xfrm>
            <a:off x="990600" y="274638"/>
            <a:ext cx="1083945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Hardware Tools</a:t>
            </a:r>
          </a:p>
        </p:txBody>
      </p:sp>
      <p:sp>
        <p:nvSpPr>
          <p:cNvPr id="23561" name="Content Placeholder 9"/>
          <p:cNvSpPr>
            <a:spLocks noGrp="1"/>
          </p:cNvSpPr>
          <p:nvPr>
            <p:ph idx="4294967295"/>
          </p:nvPr>
        </p:nvSpPr>
        <p:spPr>
          <a:xfrm>
            <a:off x="4435475" y="1600200"/>
            <a:ext cx="7756525" cy="4648200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dirty="0"/>
              <a:t>Protocol Analyzer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i="1" dirty="0"/>
              <a:t>protocol analyzer</a:t>
            </a:r>
            <a:r>
              <a:rPr lang="en-US" altLang="en-US" dirty="0"/>
              <a:t> is often confused with a packet sniffer because some products really are both.</a:t>
            </a:r>
          </a:p>
          <a:p>
            <a:pPr lvl="1"/>
            <a:r>
              <a:rPr lang="en-US" altLang="en-US" dirty="0"/>
              <a:t>A packet sniffer looks at all traffic on a network segment. </a:t>
            </a:r>
          </a:p>
          <a:p>
            <a:pPr lvl="1"/>
            <a:r>
              <a:rPr lang="en-US" altLang="en-US" dirty="0"/>
              <a:t>A protocol analyzer analyzes protocols.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sz="1800" dirty="0"/>
              <a:t>Certifiers</a:t>
            </a:r>
          </a:p>
          <a:p>
            <a:pPr lvl="1"/>
            <a:r>
              <a:rPr lang="en-US" altLang="en-US" dirty="0"/>
              <a:t>Certification testers or </a:t>
            </a:r>
            <a:r>
              <a:rPr lang="en-US" altLang="en-US" i="1" dirty="0"/>
              <a:t>certifiers </a:t>
            </a:r>
            <a:r>
              <a:rPr lang="en-US" altLang="en-US" dirty="0"/>
              <a:t>are used to determine whether your network meets specific International Organization for Standardization (ISO) or TIA standards.</a:t>
            </a:r>
          </a:p>
        </p:txBody>
      </p:sp>
      <p:sp>
        <p:nvSpPr>
          <p:cNvPr id="23560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2052" name="Picture 4" descr="List of Best Wireshark Alternatives &amp; Competitors 2022">
            <a:extLst>
              <a:ext uri="{FF2B5EF4-FFF2-40B4-BE49-F238E27FC236}">
                <a16:creationId xmlns:a16="http://schemas.microsoft.com/office/drawing/2014/main" id="{6B278196-B448-D425-B519-C3EED86CD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0" y="1600200"/>
            <a:ext cx="1239838" cy="123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Rectangle 8"/>
          <p:cNvSpPr>
            <a:spLocks noGrp="1"/>
          </p:cNvSpPr>
          <p:nvPr>
            <p:ph type="title" idx="4294967295"/>
          </p:nvPr>
        </p:nvSpPr>
        <p:spPr>
          <a:xfrm>
            <a:off x="990600" y="274638"/>
            <a:ext cx="1083945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Hardware Tools</a:t>
            </a:r>
          </a:p>
        </p:txBody>
      </p:sp>
      <p:sp>
        <p:nvSpPr>
          <p:cNvPr id="24585" name="Content Placeholder 9"/>
          <p:cNvSpPr>
            <a:spLocks noGrp="1"/>
          </p:cNvSpPr>
          <p:nvPr>
            <p:ph idx="4294967295"/>
          </p:nvPr>
        </p:nvSpPr>
        <p:spPr>
          <a:xfrm>
            <a:off x="5706796" y="1565275"/>
            <a:ext cx="6096000" cy="2590800"/>
          </a:xfrm>
          <a:ln/>
        </p:spPr>
        <p:txBody>
          <a:bodyPr vert="horz" wrap="square" lIns="91440" tIns="45720" rIns="91440" bIns="45720" anchor="t">
            <a:normAutofit lnSpcReduction="10000"/>
          </a:bodyPr>
          <a:lstStyle/>
          <a:p>
            <a:r>
              <a:rPr lang="en-US" altLang="en-US" sz="1800" dirty="0"/>
              <a:t>Time-Domain Reflectometer (TDR)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i="1" dirty="0"/>
              <a:t>time-domain reflectometer (TDR)</a:t>
            </a:r>
            <a:r>
              <a:rPr lang="en-US" altLang="en-US" dirty="0"/>
              <a:t> is a tool that finds and describes faults in metallic cables like twisted wire pairs and coaxial cables.</a:t>
            </a:r>
          </a:p>
          <a:p>
            <a:r>
              <a:rPr lang="en-US" altLang="en-US" sz="1800" dirty="0"/>
              <a:t>Optical Time-Domain Reflectometer (OTDR)</a:t>
            </a:r>
          </a:p>
          <a:p>
            <a:pPr lvl="1"/>
            <a:r>
              <a:rPr lang="en-US" altLang="en-US" dirty="0"/>
              <a:t>An </a:t>
            </a:r>
            <a:r>
              <a:rPr lang="en-US" altLang="en-US" i="1" dirty="0"/>
              <a:t>optical time-domain reflectometer (OTDR)</a:t>
            </a:r>
            <a:r>
              <a:rPr lang="en-US" altLang="en-US" dirty="0"/>
              <a:t> is an optoelectronic instrument used to give you information about optical fibers. </a:t>
            </a:r>
          </a:p>
        </p:txBody>
      </p:sp>
      <p:sp>
        <p:nvSpPr>
          <p:cNvPr id="24584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graphicFrame>
        <p:nvGraphicFramePr>
          <p:cNvPr id="245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910363"/>
              </p:ext>
            </p:extLst>
          </p:nvPr>
        </p:nvGraphicFramePr>
        <p:xfrm>
          <a:off x="7069665" y="4303713"/>
          <a:ext cx="3370263" cy="217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521710" imgH="2272030" progId="Photoshop.Image.10">
                  <p:embed/>
                </p:oleObj>
              </mc:Choice>
              <mc:Fallback>
                <p:oleObj r:id="rId3" imgW="3521710" imgH="2272030" progId="Photoshop.Image.10">
                  <p:embed/>
                  <p:pic>
                    <p:nvPicPr>
                      <p:cNvPr id="24586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69665" y="4303713"/>
                        <a:ext cx="3370263" cy="2173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" name="Text Box 11"/>
          <p:cNvSpPr txBox="1"/>
          <p:nvPr/>
        </p:nvSpPr>
        <p:spPr>
          <a:xfrm>
            <a:off x="3945465" y="4191000"/>
            <a:ext cx="3124200" cy="1558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1600" dirty="0"/>
              <a:t>We use OTDRs to give us information about the following:</a:t>
            </a:r>
            <a:br>
              <a:rPr lang="en-US" altLang="en-US" sz="1600" dirty="0"/>
            </a:br>
            <a:endParaRPr lang="en-US" altLang="en-US" sz="1600" dirty="0"/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1600" dirty="0"/>
              <a:t>     The fiber’s estimated length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1600" dirty="0"/>
              <a:t>     Its overall attenuation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1600" dirty="0"/>
              <a:t>     The location of faults</a:t>
            </a:r>
          </a:p>
        </p:txBody>
      </p:sp>
      <p:pic>
        <p:nvPicPr>
          <p:cNvPr id="1026" name="Picture 2" descr="TDR-109 cable fault locator | ERSTED AO">
            <a:extLst>
              <a:ext uri="{FF2B5EF4-FFF2-40B4-BE49-F238E27FC236}">
                <a16:creationId xmlns:a16="http://schemas.microsoft.com/office/drawing/2014/main" id="{37DF713B-C55F-6479-C236-47A51147E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162" y="2009775"/>
            <a:ext cx="1375489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TDR II Tester from TREND Networks (formerly IDEAL Networks)">
            <a:extLst>
              <a:ext uri="{FF2B5EF4-FFF2-40B4-BE49-F238E27FC236}">
                <a16:creationId xmlns:a16="http://schemas.microsoft.com/office/drawing/2014/main" id="{08097482-D5F3-FEDD-9608-8BF5C2B02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4191000"/>
            <a:ext cx="3202515" cy="240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Rectangle 8"/>
          <p:cNvSpPr>
            <a:spLocks noGrp="1"/>
          </p:cNvSpPr>
          <p:nvPr>
            <p:ph type="title" idx="4294967295"/>
          </p:nvPr>
        </p:nvSpPr>
        <p:spPr>
          <a:xfrm>
            <a:off x="895350" y="274638"/>
            <a:ext cx="1089660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Hardware Tools</a:t>
            </a:r>
          </a:p>
        </p:txBody>
      </p:sp>
      <p:sp>
        <p:nvSpPr>
          <p:cNvPr id="25609" name="Content Placeholder 9"/>
          <p:cNvSpPr>
            <a:spLocks noGrp="1"/>
          </p:cNvSpPr>
          <p:nvPr>
            <p:ph idx="4294967295"/>
          </p:nvPr>
        </p:nvSpPr>
        <p:spPr>
          <a:xfrm>
            <a:off x="1028700" y="1790700"/>
            <a:ext cx="4267200" cy="3276600"/>
          </a:xfrm>
          <a:ln/>
        </p:spPr>
        <p:txBody>
          <a:bodyPr vert="horz" wrap="square" lIns="91440" tIns="45720" rIns="91440" bIns="45720" anchor="t">
            <a:normAutofit fontScale="92500"/>
          </a:bodyPr>
          <a:lstStyle/>
          <a:p>
            <a:r>
              <a:rPr lang="en-US" altLang="en-US" sz="1800" dirty="0"/>
              <a:t>Multimeter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i="1" dirty="0"/>
              <a:t>multimeter</a:t>
            </a:r>
            <a:r>
              <a:rPr lang="en-US" altLang="en-US" dirty="0"/>
              <a:t> or a multitester (also called a volt/ohm meter [VOM]) is a multitasking electronic measuring instrument.</a:t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dirty="0"/>
              <a:t>Used to troubleshoot electrical problems in a wide array of electrical devices like batteries, motor controls, appliances, power supplies, and wiring</a:t>
            </a:r>
          </a:p>
        </p:txBody>
      </p:sp>
      <p:sp>
        <p:nvSpPr>
          <p:cNvPr id="25608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graphicFrame>
        <p:nvGraphicFramePr>
          <p:cNvPr id="25610" name="Object 2"/>
          <p:cNvGraphicFramePr>
            <a:graphicFrameLocks noChangeAspect="1"/>
          </p:cNvGraphicFramePr>
          <p:nvPr/>
        </p:nvGraphicFramePr>
        <p:xfrm>
          <a:off x="7924800" y="2743200"/>
          <a:ext cx="222885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57600" imgH="4876800" progId="Photoshop.Image.10">
                  <p:embed/>
                </p:oleObj>
              </mc:Choice>
              <mc:Fallback>
                <p:oleObj r:id="rId2" imgW="3657600" imgH="4876800" progId="Photoshop.Image.10">
                  <p:embed/>
                  <p:pic>
                    <p:nvPicPr>
                      <p:cNvPr id="25610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924800" y="2743200"/>
                        <a:ext cx="2228850" cy="297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Rectangle 8"/>
          <p:cNvSpPr>
            <a:spLocks noGrp="1"/>
          </p:cNvSpPr>
          <p:nvPr>
            <p:ph type="title" idx="4294967295"/>
          </p:nvPr>
        </p:nvSpPr>
        <p:spPr>
          <a:xfrm>
            <a:off x="1009650" y="274638"/>
            <a:ext cx="1085850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Hardware Tools</a:t>
            </a:r>
          </a:p>
        </p:txBody>
      </p:sp>
      <p:sp>
        <p:nvSpPr>
          <p:cNvPr id="26633" name="Content Placeholder 9"/>
          <p:cNvSpPr>
            <a:spLocks noGrp="1"/>
          </p:cNvSpPr>
          <p:nvPr>
            <p:ph idx="4294967295"/>
          </p:nvPr>
        </p:nvSpPr>
        <p:spPr>
          <a:xfrm>
            <a:off x="1828800" y="1638300"/>
            <a:ext cx="6096000" cy="1600200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dirty="0"/>
              <a:t>Toner Probe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i="1" dirty="0"/>
              <a:t>toner probe</a:t>
            </a:r>
            <a:r>
              <a:rPr lang="en-US" altLang="en-US" dirty="0"/>
              <a:t>, also called a tone generator, is a simple copper cable tester that is simple to use and can be used to trace a wire in a wall.</a:t>
            </a:r>
          </a:p>
        </p:txBody>
      </p:sp>
      <p:sp>
        <p:nvSpPr>
          <p:cNvPr id="26632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graphicFrame>
        <p:nvGraphicFramePr>
          <p:cNvPr id="266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96881"/>
              </p:ext>
            </p:extLst>
          </p:nvPr>
        </p:nvGraphicFramePr>
        <p:xfrm>
          <a:off x="1524000" y="3238500"/>
          <a:ext cx="36576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57600" imgH="2743200" progId="Photoshop.Image.10">
                  <p:embed/>
                </p:oleObj>
              </mc:Choice>
              <mc:Fallback>
                <p:oleObj r:id="rId2" imgW="3657600" imgH="2743200" progId="Photoshop.Image.10">
                  <p:embed/>
                  <p:pic>
                    <p:nvPicPr>
                      <p:cNvPr id="26634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4000" y="3238500"/>
                        <a:ext cx="3657600" cy="274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4" name="Rectangle 8"/>
          <p:cNvSpPr>
            <a:spLocks noGrp="1"/>
          </p:cNvSpPr>
          <p:nvPr>
            <p:ph type="title" idx="4294967295"/>
          </p:nvPr>
        </p:nvSpPr>
        <p:spPr>
          <a:xfrm>
            <a:off x="971550" y="274638"/>
            <a:ext cx="1089660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Hardware Tools</a:t>
            </a:r>
          </a:p>
        </p:txBody>
      </p:sp>
      <p:sp>
        <p:nvSpPr>
          <p:cNvPr id="27657" name="Content Placeholder 9"/>
          <p:cNvSpPr>
            <a:spLocks noGrp="1"/>
          </p:cNvSpPr>
          <p:nvPr>
            <p:ph idx="4294967295"/>
          </p:nvPr>
        </p:nvSpPr>
        <p:spPr>
          <a:xfrm>
            <a:off x="1314450" y="1570037"/>
            <a:ext cx="6096000" cy="4525963"/>
          </a:xfrm>
          <a:ln/>
        </p:spPr>
        <p:txBody>
          <a:bodyPr vert="horz" wrap="square" lIns="91440" tIns="45720" rIns="91440" bIns="45720" anchor="t">
            <a:normAutofit lnSpcReduction="10000"/>
          </a:bodyPr>
          <a:lstStyle/>
          <a:p>
            <a:r>
              <a:rPr lang="en-US" altLang="en-US" sz="1800" dirty="0"/>
              <a:t>Butt Set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i="1" dirty="0"/>
              <a:t>butt set</a:t>
            </a:r>
            <a:r>
              <a:rPr lang="en-US" altLang="en-US" dirty="0"/>
              <a:t> is essentially a portable</a:t>
            </a:r>
            <a:br>
              <a:rPr lang="en-US" altLang="en-US" dirty="0"/>
            </a:br>
            <a:r>
              <a:rPr lang="en-US" altLang="en-US" dirty="0"/>
              <a:t>telephone that allows you to test</a:t>
            </a:r>
            <a:br>
              <a:rPr lang="en-US" altLang="en-US" dirty="0"/>
            </a:br>
            <a:r>
              <a:rPr lang="en-US" altLang="en-US" dirty="0"/>
              <a:t>and monitor analog lines.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r>
              <a:rPr lang="en-US" altLang="en-US" sz="1800" dirty="0"/>
              <a:t>Punch-Down Tool</a:t>
            </a:r>
          </a:p>
          <a:p>
            <a:pPr lvl="1"/>
            <a:r>
              <a:rPr lang="en-US" altLang="en-US" dirty="0"/>
              <a:t>Twisted-pair cable </a:t>
            </a:r>
            <a:br>
              <a:rPr lang="en-US" altLang="en-US" dirty="0"/>
            </a:br>
            <a:r>
              <a:rPr lang="en-US" altLang="en-US" dirty="0"/>
              <a:t>usually terminated </a:t>
            </a:r>
            <a:br>
              <a:rPr lang="en-US" altLang="en-US" dirty="0"/>
            </a:br>
            <a:r>
              <a:rPr lang="en-US" altLang="en-US" dirty="0"/>
              <a:t>in wiring closets using</a:t>
            </a:r>
            <a:br>
              <a:rPr lang="en-US" altLang="en-US" dirty="0"/>
            </a:br>
            <a:r>
              <a:rPr lang="en-US" altLang="en-US" dirty="0"/>
              <a:t>a tool known as a </a:t>
            </a:r>
            <a:br>
              <a:rPr lang="en-US" altLang="en-US" dirty="0"/>
            </a:br>
            <a:r>
              <a:rPr lang="en-US" altLang="en-US" i="1" dirty="0"/>
              <a:t>punch-down tool</a:t>
            </a:r>
            <a:r>
              <a:rPr lang="en-US" altLang="en-US" dirty="0"/>
              <a:t>.</a:t>
            </a:r>
            <a:endParaRPr lang="en-US" altLang="en-US" sz="1600" dirty="0"/>
          </a:p>
          <a:p>
            <a:endParaRPr lang="en-US" altLang="en-US" sz="1800" dirty="0"/>
          </a:p>
        </p:txBody>
      </p:sp>
      <p:sp>
        <p:nvSpPr>
          <p:cNvPr id="27656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graphicFrame>
        <p:nvGraphicFramePr>
          <p:cNvPr id="276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125208"/>
              </p:ext>
            </p:extLst>
          </p:nvPr>
        </p:nvGraphicFramePr>
        <p:xfrm>
          <a:off x="5758543" y="1646009"/>
          <a:ext cx="190500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57600" imgH="2743200" progId="Photoshop.Image.10">
                  <p:embed/>
                </p:oleObj>
              </mc:Choice>
              <mc:Fallback>
                <p:oleObj r:id="rId2" imgW="3657600" imgH="2743200" progId="Photoshop.Image.10">
                  <p:embed/>
                  <p:pic>
                    <p:nvPicPr>
                      <p:cNvPr id="27658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58543" y="1646009"/>
                        <a:ext cx="1905000" cy="1428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3" name="Picture 7" descr="Shop Platinum Tools 13156C PRO-Strike Punchdown Tool with 110 ...">
            <a:extLst>
              <a:ext uri="{FF2B5EF4-FFF2-40B4-BE49-F238E27FC236}">
                <a16:creationId xmlns:a16="http://schemas.microsoft.com/office/drawing/2014/main" id="{D88A75C1-6FB1-4C19-B9A7-4CB718145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8543" y="4103914"/>
            <a:ext cx="1992086" cy="1992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Rectangle 8"/>
          <p:cNvSpPr>
            <a:spLocks noGrp="1"/>
          </p:cNvSpPr>
          <p:nvPr>
            <p:ph type="title" idx="4294967295"/>
          </p:nvPr>
        </p:nvSpPr>
        <p:spPr>
          <a:xfrm>
            <a:off x="952500" y="274638"/>
            <a:ext cx="1091565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Hardware Tools</a:t>
            </a:r>
          </a:p>
        </p:txBody>
      </p:sp>
      <p:sp>
        <p:nvSpPr>
          <p:cNvPr id="28680" name="Content Placeholder 9"/>
          <p:cNvSpPr>
            <a:spLocks noGrp="1"/>
          </p:cNvSpPr>
          <p:nvPr>
            <p:ph idx="4294967295"/>
          </p:nvPr>
        </p:nvSpPr>
        <p:spPr>
          <a:xfrm>
            <a:off x="1090613" y="1257300"/>
            <a:ext cx="8129587" cy="5164138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dirty="0"/>
              <a:t>Crimper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i="1" dirty="0"/>
              <a:t>wire crimper</a:t>
            </a:r>
            <a:r>
              <a:rPr lang="en-US" altLang="en-US" dirty="0"/>
              <a:t>, often simply called crimper, is a handy tool found in most network technicians’ tool bags. </a:t>
            </a:r>
          </a:p>
          <a:p>
            <a:pPr lvl="1"/>
            <a:r>
              <a:rPr lang="en-US" altLang="en-US" dirty="0"/>
              <a:t>Crimpers are primarily used for attaching ends onto different types of network cables </a:t>
            </a:r>
            <a:br>
              <a:rPr lang="en-US" altLang="en-US" dirty="0"/>
            </a:br>
            <a:r>
              <a:rPr lang="en-US" altLang="en-US" dirty="0"/>
              <a:t>via a process known as </a:t>
            </a:r>
            <a:r>
              <a:rPr lang="en-US" altLang="en-US" i="1" dirty="0"/>
              <a:t>crimping</a:t>
            </a:r>
            <a:r>
              <a:rPr lang="en-US" altLang="en-US" dirty="0"/>
              <a:t>.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sz="1600" dirty="0"/>
          </a:p>
          <a:p>
            <a:endParaRPr lang="en-US" altLang="en-US" dirty="0"/>
          </a:p>
          <a:p>
            <a:r>
              <a:rPr lang="en-US" altLang="en-US" dirty="0"/>
              <a:t>Cable Stripper/Snips</a:t>
            </a:r>
          </a:p>
          <a:p>
            <a:pPr lvl="1"/>
            <a:r>
              <a:rPr lang="en-US" altLang="en-US" dirty="0"/>
              <a:t>Before you can crimp a connector onto the end of a wire, you have to strip the cable with a type of </a:t>
            </a:r>
            <a:r>
              <a:rPr lang="en-US" altLang="en-US" i="1" dirty="0"/>
              <a:t>cable stripper</a:t>
            </a:r>
            <a:r>
              <a:rPr lang="en-US" altLang="en-US" dirty="0"/>
              <a:t> (or snips) and then properly put the wires into the connector.</a:t>
            </a:r>
          </a:p>
        </p:txBody>
      </p:sp>
      <p:graphicFrame>
        <p:nvGraphicFramePr>
          <p:cNvPr id="2868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137555"/>
              </p:ext>
            </p:extLst>
          </p:nvPr>
        </p:nvGraphicFramePr>
        <p:xfrm>
          <a:off x="9008817" y="1565396"/>
          <a:ext cx="2092570" cy="1569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57600" imgH="2743200" progId="Photoshop.Image.10">
                  <p:embed/>
                </p:oleObj>
              </mc:Choice>
              <mc:Fallback>
                <p:oleObj r:id="rId2" imgW="3657600" imgH="2743200" progId="Photoshop.Image.10">
                  <p:embed/>
                  <p:pic>
                    <p:nvPicPr>
                      <p:cNvPr id="28681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08817" y="1565396"/>
                        <a:ext cx="2092570" cy="156942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6"/>
          <p:cNvSpPr/>
          <p:nvPr/>
        </p:nvSpPr>
        <p:spPr>
          <a:xfrm>
            <a:off x="1524000" y="6400800"/>
            <a:ext cx="2057400" cy="457200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en-US" altLang="en-US" sz="1800" dirty="0"/>
          </a:p>
        </p:txBody>
      </p:sp>
      <p:sp>
        <p:nvSpPr>
          <p:cNvPr id="29702" name="Rectangle 8"/>
          <p:cNvSpPr>
            <a:spLocks noGrp="1"/>
          </p:cNvSpPr>
          <p:nvPr>
            <p:ph type="title" idx="4294967295"/>
          </p:nvPr>
        </p:nvSpPr>
        <p:spPr>
          <a:xfrm>
            <a:off x="828675" y="274638"/>
            <a:ext cx="11020425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Hardware Tools</a:t>
            </a:r>
          </a:p>
        </p:txBody>
      </p:sp>
      <p:sp>
        <p:nvSpPr>
          <p:cNvPr id="29705" name="Content Placeholder 9"/>
          <p:cNvSpPr>
            <a:spLocks noGrp="1"/>
          </p:cNvSpPr>
          <p:nvPr>
            <p:ph idx="4294967295"/>
          </p:nvPr>
        </p:nvSpPr>
        <p:spPr>
          <a:xfrm>
            <a:off x="5791200" y="1600200"/>
            <a:ext cx="6400800" cy="4800600"/>
          </a:xfrm>
          <a:ln/>
        </p:spPr>
        <p:txBody>
          <a:bodyPr vert="horz" wrap="square" lIns="91440" tIns="45720" rIns="91440" bIns="45720" anchor="t">
            <a:normAutofit/>
          </a:bodyPr>
          <a:lstStyle/>
          <a:p>
            <a:r>
              <a:rPr lang="en-US" altLang="en-US" sz="3200" dirty="0"/>
              <a:t>Fiber Light Meter</a:t>
            </a:r>
          </a:p>
          <a:p>
            <a:pPr lvl="1"/>
            <a:r>
              <a:rPr lang="en-US" altLang="en-US" sz="3000" dirty="0"/>
              <a:t>Measure receives levels and wavelengths to verify cable is working </a:t>
            </a:r>
          </a:p>
          <a:p>
            <a:r>
              <a:rPr lang="en-US" altLang="en-US" sz="3000" dirty="0"/>
              <a:t>Fiber Fusion Splicer</a:t>
            </a:r>
          </a:p>
          <a:p>
            <a:pPr lvl="1"/>
            <a:r>
              <a:rPr lang="en-US" altLang="en-US" sz="3000" dirty="0"/>
              <a:t>Used to repair fiber cables</a:t>
            </a:r>
          </a:p>
          <a:p>
            <a:pPr lvl="1"/>
            <a:r>
              <a:rPr lang="en-US" altLang="en-US" sz="3000" dirty="0"/>
              <a:t>Minimizes light scattering or being reflected back in the cable</a:t>
            </a:r>
          </a:p>
        </p:txBody>
      </p:sp>
      <p:sp>
        <p:nvSpPr>
          <p:cNvPr id="29704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1026" name="Picture 2" descr="Optic Fiber Power Meter KomShine KPM-35 Fiber Optic FTTH Maintenance + Optical  Fiber Singlemode Light Source KLS-35 1310/1550nm: Amazon.com: Tools &amp; Home  Improvement">
            <a:extLst>
              <a:ext uri="{FF2B5EF4-FFF2-40B4-BE49-F238E27FC236}">
                <a16:creationId xmlns:a16="http://schemas.microsoft.com/office/drawing/2014/main" id="{1E661472-426A-F4AC-EB4B-702AAE152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527969"/>
            <a:ext cx="230505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ber Optic Fusion Splicer with 4.3-inch Touch Screen, Optical Fiber Fusion  Splicing Kit Features 7s Splicing and 18s Heating- 6481 Series: Amazon.com:  Tools &amp; Home Improvement">
            <a:extLst>
              <a:ext uri="{FF2B5EF4-FFF2-40B4-BE49-F238E27FC236}">
                <a16:creationId xmlns:a16="http://schemas.microsoft.com/office/drawing/2014/main" id="{9006D34D-5DC0-8BBE-2C28-D5338F58C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3790950"/>
            <a:ext cx="245745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135</TotalTime>
  <Words>858</Words>
  <Application>Microsoft Macintosh PowerPoint</Application>
  <PresentationFormat>Widescreen</PresentationFormat>
  <Paragraphs>120</Paragraphs>
  <Slides>14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Gill Sans MT</vt:lpstr>
      <vt:lpstr>Impact</vt:lpstr>
      <vt:lpstr>Times</vt:lpstr>
      <vt:lpstr>Badge</vt:lpstr>
      <vt:lpstr>Photoshop.Image.10</vt:lpstr>
      <vt:lpstr>Chapter 23</vt:lpstr>
      <vt:lpstr>PowerPoint Presentation</vt:lpstr>
      <vt:lpstr>PowerPoint Presentation</vt:lpstr>
      <vt:lpstr>PowerPoint Presentation</vt:lpstr>
      <vt:lpstr>Hardware Tools </vt:lpstr>
      <vt:lpstr>Loopback Plug</vt:lpstr>
      <vt:lpstr>Hardware Tools</vt:lpstr>
      <vt:lpstr>Hardware Tools</vt:lpstr>
      <vt:lpstr>Hardware Tools</vt:lpstr>
      <vt:lpstr>Hardware Tools</vt:lpstr>
      <vt:lpstr>Hardware Tools</vt:lpstr>
      <vt:lpstr>Hardware Tools</vt:lpstr>
      <vt:lpstr>Hardware Tools</vt:lpstr>
      <vt:lpstr>Hardware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18</dc:title>
  <dc:creator>Student</dc:creator>
  <cp:lastModifiedBy>Adrienne Bailey</cp:lastModifiedBy>
  <cp:revision>17</cp:revision>
  <dcterms:created xsi:type="dcterms:W3CDTF">2018-11-01T23:38:22Z</dcterms:created>
  <dcterms:modified xsi:type="dcterms:W3CDTF">2022-09-23T15:26:10Z</dcterms:modified>
</cp:coreProperties>
</file>