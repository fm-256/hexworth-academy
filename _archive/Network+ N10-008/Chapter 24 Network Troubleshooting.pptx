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9" r:id="rId1"/>
  </p:sldMasterIdLst>
  <p:notesMasterIdLst>
    <p:notesMasterId r:id="rId16"/>
  </p:notesMasterIdLst>
  <p:sldIdLst>
    <p:sldId id="256" r:id="rId2"/>
    <p:sldId id="367" r:id="rId3"/>
    <p:sldId id="366" r:id="rId4"/>
    <p:sldId id="368" r:id="rId5"/>
    <p:sldId id="369" r:id="rId6"/>
    <p:sldId id="258" r:id="rId7"/>
    <p:sldId id="371" r:id="rId8"/>
    <p:sldId id="384" r:id="rId9"/>
    <p:sldId id="385" r:id="rId10"/>
    <p:sldId id="373" r:id="rId11"/>
    <p:sldId id="374" r:id="rId12"/>
    <p:sldId id="375" r:id="rId13"/>
    <p:sldId id="392" r:id="rId14"/>
    <p:sldId id="38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93" autoAdjust="0"/>
    <p:restoredTop sz="66917"/>
  </p:normalViewPr>
  <p:slideViewPr>
    <p:cSldViewPr snapToGrid="0">
      <p:cViewPr varScale="1">
        <p:scale>
          <a:sx n="75" d="100"/>
          <a:sy n="75" d="100"/>
        </p:scale>
        <p:origin x="1936" y="160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A3AC5E-FBD1-4349-A6BC-1EE3DD375E84}" type="datetimeFigureOut">
              <a:rPr lang="en-US" smtClean="0"/>
              <a:t>9/23/22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0CABFC-E57C-1249-B679-3803C764131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9684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Is it hardware or software problem?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Is it a workstation or a server problem?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Who on the network is effected?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Are there any cabling issues?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CABFC-E57C-1249-B679-3803C764131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78844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Verify link lights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Check power switches, cords, and adapters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Look for user errors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CABFC-E57C-1249-B679-3803C764131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08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20CABFC-E57C-1249-B679-3803C764131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863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648098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015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218800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42162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120828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316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9483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9/23/22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7845298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9/23/22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4025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9150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3113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9/23/22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0480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Chapter 24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Network Troubleshooting</a:t>
            </a:r>
          </a:p>
        </p:txBody>
      </p:sp>
    </p:spTree>
    <p:extLst>
      <p:ext uri="{BB962C8B-B14F-4D97-AF65-F5344CB8AC3E}">
        <p14:creationId xmlns:p14="http://schemas.microsoft.com/office/powerpoint/2010/main" val="37232759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8"/>
          <p:cNvSpPr>
            <a:spLocks noGrp="1"/>
          </p:cNvSpPr>
          <p:nvPr>
            <p:ph type="title" idx="4294967295"/>
          </p:nvPr>
        </p:nvSpPr>
        <p:spPr>
          <a:xfrm>
            <a:off x="931333" y="330985"/>
            <a:ext cx="11904133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dirty="0"/>
              <a:t>Network Troubleshooting</a:t>
            </a:r>
          </a:p>
        </p:txBody>
      </p:sp>
      <p:sp>
        <p:nvSpPr>
          <p:cNvPr id="9225" name="Content Placeholder 9"/>
          <p:cNvSpPr>
            <a:spLocks noGrp="1"/>
          </p:cNvSpPr>
          <p:nvPr>
            <p:ph idx="4294967295"/>
          </p:nvPr>
        </p:nvSpPr>
        <p:spPr>
          <a:xfrm>
            <a:off x="1117600" y="1316038"/>
            <a:ext cx="6096000" cy="4525962"/>
          </a:xfrm>
          <a:ln/>
        </p:spPr>
        <p:txBody>
          <a:bodyPr vert="horz" wrap="square" lIns="91440" tIns="45720" rIns="91440" bIns="45720" anchor="t"/>
          <a:lstStyle/>
          <a:p>
            <a:r>
              <a:rPr lang="en-US" altLang="en-US" sz="1800" dirty="0"/>
              <a:t>Troubleshooting computers and networks is a combination of art and science, and the only way to get really good at it is by doing it.</a:t>
            </a:r>
            <a:br>
              <a:rPr lang="en-US" altLang="en-US" sz="1800" dirty="0"/>
            </a:br>
            <a:endParaRPr lang="en-US" altLang="en-US" sz="1800" dirty="0"/>
          </a:p>
          <a:p>
            <a:r>
              <a:rPr lang="en-US" altLang="en-US" sz="1800" dirty="0"/>
              <a:t>Check quickly for problems in the “super-simple stuff” category.</a:t>
            </a:r>
          </a:p>
          <a:p>
            <a:r>
              <a:rPr lang="en-US" altLang="en-US" sz="1800" dirty="0"/>
              <a:t>Move to common troubleshooting models that you can use like a checklist to go through to solve a surprising number of network problems. </a:t>
            </a:r>
          </a:p>
        </p:txBody>
      </p:sp>
      <p:sp>
        <p:nvSpPr>
          <p:cNvPr id="9224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DC9500D-C02D-4195-B481-648ACAFE6830}"/>
              </a:ext>
            </a:extLst>
          </p:cNvPr>
          <p:cNvSpPr/>
          <p:nvPr/>
        </p:nvSpPr>
        <p:spPr>
          <a:xfrm>
            <a:off x="1283479" y="5091093"/>
            <a:ext cx="507740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/>
              <a:t>Keep it Simple</a:t>
            </a:r>
          </a:p>
          <a:p>
            <a:r>
              <a:rPr lang="en-US" sz="2800" dirty="0"/>
              <a:t>Start with what you know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8"/>
          <p:cNvSpPr>
            <a:spLocks noGrp="1"/>
          </p:cNvSpPr>
          <p:nvPr>
            <p:ph type="title" idx="4294967295"/>
          </p:nvPr>
        </p:nvSpPr>
        <p:spPr>
          <a:xfrm>
            <a:off x="897468" y="323850"/>
            <a:ext cx="10955866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sz="3200" b="1" dirty="0"/>
              <a:t>Narrowing Down the Problem</a:t>
            </a:r>
          </a:p>
        </p:txBody>
      </p:sp>
      <p:sp>
        <p:nvSpPr>
          <p:cNvPr id="10249" name="Content Placeholder 9"/>
          <p:cNvSpPr>
            <a:spLocks noGrp="1"/>
          </p:cNvSpPr>
          <p:nvPr>
            <p:ph idx="4294967295"/>
          </p:nvPr>
        </p:nvSpPr>
        <p:spPr>
          <a:xfrm>
            <a:off x="1257300" y="1594644"/>
            <a:ext cx="6781800" cy="4525962"/>
          </a:xfrm>
          <a:ln/>
        </p:spPr>
        <p:txBody>
          <a:bodyPr vert="horz" wrap="square" lIns="91440" tIns="45720" rIns="91440" bIns="45720" anchor="t"/>
          <a:lstStyle/>
          <a:p>
            <a:r>
              <a:rPr lang="en-US" altLang="en-US" sz="2400" b="1" dirty="0"/>
              <a:t>Did You Check the Super Simple Stuff?</a:t>
            </a:r>
          </a:p>
          <a:p>
            <a:pPr lvl="1"/>
            <a:r>
              <a:rPr lang="en-US" altLang="en-US" dirty="0"/>
              <a:t>Check to ensure login procedures and rights.</a:t>
            </a:r>
          </a:p>
          <a:p>
            <a:pPr lvl="1"/>
            <a:r>
              <a:rPr lang="en-US" altLang="en-US" dirty="0"/>
              <a:t>Look for link lights and collision lights.</a:t>
            </a:r>
          </a:p>
          <a:p>
            <a:pPr lvl="1"/>
            <a:r>
              <a:rPr lang="en-US" altLang="en-US" dirty="0"/>
              <a:t>Check all power switches, cords, and adapters.</a:t>
            </a:r>
          </a:p>
          <a:p>
            <a:pPr lvl="1"/>
            <a:r>
              <a:rPr lang="en-US" altLang="en-US" dirty="0"/>
              <a:t>Look for user errors.</a:t>
            </a:r>
          </a:p>
          <a:p>
            <a:endParaRPr lang="en-US" altLang="en-US" sz="2400" b="1" dirty="0"/>
          </a:p>
          <a:p>
            <a:endParaRPr lang="en-US" altLang="en-US" sz="2400" b="1" dirty="0"/>
          </a:p>
          <a:p>
            <a:r>
              <a:rPr lang="en-US" altLang="en-US" sz="2400" dirty="0"/>
              <a:t>Are There Any Cabling Issues? </a:t>
            </a:r>
          </a:p>
        </p:txBody>
      </p:sp>
      <p:sp>
        <p:nvSpPr>
          <p:cNvPr id="10248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Rectangle 8"/>
          <p:cNvSpPr>
            <a:spLocks noGrp="1"/>
          </p:cNvSpPr>
          <p:nvPr>
            <p:ph type="title" idx="4294967295"/>
          </p:nvPr>
        </p:nvSpPr>
        <p:spPr>
          <a:xfrm>
            <a:off x="948267" y="307975"/>
            <a:ext cx="11243733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sz="3200" b="1" dirty="0"/>
              <a:t>Narrowing Down the Problem</a:t>
            </a:r>
          </a:p>
        </p:txBody>
      </p:sp>
      <p:sp>
        <p:nvSpPr>
          <p:cNvPr id="11273" name="Content Placeholder 9"/>
          <p:cNvSpPr>
            <a:spLocks noGrp="1"/>
          </p:cNvSpPr>
          <p:nvPr>
            <p:ph idx="4294967295"/>
          </p:nvPr>
        </p:nvSpPr>
        <p:spPr>
          <a:xfrm>
            <a:off x="1066800" y="1643063"/>
            <a:ext cx="6705600" cy="4906962"/>
          </a:xfrm>
          <a:ln/>
        </p:spPr>
        <p:txBody>
          <a:bodyPr vert="horz" wrap="square" lIns="91440" tIns="45720" rIns="91440" bIns="45720" anchor="t"/>
          <a:lstStyle/>
          <a:p>
            <a:r>
              <a:rPr lang="en-US" altLang="en-US" sz="1800" b="1" dirty="0"/>
              <a:t>Correct Login Procedure and Rights</a:t>
            </a:r>
          </a:p>
          <a:p>
            <a:pPr lvl="1"/>
            <a:r>
              <a:rPr lang="en-US" altLang="en-US" dirty="0"/>
              <a:t>Username and password is being entered correctly?</a:t>
            </a:r>
          </a:p>
          <a:p>
            <a:pPr lvl="1"/>
            <a:r>
              <a:rPr lang="en-US" altLang="en-US" dirty="0"/>
              <a:t>Check the Caps Lock key.</a:t>
            </a:r>
            <a:br>
              <a:rPr lang="en-US" altLang="en-US" dirty="0"/>
            </a:br>
            <a:endParaRPr lang="en-US" altLang="en-US" dirty="0"/>
          </a:p>
          <a:p>
            <a:r>
              <a:rPr lang="en-US" altLang="en-US" sz="1800" b="1" dirty="0"/>
              <a:t>Can the Problem Be Reproduced?</a:t>
            </a:r>
          </a:p>
          <a:p>
            <a:r>
              <a:rPr lang="en-US" altLang="en-US" sz="1800" b="1" dirty="0"/>
              <a:t>The Link and Collision Lights</a:t>
            </a:r>
          </a:p>
          <a:p>
            <a:r>
              <a:rPr lang="en-US" altLang="en-US" sz="1800" b="1" dirty="0"/>
              <a:t>The Power Switch</a:t>
            </a:r>
          </a:p>
          <a:p>
            <a:r>
              <a:rPr lang="en-US" altLang="en-US" sz="1800" b="1" dirty="0"/>
              <a:t>Operator Error</a:t>
            </a:r>
          </a:p>
        </p:txBody>
      </p:sp>
      <p:sp>
        <p:nvSpPr>
          <p:cNvPr id="11272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4" name="Rectangle 8"/>
          <p:cNvSpPr>
            <a:spLocks noGrp="1"/>
          </p:cNvSpPr>
          <p:nvPr>
            <p:ph type="title" idx="4294967295"/>
          </p:nvPr>
        </p:nvSpPr>
        <p:spPr>
          <a:xfrm>
            <a:off x="965200" y="274638"/>
            <a:ext cx="11226800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sz="3200" b="1" dirty="0"/>
              <a:t>Narrowing Down the Problem</a:t>
            </a:r>
          </a:p>
        </p:txBody>
      </p:sp>
      <p:sp>
        <p:nvSpPr>
          <p:cNvPr id="12297" name="Content Placeholder 9"/>
          <p:cNvSpPr>
            <a:spLocks noGrp="1"/>
          </p:cNvSpPr>
          <p:nvPr>
            <p:ph idx="4294967295"/>
          </p:nvPr>
        </p:nvSpPr>
        <p:spPr>
          <a:xfrm>
            <a:off x="965200" y="1951038"/>
            <a:ext cx="6096000" cy="4525962"/>
          </a:xfrm>
          <a:ln/>
        </p:spPr>
        <p:txBody>
          <a:bodyPr vert="horz" wrap="square" lIns="91440" tIns="45720" rIns="91440" bIns="45720" anchor="t"/>
          <a:lstStyle/>
          <a:p>
            <a:r>
              <a:rPr lang="en-US" altLang="en-US" sz="1800" dirty="0"/>
              <a:t>Is Hardware or Software Causing the Problem?</a:t>
            </a:r>
          </a:p>
          <a:p>
            <a:r>
              <a:rPr lang="en-US" altLang="en-US" sz="1800" dirty="0"/>
              <a:t>Is It a Workstation or a Server Problem?</a:t>
            </a:r>
          </a:p>
          <a:p>
            <a:r>
              <a:rPr lang="en-US" altLang="en-US" sz="1800" dirty="0"/>
              <a:t>Which Segments of the Network Are Affected?</a:t>
            </a:r>
          </a:p>
          <a:p>
            <a:r>
              <a:rPr lang="en-US" altLang="en-US" sz="1800" dirty="0"/>
              <a:t>Is It Bad Cabling or Cabling Issues?</a:t>
            </a:r>
          </a:p>
          <a:p>
            <a:pPr lvl="1"/>
            <a:r>
              <a:rPr lang="en-US" altLang="en-US" dirty="0"/>
              <a:t>Crosstalk</a:t>
            </a:r>
          </a:p>
          <a:p>
            <a:pPr lvl="1"/>
            <a:r>
              <a:rPr lang="en-US" altLang="en-US" dirty="0"/>
              <a:t>Far-end or near-end crosstalk</a:t>
            </a:r>
          </a:p>
          <a:p>
            <a:pPr lvl="1"/>
            <a:r>
              <a:rPr lang="en-US" altLang="en-US" dirty="0"/>
              <a:t>Attenuation</a:t>
            </a:r>
          </a:p>
          <a:p>
            <a:pPr lvl="1"/>
            <a:r>
              <a:rPr lang="en-US" altLang="en-US" dirty="0"/>
              <a:t>Collisions</a:t>
            </a:r>
          </a:p>
          <a:p>
            <a:pPr lvl="1"/>
            <a:r>
              <a:rPr lang="en-US" altLang="en-US" dirty="0"/>
              <a:t>Shorts</a:t>
            </a:r>
          </a:p>
          <a:p>
            <a:pPr lvl="1"/>
            <a:r>
              <a:rPr lang="en-US" altLang="en-US" dirty="0"/>
              <a:t>Open impedance mismatch (echo)</a:t>
            </a:r>
          </a:p>
          <a:p>
            <a:pPr lvl="1"/>
            <a:r>
              <a:rPr lang="en-US" altLang="en-US" dirty="0"/>
              <a:t>Interference</a:t>
            </a:r>
          </a:p>
        </p:txBody>
      </p:sp>
      <p:sp>
        <p:nvSpPr>
          <p:cNvPr id="12296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Troubleshooting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1678" y="1632204"/>
            <a:ext cx="10178322" cy="3593591"/>
          </a:xfrm>
        </p:spPr>
        <p:txBody>
          <a:bodyPr/>
          <a:lstStyle/>
          <a:p>
            <a:r>
              <a:rPr lang="en-US" dirty="0"/>
              <a:t>Identify the Problem</a:t>
            </a:r>
          </a:p>
          <a:p>
            <a:r>
              <a:rPr lang="en-US" dirty="0"/>
              <a:t>Establish a theory of Probable cause</a:t>
            </a:r>
          </a:p>
          <a:p>
            <a:r>
              <a:rPr lang="en-US" dirty="0"/>
              <a:t>Test the theory to determine cause</a:t>
            </a:r>
          </a:p>
          <a:p>
            <a:r>
              <a:rPr lang="en-US" dirty="0"/>
              <a:t>Establish a plan of action to resolve the problem and identify potential effects</a:t>
            </a:r>
          </a:p>
          <a:p>
            <a:r>
              <a:rPr lang="en-US" dirty="0"/>
              <a:t>Implement the solution or escalate</a:t>
            </a:r>
          </a:p>
          <a:p>
            <a:r>
              <a:rPr lang="en-US" dirty="0"/>
              <a:t>Verify full system functionality</a:t>
            </a:r>
          </a:p>
          <a:p>
            <a:r>
              <a:rPr lang="en-US" dirty="0"/>
              <a:t>Document findings, actions and outcomes</a:t>
            </a:r>
          </a:p>
        </p:txBody>
      </p:sp>
    </p:spTree>
    <p:extLst>
      <p:ext uri="{BB962C8B-B14F-4D97-AF65-F5344CB8AC3E}">
        <p14:creationId xmlns:p14="http://schemas.microsoft.com/office/powerpoint/2010/main" val="4179557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2" name="Rectangle 8"/>
          <p:cNvSpPr>
            <a:spLocks noGrp="1"/>
          </p:cNvSpPr>
          <p:nvPr>
            <p:ph type="title" idx="4294967295"/>
          </p:nvPr>
        </p:nvSpPr>
        <p:spPr>
          <a:xfrm>
            <a:off x="931334" y="274638"/>
            <a:ext cx="10938934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b="1" dirty="0"/>
              <a:t>Troubleshooting Steps</a:t>
            </a:r>
          </a:p>
        </p:txBody>
      </p:sp>
      <p:sp>
        <p:nvSpPr>
          <p:cNvPr id="14345" name="Content Placeholder 9"/>
          <p:cNvSpPr>
            <a:spLocks noGrp="1"/>
          </p:cNvSpPr>
          <p:nvPr>
            <p:ph idx="4294967295"/>
          </p:nvPr>
        </p:nvSpPr>
        <p:spPr>
          <a:xfrm>
            <a:off x="3009901" y="1524000"/>
            <a:ext cx="6781800" cy="1905000"/>
          </a:xfrm>
          <a:ln/>
        </p:spPr>
        <p:txBody>
          <a:bodyPr vert="horz" wrap="square" lIns="91440" tIns="45720" rIns="91440" bIns="45720" anchor="t">
            <a:normAutofit fontScale="92500" lnSpcReduction="10000"/>
          </a:bodyPr>
          <a:lstStyle/>
          <a:p>
            <a:pPr>
              <a:buNone/>
            </a:pPr>
            <a:r>
              <a:rPr lang="en-US" altLang="en-US" u="sng" dirty="0"/>
              <a:t>Step 1:  </a:t>
            </a:r>
            <a:r>
              <a:rPr lang="en-US" altLang="en-US" b="1" dirty="0"/>
              <a:t>Identify the Problem</a:t>
            </a:r>
          </a:p>
          <a:p>
            <a:endParaRPr lang="en-US" altLang="en-US" b="1" dirty="0"/>
          </a:p>
          <a:p>
            <a:r>
              <a:rPr lang="en-US" altLang="en-US" b="1" dirty="0"/>
              <a:t>Question Users</a:t>
            </a:r>
          </a:p>
          <a:p>
            <a:r>
              <a:rPr lang="en-US" altLang="en-US" b="1" dirty="0"/>
              <a:t>Determine If Anything Has Changed</a:t>
            </a:r>
          </a:p>
          <a:p>
            <a:r>
              <a:rPr lang="en-US" altLang="en-US" b="1" dirty="0"/>
              <a:t>Identify Symptoms</a:t>
            </a:r>
          </a:p>
          <a:p>
            <a:endParaRPr lang="en-US" altLang="en-US" u="sng" dirty="0"/>
          </a:p>
        </p:txBody>
      </p:sp>
      <p:sp>
        <p:nvSpPr>
          <p:cNvPr id="14344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graphicFrame>
        <p:nvGraphicFramePr>
          <p:cNvPr id="14346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99813674"/>
              </p:ext>
            </p:extLst>
          </p:nvPr>
        </p:nvGraphicFramePr>
        <p:xfrm>
          <a:off x="3430587" y="4184650"/>
          <a:ext cx="5330825" cy="2292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1941830" imgH="835025" progId="Photoshop.Image.10">
                  <p:embed/>
                </p:oleObj>
              </mc:Choice>
              <mc:Fallback>
                <p:oleObj r:id="rId2" imgW="1941830" imgH="835025" progId="Photoshop.Image.10">
                  <p:embed/>
                  <p:pic>
                    <p:nvPicPr>
                      <p:cNvPr id="14346" name="Object 10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430587" y="4184650"/>
                        <a:ext cx="5330825" cy="2292350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6" name="Rectangle 8"/>
          <p:cNvSpPr>
            <a:spLocks noGrp="1"/>
          </p:cNvSpPr>
          <p:nvPr>
            <p:ph type="title" idx="4294967295"/>
          </p:nvPr>
        </p:nvSpPr>
        <p:spPr>
          <a:xfrm>
            <a:off x="931334" y="274638"/>
            <a:ext cx="10989734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b="1" dirty="0"/>
              <a:t>Troubleshooting Steps</a:t>
            </a:r>
          </a:p>
        </p:txBody>
      </p:sp>
      <p:sp>
        <p:nvSpPr>
          <p:cNvPr id="15369" name="Content Placeholder 9"/>
          <p:cNvSpPr>
            <a:spLocks noGrp="1"/>
          </p:cNvSpPr>
          <p:nvPr>
            <p:ph idx="4294967295"/>
          </p:nvPr>
        </p:nvSpPr>
        <p:spPr>
          <a:xfrm>
            <a:off x="3048000" y="1514476"/>
            <a:ext cx="6096000" cy="4525962"/>
          </a:xfrm>
          <a:ln/>
        </p:spPr>
        <p:txBody>
          <a:bodyPr vert="horz" wrap="square" lIns="91440" tIns="45720" rIns="91440" bIns="45720" anchor="t"/>
          <a:lstStyle/>
          <a:p>
            <a:r>
              <a:rPr lang="en-US" altLang="en-US" u="sng" dirty="0"/>
              <a:t>Step 2: </a:t>
            </a:r>
            <a:r>
              <a:rPr lang="en-US" altLang="en-US" b="1" dirty="0"/>
              <a:t>Establish a Theory of Probable Cause</a:t>
            </a:r>
            <a:br>
              <a:rPr lang="en-US" altLang="en-US" u="sng" dirty="0"/>
            </a:br>
            <a:endParaRPr lang="en-US" altLang="en-US" u="sng" dirty="0"/>
          </a:p>
          <a:p>
            <a:pPr lvl="1">
              <a:buNone/>
            </a:pPr>
            <a:r>
              <a:rPr lang="en-US" altLang="en-US" dirty="0"/>
              <a:t>Question the Obvious</a:t>
            </a:r>
          </a:p>
          <a:p>
            <a:pPr lvl="2"/>
            <a:r>
              <a:rPr lang="en-US" altLang="en-US" sz="1800" dirty="0"/>
              <a:t>Port speed</a:t>
            </a:r>
            <a:endParaRPr lang="en-US" altLang="en-US" sz="1800" u="sng" dirty="0"/>
          </a:p>
          <a:p>
            <a:pPr lvl="2"/>
            <a:r>
              <a:rPr lang="en-US" altLang="en-US" sz="1800" dirty="0"/>
              <a:t>Port duplex mismatch</a:t>
            </a:r>
            <a:endParaRPr lang="en-US" altLang="en-US" sz="1800" u="sng" dirty="0"/>
          </a:p>
          <a:p>
            <a:pPr lvl="2"/>
            <a:r>
              <a:rPr lang="en-US" altLang="en-US" sz="1800" dirty="0"/>
              <a:t>Mismatched MTU</a:t>
            </a:r>
          </a:p>
          <a:p>
            <a:pPr lvl="2"/>
            <a:r>
              <a:rPr lang="en-US" altLang="en-US" sz="1800" dirty="0"/>
              <a:t>Incorrect VLAN</a:t>
            </a:r>
          </a:p>
          <a:p>
            <a:pPr lvl="2"/>
            <a:r>
              <a:rPr lang="en-US" altLang="en-US" sz="1800" dirty="0"/>
              <a:t>Incorrect IP address</a:t>
            </a:r>
          </a:p>
          <a:p>
            <a:pPr lvl="2"/>
            <a:r>
              <a:rPr lang="en-US" altLang="en-US" sz="1800" dirty="0"/>
              <a:t>Wrong gateway</a:t>
            </a:r>
          </a:p>
          <a:p>
            <a:pPr lvl="2"/>
            <a:r>
              <a:rPr lang="en-US" altLang="en-US" sz="1800" dirty="0"/>
              <a:t>Wrong DNS</a:t>
            </a:r>
          </a:p>
          <a:p>
            <a:pPr lvl="2"/>
            <a:r>
              <a:rPr lang="en-US" altLang="en-US" sz="1800" dirty="0"/>
              <a:t>Wrong subnet mask</a:t>
            </a:r>
          </a:p>
          <a:p>
            <a:pPr lvl="1">
              <a:buNone/>
            </a:pPr>
            <a:endParaRPr lang="en-US" altLang="en-US" b="1" dirty="0"/>
          </a:p>
          <a:p>
            <a:pPr lvl="1"/>
            <a:endParaRPr lang="en-US" altLang="en-US" b="1" dirty="0"/>
          </a:p>
          <a:p>
            <a:pPr lvl="1"/>
            <a:endParaRPr lang="en-US" altLang="en-US" dirty="0"/>
          </a:p>
        </p:txBody>
      </p:sp>
      <p:sp>
        <p:nvSpPr>
          <p:cNvPr id="15368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90" name="Rectangle 8"/>
          <p:cNvSpPr>
            <a:spLocks noGrp="1"/>
          </p:cNvSpPr>
          <p:nvPr>
            <p:ph type="title" idx="4294967295"/>
          </p:nvPr>
        </p:nvSpPr>
        <p:spPr>
          <a:xfrm>
            <a:off x="1032934" y="274638"/>
            <a:ext cx="10888134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b="1" dirty="0"/>
              <a:t>Troubleshooting Steps</a:t>
            </a:r>
          </a:p>
        </p:txBody>
      </p:sp>
      <p:sp>
        <p:nvSpPr>
          <p:cNvPr id="16393" name="Content Placeholder 9"/>
          <p:cNvSpPr>
            <a:spLocks noGrp="1"/>
          </p:cNvSpPr>
          <p:nvPr>
            <p:ph idx="4294967295"/>
          </p:nvPr>
        </p:nvSpPr>
        <p:spPr>
          <a:xfrm>
            <a:off x="3048000" y="1532467"/>
            <a:ext cx="6096000" cy="1066800"/>
          </a:xfrm>
          <a:ln/>
        </p:spPr>
        <p:txBody>
          <a:bodyPr vert="horz" wrap="square" lIns="91440" tIns="45720" rIns="91440" bIns="45720" anchor="t">
            <a:normAutofit fontScale="85000" lnSpcReduction="20000"/>
          </a:bodyPr>
          <a:lstStyle/>
          <a:p>
            <a:r>
              <a:rPr lang="en-US" altLang="en-US" u="sng" dirty="0"/>
              <a:t>Step 3: </a:t>
            </a:r>
            <a:r>
              <a:rPr lang="en-US" altLang="en-US" b="1" dirty="0"/>
              <a:t>Test the Theory to Determine Cause</a:t>
            </a:r>
            <a:br>
              <a:rPr lang="en-US" altLang="en-US" u="sng" dirty="0"/>
            </a:br>
            <a:endParaRPr lang="en-US" altLang="en-US" u="sng" dirty="0"/>
          </a:p>
          <a:p>
            <a:pPr lvl="1">
              <a:buNone/>
            </a:pPr>
            <a:br>
              <a:rPr lang="en-US" altLang="en-US" u="sng" dirty="0"/>
            </a:br>
            <a:endParaRPr lang="en-US" altLang="en-US" u="sng" dirty="0"/>
          </a:p>
          <a:p>
            <a:pPr lvl="1"/>
            <a:endParaRPr lang="en-US" altLang="en-US" dirty="0"/>
          </a:p>
        </p:txBody>
      </p:sp>
      <p:sp>
        <p:nvSpPr>
          <p:cNvPr id="16392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pic>
        <p:nvPicPr>
          <p:cNvPr id="16394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2133" y="2265627"/>
            <a:ext cx="3838575" cy="42767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4" name="Rectangle 8"/>
          <p:cNvSpPr>
            <a:spLocks noGrp="1"/>
          </p:cNvSpPr>
          <p:nvPr>
            <p:ph type="title" idx="4294967295"/>
          </p:nvPr>
        </p:nvSpPr>
        <p:spPr>
          <a:xfrm>
            <a:off x="965200" y="274638"/>
            <a:ext cx="10905067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b="1" dirty="0"/>
              <a:t>Troubleshooting Steps</a:t>
            </a:r>
          </a:p>
        </p:txBody>
      </p:sp>
      <p:sp>
        <p:nvSpPr>
          <p:cNvPr id="17416" name="Content Placeholder 9"/>
          <p:cNvSpPr>
            <a:spLocks noGrp="1"/>
          </p:cNvSpPr>
          <p:nvPr>
            <p:ph idx="4294967295"/>
          </p:nvPr>
        </p:nvSpPr>
        <p:spPr>
          <a:xfrm>
            <a:off x="3048000" y="1387079"/>
            <a:ext cx="6096000" cy="1066800"/>
          </a:xfrm>
          <a:ln/>
        </p:spPr>
        <p:txBody>
          <a:bodyPr vert="horz" wrap="square" lIns="91440" tIns="45720" rIns="91440" bIns="45720" anchor="t">
            <a:normAutofit fontScale="92500" lnSpcReduction="10000"/>
          </a:bodyPr>
          <a:lstStyle/>
          <a:p>
            <a:r>
              <a:rPr lang="en-US" altLang="en-US" u="sng" dirty="0"/>
              <a:t>Step 4: </a:t>
            </a:r>
            <a:r>
              <a:rPr lang="en-US" altLang="en-US" b="1" dirty="0"/>
              <a:t>Establish a Plan of Action to Resolve</a:t>
            </a:r>
          </a:p>
          <a:p>
            <a:pPr>
              <a:buNone/>
            </a:pPr>
            <a:r>
              <a:rPr lang="en-US" altLang="en-US" b="1" dirty="0"/>
              <a:t>the Problem and Identify Potential Effects</a:t>
            </a:r>
            <a:br>
              <a:rPr lang="en-US" altLang="en-US" b="1" u="sng" dirty="0"/>
            </a:br>
            <a:endParaRPr lang="en-US" altLang="en-US" b="1" u="sng" dirty="0"/>
          </a:p>
        </p:txBody>
      </p:sp>
      <p:sp>
        <p:nvSpPr>
          <p:cNvPr id="17415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  <p:pic>
        <p:nvPicPr>
          <p:cNvPr id="17417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391" y="2423319"/>
            <a:ext cx="2362200" cy="26289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7418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9134" y="4363243"/>
            <a:ext cx="4524375" cy="22764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8" name="Rectangle 8"/>
          <p:cNvSpPr>
            <a:spLocks noGrp="1"/>
          </p:cNvSpPr>
          <p:nvPr>
            <p:ph type="title" idx="4294967295"/>
          </p:nvPr>
        </p:nvSpPr>
        <p:spPr>
          <a:xfrm>
            <a:off x="897467" y="274638"/>
            <a:ext cx="11294533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b="1" dirty="0"/>
              <a:t>Troubleshooting Steps</a:t>
            </a:r>
          </a:p>
        </p:txBody>
      </p:sp>
      <p:sp>
        <p:nvSpPr>
          <p:cNvPr id="18441" name="Content Placeholder 9"/>
          <p:cNvSpPr>
            <a:spLocks noGrp="1"/>
          </p:cNvSpPr>
          <p:nvPr>
            <p:ph idx="4294967295"/>
          </p:nvPr>
        </p:nvSpPr>
        <p:spPr>
          <a:xfrm>
            <a:off x="3048000" y="1570038"/>
            <a:ext cx="6096000" cy="4525962"/>
          </a:xfrm>
          <a:ln/>
        </p:spPr>
        <p:txBody>
          <a:bodyPr vert="horz" wrap="square" lIns="91440" tIns="45720" rIns="91440" bIns="45720" anchor="t">
            <a:normAutofit fontScale="92500" lnSpcReduction="20000"/>
          </a:bodyPr>
          <a:lstStyle/>
          <a:p>
            <a:pPr>
              <a:buNone/>
            </a:pPr>
            <a:r>
              <a:rPr lang="en-US" altLang="en-US" u="sng" dirty="0"/>
              <a:t>Step 5: </a:t>
            </a:r>
            <a:r>
              <a:rPr lang="en-US" altLang="en-US" b="1" dirty="0"/>
              <a:t>Implement the Solution or Escalate as Necessary</a:t>
            </a:r>
          </a:p>
          <a:p>
            <a:pPr>
              <a:buNone/>
            </a:pPr>
            <a:br>
              <a:rPr lang="en-US" altLang="en-US" u="sng" dirty="0"/>
            </a:br>
            <a:r>
              <a:rPr lang="en-US" altLang="en-US" dirty="0"/>
              <a:t>Some of the calamities that you should escalate are as follows:</a:t>
            </a:r>
          </a:p>
          <a:p>
            <a:r>
              <a:rPr lang="en-US" altLang="en-US" dirty="0"/>
              <a:t> Switching loops</a:t>
            </a:r>
          </a:p>
          <a:p>
            <a:r>
              <a:rPr lang="en-US" altLang="en-US" dirty="0"/>
              <a:t> Missing routes</a:t>
            </a:r>
          </a:p>
          <a:p>
            <a:r>
              <a:rPr lang="en-US" altLang="en-US" dirty="0"/>
              <a:t> Routing loops</a:t>
            </a:r>
          </a:p>
          <a:p>
            <a:r>
              <a:rPr lang="en-US" altLang="en-US" dirty="0"/>
              <a:t> Routing problems</a:t>
            </a:r>
          </a:p>
          <a:p>
            <a:r>
              <a:rPr lang="en-US" altLang="en-US" dirty="0"/>
              <a:t> MTU black hole</a:t>
            </a:r>
          </a:p>
          <a:p>
            <a:r>
              <a:rPr lang="en-US" altLang="en-US" dirty="0"/>
              <a:t> Bad modules</a:t>
            </a:r>
          </a:p>
          <a:p>
            <a:r>
              <a:rPr lang="en-US" altLang="en-US" dirty="0"/>
              <a:t> Proxy Address Resolution Protocol (ARP)</a:t>
            </a:r>
          </a:p>
          <a:p>
            <a:r>
              <a:rPr lang="en-US" altLang="en-US" dirty="0"/>
              <a:t> Broadcast storms</a:t>
            </a:r>
            <a:endParaRPr lang="en-US" altLang="en-US" u="sng" dirty="0"/>
          </a:p>
        </p:txBody>
      </p:sp>
      <p:sp>
        <p:nvSpPr>
          <p:cNvPr id="18440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2" name="Rectangle 8"/>
          <p:cNvSpPr>
            <a:spLocks noGrp="1"/>
          </p:cNvSpPr>
          <p:nvPr>
            <p:ph type="title" idx="4294967295"/>
          </p:nvPr>
        </p:nvSpPr>
        <p:spPr>
          <a:xfrm>
            <a:off x="880533" y="274638"/>
            <a:ext cx="11311467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b="1" dirty="0"/>
              <a:t>Troubleshooting Steps</a:t>
            </a:r>
          </a:p>
        </p:txBody>
      </p:sp>
      <p:sp>
        <p:nvSpPr>
          <p:cNvPr id="19465" name="Content Placeholder 9"/>
          <p:cNvSpPr>
            <a:spLocks noGrp="1"/>
          </p:cNvSpPr>
          <p:nvPr>
            <p:ph idx="4294967295"/>
          </p:nvPr>
        </p:nvSpPr>
        <p:spPr>
          <a:xfrm>
            <a:off x="3302000" y="1417638"/>
            <a:ext cx="6096000" cy="4525962"/>
          </a:xfrm>
          <a:ln/>
        </p:spPr>
        <p:txBody>
          <a:bodyPr vert="horz" wrap="square" lIns="91440" tIns="45720" rIns="91440" bIns="45720" anchor="t">
            <a:normAutofit lnSpcReduction="10000"/>
          </a:bodyPr>
          <a:lstStyle/>
          <a:p>
            <a:pPr>
              <a:buNone/>
            </a:pPr>
            <a:r>
              <a:rPr lang="en-US" altLang="en-US" dirty="0"/>
              <a:t>Step 6: </a:t>
            </a:r>
            <a:r>
              <a:rPr lang="en-US" altLang="en-US" b="1" dirty="0"/>
              <a:t>Verify Full System Functionality and If</a:t>
            </a:r>
          </a:p>
          <a:p>
            <a:pPr>
              <a:buNone/>
            </a:pPr>
            <a:r>
              <a:rPr lang="en-US" altLang="en-US" b="1" dirty="0"/>
              <a:t>	Applicable Implement Preventative Measures</a:t>
            </a:r>
          </a:p>
          <a:p>
            <a:pPr>
              <a:buNone/>
            </a:pPr>
            <a:endParaRPr lang="en-US" altLang="en-US" u="sng" dirty="0"/>
          </a:p>
          <a:p>
            <a:pPr>
              <a:buNone/>
            </a:pPr>
            <a:r>
              <a:rPr lang="en-US" altLang="en-US" dirty="0"/>
              <a:t>Step 7: </a:t>
            </a:r>
            <a:r>
              <a:rPr lang="en-US" altLang="en-US" b="1" dirty="0"/>
              <a:t>Document Findings, Actions, and Outcomes</a:t>
            </a:r>
          </a:p>
          <a:p>
            <a:r>
              <a:rPr lang="en-US" altLang="en-US" dirty="0"/>
              <a:t> A description of the conditions surrounding the problem</a:t>
            </a:r>
          </a:p>
          <a:p>
            <a:r>
              <a:rPr lang="en-US" altLang="en-US" dirty="0"/>
              <a:t> The OS version, the software version, the type of computer, and the type of NIC</a:t>
            </a:r>
          </a:p>
          <a:p>
            <a:r>
              <a:rPr lang="en-US" altLang="en-US" dirty="0"/>
              <a:t> Whether you were able to reproduce the problem</a:t>
            </a:r>
          </a:p>
          <a:p>
            <a:r>
              <a:rPr lang="en-US" altLang="en-US" dirty="0"/>
              <a:t> The solutions you tried</a:t>
            </a:r>
          </a:p>
          <a:p>
            <a:r>
              <a:rPr lang="en-US" altLang="en-US" dirty="0"/>
              <a:t> The ultimate solution</a:t>
            </a:r>
            <a:br>
              <a:rPr lang="en-US" altLang="en-US" u="sng" dirty="0"/>
            </a:br>
            <a:endParaRPr lang="en-US" altLang="en-US" u="sng" dirty="0"/>
          </a:p>
        </p:txBody>
      </p:sp>
      <p:sp>
        <p:nvSpPr>
          <p:cNvPr id="19464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6" name="Rectangle 8"/>
          <p:cNvSpPr>
            <a:spLocks noGrp="1"/>
          </p:cNvSpPr>
          <p:nvPr>
            <p:ph type="title" idx="4294967295"/>
          </p:nvPr>
        </p:nvSpPr>
        <p:spPr>
          <a:xfrm>
            <a:off x="999067" y="274638"/>
            <a:ext cx="11192933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b="1" dirty="0"/>
              <a:t>Troubleshooting Tips</a:t>
            </a:r>
          </a:p>
        </p:txBody>
      </p:sp>
      <p:sp>
        <p:nvSpPr>
          <p:cNvPr id="20489" name="Content Placeholder 9"/>
          <p:cNvSpPr>
            <a:spLocks noGrp="1"/>
          </p:cNvSpPr>
          <p:nvPr>
            <p:ph idx="4294967295"/>
          </p:nvPr>
        </p:nvSpPr>
        <p:spPr>
          <a:xfrm>
            <a:off x="3352800" y="1570038"/>
            <a:ext cx="6096000" cy="4525962"/>
          </a:xfrm>
          <a:ln/>
        </p:spPr>
        <p:txBody>
          <a:bodyPr vert="horz" wrap="square" lIns="91440" tIns="45720" rIns="91440" bIns="45720" anchor="t"/>
          <a:lstStyle/>
          <a:p>
            <a:r>
              <a:rPr lang="en-US" altLang="en-US" sz="2800" dirty="0"/>
              <a:t>Don’t Overlook the Small Stuff</a:t>
            </a:r>
          </a:p>
          <a:p>
            <a:r>
              <a:rPr lang="en-US" altLang="en-US" sz="2800" dirty="0"/>
              <a:t>Prioritize Your Problems</a:t>
            </a:r>
          </a:p>
          <a:p>
            <a:r>
              <a:rPr lang="en-US" altLang="en-US" sz="2800" dirty="0"/>
              <a:t>Check the Software Configuration</a:t>
            </a:r>
          </a:p>
          <a:p>
            <a:r>
              <a:rPr lang="en-US" altLang="en-US" sz="2800" dirty="0"/>
              <a:t>Don’t Overlook Physical Conditions</a:t>
            </a:r>
          </a:p>
          <a:p>
            <a:r>
              <a:rPr lang="en-US" altLang="en-US" sz="2800" dirty="0"/>
              <a:t>Don’t Overlook Cable Problems</a:t>
            </a:r>
          </a:p>
          <a:p>
            <a:r>
              <a:rPr lang="en-US" altLang="en-US" sz="2800" dirty="0"/>
              <a:t>Check for Viruses</a:t>
            </a:r>
            <a:endParaRPr lang="en-US" altLang="en-US" sz="2800" u="sng" dirty="0"/>
          </a:p>
        </p:txBody>
      </p:sp>
      <p:sp>
        <p:nvSpPr>
          <p:cNvPr id="20488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0" name="Rectangle 8"/>
          <p:cNvSpPr>
            <a:spLocks noGrp="1"/>
          </p:cNvSpPr>
          <p:nvPr>
            <p:ph type="title" idx="4294967295"/>
          </p:nvPr>
        </p:nvSpPr>
        <p:spPr>
          <a:xfrm>
            <a:off x="829734" y="274638"/>
            <a:ext cx="11091334" cy="1143000"/>
          </a:xfrm>
          <a:ln/>
        </p:spPr>
        <p:txBody>
          <a:bodyPr vert="horz" wrap="square" lIns="91440" tIns="45720" rIns="91440" bIns="45720" rtlCol="0" anchor="ctr">
            <a:normAutofit/>
          </a:bodyPr>
          <a:lstStyle/>
          <a:p>
            <a:pPr algn="ctr" eaLnBrk="1" hangingPunct="1"/>
            <a:r>
              <a:rPr lang="en-US" altLang="en-US" sz="3200" b="1" dirty="0"/>
              <a:t>Troubleshooting Steps Review</a:t>
            </a:r>
          </a:p>
        </p:txBody>
      </p:sp>
      <p:sp>
        <p:nvSpPr>
          <p:cNvPr id="21513" name="Content Placeholder 9"/>
          <p:cNvSpPr>
            <a:spLocks noGrp="1"/>
          </p:cNvSpPr>
          <p:nvPr>
            <p:ph idx="4294967295"/>
          </p:nvPr>
        </p:nvSpPr>
        <p:spPr>
          <a:xfrm>
            <a:off x="2857500" y="1417638"/>
            <a:ext cx="6477000" cy="4525962"/>
          </a:xfrm>
          <a:ln/>
        </p:spPr>
        <p:txBody>
          <a:bodyPr vert="horz" wrap="square" lIns="91440" tIns="45720" rIns="91440" bIns="45720" anchor="t">
            <a:normAutofit fontScale="85000" lnSpcReduction="10000"/>
          </a:bodyPr>
          <a:lstStyle/>
          <a:p>
            <a:pPr>
              <a:buNone/>
            </a:pPr>
            <a:r>
              <a:rPr lang="en-US" altLang="en-US" sz="2800" dirty="0"/>
              <a:t>1.	Identify the problem.</a:t>
            </a:r>
          </a:p>
          <a:p>
            <a:pPr>
              <a:buNone/>
            </a:pPr>
            <a:r>
              <a:rPr lang="en-US" altLang="en-US" sz="2800" dirty="0"/>
              <a:t>2.	Establish a theory of probable cause.</a:t>
            </a:r>
          </a:p>
          <a:p>
            <a:pPr>
              <a:buNone/>
            </a:pPr>
            <a:r>
              <a:rPr lang="en-US" altLang="en-US" sz="2800" dirty="0"/>
              <a:t>3.	Test the theory to determine cause.</a:t>
            </a:r>
          </a:p>
          <a:p>
            <a:pPr>
              <a:buNone/>
            </a:pPr>
            <a:r>
              <a:rPr lang="en-US" altLang="en-US" sz="2800" dirty="0"/>
              <a:t>4.	Establish a plan of action to resolve the problem and identify potential effects.</a:t>
            </a:r>
          </a:p>
          <a:p>
            <a:pPr>
              <a:buNone/>
            </a:pPr>
            <a:r>
              <a:rPr lang="en-US" altLang="en-US" sz="2800" dirty="0"/>
              <a:t>5.	Implement the solution or escalate as necessary.</a:t>
            </a:r>
          </a:p>
          <a:p>
            <a:pPr>
              <a:buNone/>
            </a:pPr>
            <a:r>
              <a:rPr lang="en-US" altLang="en-US" sz="2800" dirty="0"/>
              <a:t>6.	Verify full system functionality and if applicable implement preventative measures.</a:t>
            </a:r>
          </a:p>
          <a:p>
            <a:pPr>
              <a:buNone/>
            </a:pPr>
            <a:r>
              <a:rPr lang="en-US" altLang="en-US" sz="2800" dirty="0"/>
              <a:t>7.	Document findings, actions, and outcomes.</a:t>
            </a:r>
          </a:p>
          <a:p>
            <a:pPr>
              <a:buNone/>
            </a:pPr>
            <a:endParaRPr lang="en-US" altLang="en-US" sz="1800" dirty="0"/>
          </a:p>
        </p:txBody>
      </p:sp>
      <p:sp>
        <p:nvSpPr>
          <p:cNvPr id="21512" name="Rectangle 12"/>
          <p:cNvSpPr/>
          <p:nvPr/>
        </p:nvSpPr>
        <p:spPr>
          <a:xfrm>
            <a:off x="4648200" y="6248400"/>
            <a:ext cx="28956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b="0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indent="0" algn="ctr">
              <a:spcBef>
                <a:spcPct val="0"/>
              </a:spcBef>
              <a:buNone/>
            </a:pPr>
            <a:endParaRPr lang="en-US" altLang="en-US" sz="1400" dirty="0">
              <a:latin typeface="Times" pitchFamily="-10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2A1A00"/>
      </a:dk2>
      <a:lt2>
        <a:srgbClr val="F3F3F2"/>
      </a:lt2>
      <a:accent1>
        <a:srgbClr val="F8B323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{A74C1714-5C0B-3846-B47C-6ECBC5836BBB}tf10001071</Template>
  <TotalTime>98</TotalTime>
  <Words>630</Words>
  <Application>Microsoft Macintosh PowerPoint</Application>
  <PresentationFormat>Widescreen</PresentationFormat>
  <Paragraphs>115</Paragraphs>
  <Slides>14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Gill Sans MT</vt:lpstr>
      <vt:lpstr>Impact</vt:lpstr>
      <vt:lpstr>Times</vt:lpstr>
      <vt:lpstr>Badge</vt:lpstr>
      <vt:lpstr>Photoshop.Image.10</vt:lpstr>
      <vt:lpstr>Chapter 24</vt:lpstr>
      <vt:lpstr>Network Troubleshooting</vt:lpstr>
      <vt:lpstr>Narrowing Down the Problem</vt:lpstr>
      <vt:lpstr>Narrowing Down the Problem</vt:lpstr>
      <vt:lpstr>Narrowing Down the Problem</vt:lpstr>
      <vt:lpstr>Troubleshooting Steps</vt:lpstr>
      <vt:lpstr>Troubleshooting Steps</vt:lpstr>
      <vt:lpstr>Troubleshooting Steps</vt:lpstr>
      <vt:lpstr>Troubleshooting Steps</vt:lpstr>
      <vt:lpstr>Troubleshooting Steps</vt:lpstr>
      <vt:lpstr>Troubleshooting Steps</vt:lpstr>
      <vt:lpstr>Troubleshooting Steps</vt:lpstr>
      <vt:lpstr>Troubleshooting Tips</vt:lpstr>
      <vt:lpstr>Troubleshooting Steps Review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19</dc:title>
  <dc:creator>Student</dc:creator>
  <cp:lastModifiedBy>Adrienne Bailey</cp:lastModifiedBy>
  <cp:revision>10</cp:revision>
  <dcterms:created xsi:type="dcterms:W3CDTF">2018-11-01T23:43:47Z</dcterms:created>
  <dcterms:modified xsi:type="dcterms:W3CDTF">2022-09-23T15:35:57Z</dcterms:modified>
</cp:coreProperties>
</file>