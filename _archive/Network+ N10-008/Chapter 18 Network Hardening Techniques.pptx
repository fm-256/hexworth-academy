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50" r:id="rId5"/>
    <p:sldId id="380" r:id="rId6"/>
    <p:sldId id="381" r:id="rId7"/>
    <p:sldId id="382" r:id="rId8"/>
    <p:sldId id="371" r:id="rId9"/>
    <p:sldId id="37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2" autoAdjust="0"/>
    <p:restoredTop sz="59924"/>
  </p:normalViewPr>
  <p:slideViewPr>
    <p:cSldViewPr snapToGrid="0">
      <p:cViewPr varScale="1">
        <p:scale>
          <a:sx n="66" d="100"/>
          <a:sy n="66" d="100"/>
        </p:scale>
        <p:origin x="2312" y="184"/>
      </p:cViewPr>
      <p:guideLst/>
    </p:cSldViewPr>
  </p:slideViewPr>
  <p:notesTextViewPr>
    <p:cViewPr>
      <p:scale>
        <a:sx n="200" d="100"/>
        <a:sy n="200" d="100"/>
      </p:scale>
      <p:origin x="0" y="-4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3FC1C-762F-1044-ABE8-8A133A016A3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A3AD1-32DE-6C49-9993-BFA6513AAA2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Secure SNMP</a:t>
            </a:r>
            <a:r>
              <a:rPr lang="en-US" dirty="0"/>
              <a:t>: Utilize Version 3 because supports strong authentication w/ encryption and data integrity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Router Advertisement Guard</a:t>
            </a:r>
            <a:r>
              <a:rPr lang="en-US" dirty="0"/>
              <a:t>: To protect your routers from Rogue or unsolicited RA messages that utilize Neighbor Discovery Protocol to communicate with neighbor routers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Port Security</a:t>
            </a:r>
            <a:r>
              <a:rPr lang="en-US" dirty="0"/>
              <a:t>: Helps prevent hackers from using a port on a switch or router to gain access to your network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Dynamic ARP Inspection</a:t>
            </a:r>
            <a:r>
              <a:rPr lang="en-US" dirty="0"/>
              <a:t>: Verifies the IP-to-MAC address mapping of each frame going through the switch to protect against MAC spoofing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Private VLANs</a:t>
            </a:r>
            <a:r>
              <a:rPr lang="en-US" dirty="0"/>
              <a:t>: Makes sure that those ports on the private ports are isolated and are restricted to communicate over only one specificed trunking 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A3AD1-32DE-6C49-9993-BFA6513AAA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Disable all unneeded switchports </a:t>
            </a:r>
            <a:r>
              <a:rPr lang="en-US" dirty="0"/>
              <a:t>to prevent the connection of a rogue device into an unused wall outlet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Disable unneeded network services</a:t>
            </a:r>
            <a:r>
              <a:rPr lang="en-US" dirty="0"/>
              <a:t>: disabling all ports on a DNS server to just port 53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Enable DHCP snooping</a:t>
            </a:r>
            <a:r>
              <a:rPr lang="en-US" dirty="0"/>
              <a:t>: stops the annoyance of users not being able to connect to the internet and is vulnerable to several types of attacks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A3AD1-32DE-6C49-9993-BFA6513AAA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Change default VLAN</a:t>
            </a:r>
            <a:r>
              <a:rPr lang="en-US" dirty="0"/>
              <a:t>: you cant delete the default, but you can create a new VLAN or several and move all switch ports to that VLAN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Firmware updates</a:t>
            </a:r>
            <a:r>
              <a:rPr lang="en-US" dirty="0"/>
              <a:t>: is flashing the BIOS, main thing is to maintain power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Access Control List</a:t>
            </a:r>
            <a:r>
              <a:rPr lang="en-US" dirty="0"/>
              <a:t>: Good to have for network security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Role-Based Access</a:t>
            </a:r>
            <a:r>
              <a:rPr lang="en-US" dirty="0"/>
              <a:t>: easier to have as an administrator to add or remove policies and permissions from users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A3AD1-32DE-6C49-9993-BFA6513AAA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Explicit deny</a:t>
            </a:r>
            <a:r>
              <a:rPr lang="en-US" dirty="0"/>
              <a:t>: all traffic is allowed unless it is EXPLICITY denied with a rule (Blacklisting)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Implicit deny</a:t>
            </a:r>
            <a:r>
              <a:rPr lang="en-US" dirty="0"/>
              <a:t>: all traffic is denied unless it is IMPLICITLY allowed by a rule (Whitelisting)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Guest network isolation</a:t>
            </a:r>
            <a:r>
              <a:rPr lang="en-US" dirty="0"/>
              <a:t>: has two networks, the guest network has wireless client isolation and the other network is for your users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Geofencing</a:t>
            </a:r>
            <a:r>
              <a:rPr lang="en-US" dirty="0"/>
              <a:t>: A network and its data’s access is limited to a specific geographic area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Captive Portal</a:t>
            </a:r>
            <a:r>
              <a:rPr lang="en-US" dirty="0"/>
              <a:t>: when you get on Hotel </a:t>
            </a:r>
            <a:r>
              <a:rPr lang="en-US" dirty="0" err="1"/>
              <a:t>WiFi</a:t>
            </a:r>
            <a:r>
              <a:rPr lang="en-US" dirty="0"/>
              <a:t>, the page that pops up asking you to agree to their terms &amp; conditions prior to gaining access to the internet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A3AD1-32DE-6C49-9993-BFA6513AAA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 security feature that prevents devices from being able to communicate with one another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A3AD1-32DE-6C49-9993-BFA6513AAA2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A069CB8-F204-4D06-B913-C5A26A89888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6F077B-A50F-4D64-8574-E2D6A98A5553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4271A48-F18A-45B3-BC05-1E27DA3F88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65B747F8-9654-4282-85D2-65F41AAE7A75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DC5B261-8843-42D1-AAFC-05E20E2D9B9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18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Network Hardening Techniques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Grp="1"/>
          </p:cNvSpPr>
          <p:nvPr>
            <p:ph type="title" idx="4294967295"/>
          </p:nvPr>
        </p:nvSpPr>
        <p:spPr>
          <a:xfrm>
            <a:off x="1108953" y="38100"/>
            <a:ext cx="11083047" cy="1006475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Best Practices</a:t>
            </a:r>
            <a:endParaRPr lang="en-US" altLang="en-US" dirty="0"/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1108953" y="1044575"/>
            <a:ext cx="11083047" cy="5203825"/>
          </a:xfrm>
        </p:spPr>
        <p:txBody>
          <a:bodyPr vert="horz" wrap="square" lIns="91440" tIns="45720" rIns="91440" bIns="45720" anchor="t"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Secure SNMP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Version 1 and 2 are deprecated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Version 3</a:t>
            </a:r>
            <a:endParaRPr lang="en-US" alt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dirty="0"/>
              <a:t>Offers Authentication and encryption for traffic between devices and SNMP Server 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Router Advertisement (RA) Guard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Ipv6 Uses in neighbor discovery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Can be captured and spoofed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Compares switch configuration info with received RA frame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If not validated frame is dropped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Port security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Static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Dynamic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Dynamic ARP inspection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Uses information in the DHCP snooping database to verify MAC address mappings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Frames with incorrect mappings or altered mappings are dropped 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Private VLANs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Subsection of a VLAN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Used to isolate systems within that VLAN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  </a:t>
            </a:r>
            <a:endParaRPr lang="en-US" altLang="en-US" sz="2000" dirty="0"/>
          </a:p>
        </p:txBody>
      </p:sp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Grp="1"/>
          </p:cNvSpPr>
          <p:nvPr>
            <p:ph type="title" idx="4294967295"/>
          </p:nvPr>
        </p:nvSpPr>
        <p:spPr>
          <a:xfrm>
            <a:off x="953312" y="38100"/>
            <a:ext cx="10894978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Best Practices</a:t>
            </a:r>
            <a:endParaRPr lang="en-US" altLang="en-US" dirty="0"/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953312" y="1112838"/>
            <a:ext cx="9182100" cy="5203825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 Disable unneeded switchports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 Disable unneeded network services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 Change default passwords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 Password complexity/length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 Enable DHCP snooping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Configured on switch access ports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Allows responses to client request from trusted ports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Builds a binding table and alerts the switch to mapping that don’t match the table</a:t>
            </a:r>
            <a:endParaRPr lang="en-US" alt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en-US" sz="1600" dirty="0"/>
              <a:t>IP to MAC table by snooping on legitimate DHCP traffic</a:t>
            </a:r>
            <a:endParaRPr lang="en-US" altLang="en-US" sz="160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Grp="1"/>
          </p:cNvSpPr>
          <p:nvPr>
            <p:ph type="title" idx="4294967295"/>
          </p:nvPr>
        </p:nvSpPr>
        <p:spPr>
          <a:xfrm>
            <a:off x="953311" y="38100"/>
            <a:ext cx="10933889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Best Practices</a:t>
            </a:r>
            <a:endParaRPr lang="en-US" altLang="en-US" dirty="0"/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1122734" y="1112838"/>
            <a:ext cx="9182100" cy="5203825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Change default VLAN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Patch and firmware management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Rollback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Firmware Updates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Driver Updates</a:t>
            </a:r>
            <a:endParaRPr lang="en-US" alt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Access control list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 Role-based access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endParaRPr lang="en-US" altLang="en-US" sz="2000" dirty="0"/>
          </a:p>
        </p:txBody>
      </p:sp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8"/>
          <p:cNvSpPr>
            <a:spLocks noGrp="1"/>
          </p:cNvSpPr>
          <p:nvPr>
            <p:ph type="title" idx="4294967295"/>
          </p:nvPr>
        </p:nvSpPr>
        <p:spPr>
          <a:xfrm>
            <a:off x="972766" y="38100"/>
            <a:ext cx="10894979" cy="1143000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Best Practices</a:t>
            </a:r>
            <a:endParaRPr lang="en-US" altLang="en-US" dirty="0"/>
          </a:p>
        </p:txBody>
      </p:sp>
      <p:sp>
        <p:nvSpPr>
          <p:cNvPr id="7177" name="Content Placeholder 9"/>
          <p:cNvSpPr>
            <a:spLocks noGrp="1"/>
          </p:cNvSpPr>
          <p:nvPr>
            <p:ph idx="4294967295"/>
          </p:nvPr>
        </p:nvSpPr>
        <p:spPr>
          <a:xfrm>
            <a:off x="972766" y="1273175"/>
            <a:ext cx="9182100" cy="5203825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Firewall rules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  Explicit deny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  Implicit deny</a:t>
            </a:r>
            <a:endParaRPr lang="en-US" altLang="en-US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en-US" sz="2000" dirty="0"/>
              <a:t>  Wireless security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/>
              <a:t>MAC filtering</a:t>
            </a:r>
            <a:endParaRPr lang="en-US" alt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Antenna placement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Power levels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Wireless client isolation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Guest network isolation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Pre-shared keys (PSKs)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Geofencing</a:t>
            </a:r>
            <a:endParaRPr lang="en-US" altLang="en-US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000" dirty="0"/>
              <a:t>Captive portal</a:t>
            </a:r>
            <a:endParaRPr lang="en-US" altLang="en-US" sz="200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717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875489" y="184150"/>
            <a:ext cx="11011711" cy="831850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altLang="en-US" dirty="0">
                <a:ea typeface="MS PGothic" panose="020B0600070205080204" pitchFamily="34" charset="-128"/>
                <a:cs typeface="Times New Roman" panose="02020603050405020304" pitchFamily="18" charset="0"/>
              </a:rPr>
              <a:t>Wireless Client Isolation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13322" name="Content Placeholder 9"/>
          <p:cNvSpPr>
            <a:spLocks noGrp="1" noChangeArrowheads="1"/>
          </p:cNvSpPr>
          <p:nvPr>
            <p:ph idx="4294967295"/>
          </p:nvPr>
        </p:nvSpPr>
        <p:spPr>
          <a:xfrm>
            <a:off x="8610600" y="6464300"/>
            <a:ext cx="3581400" cy="457200"/>
          </a:xfrm>
        </p:spPr>
        <p:txBody>
          <a:bodyPr/>
          <a:lstStyle/>
          <a:p>
            <a:pPr marL="57150" indent="0">
              <a:buNone/>
            </a:pPr>
            <a:r>
              <a:rPr lang="en-US" altLang="en-US" sz="1600" i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18.5: Isolation</a:t>
            </a:r>
            <a:endParaRPr lang="en-US" altLang="en-US" sz="1600" i="1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319" name="Rectangle 11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8D354516-6627-4A3A-AE73-1E9032ED6A2F}" type="slidenum">
              <a:rPr lang="en-US" altLang="en-US" sz="1400">
                <a:latin typeface="Times" pitchFamily="-108" charset="0"/>
              </a:rPr>
            </a:fld>
            <a:endParaRPr lang="en-US" altLang="en-US" sz="1400">
              <a:latin typeface="Times" pitchFamily="-108" charset="0"/>
            </a:endParaRPr>
          </a:p>
        </p:txBody>
      </p:sp>
      <p:sp>
        <p:nvSpPr>
          <p:cNvPr id="13320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itchFamily="-108" charset="0"/>
            </a:endParaRPr>
          </a:p>
        </p:txBody>
      </p:sp>
      <p:sp>
        <p:nvSpPr>
          <p:cNvPr id="13321" name="TextBox 1"/>
          <p:cNvSpPr txBox="1">
            <a:spLocks noChangeArrowheads="1"/>
          </p:cNvSpPr>
          <p:nvPr/>
        </p:nvSpPr>
        <p:spPr bwMode="auto">
          <a:xfrm>
            <a:off x="2838044" y="1231900"/>
            <a:ext cx="70866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20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Wireless stations within an SSID can only access the Internet. </a:t>
            </a:r>
            <a:endParaRPr lang="en-US" altLang="en-US" sz="22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32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216" y="1927224"/>
            <a:ext cx="9671568" cy="4105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1181099" y="210129"/>
            <a:ext cx="10336449" cy="831850"/>
          </a:xfrm>
        </p:spPr>
        <p:txBody>
          <a:bodyPr>
            <a:normAutofit/>
          </a:bodyPr>
          <a:lstStyle/>
          <a:p>
            <a:pPr algn="ctr">
              <a:spcBef>
                <a:spcPts val="1800"/>
              </a:spcBef>
              <a:spcAft>
                <a:spcPts val="1200"/>
              </a:spcAft>
            </a:pPr>
            <a:r>
              <a:rPr lang="en-US" altLang="en-US" dirty="0">
                <a:ea typeface="MS PGothic" panose="020B0600070205080204" pitchFamily="34" charset="-128"/>
                <a:cs typeface="Times New Roman" panose="02020603050405020304" pitchFamily="18" charset="0"/>
              </a:rPr>
              <a:t>Guest Network Isolation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14345" name="Content Placeholder 9"/>
          <p:cNvSpPr>
            <a:spLocks noGrp="1" noChangeArrowheads="1"/>
          </p:cNvSpPr>
          <p:nvPr>
            <p:ph idx="4294967295"/>
          </p:nvPr>
        </p:nvSpPr>
        <p:spPr>
          <a:xfrm>
            <a:off x="8534400" y="6464300"/>
            <a:ext cx="3657600" cy="457200"/>
          </a:xfrm>
        </p:spPr>
        <p:txBody>
          <a:bodyPr/>
          <a:lstStyle/>
          <a:p>
            <a:pPr marL="57150" indent="0">
              <a:buNone/>
            </a:pPr>
            <a:r>
              <a:rPr lang="en-US" altLang="en-US" sz="1600" i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18.6: Guest network</a:t>
            </a:r>
            <a:endParaRPr lang="en-US" altLang="en-US" sz="1600" i="1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343" name="Rectangle 11"/>
          <p:cNvSpPr>
            <a:spLocks noChangeArrowheads="1"/>
          </p:cNvSpPr>
          <p:nvPr/>
        </p:nvSpPr>
        <p:spPr bwMode="auto">
          <a:xfrm>
            <a:off x="9220200" y="6248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C9749502-8318-4D23-AF52-40B3985C41F6}" type="slidenum">
              <a:rPr lang="en-US" altLang="en-US" sz="1400">
                <a:latin typeface="Times" pitchFamily="-108" charset="0"/>
              </a:rPr>
            </a:fld>
            <a:endParaRPr lang="en-US" altLang="en-US" sz="1400">
              <a:latin typeface="Times" pitchFamily="-108" charset="0"/>
            </a:endParaRPr>
          </a:p>
        </p:txBody>
      </p:sp>
      <p:sp>
        <p:nvSpPr>
          <p:cNvPr id="14344" name="Rectangle 12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>
              <a:latin typeface="Times" pitchFamily="-108" charset="0"/>
            </a:endParaRPr>
          </a:p>
        </p:txBody>
      </p:sp>
      <p:sp>
        <p:nvSpPr>
          <p:cNvPr id="14346" name="TextBox 14"/>
          <p:cNvSpPr txBox="1">
            <a:spLocks noChangeArrowheads="1"/>
          </p:cNvSpPr>
          <p:nvPr/>
        </p:nvSpPr>
        <p:spPr bwMode="auto">
          <a:xfrm>
            <a:off x="3594100" y="1079500"/>
            <a:ext cx="7010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/>
              <a:t>Guests who join the guest Wi-Fi network are confined to an entirely separate network and given Internet access, but they can’t communicate with the main wired network or the primary wireless network. </a:t>
            </a:r>
            <a:endParaRPr lang="en-US" altLang="en-US" sz="1800"/>
          </a:p>
        </p:txBody>
      </p:sp>
      <p:pic>
        <p:nvPicPr>
          <p:cNvPr id="1434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018" y="2354693"/>
            <a:ext cx="7682204" cy="4034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1754</Words>
  <Application>WPS Presentation</Application>
  <PresentationFormat>Widescreen</PresentationFormat>
  <Paragraphs>82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Gill Sans MT</vt:lpstr>
      <vt:lpstr>MS PGothic</vt:lpstr>
      <vt:lpstr>Times</vt:lpstr>
      <vt:lpstr>Times New Roman</vt:lpstr>
      <vt:lpstr>Calibri</vt:lpstr>
      <vt:lpstr>Impact</vt:lpstr>
      <vt:lpstr>Microsoft YaHei</vt:lpstr>
      <vt:lpstr>Arial Unicode MS</vt:lpstr>
      <vt:lpstr>Badge</vt:lpstr>
      <vt:lpstr>Chapter 18</vt:lpstr>
      <vt:lpstr>Best Practices</vt:lpstr>
      <vt:lpstr>Best Practices</vt:lpstr>
      <vt:lpstr>Best Practices</vt:lpstr>
      <vt:lpstr>Best Practices</vt:lpstr>
      <vt:lpstr>Wireless Client Isolation</vt:lpstr>
      <vt:lpstr>Guest Network Isolation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</dc:title>
  <dc:creator>Student</dc:creator>
  <cp:lastModifiedBy>Student</cp:lastModifiedBy>
  <cp:revision>18</cp:revision>
  <dcterms:created xsi:type="dcterms:W3CDTF">2018-11-01T23:38:00Z</dcterms:created>
  <dcterms:modified xsi:type="dcterms:W3CDTF">2022-09-22T21:14:39Z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948FF0B7AA784682BEC2FD68BF831775</vt:lpwstr>
  </property>
  <property fmtid="{D5CDD505-2E9C-101B-9397-08002B2CF9AE}" pid="3" name="KSOProductBuildVer">
    <vt:lpwstr>1033-11.2.0.11306</vt:lpwstr>
  </property>
</Properties>
</file>