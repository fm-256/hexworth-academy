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91" r:id="rId4"/>
    <p:sldId id="292" r:id="rId5"/>
    <p:sldId id="258" r:id="rId6"/>
    <p:sldId id="259" r:id="rId7"/>
    <p:sldId id="293" r:id="rId8"/>
    <p:sldId id="27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61186"/>
  </p:normalViewPr>
  <p:slideViewPr>
    <p:cSldViewPr snapToGrid="0">
      <p:cViewPr varScale="1">
        <p:scale>
          <a:sx n="67" d="100"/>
          <a:sy n="67" d="100"/>
        </p:scale>
        <p:origin x="2320" y="18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957F2-EBE9-4894-B112-C75A22F3C47D}" type="datetimeFigureOut">
              <a:rPr lang="en-US" smtClean="0"/>
              <a:t>9/14/22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1BB31B-CFC3-4DB7-9CEC-DE700F4AD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Give your work scenario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BB31B-CFC3-4DB7-9CEC-DE700F4AD6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360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Ping</a:t>
            </a:r>
            <a:r>
              <a:rPr lang="en-US" dirty="0"/>
              <a:t>: echo request and replies to test if an device is alive on the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Traceroute</a:t>
            </a:r>
            <a:r>
              <a:rPr lang="en-US" dirty="0"/>
              <a:t>: List the routers on a path to a network destination using TTL and ICMP error messages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Works on a router, MAC, or Linux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 err="1"/>
              <a:t>Tracert</a:t>
            </a:r>
            <a:r>
              <a:rPr lang="en-US" dirty="0"/>
              <a:t>: same thing but used for Windows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Arp –a</a:t>
            </a:r>
            <a:r>
              <a:rPr lang="en-US" dirty="0"/>
              <a:t>: Displays IP-to-MAC address mappings on PC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Ipconfig/all</a:t>
            </a:r>
            <a:r>
              <a:rPr lang="en-US" dirty="0"/>
              <a:t>: shows your entire network configuration of your device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BB31B-CFC3-4DB7-9CEC-DE700F4AD6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427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NAT</a:t>
            </a:r>
            <a:r>
              <a:rPr lang="en-US" dirty="0"/>
              <a:t>: Allows you to have multiple private IP addresses linked to 1 public IP 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Overloading</a:t>
            </a:r>
            <a:r>
              <a:rPr lang="en-US" dirty="0"/>
              <a:t>: Most popular; mapping many unregistered IP addresses to one single IP address by using different ports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can have thousands of users to connect to the internet using only one public IP address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BB31B-CFC3-4DB7-9CEC-DE700F4AD6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40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BB31B-CFC3-4DB7-9CEC-DE700F4AD6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423BF71-38B7-8642-BFCE-EDAE9BD0CBAF}" type="datetimeFigureOut">
              <a:rPr lang="en-US" smtClean="0"/>
              <a:t>9/14/22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6824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81CDE-9BE7-C544-8ACB-7077DFC4270F}" type="datetimeFigureOut">
              <a:rPr lang="en-US" smtClean="0"/>
              <a:t>9/14/22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31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55BA285-9698-1B45-8319-D90A8C63F150}" type="datetimeFigureOut">
              <a:rPr lang="en-US" smtClean="0"/>
              <a:t>9/14/22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50433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CD42-43FF-B740-998F-DCC3802C4CE3}" type="datetimeFigureOut">
              <a:rPr lang="en-US" smtClean="0"/>
              <a:t>9/14/22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7899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0FFBD-2EE4-8547-BBAE-A1AC91C8D77E}" type="datetimeFigureOut">
              <a:rPr lang="en-US" smtClean="0"/>
              <a:t>9/14/22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819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2352-D7AC-F242-9256-A4477BCBF354}" type="datetimeFigureOut">
              <a:rPr lang="en-US" smtClean="0"/>
              <a:t>9/14/22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298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C6A-9AE6-404D-9FDD-168B477B9C90}" type="datetimeFigureOut">
              <a:rPr lang="en-US" smtClean="0"/>
              <a:t>9/14/22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549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61CFCDFD-B4CF-A241-8D71-E814B10BEAF4}" type="datetimeFigureOut">
              <a:rPr lang="en-US" smtClean="0"/>
              <a:t>9/14/22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77811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26A7B589-FD4B-7E46-869A-CBADC5FC564E}" type="datetimeFigureOut">
              <a:rPr lang="en-US" smtClean="0"/>
              <a:t>9/14/22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313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025CB-9D18-264E-A945-2D020344C9DA}" type="datetimeFigureOut">
              <a:rPr lang="en-US" smtClean="0"/>
              <a:t>9/14/22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33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EFB6C-7E96-8F41-8872-189CA1C59F84}" type="datetimeFigureOut">
              <a:rPr lang="en-US" smtClean="0"/>
              <a:t>9/14/22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198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CD8A92E-5FF9-8143-81B3-CCB531513398}" type="datetimeFigureOut">
              <a:rPr lang="en-US" smtClean="0"/>
              <a:t>9/14/22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60469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5A954-C1EF-4E4C-80E5-3628B9150C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B7376-2AF8-431F-8323-06FBA8FDAB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Subnetting and Routing</a:t>
            </a:r>
          </a:p>
        </p:txBody>
      </p:sp>
    </p:spTree>
    <p:extLst>
      <p:ext uri="{BB962C8B-B14F-4D97-AF65-F5344CB8AC3E}">
        <p14:creationId xmlns:p14="http://schemas.microsoft.com/office/powerpoint/2010/main" val="1410701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B194-AD74-431F-8F2A-1DF07058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643827"/>
            <a:ext cx="10178322" cy="1492132"/>
          </a:xfrm>
        </p:spPr>
        <p:txBody>
          <a:bodyPr/>
          <a:lstStyle/>
          <a:p>
            <a:pPr algn="ctr"/>
            <a:r>
              <a:rPr lang="en-US" dirty="0"/>
              <a:t>Subnetting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0C25E-7DA9-43CD-AD12-BFB4AB8B7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89893"/>
            <a:ext cx="10178322" cy="3593591"/>
          </a:xfrm>
        </p:spPr>
        <p:txBody>
          <a:bodyPr>
            <a:normAutofit/>
          </a:bodyPr>
          <a:lstStyle/>
          <a:p>
            <a:r>
              <a:rPr lang="en-US" sz="2800" dirty="0"/>
              <a:t>Will be covered separately</a:t>
            </a:r>
          </a:p>
        </p:txBody>
      </p:sp>
    </p:spTree>
    <p:extLst>
      <p:ext uri="{BB962C8B-B14F-4D97-AF65-F5344CB8AC3E}">
        <p14:creationId xmlns:p14="http://schemas.microsoft.com/office/powerpoint/2010/main" val="539473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6" name="Rectangle 8"/>
          <p:cNvSpPr>
            <a:spLocks noGrp="1"/>
          </p:cNvSpPr>
          <p:nvPr>
            <p:ph type="title"/>
          </p:nvPr>
        </p:nvSpPr>
        <p:spPr>
          <a:xfrm>
            <a:off x="1028700" y="0"/>
            <a:ext cx="1085850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altLang="en-US" dirty="0"/>
              <a:t>Troubleshooting IP Adresses</a:t>
            </a:r>
            <a:endParaRPr lang="en-US" altLang="en-US" u="sng" dirty="0"/>
          </a:p>
        </p:txBody>
      </p:sp>
      <p:sp>
        <p:nvSpPr>
          <p:cNvPr id="30728" name="Content Placeholder 8"/>
          <p:cNvSpPr>
            <a:spLocks noGrp="1"/>
          </p:cNvSpPr>
          <p:nvPr>
            <p:ph idx="1"/>
          </p:nvPr>
        </p:nvSpPr>
        <p:spPr>
          <a:xfrm>
            <a:off x="1028700" y="1371600"/>
            <a:ext cx="10687050" cy="4888832"/>
          </a:xfrm>
          <a:ln/>
        </p:spPr>
        <p:txBody>
          <a:bodyPr vert="horz" wrap="square" lIns="91440" tIns="45720" rIns="91440" bIns="45720" rtlCol="0" anchor="t">
            <a:normAutofit fontScale="92500" lnSpcReduction="10000"/>
          </a:bodyPr>
          <a:lstStyle/>
          <a:p>
            <a:r>
              <a:rPr lang="en-US" altLang="en-US" sz="2800" dirty="0"/>
              <a:t>Troubleshooting IP addressing is obviously an important skill because running into trouble somewhere along the way is pretty much a sure thing, and it’s going to happen to you. Here are the steps:</a:t>
            </a:r>
          </a:p>
          <a:p>
            <a:pPr lvl="1"/>
            <a:r>
              <a:rPr lang="en-US" altLang="en-US" sz="2800" dirty="0"/>
              <a:t>Open a DOS window, and ping 127.0.0.1. </a:t>
            </a:r>
          </a:p>
          <a:p>
            <a:pPr lvl="1"/>
            <a:r>
              <a:rPr lang="en-US" altLang="en-US" sz="2800" dirty="0"/>
              <a:t>From the DOS window, ping the IP address of the local host.</a:t>
            </a:r>
          </a:p>
          <a:p>
            <a:pPr lvl="1"/>
            <a:r>
              <a:rPr lang="en-US" altLang="en-US" sz="2800" dirty="0"/>
              <a:t>From the DOS window, ping the default gateway (router). </a:t>
            </a:r>
          </a:p>
          <a:p>
            <a:pPr lvl="1"/>
            <a:r>
              <a:rPr lang="en-US" altLang="en-US" sz="2800" dirty="0"/>
              <a:t>If steps 1 through 3 were successful, try to ping the remote server. </a:t>
            </a:r>
          </a:p>
          <a:p>
            <a:pPr lvl="1"/>
            <a:r>
              <a:rPr lang="en-US" altLang="en-US" sz="2800" dirty="0"/>
              <a:t>If the user still can’t communicate with the server after steps 1 through 4 are successful, you probably have some type of name resolution problem and need to check your Domain Name System (DNS) settings. 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0" name="Rectangle 8"/>
          <p:cNvSpPr>
            <a:spLocks noGrp="1"/>
          </p:cNvSpPr>
          <p:nvPr>
            <p:ph type="title"/>
          </p:nvPr>
        </p:nvSpPr>
        <p:spPr>
          <a:xfrm>
            <a:off x="971550" y="152400"/>
            <a:ext cx="1087755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Command Line Tools</a:t>
            </a:r>
          </a:p>
        </p:txBody>
      </p:sp>
      <p:sp>
        <p:nvSpPr>
          <p:cNvPr id="31752" name="Content Placeholder 8"/>
          <p:cNvSpPr>
            <a:spLocks noGrp="1"/>
          </p:cNvSpPr>
          <p:nvPr>
            <p:ph idx="1"/>
          </p:nvPr>
        </p:nvSpPr>
        <p:spPr>
          <a:xfrm>
            <a:off x="1295400" y="1219201"/>
            <a:ext cx="9925050" cy="4906963"/>
          </a:xfrm>
          <a:ln/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altLang="en-US" b="1" dirty="0"/>
              <a:t>Packet InterNet Groper (ping)</a:t>
            </a:r>
          </a:p>
          <a:p>
            <a:pPr lvl="1"/>
            <a:r>
              <a:rPr lang="en-US" altLang="en-US" sz="1600" dirty="0"/>
              <a:t>Uses an Internet Control Message Protocol (ICMP) echo request and replies to test if a host IP stack is initialized and alive on the network.</a:t>
            </a:r>
          </a:p>
          <a:p>
            <a:r>
              <a:rPr lang="en-US" altLang="en-US" b="1" dirty="0"/>
              <a:t>traceroute</a:t>
            </a:r>
          </a:p>
          <a:p>
            <a:pPr lvl="1"/>
            <a:r>
              <a:rPr lang="en-US" altLang="en-US" sz="1600" dirty="0"/>
              <a:t>Displays the list of routers on a path to a network destination by using TTL time-outs and ICMP error messages. This command will not work from a DOS prompt.</a:t>
            </a:r>
          </a:p>
          <a:p>
            <a:r>
              <a:rPr lang="en-US" altLang="en-US" b="1" dirty="0"/>
              <a:t>tracert</a:t>
            </a:r>
          </a:p>
          <a:p>
            <a:pPr lvl="1"/>
            <a:r>
              <a:rPr lang="en-US" altLang="en-US" sz="1600" dirty="0"/>
              <a:t>Same command as traceroute, but it’s a Microsoft Windows command and will not work on other devices, like a Cisco router or Unix box.</a:t>
            </a:r>
          </a:p>
          <a:p>
            <a:r>
              <a:rPr lang="en-US" altLang="en-US" b="1" dirty="0"/>
              <a:t>arp -a</a:t>
            </a:r>
          </a:p>
          <a:p>
            <a:pPr lvl="1"/>
            <a:r>
              <a:rPr lang="en-US" altLang="en-US" sz="1600" dirty="0"/>
              <a:t>Displays IP-to-MAC-address mappings on a Windows PC.</a:t>
            </a:r>
          </a:p>
          <a:p>
            <a:r>
              <a:rPr lang="en-US" altLang="en-US" b="1" dirty="0"/>
              <a:t>ipconfig /all</a:t>
            </a:r>
          </a:p>
          <a:p>
            <a:pPr lvl="1"/>
            <a:r>
              <a:rPr lang="en-US" altLang="en-US" sz="1600" dirty="0"/>
              <a:t>Used only from a DOS prompt. Shows you the PC network configuration.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4BF9-FF4C-444D-AAC9-0DAC69601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82385"/>
            <a:ext cx="10839450" cy="1492132"/>
          </a:xfrm>
        </p:spPr>
        <p:txBody>
          <a:bodyPr/>
          <a:lstStyle/>
          <a:p>
            <a:pPr algn="ctr"/>
            <a:r>
              <a:rPr lang="en-US" dirty="0"/>
              <a:t>Network Address 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CF2A7-862D-43B0-94F5-AEF724100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839" y="1632204"/>
            <a:ext cx="10178322" cy="3593591"/>
          </a:xfrm>
        </p:spPr>
        <p:txBody>
          <a:bodyPr>
            <a:normAutofit/>
          </a:bodyPr>
          <a:lstStyle/>
          <a:p>
            <a:r>
              <a:rPr lang="en-US" sz="2800" dirty="0"/>
              <a:t>What is Network Address Translation?</a:t>
            </a:r>
          </a:p>
          <a:p>
            <a:r>
              <a:rPr lang="en-US" sz="2800" dirty="0"/>
              <a:t>Overloading/Port Address Translation (PAT)</a:t>
            </a:r>
          </a:p>
        </p:txBody>
      </p:sp>
    </p:spTree>
    <p:extLst>
      <p:ext uri="{BB962C8B-B14F-4D97-AF65-F5344CB8AC3E}">
        <p14:creationId xmlns:p14="http://schemas.microsoft.com/office/powerpoint/2010/main" val="222930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CAB3B-0AB6-4858-BE63-5EEFA992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50" y="382385"/>
            <a:ext cx="10858500" cy="1492132"/>
          </a:xfrm>
        </p:spPr>
        <p:txBody>
          <a:bodyPr/>
          <a:lstStyle/>
          <a:p>
            <a:pPr algn="ctr"/>
            <a:r>
              <a:rPr lang="en-US" dirty="0" err="1"/>
              <a:t>NaT</a:t>
            </a:r>
            <a:r>
              <a:rPr lang="en-US" dirty="0"/>
              <a:t>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08591-E464-4A04-8C3E-AE3D4A6D5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66851"/>
            <a:ext cx="10178322" cy="4412742"/>
          </a:xfrm>
        </p:spPr>
        <p:txBody>
          <a:bodyPr>
            <a:normAutofit/>
          </a:bodyPr>
          <a:lstStyle/>
          <a:p>
            <a:r>
              <a:rPr lang="en-US" sz="2800" dirty="0"/>
              <a:t>Inside Local – Your Private IP (address before translation)</a:t>
            </a:r>
          </a:p>
          <a:p>
            <a:r>
              <a:rPr lang="en-US" sz="2800" dirty="0"/>
              <a:t>Outside Local – Private IP of the Destination (before translation)</a:t>
            </a:r>
          </a:p>
          <a:p>
            <a:r>
              <a:rPr lang="en-US" sz="2800" dirty="0"/>
              <a:t>Inside Global – Your Public IP (address after translation)</a:t>
            </a:r>
          </a:p>
          <a:p>
            <a:r>
              <a:rPr lang="en-US" sz="2800" dirty="0"/>
              <a:t>Outside Global – Public IP of destination (after translation)</a:t>
            </a:r>
          </a:p>
        </p:txBody>
      </p:sp>
    </p:spTree>
    <p:extLst>
      <p:ext uri="{BB962C8B-B14F-4D97-AF65-F5344CB8AC3E}">
        <p14:creationId xmlns:p14="http://schemas.microsoft.com/office/powerpoint/2010/main" val="2183774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E0EE2-785C-7E0C-DCFD-443226D8C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875" y="137769"/>
            <a:ext cx="10896599" cy="1049235"/>
          </a:xfrm>
        </p:spPr>
        <p:txBody>
          <a:bodyPr/>
          <a:lstStyle/>
          <a:p>
            <a:pPr algn="ctr"/>
            <a:r>
              <a:rPr lang="en-US" dirty="0"/>
              <a:t>How NAT works</a:t>
            </a: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15E852A5-B0BE-2462-137A-168B796929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875" y="1472754"/>
            <a:ext cx="10896599" cy="4585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713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4" name="Rectangle 8"/>
          <p:cNvSpPr>
            <a:spLocks noGrp="1"/>
          </p:cNvSpPr>
          <p:nvPr>
            <p:ph type="title"/>
          </p:nvPr>
        </p:nvSpPr>
        <p:spPr>
          <a:xfrm>
            <a:off x="1134364" y="178985"/>
            <a:ext cx="10687039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How PAT works (NAT Overloading)</a:t>
            </a:r>
          </a:p>
        </p:txBody>
      </p:sp>
      <p:sp>
        <p:nvSpPr>
          <p:cNvPr id="53256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53258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750">
            <a:off x="3857625" y="3219450"/>
            <a:ext cx="2890838" cy="4445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3" name="Straight Connector 12"/>
          <p:cNvCxnSpPr/>
          <p:nvPr/>
        </p:nvCxnSpPr>
        <p:spPr bwMode="auto">
          <a:xfrm flipV="1">
            <a:off x="2892425" y="2800350"/>
            <a:ext cx="0" cy="2306638"/>
          </a:xfrm>
          <a:prstGeom prst="line">
            <a:avLst/>
          </a:prstGeom>
          <a:ln w="762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auto">
          <a:xfrm>
            <a:off x="2892425" y="3419475"/>
            <a:ext cx="954088" cy="0"/>
          </a:xfrm>
          <a:prstGeom prst="line">
            <a:avLst/>
          </a:prstGeom>
          <a:ln w="762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 flipH="1">
            <a:off x="2063751" y="2827338"/>
            <a:ext cx="868363" cy="0"/>
          </a:xfrm>
          <a:prstGeom prst="line">
            <a:avLst/>
          </a:prstGeom>
          <a:ln w="762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3262" name="Picture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1" y="3165475"/>
            <a:ext cx="938213" cy="552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63" name="Picture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839" y="2514601"/>
            <a:ext cx="758825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64" name="TextBox 41"/>
          <p:cNvSpPr txBox="1"/>
          <p:nvPr/>
        </p:nvSpPr>
        <p:spPr>
          <a:xfrm>
            <a:off x="9440864" y="2016126"/>
            <a:ext cx="973137" cy="536575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Host B</a:t>
            </a:r>
          </a:p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63.41.7.3</a:t>
            </a:r>
          </a:p>
        </p:txBody>
      </p:sp>
      <p:sp>
        <p:nvSpPr>
          <p:cNvPr id="53265" name="TextBox 41"/>
          <p:cNvSpPr txBox="1"/>
          <p:nvPr/>
        </p:nvSpPr>
        <p:spPr>
          <a:xfrm>
            <a:off x="8031163" y="1263650"/>
            <a:ext cx="1181100" cy="534988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DA</a:t>
            </a:r>
          </a:p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170.168.2.2</a:t>
            </a:r>
          </a:p>
        </p:txBody>
      </p:sp>
      <p:cxnSp>
        <p:nvCxnSpPr>
          <p:cNvPr id="20" name="Straight Connector 19"/>
          <p:cNvCxnSpPr/>
          <p:nvPr/>
        </p:nvCxnSpPr>
        <p:spPr bwMode="auto">
          <a:xfrm flipH="1">
            <a:off x="2025651" y="3927475"/>
            <a:ext cx="866775" cy="0"/>
          </a:xfrm>
          <a:prstGeom prst="line">
            <a:avLst/>
          </a:prstGeom>
          <a:ln w="762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 bwMode="auto">
          <a:xfrm flipH="1">
            <a:off x="2060576" y="5070475"/>
            <a:ext cx="866775" cy="0"/>
          </a:xfrm>
          <a:prstGeom prst="line">
            <a:avLst/>
          </a:prstGeom>
          <a:ln w="762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3268" name="Picture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839" y="3621088"/>
            <a:ext cx="758825" cy="7604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69" name="Picture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839" y="4689476"/>
            <a:ext cx="758825" cy="7604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70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886176">
            <a:off x="7326314" y="2224088"/>
            <a:ext cx="2892425" cy="44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71" name="Picture 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1826" y="1366838"/>
            <a:ext cx="760413" cy="7604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7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8701" y="2897189"/>
            <a:ext cx="417513" cy="295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7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613" y="2979739"/>
            <a:ext cx="417512" cy="295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74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188" y="1833564"/>
            <a:ext cx="419100" cy="293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75" name="TextBox 41"/>
          <p:cNvSpPr txBox="1"/>
          <p:nvPr/>
        </p:nvSpPr>
        <p:spPr>
          <a:xfrm>
            <a:off x="4899025" y="2447925"/>
            <a:ext cx="1182688" cy="534988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SA</a:t>
            </a:r>
          </a:p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170.168.2.2</a:t>
            </a:r>
          </a:p>
        </p:txBody>
      </p:sp>
      <p:sp>
        <p:nvSpPr>
          <p:cNvPr id="53276" name="TextBox 41"/>
          <p:cNvSpPr txBox="1"/>
          <p:nvPr/>
        </p:nvSpPr>
        <p:spPr>
          <a:xfrm>
            <a:off x="3384550" y="2354264"/>
            <a:ext cx="869950" cy="534987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DA</a:t>
            </a:r>
          </a:p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10.1.1.1</a:t>
            </a:r>
          </a:p>
        </p:txBody>
      </p:sp>
      <p:sp>
        <p:nvSpPr>
          <p:cNvPr id="53277" name="TextBox 41"/>
          <p:cNvSpPr txBox="1"/>
          <p:nvPr/>
        </p:nvSpPr>
        <p:spPr>
          <a:xfrm>
            <a:off x="3092450" y="4117976"/>
            <a:ext cx="869950" cy="536575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SA</a:t>
            </a:r>
          </a:p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10.1.1.1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880908"/>
              </p:ext>
            </p:extLst>
          </p:nvPr>
        </p:nvGraphicFramePr>
        <p:xfrm>
          <a:off x="3285255" y="4923233"/>
          <a:ext cx="6583364" cy="158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5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9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Protocol</a:t>
                      </a:r>
                      <a:b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10.1.1.1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Inside Local IP</a:t>
                      </a:r>
                      <a:b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Addresses: Port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Inside Global IP</a:t>
                      </a:r>
                      <a:b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Addresses: Port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Outside Global IP</a:t>
                      </a:r>
                      <a:b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Addresses: Port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2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TCP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10.1.1.3:1492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170.168.2.2:1492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63.41.7.3:23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2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TCP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10.1.1.2:1723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170.168.2.2:1723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63.41.7.3:23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2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TCP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10.1.1.1:1024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170.168.2.2:1024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63.40.7.3:23</a:t>
                      </a:r>
                    </a:p>
                  </a:txBody>
                  <a:tcPr marL="91436" marR="91436" marT="45650" marB="45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303" name="TextBox 41"/>
          <p:cNvSpPr txBox="1"/>
          <p:nvPr/>
        </p:nvSpPr>
        <p:spPr>
          <a:xfrm>
            <a:off x="5912734" y="4455530"/>
            <a:ext cx="1130300" cy="3429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800" b="1" dirty="0">
                <a:latin typeface="Calibri" panose="020F0502020204030204" pitchFamily="34" charset="0"/>
              </a:rPr>
              <a:t>NAT Table</a:t>
            </a:r>
          </a:p>
        </p:txBody>
      </p:sp>
      <p:sp>
        <p:nvSpPr>
          <p:cNvPr id="53304" name="TextBox 41"/>
          <p:cNvSpPr txBox="1"/>
          <p:nvPr/>
        </p:nvSpPr>
        <p:spPr>
          <a:xfrm>
            <a:off x="2022475" y="2103438"/>
            <a:ext cx="755650" cy="341312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800" b="1" dirty="0">
                <a:latin typeface="Calibri" panose="020F0502020204030204" pitchFamily="34" charset="0"/>
              </a:rPr>
              <a:t>Inside</a:t>
            </a:r>
          </a:p>
        </p:txBody>
      </p:sp>
      <p:grpSp>
        <p:nvGrpSpPr>
          <p:cNvPr id="53305" name="Group 76"/>
          <p:cNvGrpSpPr/>
          <p:nvPr/>
        </p:nvGrpSpPr>
        <p:grpSpPr>
          <a:xfrm>
            <a:off x="4019551" y="2965450"/>
            <a:ext cx="284163" cy="158750"/>
            <a:chOff x="2495550" y="2764644"/>
            <a:chExt cx="283369" cy="160194"/>
          </a:xfrm>
        </p:grpSpPr>
        <p:cxnSp>
          <p:nvCxnSpPr>
            <p:cNvPr id="53342" name="Straight Connector 77"/>
            <p:cNvCxnSpPr/>
            <p:nvPr/>
          </p:nvCxnSpPr>
          <p:spPr>
            <a:xfrm>
              <a:off x="2495550" y="2844645"/>
              <a:ext cx="283369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3343" name="Straight Connector 78"/>
            <p:cNvCxnSpPr/>
            <p:nvPr/>
          </p:nvCxnSpPr>
          <p:spPr>
            <a:xfrm>
              <a:off x="2495550" y="2764644"/>
              <a:ext cx="14168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3344" name="Straight Connector 79"/>
            <p:cNvCxnSpPr/>
            <p:nvPr/>
          </p:nvCxnSpPr>
          <p:spPr>
            <a:xfrm>
              <a:off x="2495550" y="2924838"/>
              <a:ext cx="14168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53306" name="Group 80"/>
          <p:cNvGrpSpPr/>
          <p:nvPr/>
        </p:nvGrpSpPr>
        <p:grpSpPr>
          <a:xfrm rot="10800000">
            <a:off x="4967288" y="3030539"/>
            <a:ext cx="284162" cy="160337"/>
            <a:chOff x="2495550" y="2764644"/>
            <a:chExt cx="283369" cy="160194"/>
          </a:xfrm>
        </p:grpSpPr>
        <p:cxnSp>
          <p:nvCxnSpPr>
            <p:cNvPr id="53339" name="Straight Connector 81"/>
            <p:cNvCxnSpPr/>
            <p:nvPr/>
          </p:nvCxnSpPr>
          <p:spPr>
            <a:xfrm>
              <a:off x="2495550" y="2844645"/>
              <a:ext cx="283369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3340" name="Straight Connector 82"/>
            <p:cNvCxnSpPr/>
            <p:nvPr/>
          </p:nvCxnSpPr>
          <p:spPr>
            <a:xfrm>
              <a:off x="2495550" y="2764644"/>
              <a:ext cx="14168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3341" name="Straight Connector 83"/>
            <p:cNvCxnSpPr/>
            <p:nvPr/>
          </p:nvCxnSpPr>
          <p:spPr>
            <a:xfrm>
              <a:off x="2495550" y="2924838"/>
              <a:ext cx="14168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53307" name="Group 84"/>
          <p:cNvGrpSpPr/>
          <p:nvPr/>
        </p:nvGrpSpPr>
        <p:grpSpPr>
          <a:xfrm>
            <a:off x="8939213" y="1890714"/>
            <a:ext cx="284162" cy="160337"/>
            <a:chOff x="2495550" y="2764644"/>
            <a:chExt cx="283369" cy="160194"/>
          </a:xfrm>
        </p:grpSpPr>
        <p:cxnSp>
          <p:nvCxnSpPr>
            <p:cNvPr id="53336" name="Straight Connector 85"/>
            <p:cNvCxnSpPr/>
            <p:nvPr/>
          </p:nvCxnSpPr>
          <p:spPr>
            <a:xfrm>
              <a:off x="2495550" y="2844645"/>
              <a:ext cx="283369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3337" name="Straight Connector 86"/>
            <p:cNvCxnSpPr/>
            <p:nvPr/>
          </p:nvCxnSpPr>
          <p:spPr>
            <a:xfrm>
              <a:off x="2495550" y="2764644"/>
              <a:ext cx="14168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3338" name="Straight Connector 87"/>
            <p:cNvCxnSpPr/>
            <p:nvPr/>
          </p:nvCxnSpPr>
          <p:spPr>
            <a:xfrm>
              <a:off x="2495550" y="2924838"/>
              <a:ext cx="141684" cy="0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cxnSp>
      </p:grpSp>
      <p:cxnSp>
        <p:nvCxnSpPr>
          <p:cNvPr id="53308" name="Straight Arrow Connector 88"/>
          <p:cNvCxnSpPr/>
          <p:nvPr/>
        </p:nvCxnSpPr>
        <p:spPr>
          <a:xfrm flipV="1">
            <a:off x="3036888" y="4151313"/>
            <a:ext cx="0" cy="366712"/>
          </a:xfrm>
          <a:prstGeom prst="straightConnector1">
            <a:avLst/>
          </a:prstGeom>
          <a:ln w="28575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3309" name="Straight Arrow Connector 89"/>
          <p:cNvCxnSpPr/>
          <p:nvPr/>
        </p:nvCxnSpPr>
        <p:spPr>
          <a:xfrm flipH="1">
            <a:off x="3444876" y="2847975"/>
            <a:ext cx="544513" cy="0"/>
          </a:xfrm>
          <a:prstGeom prst="straightConnector1">
            <a:avLst/>
          </a:prstGeom>
          <a:ln w="28575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3310" name="Straight Arrow Connector 90"/>
          <p:cNvCxnSpPr/>
          <p:nvPr/>
        </p:nvCxnSpPr>
        <p:spPr>
          <a:xfrm>
            <a:off x="5281613" y="2935288"/>
            <a:ext cx="544512" cy="0"/>
          </a:xfrm>
          <a:prstGeom prst="straightConnector1">
            <a:avLst/>
          </a:prstGeom>
          <a:ln w="28575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3311" name="Straight Arrow Connector 91"/>
          <p:cNvCxnSpPr/>
          <p:nvPr/>
        </p:nvCxnSpPr>
        <p:spPr>
          <a:xfrm>
            <a:off x="4062414" y="3717925"/>
            <a:ext cx="904875" cy="1257300"/>
          </a:xfrm>
          <a:prstGeom prst="straightConnector1">
            <a:avLst/>
          </a:prstGeom>
          <a:ln w="28575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3312" name="Straight Arrow Connector 92"/>
          <p:cNvCxnSpPr/>
          <p:nvPr/>
        </p:nvCxnSpPr>
        <p:spPr>
          <a:xfrm flipH="1">
            <a:off x="8348663" y="1781175"/>
            <a:ext cx="544512" cy="0"/>
          </a:xfrm>
          <a:prstGeom prst="straightConnector1">
            <a:avLst/>
          </a:prstGeom>
          <a:ln w="28575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53313" name="Rectangle 93"/>
          <p:cNvSpPr/>
          <p:nvPr/>
        </p:nvSpPr>
        <p:spPr>
          <a:xfrm>
            <a:off x="1719264" y="3871421"/>
            <a:ext cx="1406525" cy="415323"/>
          </a:xfrm>
          <a:prstGeom prst="rect">
            <a:avLst/>
          </a:prstGeom>
          <a:noFill/>
          <a:ln w="28575" cap="flat" cmpd="sng">
            <a:solidFill>
              <a:schemeClr val="bg2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82124" tIns="41061" rIns="82124" bIns="41061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defTabSz="814705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en-US" sz="2400" dirty="0"/>
          </a:p>
        </p:txBody>
      </p:sp>
      <p:grpSp>
        <p:nvGrpSpPr>
          <p:cNvPr id="53314" name="Group 94"/>
          <p:cNvGrpSpPr/>
          <p:nvPr/>
        </p:nvGrpSpPr>
        <p:grpSpPr>
          <a:xfrm>
            <a:off x="2493963" y="4589464"/>
            <a:ext cx="774700" cy="295275"/>
            <a:chOff x="1968541" y="5346212"/>
            <a:chExt cx="774451" cy="294654"/>
          </a:xfrm>
        </p:grpSpPr>
        <p:grpSp>
          <p:nvGrpSpPr>
            <p:cNvPr id="53331" name="Group 95"/>
            <p:cNvGrpSpPr/>
            <p:nvPr/>
          </p:nvGrpSpPr>
          <p:grpSpPr>
            <a:xfrm rot="10800000">
              <a:off x="1968541" y="5403081"/>
              <a:ext cx="283369" cy="160194"/>
              <a:chOff x="2495550" y="2764644"/>
              <a:chExt cx="283369" cy="160194"/>
            </a:xfrm>
          </p:grpSpPr>
          <p:cxnSp>
            <p:nvCxnSpPr>
              <p:cNvPr id="53333" name="Straight Connector 97"/>
              <p:cNvCxnSpPr/>
              <p:nvPr/>
            </p:nvCxnSpPr>
            <p:spPr>
              <a:xfrm>
                <a:off x="2495550" y="2844645"/>
                <a:ext cx="283369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53334" name="Straight Connector 98"/>
              <p:cNvCxnSpPr/>
              <p:nvPr/>
            </p:nvCxnSpPr>
            <p:spPr>
              <a:xfrm>
                <a:off x="2495550" y="2764644"/>
                <a:ext cx="14168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53335" name="Straight Connector 99"/>
              <p:cNvCxnSpPr/>
              <p:nvPr/>
            </p:nvCxnSpPr>
            <p:spPr>
              <a:xfrm>
                <a:off x="2495550" y="2924838"/>
                <a:ext cx="14168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pic>
          <p:nvPicPr>
            <p:cNvPr id="53332" name="Picture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24273" y="5346212"/>
              <a:ext cx="418719" cy="29465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3315" name="TextBox 41"/>
          <p:cNvSpPr txBox="1"/>
          <p:nvPr/>
        </p:nvSpPr>
        <p:spPr>
          <a:xfrm>
            <a:off x="1874838" y="5368926"/>
            <a:ext cx="868362" cy="314325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10.1.1.1</a:t>
            </a:r>
          </a:p>
        </p:txBody>
      </p:sp>
      <p:sp>
        <p:nvSpPr>
          <p:cNvPr id="53316" name="TextBox 41"/>
          <p:cNvSpPr txBox="1"/>
          <p:nvPr/>
        </p:nvSpPr>
        <p:spPr>
          <a:xfrm>
            <a:off x="1863726" y="4314826"/>
            <a:ext cx="868363" cy="314325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10.1.1.2</a:t>
            </a:r>
          </a:p>
        </p:txBody>
      </p:sp>
      <p:sp>
        <p:nvSpPr>
          <p:cNvPr id="53317" name="TextBox 41"/>
          <p:cNvSpPr txBox="1"/>
          <p:nvPr/>
        </p:nvSpPr>
        <p:spPr>
          <a:xfrm>
            <a:off x="1844675" y="3217864"/>
            <a:ext cx="869950" cy="314325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10.1.1.3</a:t>
            </a:r>
          </a:p>
        </p:txBody>
      </p:sp>
      <p:sp>
        <p:nvSpPr>
          <p:cNvPr id="53318" name="TextBox 41"/>
          <p:cNvSpPr txBox="1"/>
          <p:nvPr/>
        </p:nvSpPr>
        <p:spPr>
          <a:xfrm>
            <a:off x="9334500" y="4333876"/>
            <a:ext cx="973138" cy="536575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Host C</a:t>
            </a:r>
          </a:p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63.40.7.3</a:t>
            </a:r>
          </a:p>
        </p:txBody>
      </p:sp>
      <p:sp>
        <p:nvSpPr>
          <p:cNvPr id="53319" name="TextBox 41"/>
          <p:cNvSpPr txBox="1"/>
          <p:nvPr/>
        </p:nvSpPr>
        <p:spPr>
          <a:xfrm>
            <a:off x="8102600" y="4271964"/>
            <a:ext cx="1181100" cy="534987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DA</a:t>
            </a:r>
          </a:p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170.168.2.2</a:t>
            </a:r>
          </a:p>
        </p:txBody>
      </p:sp>
      <p:pic>
        <p:nvPicPr>
          <p:cNvPr id="53320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4687">
            <a:off x="7631114" y="3398838"/>
            <a:ext cx="2282825" cy="44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321" name="Picture 1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5463" y="3662364"/>
            <a:ext cx="760412" cy="7588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3322" name="Group 112"/>
          <p:cNvGrpSpPr/>
          <p:nvPr/>
        </p:nvGrpSpPr>
        <p:grpSpPr>
          <a:xfrm>
            <a:off x="8486775" y="3886201"/>
            <a:ext cx="738188" cy="295275"/>
            <a:chOff x="6962524" y="5884003"/>
            <a:chExt cx="737948" cy="294654"/>
          </a:xfrm>
        </p:grpSpPr>
        <p:pic>
          <p:nvPicPr>
            <p:cNvPr id="53326" name="Picture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62524" y="5884003"/>
              <a:ext cx="418719" cy="294654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53327" name="Group 108"/>
            <p:cNvGrpSpPr/>
            <p:nvPr/>
          </p:nvGrpSpPr>
          <p:grpSpPr>
            <a:xfrm>
              <a:off x="7417103" y="5942268"/>
              <a:ext cx="283369" cy="160194"/>
              <a:chOff x="2495550" y="2764644"/>
              <a:chExt cx="283369" cy="160194"/>
            </a:xfrm>
          </p:grpSpPr>
          <p:cxnSp>
            <p:nvCxnSpPr>
              <p:cNvPr id="53328" name="Straight Connector 109"/>
              <p:cNvCxnSpPr/>
              <p:nvPr/>
            </p:nvCxnSpPr>
            <p:spPr>
              <a:xfrm>
                <a:off x="2495550" y="2844645"/>
                <a:ext cx="283369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53329" name="Straight Connector 110"/>
              <p:cNvCxnSpPr/>
              <p:nvPr/>
            </p:nvCxnSpPr>
            <p:spPr>
              <a:xfrm>
                <a:off x="2495550" y="2764644"/>
                <a:ext cx="14168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53330" name="Straight Connector 111"/>
              <p:cNvCxnSpPr/>
              <p:nvPr/>
            </p:nvCxnSpPr>
            <p:spPr>
              <a:xfrm>
                <a:off x="2495550" y="2924838"/>
                <a:ext cx="14168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53323" name="Straight Arrow Connector 113"/>
          <p:cNvCxnSpPr/>
          <p:nvPr/>
        </p:nvCxnSpPr>
        <p:spPr>
          <a:xfrm flipH="1">
            <a:off x="8421688" y="4268788"/>
            <a:ext cx="544512" cy="0"/>
          </a:xfrm>
          <a:prstGeom prst="straightConnector1">
            <a:avLst/>
          </a:prstGeom>
          <a:ln w="28575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cxnSp>
      <p:pic>
        <p:nvPicPr>
          <p:cNvPr id="53324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3000" y="2768600"/>
            <a:ext cx="1879600" cy="1117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325" name="TextBox 41"/>
          <p:cNvSpPr txBox="1"/>
          <p:nvPr/>
        </p:nvSpPr>
        <p:spPr>
          <a:xfrm>
            <a:off x="6759576" y="3165476"/>
            <a:ext cx="874713" cy="314325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600" b="1" dirty="0">
                <a:latin typeface="Calibri" panose="020F0502020204030204" pitchFamily="34" charset="0"/>
              </a:rPr>
              <a:t>Internet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91</TotalTime>
  <Words>529</Words>
  <Application>Microsoft Macintosh PowerPoint</Application>
  <PresentationFormat>Widescreen</PresentationFormat>
  <Paragraphs>82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Gill Sans MT</vt:lpstr>
      <vt:lpstr>Impact</vt:lpstr>
      <vt:lpstr>Times</vt:lpstr>
      <vt:lpstr>Badge</vt:lpstr>
      <vt:lpstr>Chapter 8</vt:lpstr>
      <vt:lpstr>Subnetting</vt:lpstr>
      <vt:lpstr>Troubleshooting IP Adresses</vt:lpstr>
      <vt:lpstr>Command Line Tools</vt:lpstr>
      <vt:lpstr>Network Address Translation</vt:lpstr>
      <vt:lpstr>NaT Names</vt:lpstr>
      <vt:lpstr>How NAT works</vt:lpstr>
      <vt:lpstr>How PAT works (NAT Overloading)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Sam Lee</dc:creator>
  <cp:lastModifiedBy>Adrienne Bailey</cp:lastModifiedBy>
  <cp:revision>14</cp:revision>
  <dcterms:created xsi:type="dcterms:W3CDTF">2018-10-30T19:14:57Z</dcterms:created>
  <dcterms:modified xsi:type="dcterms:W3CDTF">2022-09-14T20:39:55Z</dcterms:modified>
</cp:coreProperties>
</file>