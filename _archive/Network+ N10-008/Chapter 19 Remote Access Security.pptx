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1" r:id="rId1"/>
  </p:sldMasterIdLst>
  <p:notesMasterIdLst>
    <p:notesMasterId r:id="rId6"/>
  </p:notesMasterIdLst>
  <p:sldIdLst>
    <p:sldId id="256" r:id="rId2"/>
    <p:sldId id="367" r:id="rId3"/>
    <p:sldId id="393" r:id="rId4"/>
    <p:sldId id="39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53609"/>
  </p:normalViewPr>
  <p:slideViewPr>
    <p:cSldViewPr snapToGrid="0">
      <p:cViewPr varScale="1">
        <p:scale>
          <a:sx n="58" d="100"/>
          <a:sy n="58" d="100"/>
        </p:scale>
        <p:origin x="2632" y="19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85282C-F569-F243-8FAC-3717B0952A52}" type="datetimeFigureOut">
              <a:rPr lang="en-US" smtClean="0"/>
              <a:t>9/22/22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2E698-4E0F-7F47-8D8A-8371479A1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9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Site-to-site VPN</a:t>
            </a:r>
            <a:r>
              <a:rPr lang="en-US" dirty="0"/>
              <a:t>: allows a company to connect its remote sites to the corporate backbone securely over the public network using encryption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Client-to-Site VPN</a:t>
            </a:r>
            <a:r>
              <a:rPr lang="en-US"/>
              <a:t>: allows </a:t>
            </a:r>
            <a:r>
              <a:rPr lang="en-US" dirty="0"/>
              <a:t>remote users to securely access the corporate network whenever and wherever they need 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Clientless VPN</a:t>
            </a:r>
            <a:r>
              <a:rPr lang="en-US" dirty="0"/>
              <a:t>: enables end users to securely access resources on the corporate network from anywhere using an SSL/TLS enabled web browser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Split Tunnel</a:t>
            </a:r>
            <a:r>
              <a:rPr lang="en-US" dirty="0"/>
              <a:t>: using a secure VPN connection and an open connection to the internet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Only traffic that goes to the office goes through the VPN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Full Tunnel</a:t>
            </a:r>
            <a:r>
              <a:rPr lang="en-US" dirty="0"/>
              <a:t>: all traffic goes through the VPN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2E698-4E0F-7F47-8D8A-8371479A1A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23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RDP gateway: adding security to the connection to your RDP connection using Secure Socket Layer tunnel. The gateway acts as a proxy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SSH: an alternative and more secure command-based utility than Telnet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Provides integrity and confidentiality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VNC: Platform independent version of RDP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2E698-4E0F-7F47-8D8A-8371479A1A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15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VDI</a:t>
            </a:r>
            <a:r>
              <a:rPr lang="en-US" dirty="0"/>
              <a:t>: access to different desktops from a virtual machine without needing to install that OS on your actual device. Secure in the cloud because your connection to this service is encrypted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AAA</a:t>
            </a:r>
            <a:r>
              <a:rPr lang="en-US" dirty="0"/>
              <a:t>: When using remote access you need far more security, not less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Access rights should be limited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Out-of-band management</a:t>
            </a:r>
            <a:r>
              <a:rPr lang="en-US" dirty="0"/>
              <a:t>: No access to the network, you can access it through the management port/interface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2E698-4E0F-7F47-8D8A-8371479A1A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14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7498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490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39764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615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691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10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72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16988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53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815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74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9/22/22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3928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Remote Access Security</a:t>
            </a:r>
          </a:p>
        </p:txBody>
      </p:sp>
    </p:spTree>
    <p:extLst>
      <p:ext uri="{BB962C8B-B14F-4D97-AF65-F5344CB8AC3E}">
        <p14:creationId xmlns:p14="http://schemas.microsoft.com/office/powerpoint/2010/main" val="3723275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9225" name="Content Placeholder 9"/>
          <p:cNvSpPr>
            <a:spLocks noGrp="1"/>
          </p:cNvSpPr>
          <p:nvPr>
            <p:ph idx="4294967295"/>
          </p:nvPr>
        </p:nvSpPr>
        <p:spPr>
          <a:xfrm>
            <a:off x="890069" y="752891"/>
            <a:ext cx="9166225" cy="5191125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Site-to-site VPN</a:t>
            </a:r>
          </a:p>
          <a:p>
            <a:r>
              <a:rPr lang="en-US" altLang="en-US" sz="1800" dirty="0"/>
              <a:t>Client-to-site VPN</a:t>
            </a:r>
          </a:p>
          <a:p>
            <a:pPr lvl="1"/>
            <a:r>
              <a:rPr lang="en-US" altLang="en-US" sz="1600" dirty="0"/>
              <a:t>Clientless VPN</a:t>
            </a:r>
          </a:p>
          <a:p>
            <a:pPr lvl="1"/>
            <a:r>
              <a:rPr lang="en-US" altLang="en-US" sz="1600" dirty="0"/>
              <a:t>Split tunnel vs. full tunnel</a:t>
            </a:r>
          </a:p>
          <a:p>
            <a:endParaRPr lang="en-US" altLang="en-US" sz="1800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CD80911F-5884-4CA7-9BD3-F371B149D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545" y="60422"/>
            <a:ext cx="5962938" cy="3196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70E014-6D6D-450F-90DE-C6A975C3C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05" y="2382846"/>
            <a:ext cx="4864540" cy="2299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5C7A262E-A5D4-4171-AA55-F7F3C5552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546" y="3275950"/>
            <a:ext cx="5962938" cy="322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9225" name="Content Placeholder 9"/>
          <p:cNvSpPr>
            <a:spLocks noGrp="1"/>
          </p:cNvSpPr>
          <p:nvPr>
            <p:ph idx="4294967295"/>
          </p:nvPr>
        </p:nvSpPr>
        <p:spPr>
          <a:xfrm>
            <a:off x="959005" y="854075"/>
            <a:ext cx="9593263" cy="5622925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Remote desktop connection</a:t>
            </a:r>
          </a:p>
          <a:p>
            <a:r>
              <a:rPr lang="en-US" altLang="en-US" sz="1800" dirty="0"/>
              <a:t>Remote desktop gateway</a:t>
            </a:r>
          </a:p>
          <a:p>
            <a:pPr lvl="1"/>
            <a:r>
              <a:rPr lang="en-US" altLang="en-US" sz="1600" dirty="0"/>
              <a:t>More secure  version of RDP</a:t>
            </a:r>
          </a:p>
          <a:p>
            <a:pPr lvl="1"/>
            <a:r>
              <a:rPr lang="en-US" altLang="en-US" sz="1600" dirty="0"/>
              <a:t>Uses SSL to directly tunnel to the remote server</a:t>
            </a:r>
          </a:p>
          <a:p>
            <a:pPr lvl="1"/>
            <a:r>
              <a:rPr lang="en-US" altLang="en-US" sz="1600" dirty="0"/>
              <a:t>No need for a VPN</a:t>
            </a:r>
          </a:p>
          <a:p>
            <a:r>
              <a:rPr lang="en-US" altLang="en-US" sz="1800" dirty="0"/>
              <a:t>SSH</a:t>
            </a:r>
          </a:p>
          <a:p>
            <a:r>
              <a:rPr lang="en-US" altLang="en-US" sz="1800" dirty="0"/>
              <a:t>Virtual network computing (VNC)</a:t>
            </a:r>
          </a:p>
          <a:p>
            <a:pPr lvl="1"/>
            <a:r>
              <a:rPr lang="en-US" altLang="en-US" sz="1600" dirty="0"/>
              <a:t>Remote Desktop service for all systems</a:t>
            </a:r>
          </a:p>
          <a:p>
            <a:pPr lvl="1"/>
            <a:r>
              <a:rPr lang="en-US" altLang="en-US" sz="1600" dirty="0"/>
              <a:t>Includes</a:t>
            </a:r>
          </a:p>
          <a:p>
            <a:pPr lvl="2"/>
            <a:r>
              <a:rPr lang="en-US" altLang="en-US" sz="1400" dirty="0"/>
              <a:t>VNC Server: runs on the machine sharing its screen</a:t>
            </a:r>
          </a:p>
          <a:p>
            <a:pPr lvl="2"/>
            <a:r>
              <a:rPr lang="en-US" altLang="en-US" sz="1400" dirty="0"/>
              <a:t>VNC Client: runs on the machine that is receiving the shared screen</a:t>
            </a:r>
          </a:p>
          <a:p>
            <a:pPr lvl="2"/>
            <a:r>
              <a:rPr lang="en-US" altLang="en-US" sz="1400" dirty="0"/>
              <a:t>VNC protocol (RDP)</a:t>
            </a:r>
          </a:p>
          <a:p>
            <a:pPr marL="0" indent="0">
              <a:buNone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87259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9225" name="Content Placeholder 9"/>
          <p:cNvSpPr>
            <a:spLocks noGrp="1"/>
          </p:cNvSpPr>
          <p:nvPr>
            <p:ph idx="4294967295"/>
          </p:nvPr>
        </p:nvSpPr>
        <p:spPr>
          <a:xfrm>
            <a:off x="1005681" y="670234"/>
            <a:ext cx="10180638" cy="6426200"/>
          </a:xfrm>
          <a:ln/>
        </p:spPr>
        <p:txBody>
          <a:bodyPr vert="horz" wrap="square" lIns="91440" tIns="45720" rIns="91440" bIns="45720" anchor="t">
            <a:normAutofit/>
          </a:bodyPr>
          <a:lstStyle/>
          <a:p>
            <a:r>
              <a:rPr lang="en-US" altLang="en-US" sz="1800" dirty="0"/>
              <a:t>Virtual desktop</a:t>
            </a:r>
          </a:p>
          <a:p>
            <a:pPr lvl="1"/>
            <a:r>
              <a:rPr lang="en-US" altLang="en-US" sz="1600" dirty="0"/>
              <a:t>Delivering the desktop from a remote environment</a:t>
            </a:r>
          </a:p>
          <a:p>
            <a:pPr lvl="2"/>
            <a:r>
              <a:rPr lang="en-US" altLang="en-US" sz="1400" dirty="0"/>
              <a:t>Remote server or the cloud</a:t>
            </a:r>
          </a:p>
          <a:p>
            <a:pPr lvl="1"/>
            <a:r>
              <a:rPr lang="en-US" altLang="en-US" sz="1600" dirty="0"/>
              <a:t>Benefits</a:t>
            </a:r>
          </a:p>
          <a:p>
            <a:pPr lvl="2"/>
            <a:r>
              <a:rPr lang="en-US" altLang="en-US" sz="1200" dirty="0"/>
              <a:t>Less compute power required from users desktop</a:t>
            </a:r>
          </a:p>
          <a:p>
            <a:pPr lvl="2"/>
            <a:r>
              <a:rPr lang="en-US" altLang="en-US" sz="1200" dirty="0"/>
              <a:t>Consistent environment</a:t>
            </a:r>
          </a:p>
          <a:p>
            <a:r>
              <a:rPr lang="en-US" altLang="en-US" sz="1800" dirty="0"/>
              <a:t>Authentication and authorization considerations</a:t>
            </a:r>
          </a:p>
          <a:p>
            <a:pPr lvl="1"/>
            <a:r>
              <a:rPr lang="en-US" altLang="en-US" sz="1600" dirty="0"/>
              <a:t>AAA</a:t>
            </a:r>
          </a:p>
          <a:p>
            <a:r>
              <a:rPr lang="en-US" altLang="en-US" sz="1800" dirty="0"/>
              <a:t> In-band vs. out-of-band management</a:t>
            </a:r>
          </a:p>
          <a:p>
            <a:pPr lvl="1"/>
            <a:r>
              <a:rPr lang="en-US" altLang="en-US" sz="1600" dirty="0"/>
              <a:t>In-Band- Managing the servers from your Network</a:t>
            </a:r>
          </a:p>
          <a:p>
            <a:pPr lvl="1"/>
            <a:r>
              <a:rPr lang="en-US" altLang="en-US" sz="1600" dirty="0"/>
              <a:t>Out-of-band- Method to manage the Server not using the network\</a:t>
            </a:r>
          </a:p>
          <a:p>
            <a:pPr lvl="2"/>
            <a:r>
              <a:rPr lang="en-US" altLang="en-US" sz="1400" dirty="0"/>
              <a:t>Integrated Lights Out (</a:t>
            </a:r>
            <a:r>
              <a:rPr lang="en-US" altLang="en-US" sz="1400" dirty="0" err="1"/>
              <a:t>iLO</a:t>
            </a:r>
            <a:r>
              <a:rPr lang="en-US" altLang="en-US" sz="1400" dirty="0"/>
              <a:t>) </a:t>
            </a:r>
          </a:p>
          <a:p>
            <a:pPr lvl="3"/>
            <a:r>
              <a:rPr lang="en-US" altLang="en-US" sz="1200" dirty="0"/>
              <a:t>Embedded in HP server and functions out-of-the box</a:t>
            </a:r>
          </a:p>
          <a:p>
            <a:pPr lvl="3"/>
            <a:r>
              <a:rPr lang="en-US" altLang="en-US" sz="1200" dirty="0"/>
              <a:t>Complete access to server from anywhere via web browser or mobile app</a:t>
            </a:r>
          </a:p>
          <a:p>
            <a:pPr lvl="3"/>
            <a:endParaRPr lang="en-US" altLang="en-US" sz="1200" dirty="0"/>
          </a:p>
          <a:p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214052464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138</TotalTime>
  <Words>382</Words>
  <Application>Microsoft Macintosh PowerPoint</Application>
  <PresentationFormat>Widescreen</PresentationFormat>
  <Paragraphs>49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Gill Sans MT</vt:lpstr>
      <vt:lpstr>Impact</vt:lpstr>
      <vt:lpstr>Times</vt:lpstr>
      <vt:lpstr>Badge</vt:lpstr>
      <vt:lpstr>Chapter 19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19</dc:title>
  <dc:creator>Student</dc:creator>
  <cp:lastModifiedBy>Adrienne Bailey</cp:lastModifiedBy>
  <cp:revision>13</cp:revision>
  <dcterms:created xsi:type="dcterms:W3CDTF">2018-11-01T23:43:47Z</dcterms:created>
  <dcterms:modified xsi:type="dcterms:W3CDTF">2022-09-22T15:29:03Z</dcterms:modified>
</cp:coreProperties>
</file>