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22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59" r:id="rId9"/>
    <p:sldId id="270" r:id="rId10"/>
    <p:sldId id="260" r:id="rId11"/>
    <p:sldId id="261" r:id="rId12"/>
    <p:sldId id="272" r:id="rId13"/>
    <p:sldId id="263" r:id="rId14"/>
    <p:sldId id="273" r:id="rId15"/>
    <p:sldId id="271" r:id="rId16"/>
    <p:sldId id="264" r:id="rId17"/>
    <p:sldId id="265" r:id="rId18"/>
    <p:sldId id="307" r:id="rId19"/>
    <p:sldId id="308" r:id="rId20"/>
    <p:sldId id="31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 autoAdjust="0"/>
    <p:restoredTop sz="64662"/>
  </p:normalViewPr>
  <p:slideViewPr>
    <p:cSldViewPr snapToGrid="0">
      <p:cViewPr varScale="1">
        <p:scale>
          <a:sx n="72" d="100"/>
          <a:sy n="72" d="100"/>
        </p:scale>
        <p:origin x="2096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95226-0A09-4C60-8212-D41706D499A3}" type="datetimeFigureOut">
              <a:rPr lang="en-US" smtClean="0"/>
              <a:t>9/20/22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2B0CE-40BF-4429-AFB0-EC6A100EB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7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85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Connects servers, computers, printers, and other devices across a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95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0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the switch receives data from a source, it remembers its MAC address and which interface it came from on the switch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92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Host A sends a frame to Host B, the switch doesn’t know where Host B 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23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the destination address is known, the frame will only be sent to that destination 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Host A sends a packet to Host 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Send the frame to Host D and add Host A’s MAC address to its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97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Loops can occur because there is no timer at the MAC address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loop can easily be created by simply plugging 2 cables into two switches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Easy way to bring down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72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Blocking</a:t>
            </a:r>
            <a:r>
              <a:rPr lang="en-US" dirty="0"/>
              <a:t>: Blocks all traffic in/out of an interface if a loop would be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Listening</a:t>
            </a:r>
            <a:r>
              <a:rPr lang="en-US" dirty="0"/>
              <a:t>: This port listens for loops and forwards frames when it is clear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Learning</a:t>
            </a:r>
            <a:r>
              <a:rPr lang="en-US" dirty="0"/>
              <a:t>: Adds MAC addresses to the MAC 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Forwarding</a:t>
            </a:r>
            <a:r>
              <a:rPr lang="en-US" dirty="0"/>
              <a:t>: Sends and receives all data frames on the bridged 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Disabled</a:t>
            </a:r>
            <a:r>
              <a:rPr lang="en-US" dirty="0"/>
              <a:t>: As a Admin you can disable the 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STP Convergence</a:t>
            </a:r>
            <a:r>
              <a:rPr lang="en-US" dirty="0"/>
              <a:t>: happens when all the ports on bridges and switches have transitioned to either forwarding or blocking modes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data will be forwarded until convergence is over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Usually takes 30-50 seconds to go from blocking to forwarding mode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Rapid Spanning Tree Protocol (RSTP):</a:t>
            </a:r>
            <a:r>
              <a:rPr lang="en-US" b="0" u="none" dirty="0"/>
              <a:t> Convergence occurs in 6 seconds</a:t>
            </a:r>
            <a:endParaRPr lang="en-US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Discarding: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discarding state, no user data is sent over the port.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the learning state the ports learn about the MAC address but it doesn’t forward any frames.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Forwarding: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forwarding state the ports can send data and are fully operational.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33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main task of STP is to stop network loops from occurring on your layer 2 bridges or switches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uses Spanning Tree Algorithm to shut down redundant links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66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group of devices on a broadcast that are physically on the same switch, but logically (virtually) separate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7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Allows you to add priority for one or more types of traffic over other types of traffic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ensures that applications with high priority receive the necessary bandwidth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91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Statically assigning VLANs is one of the most common troubleshooting issues because it can get misconfigured easily when you have hundreds of devices on several switches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15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Server</a:t>
            </a:r>
            <a:r>
              <a:rPr lang="en-US" dirty="0"/>
              <a:t>: Main vector of utilization for management, creation, changing, or deleting VLANs. Making changes on this server will have the same effect on the clients as well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Client</a:t>
            </a:r>
            <a:r>
              <a:rPr lang="en-US" dirty="0"/>
              <a:t>: gets its information from the VTP server that has already been configured, cannot add, delete, or modify VLANs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Transparent</a:t>
            </a:r>
            <a:r>
              <a:rPr lang="en-US" dirty="0"/>
              <a:t>: Allows remote switches to receive the VLAN database from a VTP-server-configured switch through a switch that is not participating in the same VLAN assignments. Does NOT participate in the VTP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04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Trunk Ports</a:t>
            </a:r>
            <a:r>
              <a:rPr lang="en-US" b="0" u="none" dirty="0"/>
              <a:t> are</a:t>
            </a:r>
            <a:r>
              <a:rPr lang="en-US" dirty="0"/>
              <a:t> configured on switches in order to pass along data frames across switches for their respective VLANs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VLAN IDs are assigned to each frame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Can use a single connection to extend VLANs across two physically separate switches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Also referred to as 802.1q or DOT1Q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VLAN IDs are 12 bits long, so you get 4,094 different VLANs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VLAN 0 and VLAN 4095 are reserved numbers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VLAN 1 is the default Native VLAN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Port Tagging</a:t>
            </a:r>
            <a:r>
              <a:rPr lang="en-US" dirty="0"/>
              <a:t>: A non-tagged frame is associated the default VLAN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0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place an individual anywhere in a company building and setup the port that they are on to the respective department/VLAN that they belong 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Each VLAN is a separate subnet or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place people on the same subnet and in the same VLAN that are physically on different switches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37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Port security</a:t>
            </a:r>
            <a:r>
              <a:rPr lang="en-US" dirty="0"/>
              <a:t>: prevents unauthorized users from connecting to an interface on a switch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85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802.3af: original PoE standard; 15.4 watts of DC power</a:t>
            </a:r>
          </a:p>
          <a:p>
            <a:r>
              <a:rPr lang="en-US" dirty="0"/>
              <a:t>802.3at: updated version of PoE; 25.5 watts of DC power</a:t>
            </a:r>
          </a:p>
          <a:p>
            <a:r>
              <a:rPr lang="en-US" dirty="0"/>
              <a:t>Both are part of the 802.3 Ethernet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76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You can plug in an access point or cameras and get power from the switch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PoE: transmits electrical power, along with data, to remote devices over standard twisted-pair cable in an Ethernet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33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Allows you copy all traffic from one or more interfaces and mirror the traffic to use for packet captures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2B0CE-40BF-4429-AFB0-EC6A100EB6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17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5604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7D7DE-61AE-4BC6-A87E-9454F8FD646E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A0FC-AF95-454C-A4E6-937690C7EE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34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107577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5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330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28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9/20/22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74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6DFF08F-DC6B-4601-B491-B0F83F6DD2DA}" type="datetimeFigureOut">
              <a:rPr lang="en-US" smtClean="0"/>
              <a:pPr/>
              <a:t>9/20/22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5542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6DFF08F-DC6B-4601-B491-B0F83F6DD2DA}" type="datetimeFigureOut">
              <a:rPr lang="en-US" smtClean="0"/>
              <a:pPr/>
              <a:t>9/20/22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51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92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9/20/22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911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Switches</a:t>
            </a:r>
          </a:p>
        </p:txBody>
      </p:sp>
    </p:spTree>
    <p:extLst>
      <p:ext uri="{BB962C8B-B14F-4D97-AF65-F5344CB8AC3E}">
        <p14:creationId xmlns:p14="http://schemas.microsoft.com/office/powerpoint/2010/main" val="42692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Switches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303" y="2007973"/>
            <a:ext cx="8634412" cy="2477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FC2133-34CD-4377-8CFC-001CBE1CE772}"/>
              </a:ext>
            </a:extLst>
          </p:cNvPr>
          <p:cNvSpPr txBox="1"/>
          <p:nvPr/>
        </p:nvSpPr>
        <p:spPr>
          <a:xfrm>
            <a:off x="1917577" y="4935984"/>
            <a:ext cx="8380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Functions</a:t>
            </a:r>
          </a:p>
          <a:p>
            <a:r>
              <a:rPr lang="en-US" dirty="0"/>
              <a:t>	Address Learning</a:t>
            </a:r>
          </a:p>
          <a:p>
            <a:r>
              <a:rPr lang="en-US" dirty="0"/>
              <a:t>	Forwarding decisions</a:t>
            </a:r>
          </a:p>
          <a:p>
            <a:r>
              <a:rPr lang="en-US" dirty="0"/>
              <a:t>	Loop Prevention</a:t>
            </a:r>
          </a:p>
        </p:txBody>
      </p:sp>
    </p:spTree>
    <p:extLst>
      <p:ext uri="{BB962C8B-B14F-4D97-AF65-F5344CB8AC3E}">
        <p14:creationId xmlns:p14="http://schemas.microsoft.com/office/powerpoint/2010/main" val="544448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Switches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632204"/>
            <a:ext cx="10178322" cy="3593591"/>
          </a:xfrm>
        </p:spPr>
        <p:txBody>
          <a:bodyPr>
            <a:normAutofit/>
          </a:bodyPr>
          <a:lstStyle/>
          <a:p>
            <a:r>
              <a:rPr lang="en-US" sz="2800" dirty="0"/>
              <a:t>Layer 2 Devices</a:t>
            </a:r>
          </a:p>
          <a:p>
            <a:pPr lvl="1"/>
            <a:r>
              <a:rPr lang="en-US" sz="2800" dirty="0"/>
              <a:t>Uses MAC Address to figure out where Packets go</a:t>
            </a:r>
          </a:p>
          <a:p>
            <a:pPr lvl="1"/>
            <a:r>
              <a:rPr lang="en-US" sz="2800" dirty="0"/>
              <a:t>Potential for routing loops (STP)</a:t>
            </a:r>
          </a:p>
          <a:p>
            <a:r>
              <a:rPr lang="en-US" sz="2800" dirty="0"/>
              <a:t>Layer 3 Switches </a:t>
            </a:r>
          </a:p>
          <a:p>
            <a:pPr lvl="1"/>
            <a:r>
              <a:rPr lang="en-US" sz="2800" dirty="0"/>
              <a:t>Allows you to talk between Networks and out to the INTERNET</a:t>
            </a:r>
          </a:p>
        </p:txBody>
      </p:sp>
    </p:spTree>
    <p:extLst>
      <p:ext uri="{BB962C8B-B14F-4D97-AF65-F5344CB8AC3E}">
        <p14:creationId xmlns:p14="http://schemas.microsoft.com/office/powerpoint/2010/main" val="32883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2F3DC3-5570-4014-A4DE-63D06D82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16" y="844497"/>
            <a:ext cx="11000404" cy="83766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/>
              <a:t>Address Learning</a:t>
            </a:r>
            <a:br>
              <a:rPr lang="en-US" altLang="en-US" b="1" dirty="0"/>
            </a:b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575143E-958E-4EF8-A492-686AC564C907}"/>
              </a:ext>
            </a:extLst>
          </p:cNvPr>
          <p:cNvGrpSpPr/>
          <p:nvPr/>
        </p:nvGrpSpPr>
        <p:grpSpPr>
          <a:xfrm>
            <a:off x="1356676" y="1889805"/>
            <a:ext cx="4449445" cy="4156075"/>
            <a:chOff x="5105" y="1390"/>
            <a:chExt cx="7007" cy="6545"/>
          </a:xfrm>
        </p:grpSpPr>
        <p:sp>
          <p:nvSpPr>
            <p:cNvPr id="6" name="TextBox 18">
              <a:extLst>
                <a:ext uri="{FF2B5EF4-FFF2-40B4-BE49-F238E27FC236}">
                  <a16:creationId xmlns:a16="http://schemas.microsoft.com/office/drawing/2014/main" id="{C4CE66FB-6072-4080-A2FA-CCEF5EB3D046}"/>
                </a:ext>
              </a:extLst>
            </p:cNvPr>
            <p:cNvSpPr txBox="1"/>
            <p:nvPr/>
          </p:nvSpPr>
          <p:spPr>
            <a:xfrm>
              <a:off x="7073" y="3178"/>
              <a:ext cx="840" cy="45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b="1" dirty="0">
                  <a:latin typeface="Calibri" panose="020F0502020204030204" pitchFamily="34" charset="0"/>
                </a:rPr>
                <a:t>E0/0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C6F6EC-EF31-4137-AF55-C4B3F79DEF29}"/>
                </a:ext>
              </a:extLst>
            </p:cNvPr>
            <p:cNvGrpSpPr/>
            <p:nvPr/>
          </p:nvGrpSpPr>
          <p:grpSpPr>
            <a:xfrm>
              <a:off x="5105" y="1390"/>
              <a:ext cx="7007" cy="6545"/>
              <a:chOff x="4856" y="1405"/>
              <a:chExt cx="7007" cy="6545"/>
            </a:xfrm>
          </p:grpSpPr>
          <p:sp>
            <p:nvSpPr>
              <p:cNvPr id="8" name="TextBox 19">
                <a:extLst>
                  <a:ext uri="{FF2B5EF4-FFF2-40B4-BE49-F238E27FC236}">
                    <a16:creationId xmlns:a16="http://schemas.microsoft.com/office/drawing/2014/main" id="{23998139-7010-45B9-966A-4740F6A6EB40}"/>
                  </a:ext>
                </a:extLst>
              </p:cNvPr>
              <p:cNvSpPr txBox="1"/>
              <p:nvPr/>
            </p:nvSpPr>
            <p:spPr>
              <a:xfrm>
                <a:off x="9518" y="3178"/>
                <a:ext cx="840" cy="45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400" b="1" dirty="0">
                    <a:latin typeface="Calibri" panose="020F0502020204030204" pitchFamily="34" charset="0"/>
                  </a:rPr>
                  <a:t>E0/3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5E10C779-CF75-463D-AE50-FF602815E7BF}"/>
                  </a:ext>
                </a:extLst>
              </p:cNvPr>
              <p:cNvGrpSpPr/>
              <p:nvPr/>
            </p:nvGrpSpPr>
            <p:grpSpPr>
              <a:xfrm>
                <a:off x="4856" y="1405"/>
                <a:ext cx="7007" cy="6545"/>
                <a:chOff x="4856" y="1405"/>
                <a:chExt cx="7007" cy="6545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55147873-6608-4D3C-955A-AD5A885B85B8}"/>
                    </a:ext>
                  </a:extLst>
                </p:cNvPr>
                <p:cNvCxnSpPr/>
                <p:nvPr/>
              </p:nvCxnSpPr>
              <p:spPr bwMode="auto">
                <a:xfrm flipH="1">
                  <a:off x="5548" y="3548"/>
                  <a:ext cx="5" cy="3603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8FC1A83C-8E36-4CCC-8BE1-BC9A2922D097}"/>
                    </a:ext>
                  </a:extLst>
                </p:cNvPr>
                <p:cNvCxnSpPr/>
                <p:nvPr/>
              </p:nvCxnSpPr>
              <p:spPr bwMode="auto">
                <a:xfrm flipH="1">
                  <a:off x="7571" y="3818"/>
                  <a:ext cx="8" cy="3178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8B3C15C3-B357-4E24-9443-46AE406157F8}"/>
                    </a:ext>
                  </a:extLst>
                </p:cNvPr>
                <p:cNvCxnSpPr/>
                <p:nvPr/>
              </p:nvCxnSpPr>
              <p:spPr bwMode="auto">
                <a:xfrm flipH="1">
                  <a:off x="11278" y="3548"/>
                  <a:ext cx="8" cy="3178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A83B69AC-6974-4AFA-8D78-34F5E2421B4C}"/>
                    </a:ext>
                  </a:extLst>
                </p:cNvPr>
                <p:cNvCxnSpPr/>
                <p:nvPr/>
              </p:nvCxnSpPr>
              <p:spPr bwMode="auto">
                <a:xfrm flipH="1">
                  <a:off x="9238" y="3923"/>
                  <a:ext cx="8" cy="3178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C9CE506D-7695-4E80-A791-D781AA2E27D9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106" y="2003"/>
                  <a:ext cx="8" cy="3178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3006325-2205-4B67-8B28-0A7F85D85583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9718" y="2003"/>
                  <a:ext cx="8" cy="3178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C9D75037-C08D-4CFC-94A0-DD5CEA78C2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75" y="3350"/>
                  <a:ext cx="2065" cy="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818B7E37-0D99-45C9-AE89-6A9ED57999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56" y="6245"/>
                  <a:ext cx="1260" cy="13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BD0C478E-E746-46EC-BFC1-72F84D6B8E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38" y="6260"/>
                  <a:ext cx="1260" cy="13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DA130C27-F7AC-47ED-8E06-13AA0AE194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548" y="6245"/>
                  <a:ext cx="1260" cy="13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FC27C6DD-C485-474C-8C30-C211618C8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603" y="6245"/>
                  <a:ext cx="1260" cy="13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1" name="TextBox 17">
                  <a:extLst>
                    <a:ext uri="{FF2B5EF4-FFF2-40B4-BE49-F238E27FC236}">
                      <a16:creationId xmlns:a16="http://schemas.microsoft.com/office/drawing/2014/main" id="{2B367AF0-A7D7-4231-BA75-878144AB1D37}"/>
                    </a:ext>
                  </a:extLst>
                </p:cNvPr>
                <p:cNvSpPr txBox="1"/>
                <p:nvPr/>
              </p:nvSpPr>
              <p:spPr>
                <a:xfrm>
                  <a:off x="7196" y="1405"/>
                  <a:ext cx="3740" cy="2108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600" b="1" dirty="0">
                      <a:latin typeface="Calibri" panose="020F0502020204030204" pitchFamily="34" charset="0"/>
                    </a:rPr>
                    <a:t>MAC Forward/Filter Table</a:t>
                  </a:r>
                </a:p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dirty="0">
                      <a:latin typeface="Calibri" panose="020F0502020204030204" pitchFamily="34" charset="0"/>
                    </a:rPr>
                    <a:t>        E0/0:</a:t>
                  </a:r>
                </a:p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dirty="0">
                      <a:latin typeface="Calibri" panose="020F0502020204030204" pitchFamily="34" charset="0"/>
                    </a:rPr>
                    <a:t>        E0/1:</a:t>
                  </a:r>
                </a:p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dirty="0">
                      <a:latin typeface="Calibri" panose="020F0502020204030204" pitchFamily="34" charset="0"/>
                    </a:rPr>
                    <a:t>        E0/2:</a:t>
                  </a:r>
                </a:p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dirty="0">
                      <a:latin typeface="Calibri" panose="020F0502020204030204" pitchFamily="34" charset="0"/>
                    </a:rPr>
                    <a:t>        E0/3:</a:t>
                  </a:r>
                </a:p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endParaRPr lang="en-US" altLang="en-US" sz="1600" b="1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22" name="TextBox 20">
                  <a:extLst>
                    <a:ext uri="{FF2B5EF4-FFF2-40B4-BE49-F238E27FC236}">
                      <a16:creationId xmlns:a16="http://schemas.microsoft.com/office/drawing/2014/main" id="{1D2D32F2-2F59-4004-A9D1-A054A14DF419}"/>
                    </a:ext>
                  </a:extLst>
                </p:cNvPr>
                <p:cNvSpPr txBox="1"/>
                <p:nvPr/>
              </p:nvSpPr>
              <p:spPr>
                <a:xfrm>
                  <a:off x="7463" y="4378"/>
                  <a:ext cx="840" cy="45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b="1" dirty="0">
                      <a:latin typeface="Calibri" panose="020F0502020204030204" pitchFamily="34" charset="0"/>
                    </a:rPr>
                    <a:t>E0/1</a:t>
                  </a:r>
                </a:p>
              </p:txBody>
            </p:sp>
            <p:sp>
              <p:nvSpPr>
                <p:cNvPr id="23" name="TextBox 21">
                  <a:extLst>
                    <a:ext uri="{FF2B5EF4-FFF2-40B4-BE49-F238E27FC236}">
                      <a16:creationId xmlns:a16="http://schemas.microsoft.com/office/drawing/2014/main" id="{30FF5B85-BFE6-4035-8FAA-B0255B393574}"/>
                    </a:ext>
                  </a:extLst>
                </p:cNvPr>
                <p:cNvSpPr txBox="1"/>
                <p:nvPr/>
              </p:nvSpPr>
              <p:spPr>
                <a:xfrm>
                  <a:off x="9173" y="4378"/>
                  <a:ext cx="840" cy="45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b="1" dirty="0">
                      <a:latin typeface="Calibri" panose="020F0502020204030204" pitchFamily="34" charset="0"/>
                    </a:rPr>
                    <a:t>E0/2</a:t>
                  </a:r>
                </a:p>
              </p:txBody>
            </p:sp>
            <p:sp>
              <p:nvSpPr>
                <p:cNvPr id="24" name="TextBox 22">
                  <a:extLst>
                    <a:ext uri="{FF2B5EF4-FFF2-40B4-BE49-F238E27FC236}">
                      <a16:creationId xmlns:a16="http://schemas.microsoft.com/office/drawing/2014/main" id="{BC1C1C52-F127-4966-BA1B-2DC12331460E}"/>
                    </a:ext>
                  </a:extLst>
                </p:cNvPr>
                <p:cNvSpPr txBox="1"/>
                <p:nvPr/>
              </p:nvSpPr>
              <p:spPr>
                <a:xfrm>
                  <a:off x="4875" y="7498"/>
                  <a:ext cx="1065" cy="45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b="1" dirty="0">
                      <a:latin typeface="Calibri" panose="020F0502020204030204" pitchFamily="34" charset="0"/>
                    </a:rPr>
                    <a:t>Host A</a:t>
                  </a:r>
                </a:p>
              </p:txBody>
            </p:sp>
            <p:sp>
              <p:nvSpPr>
                <p:cNvPr id="25" name="TextBox 23">
                  <a:extLst>
                    <a:ext uri="{FF2B5EF4-FFF2-40B4-BE49-F238E27FC236}">
                      <a16:creationId xmlns:a16="http://schemas.microsoft.com/office/drawing/2014/main" id="{00DE74B2-565B-40F8-AE00-FE29DBC45C57}"/>
                    </a:ext>
                  </a:extLst>
                </p:cNvPr>
                <p:cNvSpPr txBox="1"/>
                <p:nvPr/>
              </p:nvSpPr>
              <p:spPr>
                <a:xfrm>
                  <a:off x="6893" y="7498"/>
                  <a:ext cx="1052" cy="45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b="1" dirty="0">
                      <a:latin typeface="Calibri" panose="020F0502020204030204" pitchFamily="34" charset="0"/>
                    </a:rPr>
                    <a:t>Host B</a:t>
                  </a:r>
                </a:p>
              </p:txBody>
            </p:sp>
            <p:sp>
              <p:nvSpPr>
                <p:cNvPr id="26" name="TextBox 24">
                  <a:extLst>
                    <a:ext uri="{FF2B5EF4-FFF2-40B4-BE49-F238E27FC236}">
                      <a16:creationId xmlns:a16="http://schemas.microsoft.com/office/drawing/2014/main" id="{EF6E49C1-4E3E-452A-B2CF-9C0C77168D9C}"/>
                    </a:ext>
                  </a:extLst>
                </p:cNvPr>
                <p:cNvSpPr txBox="1"/>
                <p:nvPr/>
              </p:nvSpPr>
              <p:spPr>
                <a:xfrm>
                  <a:off x="8608" y="7483"/>
                  <a:ext cx="1042" cy="45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b="1" dirty="0">
                      <a:latin typeface="Calibri" panose="020F0502020204030204" pitchFamily="34" charset="0"/>
                    </a:rPr>
                    <a:t>Host C</a:t>
                  </a:r>
                </a:p>
              </p:txBody>
            </p:sp>
            <p:sp>
              <p:nvSpPr>
                <p:cNvPr id="27" name="TextBox 25">
                  <a:extLst>
                    <a:ext uri="{FF2B5EF4-FFF2-40B4-BE49-F238E27FC236}">
                      <a16:creationId xmlns:a16="http://schemas.microsoft.com/office/drawing/2014/main" id="{64E1B165-3112-4E99-9294-1AFF30A21441}"/>
                    </a:ext>
                  </a:extLst>
                </p:cNvPr>
                <p:cNvSpPr txBox="1"/>
                <p:nvPr/>
              </p:nvSpPr>
              <p:spPr>
                <a:xfrm>
                  <a:off x="10663" y="7483"/>
                  <a:ext cx="1072" cy="452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anchor="ctr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 eaLnBrk="1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</a:pPr>
                  <a:r>
                    <a:rPr lang="en-US" altLang="en-US" sz="1400" b="1" dirty="0">
                      <a:latin typeface="Calibri" panose="020F0502020204030204" pitchFamily="34" charset="0"/>
                    </a:rPr>
                    <a:t>Host D</a:t>
                  </a:r>
                </a:p>
              </p:txBody>
            </p:sp>
          </p:grpSp>
        </p:grpSp>
      </p:grp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1375D035-B271-4FBA-BA13-D0385F466EAA}"/>
              </a:ext>
            </a:extLst>
          </p:cNvPr>
          <p:cNvSpPr>
            <a:spLocks noGrp="1"/>
          </p:cNvSpPr>
          <p:nvPr/>
        </p:nvSpPr>
        <p:spPr>
          <a:xfrm>
            <a:off x="5783896" y="3025184"/>
            <a:ext cx="6362065" cy="27844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1800" dirty="0"/>
              <a:t>Layer 2 switches and bridges are capable of </a:t>
            </a:r>
            <a:r>
              <a:rPr lang="en-US" altLang="en-US" sz="1800" i="1" dirty="0"/>
              <a:t>address learning</a:t>
            </a:r>
            <a:r>
              <a:rPr lang="en-US" altLang="en-US" sz="1800" dirty="0"/>
              <a:t>; they remember the source hardware address of each frame received on an interface and enter this information into a MAC database known as a </a:t>
            </a:r>
            <a:r>
              <a:rPr lang="en-US" altLang="en-US" sz="1800" i="1" dirty="0"/>
              <a:t>forward/filter table</a:t>
            </a:r>
            <a:r>
              <a:rPr lang="en-US" altLang="en-US" sz="1800" dirty="0"/>
              <a:t>.</a:t>
            </a:r>
          </a:p>
          <a:p>
            <a:r>
              <a:rPr lang="en-US" altLang="en-US" sz="1800" dirty="0"/>
              <a:t>Initially there is no address information in the table.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223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BC59-D4BD-4A31-91D7-0D0CF22E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287" y="382385"/>
            <a:ext cx="10880762" cy="1492132"/>
          </a:xfrm>
        </p:spPr>
        <p:txBody>
          <a:bodyPr/>
          <a:lstStyle/>
          <a:p>
            <a:pPr algn="ctr"/>
            <a:r>
              <a:rPr lang="en-US" altLang="en-US" dirty="0"/>
              <a:t>Forwarding/Filter Table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86E386-56A2-46ED-B4E8-46EADB82986C}"/>
              </a:ext>
            </a:extLst>
          </p:cNvPr>
          <p:cNvGrpSpPr/>
          <p:nvPr/>
        </p:nvGrpSpPr>
        <p:grpSpPr>
          <a:xfrm>
            <a:off x="1251678" y="1599528"/>
            <a:ext cx="4970145" cy="4126865"/>
            <a:chOff x="4278" y="1860"/>
            <a:chExt cx="7827" cy="6499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27AC214-E8DA-4DD9-8B93-81399F1FC78C}"/>
                </a:ext>
              </a:extLst>
            </p:cNvPr>
            <p:cNvCxnSpPr/>
            <p:nvPr/>
          </p:nvCxnSpPr>
          <p:spPr>
            <a:xfrm rot="-600000" flipV="1">
              <a:off x="4968" y="4965"/>
              <a:ext cx="2145" cy="1440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707A8D8-01D9-4663-A79C-238D1B4847FB}"/>
                </a:ext>
              </a:extLst>
            </p:cNvPr>
            <p:cNvCxnSpPr/>
            <p:nvPr/>
          </p:nvCxnSpPr>
          <p:spPr>
            <a:xfrm rot="780000">
              <a:off x="9228" y="4875"/>
              <a:ext cx="2145" cy="1440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432DBE3-2D84-4CFF-BCC1-7CA24EF16025}"/>
                </a:ext>
              </a:extLst>
            </p:cNvPr>
            <p:cNvCxnSpPr/>
            <p:nvPr/>
          </p:nvCxnSpPr>
          <p:spPr bwMode="auto">
            <a:xfrm rot="16200000" flipH="1">
              <a:off x="6503" y="2578"/>
              <a:ext cx="8" cy="317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E460D01-B0D4-4904-9EA9-6DAB53EEF0D2}"/>
                </a:ext>
              </a:extLst>
            </p:cNvPr>
            <p:cNvCxnSpPr/>
            <p:nvPr/>
          </p:nvCxnSpPr>
          <p:spPr bwMode="auto">
            <a:xfrm rot="16200000" flipH="1">
              <a:off x="9723" y="2573"/>
              <a:ext cx="8" cy="317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D4A78CA-8706-4262-9C58-5139054F487C}"/>
                </a:ext>
              </a:extLst>
            </p:cNvPr>
            <p:cNvCxnSpPr/>
            <p:nvPr/>
          </p:nvCxnSpPr>
          <p:spPr bwMode="auto">
            <a:xfrm flipH="1">
              <a:off x="4933" y="4133"/>
              <a:ext cx="8" cy="317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A2CBC6E-22EE-4390-A175-9A12478FB1D7}"/>
                </a:ext>
              </a:extLst>
            </p:cNvPr>
            <p:cNvCxnSpPr/>
            <p:nvPr/>
          </p:nvCxnSpPr>
          <p:spPr bwMode="auto">
            <a:xfrm flipH="1">
              <a:off x="11278" y="4133"/>
              <a:ext cx="8" cy="317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A4FEA4D-257C-4B97-8BD4-DA63A6F88495}"/>
                </a:ext>
              </a:extLst>
            </p:cNvPr>
            <p:cNvCxnSpPr/>
            <p:nvPr/>
          </p:nvCxnSpPr>
          <p:spPr bwMode="auto">
            <a:xfrm flipH="1">
              <a:off x="7183" y="4343"/>
              <a:ext cx="8" cy="317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D4480E0-F1CE-4B76-A435-590D314A7369}"/>
                </a:ext>
              </a:extLst>
            </p:cNvPr>
            <p:cNvCxnSpPr/>
            <p:nvPr/>
          </p:nvCxnSpPr>
          <p:spPr bwMode="auto">
            <a:xfrm flipH="1">
              <a:off x="9043" y="4328"/>
              <a:ext cx="8" cy="317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48EF67F-3D0A-4107-8D4C-7C0048962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0" y="3840"/>
              <a:ext cx="2198" cy="95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3041D0-5C61-46D6-ACC6-6B868B948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78" y="6545"/>
              <a:ext cx="1302" cy="1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72F9CA2-ADB3-41F9-9885-DA9C4AE4C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98" y="6575"/>
              <a:ext cx="1302" cy="1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D3AA7AA-FC88-412E-883B-C58EEE1A8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68" y="6560"/>
              <a:ext cx="1302" cy="1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4E02395-0468-45BD-B033-F0B7B0536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68" y="6575"/>
              <a:ext cx="1302" cy="1305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60205E1-C42E-4AD1-A48F-0545E870914F}"/>
                </a:ext>
              </a:extLst>
            </p:cNvPr>
            <p:cNvCxnSpPr/>
            <p:nvPr/>
          </p:nvCxnSpPr>
          <p:spPr>
            <a:xfrm rot="60000">
              <a:off x="7378" y="5435"/>
              <a:ext cx="30" cy="945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C01E271-C859-40C6-83AF-07C2E79E9ABE}"/>
                </a:ext>
              </a:extLst>
            </p:cNvPr>
            <p:cNvCxnSpPr/>
            <p:nvPr/>
          </p:nvCxnSpPr>
          <p:spPr>
            <a:xfrm rot="60000">
              <a:off x="9268" y="5450"/>
              <a:ext cx="30" cy="945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CB19B67-06A6-48FC-BACB-91B334A7C72C}"/>
                </a:ext>
              </a:extLst>
            </p:cNvPr>
            <p:cNvCxnSpPr/>
            <p:nvPr/>
          </p:nvCxnSpPr>
          <p:spPr>
            <a:xfrm rot="-120000" flipV="1">
              <a:off x="7963" y="5600"/>
              <a:ext cx="30" cy="945"/>
            </a:xfrm>
            <a:prstGeom prst="straightConnector1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arrow" w="med" len="med"/>
            </a:ln>
          </p:spPr>
        </p:cxn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C35B0607-2538-4C2A-9C2D-0C9F6F3E0EC7}"/>
                </a:ext>
              </a:extLst>
            </p:cNvPr>
            <p:cNvSpPr txBox="1"/>
            <p:nvPr/>
          </p:nvSpPr>
          <p:spPr>
            <a:xfrm>
              <a:off x="6755" y="1860"/>
              <a:ext cx="4115" cy="20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MAC Forward/Filter Table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latin typeface="Calibri" panose="020F0502020204030204" pitchFamily="34" charset="0"/>
                </a:rPr>
                <a:t>        E0/0: 0000.8c01.000A Step 2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latin typeface="Calibri" panose="020F0502020204030204" pitchFamily="34" charset="0"/>
                </a:rPr>
                <a:t>        E0/1: 0000.8c01.000B Step 4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latin typeface="Calibri" panose="020F0502020204030204" pitchFamily="34" charset="0"/>
                </a:rPr>
                <a:t>        E0/2: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dirty="0">
                  <a:latin typeface="Calibri" panose="020F0502020204030204" pitchFamily="34" charset="0"/>
                </a:rPr>
                <a:t>        E0/3: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1600" b="1" dirty="0">
                <a:latin typeface="Calibri" panose="020F0502020204030204" pitchFamily="34" charset="0"/>
              </a:endParaRPr>
            </a:p>
          </p:txBody>
        </p:sp>
        <p:sp>
          <p:nvSpPr>
            <p:cNvPr id="21" name="TextBox 23">
              <a:extLst>
                <a:ext uri="{FF2B5EF4-FFF2-40B4-BE49-F238E27FC236}">
                  <a16:creationId xmlns:a16="http://schemas.microsoft.com/office/drawing/2014/main" id="{A049F4CC-5CCD-4573-A7A1-59AC7A3E8BCE}"/>
                </a:ext>
              </a:extLst>
            </p:cNvPr>
            <p:cNvSpPr txBox="1"/>
            <p:nvPr/>
          </p:nvSpPr>
          <p:spPr>
            <a:xfrm>
              <a:off x="6690" y="3728"/>
              <a:ext cx="91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E0/0</a:t>
              </a:r>
            </a:p>
          </p:txBody>
        </p:sp>
        <p:sp>
          <p:nvSpPr>
            <p:cNvPr id="22" name="TextBox 24">
              <a:extLst>
                <a:ext uri="{FF2B5EF4-FFF2-40B4-BE49-F238E27FC236}">
                  <a16:creationId xmlns:a16="http://schemas.microsoft.com/office/drawing/2014/main" id="{44149A4A-FE1E-4D3E-A06C-F7EE149AD71A}"/>
                </a:ext>
              </a:extLst>
            </p:cNvPr>
            <p:cNvSpPr txBox="1"/>
            <p:nvPr/>
          </p:nvSpPr>
          <p:spPr>
            <a:xfrm>
              <a:off x="9390" y="3713"/>
              <a:ext cx="91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E0/3</a:t>
              </a:r>
            </a:p>
          </p:txBody>
        </p:sp>
        <p:sp>
          <p:nvSpPr>
            <p:cNvPr id="23" name="TextBox 25">
              <a:extLst>
                <a:ext uri="{FF2B5EF4-FFF2-40B4-BE49-F238E27FC236}">
                  <a16:creationId xmlns:a16="http://schemas.microsoft.com/office/drawing/2014/main" id="{02C2C8BD-FFC1-4FCB-8F9F-5F8AAC1F6907}"/>
                </a:ext>
              </a:extLst>
            </p:cNvPr>
            <p:cNvSpPr txBox="1"/>
            <p:nvPr/>
          </p:nvSpPr>
          <p:spPr>
            <a:xfrm>
              <a:off x="7110" y="4973"/>
              <a:ext cx="91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E0/1</a:t>
              </a:r>
            </a:p>
          </p:txBody>
        </p:sp>
        <p:sp>
          <p:nvSpPr>
            <p:cNvPr id="24" name="TextBox 26">
              <a:extLst>
                <a:ext uri="{FF2B5EF4-FFF2-40B4-BE49-F238E27FC236}">
                  <a16:creationId xmlns:a16="http://schemas.microsoft.com/office/drawing/2014/main" id="{A792ECF6-B01B-433A-A162-4572FA6D5607}"/>
                </a:ext>
              </a:extLst>
            </p:cNvPr>
            <p:cNvSpPr txBox="1"/>
            <p:nvPr/>
          </p:nvSpPr>
          <p:spPr>
            <a:xfrm>
              <a:off x="8985" y="4973"/>
              <a:ext cx="91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E0/2</a:t>
              </a:r>
            </a:p>
          </p:txBody>
        </p:sp>
        <p:sp>
          <p:nvSpPr>
            <p:cNvPr id="25" name="TextBox 27">
              <a:extLst>
                <a:ext uri="{FF2B5EF4-FFF2-40B4-BE49-F238E27FC236}">
                  <a16:creationId xmlns:a16="http://schemas.microsoft.com/office/drawing/2014/main" id="{88E12351-ED41-49D4-9B48-0D23660A59FF}"/>
                </a:ext>
              </a:extLst>
            </p:cNvPr>
            <p:cNvSpPr txBox="1"/>
            <p:nvPr/>
          </p:nvSpPr>
          <p:spPr>
            <a:xfrm>
              <a:off x="5235" y="5153"/>
              <a:ext cx="112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Step 1</a:t>
              </a:r>
            </a:p>
          </p:txBody>
        </p:sp>
        <p:sp>
          <p:nvSpPr>
            <p:cNvPr id="26" name="TextBox 28">
              <a:extLst>
                <a:ext uri="{FF2B5EF4-FFF2-40B4-BE49-F238E27FC236}">
                  <a16:creationId xmlns:a16="http://schemas.microsoft.com/office/drawing/2014/main" id="{6592BF17-60B7-41F1-A5B8-D3E18337483E}"/>
                </a:ext>
              </a:extLst>
            </p:cNvPr>
            <p:cNvSpPr txBox="1"/>
            <p:nvPr/>
          </p:nvSpPr>
          <p:spPr>
            <a:xfrm>
              <a:off x="7370" y="5783"/>
              <a:ext cx="45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27" name="TextBox 29">
              <a:extLst>
                <a:ext uri="{FF2B5EF4-FFF2-40B4-BE49-F238E27FC236}">
                  <a16:creationId xmlns:a16="http://schemas.microsoft.com/office/drawing/2014/main" id="{AB3F6122-2959-43C0-A496-EB923B04D5A5}"/>
                </a:ext>
              </a:extLst>
            </p:cNvPr>
            <p:cNvSpPr txBox="1"/>
            <p:nvPr/>
          </p:nvSpPr>
          <p:spPr>
            <a:xfrm>
              <a:off x="7925" y="5783"/>
              <a:ext cx="45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4</a:t>
              </a:r>
            </a:p>
          </p:txBody>
        </p:sp>
        <p:sp>
          <p:nvSpPr>
            <p:cNvPr id="28" name="TextBox 30">
              <a:extLst>
                <a:ext uri="{FF2B5EF4-FFF2-40B4-BE49-F238E27FC236}">
                  <a16:creationId xmlns:a16="http://schemas.microsoft.com/office/drawing/2014/main" id="{37BF38C0-B7BA-497A-A939-CD0192719B91}"/>
                </a:ext>
              </a:extLst>
            </p:cNvPr>
            <p:cNvSpPr txBox="1"/>
            <p:nvPr/>
          </p:nvSpPr>
          <p:spPr>
            <a:xfrm>
              <a:off x="9230" y="5783"/>
              <a:ext cx="45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29" name="TextBox 31">
              <a:extLst>
                <a:ext uri="{FF2B5EF4-FFF2-40B4-BE49-F238E27FC236}">
                  <a16:creationId xmlns:a16="http://schemas.microsoft.com/office/drawing/2014/main" id="{28C3A8E8-C6DF-4922-B3C3-04649C4AFCFB}"/>
                </a:ext>
              </a:extLst>
            </p:cNvPr>
            <p:cNvSpPr txBox="1"/>
            <p:nvPr/>
          </p:nvSpPr>
          <p:spPr>
            <a:xfrm>
              <a:off x="10745" y="5783"/>
              <a:ext cx="45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3</a:t>
              </a:r>
            </a:p>
          </p:txBody>
        </p:sp>
        <p:sp>
          <p:nvSpPr>
            <p:cNvPr id="30" name="TextBox 32">
              <a:extLst>
                <a:ext uri="{FF2B5EF4-FFF2-40B4-BE49-F238E27FC236}">
                  <a16:creationId xmlns:a16="http://schemas.microsoft.com/office/drawing/2014/main" id="{4C3429D0-25EF-4444-AF10-DEC9B123D72A}"/>
                </a:ext>
              </a:extLst>
            </p:cNvPr>
            <p:cNvSpPr txBox="1"/>
            <p:nvPr/>
          </p:nvSpPr>
          <p:spPr>
            <a:xfrm>
              <a:off x="4490" y="7867"/>
              <a:ext cx="117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Host A</a:t>
              </a:r>
            </a:p>
          </p:txBody>
        </p:sp>
        <p:sp>
          <p:nvSpPr>
            <p:cNvPr id="31" name="TextBox 33">
              <a:extLst>
                <a:ext uri="{FF2B5EF4-FFF2-40B4-BE49-F238E27FC236}">
                  <a16:creationId xmlns:a16="http://schemas.microsoft.com/office/drawing/2014/main" id="{32546CB7-75AA-4A51-9E93-3086E16CB6A0}"/>
                </a:ext>
              </a:extLst>
            </p:cNvPr>
            <p:cNvSpPr txBox="1"/>
            <p:nvPr/>
          </p:nvSpPr>
          <p:spPr>
            <a:xfrm>
              <a:off x="6703" y="7867"/>
              <a:ext cx="1160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Host B</a:t>
              </a: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C51CDBDA-65A6-4140-B660-7C9226C53525}"/>
                </a:ext>
              </a:extLst>
            </p:cNvPr>
            <p:cNvSpPr txBox="1"/>
            <p:nvPr/>
          </p:nvSpPr>
          <p:spPr>
            <a:xfrm>
              <a:off x="8778" y="7867"/>
              <a:ext cx="1150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Host C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039BA76D-FC08-4FBF-8F0B-932FC584E944}"/>
                </a:ext>
              </a:extLst>
            </p:cNvPr>
            <p:cNvSpPr txBox="1"/>
            <p:nvPr/>
          </p:nvSpPr>
          <p:spPr>
            <a:xfrm>
              <a:off x="10920" y="7867"/>
              <a:ext cx="1185" cy="49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Host D</a:t>
              </a:r>
            </a:p>
          </p:txBody>
        </p:sp>
      </p:grpSp>
      <p:sp>
        <p:nvSpPr>
          <p:cNvPr id="34" name="Text Box 11">
            <a:extLst>
              <a:ext uri="{FF2B5EF4-FFF2-40B4-BE49-F238E27FC236}">
                <a16:creationId xmlns:a16="http://schemas.microsoft.com/office/drawing/2014/main" id="{6DE778E9-2D1B-4BFD-95CF-4970DF708E10}"/>
              </a:ext>
            </a:extLst>
          </p:cNvPr>
          <p:cNvSpPr txBox="1"/>
          <p:nvPr/>
        </p:nvSpPr>
        <p:spPr>
          <a:xfrm>
            <a:off x="6298023" y="2394865"/>
            <a:ext cx="5153746" cy="9239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en-US" sz="1800" dirty="0"/>
              <a:t>When the hosts start communicating, the switch places the source hardware address of each frame in the table along with the corresponding port  </a:t>
            </a:r>
          </a:p>
        </p:txBody>
      </p:sp>
    </p:spTree>
    <p:extLst>
      <p:ext uri="{BB962C8B-B14F-4D97-AF65-F5344CB8AC3E}">
        <p14:creationId xmlns:p14="http://schemas.microsoft.com/office/powerpoint/2010/main" val="389754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2B5D-5FAB-474D-AFE1-6C82FC2F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364" y="253407"/>
            <a:ext cx="10892836" cy="1243356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en-US" dirty="0"/>
            </a:br>
            <a:r>
              <a:rPr lang="en-US" altLang="en-US" dirty="0"/>
              <a:t>Forwarding/Filter Table Evaluation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8921D6-B74B-4DD1-84D4-6B04903615FC}"/>
              </a:ext>
            </a:extLst>
          </p:cNvPr>
          <p:cNvGrpSpPr/>
          <p:nvPr/>
        </p:nvGrpSpPr>
        <p:grpSpPr>
          <a:xfrm>
            <a:off x="994364" y="3313647"/>
            <a:ext cx="3611880" cy="2555240"/>
            <a:chOff x="3340" y="3673"/>
            <a:chExt cx="5688" cy="4024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2F736AC-0116-4B83-8453-C411559FAC94}"/>
                </a:ext>
              </a:extLst>
            </p:cNvPr>
            <p:cNvCxnSpPr/>
            <p:nvPr/>
          </p:nvCxnSpPr>
          <p:spPr bwMode="auto">
            <a:xfrm rot="10800000" flipH="1">
              <a:off x="8464" y="4849"/>
              <a:ext cx="8" cy="244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7BDF2E6-36CD-48A7-B4B5-84C9B2504F49}"/>
                </a:ext>
              </a:extLst>
            </p:cNvPr>
            <p:cNvCxnSpPr/>
            <p:nvPr/>
          </p:nvCxnSpPr>
          <p:spPr bwMode="auto">
            <a:xfrm rot="10800000" flipH="1">
              <a:off x="7119" y="5012"/>
              <a:ext cx="8" cy="216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5AAD97A-BF49-4F93-B8C1-0B6096DDB8ED}"/>
                </a:ext>
              </a:extLst>
            </p:cNvPr>
            <p:cNvCxnSpPr/>
            <p:nvPr/>
          </p:nvCxnSpPr>
          <p:spPr bwMode="auto">
            <a:xfrm rot="10800000" flipH="1">
              <a:off x="5634" y="5002"/>
              <a:ext cx="8" cy="216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031EF1D-8F02-4B11-B957-A9C7B6ABB907}"/>
                </a:ext>
              </a:extLst>
            </p:cNvPr>
            <p:cNvCxnSpPr/>
            <p:nvPr/>
          </p:nvCxnSpPr>
          <p:spPr bwMode="auto">
            <a:xfrm rot="10800000" flipH="1">
              <a:off x="4424" y="4859"/>
              <a:ext cx="8" cy="244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7A36B3A-05EB-4435-A9AC-47E2315B0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4" y="6377"/>
              <a:ext cx="1303" cy="1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0C824B-53C8-49CF-86C6-1FFD9843A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99" y="6377"/>
              <a:ext cx="1303" cy="1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D713F16-534E-43EF-B4E5-24F5C9BBB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9" y="6392"/>
              <a:ext cx="1303" cy="13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61561EF-B005-44FA-A2D5-1A272947C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25" y="6392"/>
              <a:ext cx="1303" cy="13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C6FA328E-BDA7-4042-83F3-23A6483CC8A7}"/>
                </a:ext>
              </a:extLst>
            </p:cNvPr>
            <p:cNvSpPr txBox="1"/>
            <p:nvPr/>
          </p:nvSpPr>
          <p:spPr>
            <a:xfrm>
              <a:off x="4179" y="6579"/>
              <a:ext cx="463" cy="45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b="1" dirty="0">
                  <a:latin typeface="Calibri" panose="020F0502020204030204" pitchFamily="34" charset="0"/>
                </a:rPr>
                <a:t>A</a:t>
              </a: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CA1FDB13-8915-4D09-B520-64F4CED47513}"/>
                </a:ext>
              </a:extLst>
            </p:cNvPr>
            <p:cNvSpPr txBox="1"/>
            <p:nvPr/>
          </p:nvSpPr>
          <p:spPr>
            <a:xfrm>
              <a:off x="5529" y="6594"/>
              <a:ext cx="450" cy="45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b="1" dirty="0">
                  <a:latin typeface="Calibri" panose="020F0502020204030204" pitchFamily="34" charset="0"/>
                </a:rPr>
                <a:t>B</a:t>
              </a:r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214641AE-659D-47F7-BA42-FE0AC107A325}"/>
                </a:ext>
              </a:extLst>
            </p:cNvPr>
            <p:cNvSpPr txBox="1"/>
            <p:nvPr/>
          </p:nvSpPr>
          <p:spPr>
            <a:xfrm>
              <a:off x="6864" y="6624"/>
              <a:ext cx="440" cy="45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b="1" dirty="0">
                  <a:latin typeface="Calibri" panose="020F0502020204030204" pitchFamily="34" charset="0"/>
                </a:rPr>
                <a:t>C</a:t>
              </a:r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64EF0035-4977-43EA-88B9-BA3B34027340}"/>
                </a:ext>
              </a:extLst>
            </p:cNvPr>
            <p:cNvSpPr txBox="1"/>
            <p:nvPr/>
          </p:nvSpPr>
          <p:spPr>
            <a:xfrm>
              <a:off x="8169" y="6609"/>
              <a:ext cx="470" cy="45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400" b="1" dirty="0">
                  <a:latin typeface="Calibri" panose="020F0502020204030204" pitchFamily="34" charset="0"/>
                </a:rPr>
                <a:t>D</a:t>
              </a:r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618DB415-4647-49C6-AB25-E61A01BF7B0B}"/>
                </a:ext>
              </a:extLst>
            </p:cNvPr>
            <p:cNvSpPr txBox="1"/>
            <p:nvPr/>
          </p:nvSpPr>
          <p:spPr>
            <a:xfrm>
              <a:off x="3340" y="4954"/>
              <a:ext cx="1058" cy="49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Fa0/3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D797E81-E104-427C-8976-D72DC4768CEB}"/>
                </a:ext>
              </a:extLst>
            </p:cNvPr>
            <p:cNvSpPr txBox="1"/>
            <p:nvPr/>
          </p:nvSpPr>
          <p:spPr>
            <a:xfrm>
              <a:off x="4660" y="4954"/>
              <a:ext cx="1058" cy="49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Fa0/4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814F65-5278-4753-81A4-8C65782CCA77}"/>
                </a:ext>
              </a:extLst>
            </p:cNvPr>
            <p:cNvSpPr txBox="1"/>
            <p:nvPr/>
          </p:nvSpPr>
          <p:spPr>
            <a:xfrm>
              <a:off x="5875" y="4969"/>
              <a:ext cx="1058" cy="49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Fa0/5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04A91A-7C30-4EA3-8087-0625C2719291}"/>
                </a:ext>
              </a:extLst>
            </p:cNvPr>
            <p:cNvSpPr txBox="1"/>
            <p:nvPr/>
          </p:nvSpPr>
          <p:spPr>
            <a:xfrm>
              <a:off x="7345" y="4954"/>
              <a:ext cx="1058" cy="49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Fa0/6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6CE480-F4B3-4E7C-ABD2-F4D35D560690}"/>
                </a:ext>
              </a:extLst>
            </p:cNvPr>
            <p:cNvCxnSpPr/>
            <p:nvPr/>
          </p:nvCxnSpPr>
          <p:spPr bwMode="auto">
            <a:xfrm>
              <a:off x="5897" y="4207"/>
              <a:ext cx="0" cy="69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949F163-4AE1-4762-BE56-AEC9BA07B515}"/>
                </a:ext>
              </a:extLst>
            </p:cNvPr>
            <p:cNvCxnSpPr/>
            <p:nvPr/>
          </p:nvCxnSpPr>
          <p:spPr bwMode="auto">
            <a:xfrm>
              <a:off x="6144" y="4357"/>
              <a:ext cx="0" cy="685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556FFAE-5D3B-4557-9E75-956EB213446C}"/>
                </a:ext>
              </a:extLst>
            </p:cNvPr>
            <p:cNvCxnSpPr/>
            <p:nvPr/>
          </p:nvCxnSpPr>
          <p:spPr bwMode="auto">
            <a:xfrm>
              <a:off x="6624" y="4342"/>
              <a:ext cx="0" cy="685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287EA55-D0AF-4478-8CE6-7C78CA999D02}"/>
                </a:ext>
              </a:extLst>
            </p:cNvPr>
            <p:cNvCxnSpPr/>
            <p:nvPr/>
          </p:nvCxnSpPr>
          <p:spPr bwMode="auto">
            <a:xfrm>
              <a:off x="6944" y="4242"/>
              <a:ext cx="0" cy="65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B1FF16A-25F8-4E35-AD54-CE536354EF72}"/>
                </a:ext>
              </a:extLst>
            </p:cNvPr>
            <p:cNvCxnSpPr/>
            <p:nvPr/>
          </p:nvCxnSpPr>
          <p:spPr bwMode="auto">
            <a:xfrm>
              <a:off x="4404" y="4877"/>
              <a:ext cx="1525" cy="2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708EE38-C44D-4CE9-9DA8-96289A9F843E}"/>
                </a:ext>
              </a:extLst>
            </p:cNvPr>
            <p:cNvCxnSpPr/>
            <p:nvPr/>
          </p:nvCxnSpPr>
          <p:spPr bwMode="auto">
            <a:xfrm rot="16200000" flipH="1">
              <a:off x="7703" y="4085"/>
              <a:ext cx="8" cy="1585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996ABC2-6937-45C1-803E-EB4FF4090565}"/>
                </a:ext>
              </a:extLst>
            </p:cNvPr>
            <p:cNvCxnSpPr/>
            <p:nvPr/>
          </p:nvCxnSpPr>
          <p:spPr bwMode="auto">
            <a:xfrm flipH="1">
              <a:off x="6594" y="5032"/>
              <a:ext cx="560" cy="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4D5D1AA-430B-4AED-8698-DE44F970A1E2}"/>
                </a:ext>
              </a:extLst>
            </p:cNvPr>
            <p:cNvCxnSpPr/>
            <p:nvPr/>
          </p:nvCxnSpPr>
          <p:spPr bwMode="auto">
            <a:xfrm rot="180000" flipH="1">
              <a:off x="5614" y="5022"/>
              <a:ext cx="560" cy="20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07F1D58-61BD-4EE2-8313-FE1083511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88" y="3673"/>
              <a:ext cx="1850" cy="80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601B88C-9901-482C-9B9B-AA1E205E58CE}"/>
              </a:ext>
            </a:extLst>
          </p:cNvPr>
          <p:cNvGrpSpPr/>
          <p:nvPr/>
        </p:nvGrpSpPr>
        <p:grpSpPr>
          <a:xfrm>
            <a:off x="3985803" y="1925739"/>
            <a:ext cx="3131820" cy="1474470"/>
            <a:chOff x="9333" y="2443"/>
            <a:chExt cx="4932" cy="2322"/>
          </a:xfrm>
        </p:grpSpPr>
        <p:sp>
          <p:nvSpPr>
            <p:cNvPr id="30" name="TextBox 19">
              <a:extLst>
                <a:ext uri="{FF2B5EF4-FFF2-40B4-BE49-F238E27FC236}">
                  <a16:creationId xmlns:a16="http://schemas.microsoft.com/office/drawing/2014/main" id="{541D9E96-C01B-4C83-870D-A0F9E0344AF3}"/>
                </a:ext>
              </a:extLst>
            </p:cNvPr>
            <p:cNvSpPr txBox="1"/>
            <p:nvPr/>
          </p:nvSpPr>
          <p:spPr>
            <a:xfrm>
              <a:off x="9333" y="2443"/>
              <a:ext cx="4805" cy="53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800" b="1" dirty="0">
                  <a:latin typeface="Calibri" panose="020F0502020204030204" pitchFamily="34" charset="0"/>
                </a:rPr>
                <a:t>Switch#sh  mac  address-table</a:t>
              </a:r>
            </a:p>
          </p:txBody>
        </p:sp>
        <p:sp>
          <p:nvSpPr>
            <p:cNvPr id="31" name="TextBox 20">
              <a:extLst>
                <a:ext uri="{FF2B5EF4-FFF2-40B4-BE49-F238E27FC236}">
                  <a16:creationId xmlns:a16="http://schemas.microsoft.com/office/drawing/2014/main" id="{4CAF043E-323F-40E8-B02C-EAA61438217F}"/>
                </a:ext>
              </a:extLst>
            </p:cNvPr>
            <p:cNvSpPr txBox="1"/>
            <p:nvPr/>
          </p:nvSpPr>
          <p:spPr>
            <a:xfrm>
              <a:off x="9430" y="2875"/>
              <a:ext cx="4835" cy="189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VLAN       Mac Address          Ports</a:t>
              </a:r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--------      -------------------         --------</a:t>
              </a:r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     1          0005.dccb.d74b     Fa0/4</a:t>
              </a:r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     1          000a.f467.9e80      Fa0/5</a:t>
              </a:r>
            </a:p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600" b="1" dirty="0">
                  <a:latin typeface="Calibri" panose="020F0502020204030204" pitchFamily="34" charset="0"/>
                </a:rPr>
                <a:t>     1          000a.f467.9e8b      Fa0/6</a:t>
              </a:r>
            </a:p>
          </p:txBody>
        </p:sp>
      </p:grpSp>
      <p:sp>
        <p:nvSpPr>
          <p:cNvPr id="32" name="Content Placeholder 9">
            <a:extLst>
              <a:ext uri="{FF2B5EF4-FFF2-40B4-BE49-F238E27FC236}">
                <a16:creationId xmlns:a16="http://schemas.microsoft.com/office/drawing/2014/main" id="{4FB9515C-489A-4C07-A2C7-3497C6822658}"/>
              </a:ext>
            </a:extLst>
          </p:cNvPr>
          <p:cNvSpPr>
            <a:spLocks noGrp="1"/>
          </p:cNvSpPr>
          <p:nvPr/>
        </p:nvSpPr>
        <p:spPr>
          <a:xfrm>
            <a:off x="5001941" y="3703423"/>
            <a:ext cx="5257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000" dirty="0"/>
              <a:t>Host A is sending a data frame to Host D. </a:t>
            </a:r>
          </a:p>
          <a:p>
            <a:r>
              <a:rPr lang="en-US" altLang="en-US" sz="2000" dirty="0"/>
              <a:t>What will the switch do when it receives the frame from Host A?</a:t>
            </a:r>
          </a:p>
        </p:txBody>
      </p:sp>
    </p:spTree>
    <p:extLst>
      <p:ext uri="{BB962C8B-B14F-4D97-AF65-F5344CB8AC3E}">
        <p14:creationId xmlns:p14="http://schemas.microsoft.com/office/powerpoint/2010/main" val="1694174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6CD4-0CBB-4EA0-A590-626FF1F16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259" y="382385"/>
            <a:ext cx="10936941" cy="1492132"/>
          </a:xfrm>
        </p:spPr>
        <p:txBody>
          <a:bodyPr/>
          <a:lstStyle/>
          <a:p>
            <a:pPr algn="ctr"/>
            <a:r>
              <a:rPr lang="en-US" dirty="0"/>
              <a:t>Loops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15BF3B-60FC-479A-B090-A6BACCFB2DF2}"/>
              </a:ext>
            </a:extLst>
          </p:cNvPr>
          <p:cNvGrpSpPr/>
          <p:nvPr/>
        </p:nvGrpSpPr>
        <p:grpSpPr>
          <a:xfrm>
            <a:off x="2539863" y="2161540"/>
            <a:ext cx="5937250" cy="2534920"/>
            <a:chOff x="3970" y="3288"/>
            <a:chExt cx="9350" cy="399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53E5C4F-ADA8-44EA-9F98-0125BB8997B4}"/>
                </a:ext>
              </a:extLst>
            </p:cNvPr>
            <p:cNvCxnSpPr/>
            <p:nvPr/>
          </p:nvCxnSpPr>
          <p:spPr bwMode="auto">
            <a:xfrm>
              <a:off x="8470" y="3698"/>
              <a:ext cx="3565" cy="281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05ACAE-AD73-4AEA-B7A8-43F1E202488C}"/>
                </a:ext>
              </a:extLst>
            </p:cNvPr>
            <p:cNvSpPr/>
            <p:nvPr/>
          </p:nvSpPr>
          <p:spPr>
            <a:xfrm>
              <a:off x="5005" y="3698"/>
              <a:ext cx="7030" cy="3125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lIns="82124" tIns="41061" rIns="82124" bIns="41061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defTabSz="814705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endParaRPr lang="en-US" altLang="en-US" sz="24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0BB9764-3A67-429E-8D5E-32647EB32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0" y="3385"/>
              <a:ext cx="2525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ED6ACAE-6C6B-4FFC-BDAB-75B1F5A5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8" y="3288"/>
              <a:ext cx="2525" cy="109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2494A15-C39B-45FF-9E4F-6FC5BA1AE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95" y="3325"/>
              <a:ext cx="2525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BC9C22-991A-4CF1-BB20-02F61B8C9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25" y="6188"/>
              <a:ext cx="2525" cy="109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7EB202-7749-4372-99E5-9A4227C36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0" y="6150"/>
              <a:ext cx="2525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0D14421-3A64-4B1B-AEAA-9CC3A4CEC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95" y="6113"/>
              <a:ext cx="2525" cy="109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8BE856CB-EFF3-46D9-A283-EA8745AD86E5}"/>
              </a:ext>
            </a:extLst>
          </p:cNvPr>
          <p:cNvSpPr>
            <a:spLocks noGrp="1"/>
          </p:cNvSpPr>
          <p:nvPr/>
        </p:nvSpPr>
        <p:spPr>
          <a:xfrm>
            <a:off x="2492872" y="5019834"/>
            <a:ext cx="6629400" cy="10207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1800" dirty="0"/>
              <a:t>Switched network with a redundant topology (switching loops) without some type of Layer 2 mechanism to stop network loops will fail.</a:t>
            </a:r>
          </a:p>
        </p:txBody>
      </p:sp>
    </p:spTree>
    <p:extLst>
      <p:ext uri="{BB962C8B-B14F-4D97-AF65-F5344CB8AC3E}">
        <p14:creationId xmlns:p14="http://schemas.microsoft.com/office/powerpoint/2010/main" val="4245469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4046" y="382385"/>
            <a:ext cx="10883153" cy="1492132"/>
          </a:xfrm>
        </p:spPr>
        <p:txBody>
          <a:bodyPr/>
          <a:lstStyle/>
          <a:p>
            <a:pPr algn="ctr"/>
            <a:r>
              <a:rPr lang="en-US" dirty="0"/>
              <a:t>Spanning Tree Protocol (STP)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219200"/>
            <a:ext cx="10178322" cy="5638799"/>
          </a:xfrm>
        </p:spPr>
        <p:txBody>
          <a:bodyPr>
            <a:noAutofit/>
          </a:bodyPr>
          <a:lstStyle/>
          <a:p>
            <a:r>
              <a:rPr lang="en-US" dirty="0"/>
              <a:t>STP prevents loops within the network</a:t>
            </a:r>
          </a:p>
          <a:p>
            <a:pPr lvl="1"/>
            <a:r>
              <a:rPr lang="en-US" sz="2000" dirty="0"/>
              <a:t>Using Root switch</a:t>
            </a:r>
          </a:p>
          <a:p>
            <a:r>
              <a:rPr lang="en-US" dirty="0"/>
              <a:t>Port States based on Root Port</a:t>
            </a:r>
          </a:p>
          <a:p>
            <a:pPr lvl="1"/>
            <a:r>
              <a:rPr lang="en-US" sz="2000" dirty="0"/>
              <a:t>Blocking</a:t>
            </a:r>
          </a:p>
          <a:p>
            <a:pPr lvl="1"/>
            <a:r>
              <a:rPr lang="en-US" sz="2000" dirty="0"/>
              <a:t>Listening</a:t>
            </a:r>
          </a:p>
          <a:p>
            <a:pPr lvl="1"/>
            <a:r>
              <a:rPr lang="en-US" sz="2000" dirty="0"/>
              <a:t>Learning</a:t>
            </a:r>
          </a:p>
          <a:p>
            <a:pPr lvl="1"/>
            <a:r>
              <a:rPr lang="en-US" sz="2000" dirty="0"/>
              <a:t>Forwarding</a:t>
            </a:r>
          </a:p>
          <a:p>
            <a:pPr lvl="1"/>
            <a:r>
              <a:rPr lang="en-US" sz="2000" dirty="0"/>
              <a:t>Disabled</a:t>
            </a:r>
          </a:p>
          <a:p>
            <a:r>
              <a:rPr lang="en-US" dirty="0"/>
              <a:t>STP Convergence</a:t>
            </a:r>
          </a:p>
          <a:p>
            <a:r>
              <a:rPr lang="en-US" dirty="0"/>
              <a:t>Rapid STP</a:t>
            </a:r>
          </a:p>
          <a:p>
            <a:pPr lvl="1"/>
            <a:r>
              <a:rPr lang="en-US" sz="2000" dirty="0"/>
              <a:t>Discarding</a:t>
            </a:r>
          </a:p>
          <a:p>
            <a:pPr lvl="1"/>
            <a:r>
              <a:rPr lang="en-US" sz="2000" dirty="0"/>
              <a:t>Learning</a:t>
            </a:r>
          </a:p>
          <a:p>
            <a:pPr lvl="1"/>
            <a:r>
              <a:rPr lang="en-US" sz="2000" dirty="0"/>
              <a:t>Forwarding</a:t>
            </a:r>
          </a:p>
        </p:txBody>
      </p:sp>
    </p:spTree>
    <p:extLst>
      <p:ext uri="{BB962C8B-B14F-4D97-AF65-F5344CB8AC3E}">
        <p14:creationId xmlns:p14="http://schemas.microsoft.com/office/powerpoint/2010/main" val="258365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DB0DD-0970-4664-9D4A-EFFCECFC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382385"/>
            <a:ext cx="10423161" cy="1492132"/>
          </a:xfrm>
        </p:spPr>
        <p:txBody>
          <a:bodyPr/>
          <a:lstStyle/>
          <a:p>
            <a:pPr algn="ctr"/>
            <a:r>
              <a:rPr lang="en-US" dirty="0"/>
              <a:t>Spanning Tree Protocol (STP)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B9A5E69D-BE03-48A2-BEFE-2239EE99C4CB}"/>
              </a:ext>
            </a:extLst>
          </p:cNvPr>
          <p:cNvSpPr txBox="1"/>
          <p:nvPr/>
        </p:nvSpPr>
        <p:spPr>
          <a:xfrm>
            <a:off x="1006839" y="1613648"/>
            <a:ext cx="10178322" cy="286232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STP’s main task is to stop network loops from occurring on your Layer 2 network (bridges or switches).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It achieves this feat by vigilantly monitoring the network to find all links and making sure that no loops occur by shutting down any redundant ones.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STP uses the </a:t>
            </a:r>
            <a:r>
              <a:rPr lang="en-US" altLang="en-US" sz="1800" i="1" dirty="0"/>
              <a:t>spanning-tree algorithm (STA)</a:t>
            </a:r>
            <a:r>
              <a:rPr lang="en-US" altLang="en-US" sz="1800" dirty="0"/>
              <a:t> to first create a topology database and then search out and destroy redundant links.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With STP running, frames will be forwarded only on the premium, STP-picked links.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Switches transmit Bridge Protocol Data Units (BPDUs) out all ports so that all links between switches can be found.</a:t>
            </a:r>
          </a:p>
        </p:txBody>
      </p:sp>
    </p:spTree>
    <p:extLst>
      <p:ext uri="{BB962C8B-B14F-4D97-AF65-F5344CB8AC3E}">
        <p14:creationId xmlns:p14="http://schemas.microsoft.com/office/powerpoint/2010/main" val="1538008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906" y="382385"/>
            <a:ext cx="10793506" cy="1492132"/>
          </a:xfrm>
        </p:spPr>
        <p:txBody>
          <a:bodyPr/>
          <a:lstStyle/>
          <a:p>
            <a:pPr algn="ctr"/>
            <a:r>
              <a:rPr lang="en-US" dirty="0"/>
              <a:t>Virtual LANS (VLANs)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98802" y="1896076"/>
            <a:ext cx="8454613" cy="17022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118" y="3757015"/>
            <a:ext cx="8438297" cy="183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51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259" y="364456"/>
            <a:ext cx="10892118" cy="1492132"/>
          </a:xfrm>
        </p:spPr>
        <p:txBody>
          <a:bodyPr/>
          <a:lstStyle/>
          <a:p>
            <a:pPr algn="ctr"/>
            <a:r>
              <a:rPr lang="en-US" dirty="0"/>
              <a:t>Quality of Service (</a:t>
            </a:r>
            <a:r>
              <a:rPr lang="en-US" dirty="0" err="1"/>
              <a:t>QoS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419" y="1407822"/>
            <a:ext cx="10178322" cy="3593591"/>
          </a:xfrm>
        </p:spPr>
        <p:txBody>
          <a:bodyPr>
            <a:normAutofit/>
          </a:bodyPr>
          <a:lstStyle/>
          <a:p>
            <a:r>
              <a:rPr lang="en-US" sz="2800" dirty="0"/>
              <a:t>Delay</a:t>
            </a:r>
          </a:p>
          <a:p>
            <a:r>
              <a:rPr lang="en-US" sz="2800" dirty="0"/>
              <a:t>Dropped Packets</a:t>
            </a:r>
          </a:p>
          <a:p>
            <a:r>
              <a:rPr lang="en-US" sz="2800" dirty="0"/>
              <a:t>Error</a:t>
            </a:r>
          </a:p>
          <a:p>
            <a:r>
              <a:rPr lang="en-US" sz="2800" dirty="0"/>
              <a:t>Jitter</a:t>
            </a:r>
          </a:p>
          <a:p>
            <a:r>
              <a:rPr lang="en-US" sz="2800" dirty="0"/>
              <a:t>Out of Order Delivery</a:t>
            </a:r>
          </a:p>
        </p:txBody>
      </p:sp>
    </p:spTree>
    <p:extLst>
      <p:ext uri="{BB962C8B-B14F-4D97-AF65-F5344CB8AC3E}">
        <p14:creationId xmlns:p14="http://schemas.microsoft.com/office/powerpoint/2010/main" val="100372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CB19F-EA83-44EF-9D60-85E908A1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188" y="382385"/>
            <a:ext cx="10811436" cy="1492132"/>
          </a:xfrm>
        </p:spPr>
        <p:txBody>
          <a:bodyPr/>
          <a:lstStyle/>
          <a:p>
            <a:pPr algn="ctr"/>
            <a:r>
              <a:rPr lang="en-US" dirty="0"/>
              <a:t>VLAN Membership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698F4A2-7EEB-4B85-A312-357D71A03A26}"/>
              </a:ext>
            </a:extLst>
          </p:cNvPr>
          <p:cNvSpPr>
            <a:spLocks noGrp="1"/>
          </p:cNvSpPr>
          <p:nvPr/>
        </p:nvSpPr>
        <p:spPr>
          <a:xfrm>
            <a:off x="1311728" y="1308847"/>
            <a:ext cx="9220200" cy="48947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800" b="1" dirty="0"/>
              <a:t>Static VLANs</a:t>
            </a:r>
          </a:p>
          <a:p>
            <a:pPr lvl="1"/>
            <a:r>
              <a:rPr lang="en-US" altLang="en-US" sz="2400" dirty="0"/>
              <a:t>Creating static VLANs is the most common way to create a VLAN, and one of the reasons for that is because static VLANs are the most secure.</a:t>
            </a:r>
            <a:endParaRPr lang="en-US" altLang="en-US" sz="2400" b="1" dirty="0"/>
          </a:p>
          <a:p>
            <a:r>
              <a:rPr lang="en-US" altLang="en-US" sz="2800" b="1" dirty="0"/>
              <a:t>Dynamic VLANs</a:t>
            </a:r>
          </a:p>
          <a:p>
            <a:pPr lvl="1"/>
            <a:r>
              <a:rPr lang="en-US" altLang="en-US" sz="2400" dirty="0"/>
              <a:t>On the other hand, a dynamic VLAN determines a host’s VLAN assignment automatically.  Using intelligent management software, you can base VLAN assignments on hardware (MAC) addresses, protocols, or even applications that work to create dynamic VLANs.</a:t>
            </a:r>
            <a:endParaRPr lang="en-US" altLang="en-US" sz="2400" b="1" dirty="0"/>
          </a:p>
          <a:p>
            <a:pPr lvl="1"/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2929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9775" y="240344"/>
            <a:ext cx="10836625" cy="1492132"/>
          </a:xfrm>
        </p:spPr>
        <p:txBody>
          <a:bodyPr/>
          <a:lstStyle/>
          <a:p>
            <a:pPr algn="ctr"/>
            <a:r>
              <a:rPr lang="en-US" dirty="0"/>
              <a:t>VLAN Trunking Protocol (VTP)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75" y="1732476"/>
            <a:ext cx="4948518" cy="26479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894" y="3325597"/>
            <a:ext cx="4697506" cy="3315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93708" y="1856122"/>
            <a:ext cx="15903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VTP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Transparent</a:t>
            </a:r>
          </a:p>
        </p:txBody>
      </p:sp>
    </p:spTree>
    <p:extLst>
      <p:ext uri="{BB962C8B-B14F-4D97-AF65-F5344CB8AC3E}">
        <p14:creationId xmlns:p14="http://schemas.microsoft.com/office/powerpoint/2010/main" val="2270882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00D8-7753-41F5-AD39-5782934C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VLAN Trunking Protocol (802.1q)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9151F4CC-0119-4654-AA06-1B702DE428A0}"/>
              </a:ext>
            </a:extLst>
          </p:cNvPr>
          <p:cNvSpPr>
            <a:spLocks noGrp="1"/>
          </p:cNvSpPr>
          <p:nvPr/>
        </p:nvSpPr>
        <p:spPr>
          <a:xfrm>
            <a:off x="1251678" y="1568312"/>
            <a:ext cx="10178322" cy="409194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dirty="0"/>
              <a:t>Consistent VLAN configuration across all switches in the network</a:t>
            </a:r>
          </a:p>
          <a:p>
            <a:r>
              <a:rPr lang="en-US" altLang="en-US" dirty="0"/>
              <a:t> Accurate tracking and monitoring of VLANs</a:t>
            </a:r>
          </a:p>
          <a:p>
            <a:r>
              <a:rPr lang="en-US" altLang="en-US" dirty="0"/>
              <a:t> Dynamic reporting of added VLANs to all switches in the VTP domain</a:t>
            </a:r>
          </a:p>
          <a:p>
            <a:r>
              <a:rPr lang="en-US" altLang="en-US" dirty="0"/>
              <a:t> Adding VLANs using Plug and Play</a:t>
            </a:r>
          </a:p>
          <a:p>
            <a:r>
              <a:rPr lang="en-US" dirty="0"/>
              <a:t>Port Tagging/802.1q (Dot1q) – IEEE for VTP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1802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9B110-0E9E-423E-B8C2-0C2B967D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528" y="302259"/>
            <a:ext cx="10939672" cy="149235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Switches Removing </a:t>
            </a:r>
            <a:br>
              <a:rPr lang="en-US" altLang="en-US" dirty="0"/>
            </a:br>
            <a:r>
              <a:rPr lang="en-US" altLang="en-US" dirty="0"/>
              <a:t>the Physical Boundary </a:t>
            </a:r>
            <a:br>
              <a:rPr lang="en-US" altLang="en-US" dirty="0"/>
            </a:b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7CFE5D-EB5D-4F64-BE03-D693CC66F309}"/>
              </a:ext>
            </a:extLst>
          </p:cNvPr>
          <p:cNvGrpSpPr/>
          <p:nvPr/>
        </p:nvGrpSpPr>
        <p:grpSpPr>
          <a:xfrm>
            <a:off x="2934334" y="2103528"/>
            <a:ext cx="7058751" cy="3807415"/>
            <a:chOff x="4063" y="2400"/>
            <a:chExt cx="9958" cy="504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C8E885-51EB-435C-92A6-0F9F8688C4B3}"/>
                </a:ext>
              </a:extLst>
            </p:cNvPr>
            <p:cNvSpPr txBox="1"/>
            <p:nvPr/>
          </p:nvSpPr>
          <p:spPr>
            <a:xfrm>
              <a:off x="4178" y="2414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369FC4-6271-4F46-9921-75EDD35CCDAF}"/>
                </a:ext>
              </a:extLst>
            </p:cNvPr>
            <p:cNvSpPr txBox="1"/>
            <p:nvPr/>
          </p:nvSpPr>
          <p:spPr>
            <a:xfrm>
              <a:off x="4973" y="2414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2B15FB-6036-4B9E-8BA1-D9DCD159C655}"/>
                </a:ext>
              </a:extLst>
            </p:cNvPr>
            <p:cNvSpPr txBox="1"/>
            <p:nvPr/>
          </p:nvSpPr>
          <p:spPr>
            <a:xfrm>
              <a:off x="5768" y="2414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9A1F9C-E7DD-49A1-AA25-B95858AB68A8}"/>
                </a:ext>
              </a:extLst>
            </p:cNvPr>
            <p:cNvSpPr txBox="1"/>
            <p:nvPr/>
          </p:nvSpPr>
          <p:spPr>
            <a:xfrm>
              <a:off x="6563" y="2414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8BDF6E-63CD-4D5D-BA64-14CC054671F3}"/>
                </a:ext>
              </a:extLst>
            </p:cNvPr>
            <p:cNvSpPr txBox="1"/>
            <p:nvPr/>
          </p:nvSpPr>
          <p:spPr>
            <a:xfrm>
              <a:off x="7343" y="2414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B3752AE-CAE0-4B6A-82CE-B4339023CB89}"/>
                </a:ext>
              </a:extLst>
            </p:cNvPr>
            <p:cNvSpPr txBox="1"/>
            <p:nvPr/>
          </p:nvSpPr>
          <p:spPr>
            <a:xfrm>
              <a:off x="8138" y="2400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46F43B-B1BC-46C3-B4C9-F3BCF88CDF25}"/>
                </a:ext>
              </a:extLst>
            </p:cNvPr>
            <p:cNvSpPr txBox="1"/>
            <p:nvPr/>
          </p:nvSpPr>
          <p:spPr>
            <a:xfrm>
              <a:off x="8933" y="2400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EB2A4D-2225-4DD2-9D38-5E6A7797306B}"/>
                </a:ext>
              </a:extLst>
            </p:cNvPr>
            <p:cNvSpPr txBox="1"/>
            <p:nvPr/>
          </p:nvSpPr>
          <p:spPr>
            <a:xfrm>
              <a:off x="9728" y="2400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VLAN6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F1490C-5500-4F95-B282-78AE37BA533C}"/>
                </a:ext>
              </a:extLst>
            </p:cNvPr>
            <p:cNvSpPr txBox="1"/>
            <p:nvPr/>
          </p:nvSpPr>
          <p:spPr>
            <a:xfrm>
              <a:off x="10523" y="2400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68DDDF-8CB1-4F7B-BEC8-49D1F9B0F04C}"/>
                </a:ext>
              </a:extLst>
            </p:cNvPr>
            <p:cNvSpPr txBox="1"/>
            <p:nvPr/>
          </p:nvSpPr>
          <p:spPr>
            <a:xfrm>
              <a:off x="11318" y="2400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VLAN5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60EDE6-1EB8-4575-983C-27657DC80075}"/>
                </a:ext>
              </a:extLst>
            </p:cNvPr>
            <p:cNvSpPr txBox="1"/>
            <p:nvPr/>
          </p:nvSpPr>
          <p:spPr>
            <a:xfrm>
              <a:off x="12113" y="2400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VLAN6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CBFF3F-A5AE-4087-A4FF-367057427270}"/>
                </a:ext>
              </a:extLst>
            </p:cNvPr>
            <p:cNvSpPr txBox="1"/>
            <p:nvPr/>
          </p:nvSpPr>
          <p:spPr>
            <a:xfrm>
              <a:off x="12908" y="2400"/>
              <a:ext cx="967" cy="40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VLAN4</a:t>
              </a:r>
            </a:p>
          </p:txBody>
        </p:sp>
        <p:sp>
          <p:nvSpPr>
            <p:cNvPr id="17" name="TextBox 20">
              <a:extLst>
                <a:ext uri="{FF2B5EF4-FFF2-40B4-BE49-F238E27FC236}">
                  <a16:creationId xmlns:a16="http://schemas.microsoft.com/office/drawing/2014/main" id="{12878926-C872-4528-B677-E8BB3D202772}"/>
                </a:ext>
              </a:extLst>
            </p:cNvPr>
            <p:cNvSpPr txBox="1"/>
            <p:nvPr/>
          </p:nvSpPr>
          <p:spPr>
            <a:xfrm>
              <a:off x="10696" y="6517"/>
              <a:ext cx="2382" cy="9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Provides inter-VLAN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Communication and </a:t>
              </a:r>
            </a:p>
            <a:p>
              <a:pPr marL="0" lvl="0" indent="0" algn="ctr" eaLnBrk="1" hangingPunct="1">
                <a:lnSpc>
                  <a:spcPct val="90000"/>
                </a:lnSpc>
                <a:spcBef>
                  <a:spcPct val="0"/>
                </a:spcBef>
                <a:buNone/>
              </a:pPr>
              <a:r>
                <a:rPr lang="en-US" altLang="en-US" sz="1200" b="1" dirty="0">
                  <a:latin typeface="Calibri" panose="020F0502020204030204" pitchFamily="34" charset="0"/>
                </a:rPr>
                <a:t>WAN services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1E0E7C6-DFED-48DB-AD4A-8C49823F8983}"/>
                </a:ext>
              </a:extLst>
            </p:cNvPr>
            <p:cNvCxnSpPr/>
            <p:nvPr/>
          </p:nvCxnSpPr>
          <p:spPr bwMode="auto">
            <a:xfrm rot="840000" flipV="1">
              <a:off x="9265" y="3909"/>
              <a:ext cx="3565" cy="281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2B56FFE-E27D-46E3-BFEA-0DF516DE5EDA}"/>
                </a:ext>
              </a:extLst>
            </p:cNvPr>
            <p:cNvCxnSpPr/>
            <p:nvPr/>
          </p:nvCxnSpPr>
          <p:spPr bwMode="auto">
            <a:xfrm rot="20700000">
              <a:off x="5021" y="3969"/>
              <a:ext cx="3565" cy="2818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9225292-7CC9-4BFA-9261-C15D58A7E436}"/>
                </a:ext>
              </a:extLst>
            </p:cNvPr>
            <p:cNvCxnSpPr/>
            <p:nvPr/>
          </p:nvCxnSpPr>
          <p:spPr bwMode="auto">
            <a:xfrm rot="1080000">
              <a:off x="5855" y="4777"/>
              <a:ext cx="3025" cy="873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391DDA0-5FC3-4FF7-B26D-E99F95F08B32}"/>
                </a:ext>
              </a:extLst>
            </p:cNvPr>
            <p:cNvCxnSpPr/>
            <p:nvPr/>
          </p:nvCxnSpPr>
          <p:spPr bwMode="auto">
            <a:xfrm rot="20400000" flipV="1">
              <a:off x="8765" y="4822"/>
              <a:ext cx="3025" cy="873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A4D91B5-54C7-41F8-A167-15BC852F84E1}"/>
                </a:ext>
              </a:extLst>
            </p:cNvPr>
            <p:cNvCxnSpPr/>
            <p:nvPr/>
          </p:nvCxnSpPr>
          <p:spPr bwMode="auto">
            <a:xfrm rot="21540000" flipH="1">
              <a:off x="4616" y="3329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241D67D-33BA-444C-9976-B89B16869C86}"/>
                </a:ext>
              </a:extLst>
            </p:cNvPr>
            <p:cNvCxnSpPr/>
            <p:nvPr/>
          </p:nvCxnSpPr>
          <p:spPr bwMode="auto">
            <a:xfrm rot="21540000" flipH="1">
              <a:off x="5396" y="3359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E960266-1A37-4192-9D51-DA9C7B0A42F8}"/>
                </a:ext>
              </a:extLst>
            </p:cNvPr>
            <p:cNvCxnSpPr/>
            <p:nvPr/>
          </p:nvCxnSpPr>
          <p:spPr bwMode="auto">
            <a:xfrm rot="21540000" flipH="1">
              <a:off x="6191" y="3359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2EFADF1-6D09-48EB-AE19-EAAD1B4EF3CE}"/>
                </a:ext>
              </a:extLst>
            </p:cNvPr>
            <p:cNvCxnSpPr/>
            <p:nvPr/>
          </p:nvCxnSpPr>
          <p:spPr bwMode="auto">
            <a:xfrm rot="21540000" flipH="1">
              <a:off x="6986" y="3299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547E72A-873D-4E81-BD8C-EB4F93F72D57}"/>
                </a:ext>
              </a:extLst>
            </p:cNvPr>
            <p:cNvCxnSpPr/>
            <p:nvPr/>
          </p:nvCxnSpPr>
          <p:spPr bwMode="auto">
            <a:xfrm rot="21540000" flipH="1">
              <a:off x="7796" y="3374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0C70615-F1AC-4F19-8BAE-60ACB832205F}"/>
                </a:ext>
              </a:extLst>
            </p:cNvPr>
            <p:cNvCxnSpPr/>
            <p:nvPr/>
          </p:nvCxnSpPr>
          <p:spPr bwMode="auto">
            <a:xfrm rot="21540000" flipH="1">
              <a:off x="8591" y="3299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38B0715-5C0A-49E0-92F9-423F8167ABED}"/>
                </a:ext>
              </a:extLst>
            </p:cNvPr>
            <p:cNvCxnSpPr/>
            <p:nvPr/>
          </p:nvCxnSpPr>
          <p:spPr bwMode="auto">
            <a:xfrm rot="21540000" flipH="1">
              <a:off x="9386" y="3404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CD18C10-F038-45DA-8B4D-24E162F08C83}"/>
                </a:ext>
              </a:extLst>
            </p:cNvPr>
            <p:cNvCxnSpPr/>
            <p:nvPr/>
          </p:nvCxnSpPr>
          <p:spPr bwMode="auto">
            <a:xfrm rot="21540000" flipH="1">
              <a:off x="10181" y="3329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92C3A42-C95B-45AF-B32C-4553DB432338}"/>
                </a:ext>
              </a:extLst>
            </p:cNvPr>
            <p:cNvCxnSpPr/>
            <p:nvPr/>
          </p:nvCxnSpPr>
          <p:spPr bwMode="auto">
            <a:xfrm rot="21540000" flipH="1">
              <a:off x="10961" y="3254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E4BBC41-54BB-41AC-9317-EE747F860D78}"/>
                </a:ext>
              </a:extLst>
            </p:cNvPr>
            <p:cNvCxnSpPr/>
            <p:nvPr/>
          </p:nvCxnSpPr>
          <p:spPr bwMode="auto">
            <a:xfrm rot="21540000" flipH="1">
              <a:off x="11756" y="3419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6CFECC-1E58-4177-AC6D-1F8F090222D1}"/>
                </a:ext>
              </a:extLst>
            </p:cNvPr>
            <p:cNvCxnSpPr/>
            <p:nvPr/>
          </p:nvCxnSpPr>
          <p:spPr bwMode="auto">
            <a:xfrm rot="21540000" flipH="1">
              <a:off x="12551" y="3284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DD044EA-75C5-4797-953C-44315D7CCE0C}"/>
                </a:ext>
              </a:extLst>
            </p:cNvPr>
            <p:cNvCxnSpPr/>
            <p:nvPr/>
          </p:nvCxnSpPr>
          <p:spPr bwMode="auto">
            <a:xfrm rot="21540000" flipH="1">
              <a:off x="13376" y="3344"/>
              <a:ext cx="13" cy="820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EC5275E-82DA-48E6-8445-ECBD8633CC28}"/>
                </a:ext>
              </a:extLst>
            </p:cNvPr>
            <p:cNvCxnSpPr/>
            <p:nvPr/>
          </p:nvCxnSpPr>
          <p:spPr bwMode="auto">
            <a:xfrm rot="1260000" flipH="1">
              <a:off x="9325" y="4674"/>
              <a:ext cx="10" cy="1298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237FF9E-FF50-4022-B0C1-07BFCF75C0BD}"/>
                </a:ext>
              </a:extLst>
            </p:cNvPr>
            <p:cNvCxnSpPr/>
            <p:nvPr/>
          </p:nvCxnSpPr>
          <p:spPr bwMode="auto">
            <a:xfrm rot="19860000" flipH="1">
              <a:off x="8350" y="4569"/>
              <a:ext cx="10" cy="1298"/>
            </a:xfrm>
            <a:prstGeom prst="line">
              <a:avLst/>
            </a:prstGeom>
            <a:ln w="28575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89BC2DB-F8FC-4E3A-A084-E87477FD8B85}"/>
                </a:ext>
              </a:extLst>
            </p:cNvPr>
            <p:cNvCxnSpPr/>
            <p:nvPr/>
          </p:nvCxnSpPr>
          <p:spPr bwMode="auto">
            <a:xfrm rot="960000" flipV="1">
              <a:off x="8946" y="5827"/>
              <a:ext cx="3025" cy="873"/>
            </a:xfrm>
            <a:prstGeom prst="line">
              <a:avLst/>
            </a:prstGeom>
            <a:ln w="38100">
              <a:solidFill>
                <a:schemeClr val="accent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178058E-53A0-419A-8C80-E3EB13D98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3" y="2714"/>
              <a:ext cx="912" cy="9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347E1CD-B064-4DB1-B9C0-1027C55FC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3" y="2714"/>
              <a:ext cx="912" cy="9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900029A-CFF6-474D-A9B3-EAE1F755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1" y="4029"/>
              <a:ext cx="1745" cy="7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D52986F-4FAC-48F5-A1BD-E5A30011E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1" y="4029"/>
              <a:ext cx="1745" cy="7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4A78E797-1AB9-4A75-8A3A-B27C9E02E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6" y="4029"/>
              <a:ext cx="1745" cy="7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BDEC0A8-3B57-44E3-B185-3BB6D3BF7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" y="4029"/>
              <a:ext cx="1745" cy="7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1968DD7-C1D9-4E2F-8604-A7DD31FA4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82" y="4044"/>
              <a:ext cx="1745" cy="7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9F8DF99-975D-4A64-996E-D79F3999F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27" y="4044"/>
              <a:ext cx="1745" cy="7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94E8DA8-A185-4777-85DB-3062A43A9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3" y="5694"/>
              <a:ext cx="1745" cy="7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74DBD71-B144-4BA9-8FDD-F6D49E8D0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-408802" flipV="1">
              <a:off x="12388" y="6034"/>
              <a:ext cx="1633" cy="32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54424EB1-7783-4809-9A26-4CCCE2138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166" y="5774"/>
              <a:ext cx="1327" cy="82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6DE2DCD-3DD2-4AA5-9DB8-3AA9A7841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43" y="2714"/>
              <a:ext cx="965" cy="9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67B6008-6D24-49AC-9A82-FE5DA8117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20" y="2722"/>
              <a:ext cx="965" cy="9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F4813CEE-9F2F-48A6-8641-9010FA272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96" y="2729"/>
              <a:ext cx="968" cy="9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5ADEC39B-7A92-4E1E-8FAB-75EB6F78B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70" y="2729"/>
              <a:ext cx="878" cy="9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A250F7F-839A-429C-8118-DE7AEF230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24" y="2709"/>
              <a:ext cx="880" cy="91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2BF87FB-0D57-449B-92F8-2429CC68E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329" y="2704"/>
              <a:ext cx="980" cy="98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46BB529-7772-4102-8A27-1E2E714E1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126" y="2704"/>
              <a:ext cx="980" cy="9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B5E51A4E-E5AC-4493-AA44-137CAF074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79" y="2692"/>
              <a:ext cx="962" cy="96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5A736C8-58C2-4985-AD0E-D3F6FCF29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941" y="2692"/>
              <a:ext cx="963" cy="96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72B6251-4828-43F6-A8F2-37F51B44A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13" y="2709"/>
              <a:ext cx="967" cy="9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</p:pic>
      </p:grpSp>
      <p:sp>
        <p:nvSpPr>
          <p:cNvPr id="58" name="TextBox 17">
            <a:extLst>
              <a:ext uri="{FF2B5EF4-FFF2-40B4-BE49-F238E27FC236}">
                <a16:creationId xmlns:a16="http://schemas.microsoft.com/office/drawing/2014/main" id="{28138E88-7569-490D-8B3C-738651A00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127" y="4713871"/>
            <a:ext cx="3536950" cy="125571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Marketing              VLAN2         172.16.20.0/24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993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Shipping                 VLAN3         172.16.30.0/24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6327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          VLAN4         172.16.40.0/24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                   VLAN5         172.16.50.0/24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       VLAN6          172.16.60.0/24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                       VLAN7         172.16.70.0/24</a:t>
            </a:r>
          </a:p>
        </p:txBody>
      </p:sp>
    </p:spTree>
    <p:extLst>
      <p:ext uri="{BB962C8B-B14F-4D97-AF65-F5344CB8AC3E}">
        <p14:creationId xmlns:p14="http://schemas.microsoft.com/office/powerpoint/2010/main" val="3757728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906" y="382385"/>
            <a:ext cx="10390094" cy="908533"/>
          </a:xfrm>
        </p:spPr>
        <p:txBody>
          <a:bodyPr/>
          <a:lstStyle/>
          <a:p>
            <a:pPr algn="ctr"/>
            <a:r>
              <a:rPr lang="en-US" dirty="0"/>
              <a:t>Port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792941"/>
            <a:ext cx="10178322" cy="4086652"/>
          </a:xfrm>
        </p:spPr>
        <p:txBody>
          <a:bodyPr>
            <a:normAutofit/>
          </a:bodyPr>
          <a:lstStyle/>
          <a:p>
            <a:r>
              <a:rPr lang="en-US" sz="2800" dirty="0"/>
              <a:t>Each interface has its own unique configuration</a:t>
            </a:r>
          </a:p>
          <a:p>
            <a:r>
              <a:rPr lang="en-US" sz="2800" dirty="0"/>
              <a:t>Configure a max number of MAC addresses per interface</a:t>
            </a:r>
          </a:p>
          <a:p>
            <a:r>
              <a:rPr lang="en-US" sz="2800" dirty="0"/>
              <a:t>Configure specific MAC addresses</a:t>
            </a:r>
          </a:p>
          <a:p>
            <a:r>
              <a:rPr lang="en-US" sz="2800" dirty="0"/>
              <a:t>Once the limit is reached or rule is broken, the interface is disabled</a:t>
            </a:r>
          </a:p>
        </p:txBody>
      </p:sp>
    </p:spTree>
    <p:extLst>
      <p:ext uri="{BB962C8B-B14F-4D97-AF65-F5344CB8AC3E}">
        <p14:creationId xmlns:p14="http://schemas.microsoft.com/office/powerpoint/2010/main" val="1261380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524001"/>
            <a:ext cx="10178322" cy="4355592"/>
          </a:xfrm>
        </p:spPr>
        <p:txBody>
          <a:bodyPr>
            <a:normAutofit/>
          </a:bodyPr>
          <a:lstStyle/>
          <a:p>
            <a:r>
              <a:rPr lang="en-US" sz="2800" dirty="0"/>
              <a:t>Power over Ethernet</a:t>
            </a:r>
          </a:p>
          <a:p>
            <a:pPr lvl="1"/>
            <a:r>
              <a:rPr lang="en-US" sz="2800" dirty="0"/>
              <a:t>802.3af/802.3at</a:t>
            </a:r>
          </a:p>
          <a:p>
            <a:r>
              <a:rPr lang="en-US" sz="2800" dirty="0"/>
              <a:t>Port Mirroring/Spanning</a:t>
            </a:r>
          </a:p>
        </p:txBody>
      </p:sp>
    </p:spTree>
    <p:extLst>
      <p:ext uri="{BB962C8B-B14F-4D97-AF65-F5344CB8AC3E}">
        <p14:creationId xmlns:p14="http://schemas.microsoft.com/office/powerpoint/2010/main" val="145821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Rectangle 8"/>
          <p:cNvSpPr>
            <a:spLocks noGrp="1"/>
          </p:cNvSpPr>
          <p:nvPr>
            <p:ph type="title" idx="4294967295"/>
          </p:nvPr>
        </p:nvSpPr>
        <p:spPr>
          <a:xfrm>
            <a:off x="912554" y="102739"/>
            <a:ext cx="10938787" cy="11881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en-US" b="1" dirty="0"/>
              <a:t>Power over Ethernet (PoE)</a:t>
            </a:r>
          </a:p>
        </p:txBody>
      </p:sp>
      <p:sp>
        <p:nvSpPr>
          <p:cNvPr id="45065" name="Content Placeholder 9"/>
          <p:cNvSpPr>
            <a:spLocks noGrp="1"/>
          </p:cNvSpPr>
          <p:nvPr>
            <p:ph idx="4294967295"/>
          </p:nvPr>
        </p:nvSpPr>
        <p:spPr>
          <a:xfrm>
            <a:off x="6232168" y="1403185"/>
            <a:ext cx="5619173" cy="2344062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altLang="en-US" sz="1800" dirty="0"/>
              <a:t>Switches can provide power to end devices by injecting power into the Ethernet cabling.</a:t>
            </a:r>
          </a:p>
          <a:p>
            <a:r>
              <a:rPr lang="en-US" altLang="en-US" sz="1800" dirty="0"/>
              <a:t>If PoE switches are not implemented, power can be injected into the cabling outside the switch.</a:t>
            </a:r>
          </a:p>
        </p:txBody>
      </p:sp>
      <p:pic>
        <p:nvPicPr>
          <p:cNvPr id="45068" name="Picture 17" descr="A close up of electronics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54" y="4597918"/>
            <a:ext cx="2784700" cy="1650482"/>
          </a:xfrm>
          <a:prstGeom prst="rect">
            <a:avLst/>
          </a:prstGeom>
          <a:noFill/>
        </p:spPr>
      </p:pic>
      <p:pic>
        <p:nvPicPr>
          <p:cNvPr id="45067" name="Picture 16" descr="A close up of electronics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9682" y="5126822"/>
            <a:ext cx="2273649" cy="1014904"/>
          </a:xfrm>
          <a:prstGeom prst="rect">
            <a:avLst/>
          </a:prstGeom>
          <a:noFill/>
        </p:spPr>
      </p:pic>
      <p:pic>
        <p:nvPicPr>
          <p:cNvPr id="13" name="Picture 12" descr="f1120.eps">
            <a:extLst>
              <a:ext uri="{FF2B5EF4-FFF2-40B4-BE49-F238E27FC236}">
                <a16:creationId xmlns:a16="http://schemas.microsoft.com/office/drawing/2014/main" id="{2DB4FF38-08C5-48F1-B353-B8188640D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752" y="3307970"/>
            <a:ext cx="2295082" cy="1818852"/>
          </a:xfrm>
          <a:prstGeom prst="rect">
            <a:avLst/>
          </a:prstGeom>
          <a:noFill/>
        </p:spPr>
      </p:pic>
      <p:sp>
        <p:nvSpPr>
          <p:cNvPr id="4506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6" name="Rectangle 8"/>
          <p:cNvSpPr>
            <a:spLocks noGrp="1"/>
          </p:cNvSpPr>
          <p:nvPr>
            <p:ph type="title" idx="4294967295"/>
          </p:nvPr>
        </p:nvSpPr>
        <p:spPr>
          <a:xfrm>
            <a:off x="1057834" y="76200"/>
            <a:ext cx="11134166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Port Mirroring/Spanning</a:t>
            </a:r>
          </a:p>
        </p:txBody>
      </p:sp>
      <p:sp>
        <p:nvSpPr>
          <p:cNvPr id="46089" name="Content Placeholder 9"/>
          <p:cNvSpPr>
            <a:spLocks noGrp="1"/>
          </p:cNvSpPr>
          <p:nvPr>
            <p:ph idx="4294967295"/>
          </p:nvPr>
        </p:nvSpPr>
        <p:spPr>
          <a:xfrm>
            <a:off x="1057834" y="2630718"/>
            <a:ext cx="8032377" cy="2163763"/>
          </a:xfrm>
          <a:ln/>
        </p:spPr>
        <p:txBody>
          <a:bodyPr vert="horz" wrap="square" lIns="91440" tIns="45720" rIns="91440" bIns="45720" anchor="t">
            <a:normAutofit/>
          </a:bodyPr>
          <a:lstStyle/>
          <a:p>
            <a:r>
              <a:rPr lang="en-US" altLang="en-US" sz="1800" i="1" dirty="0"/>
              <a:t>Port mirroring</a:t>
            </a:r>
            <a:r>
              <a:rPr lang="en-US" altLang="en-US" sz="1800" dirty="0"/>
              <a:t>, also called </a:t>
            </a:r>
            <a:r>
              <a:rPr lang="en-US" altLang="en-US" sz="1800" i="1" dirty="0"/>
              <a:t>Switch Port Analyzer (SPAN)</a:t>
            </a:r>
            <a:r>
              <a:rPr lang="en-US" altLang="en-US" sz="1800" dirty="0"/>
              <a:t>, allows you to sniff traffic on a network when using a switch. </a:t>
            </a:r>
          </a:p>
          <a:p>
            <a:r>
              <a:rPr lang="en-US" altLang="en-US" sz="1800" dirty="0"/>
              <a:t>A problem with this arises when you need to sniff traffic on a switched network.  The sniffer cannot see data going from Host A to Host B. </a:t>
            </a:r>
          </a:p>
          <a:p>
            <a:r>
              <a:rPr lang="en-US" altLang="en-US" sz="1800" dirty="0"/>
              <a:t>To solve this little snag, you could temporarily place a hub between Host A and Host B.</a:t>
            </a:r>
          </a:p>
        </p:txBody>
      </p:sp>
      <p:sp>
        <p:nvSpPr>
          <p:cNvPr id="4608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46090" name="Picture 11" descr="f1122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19200"/>
            <a:ext cx="3373438" cy="1295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91" name="Picture 12" descr="f1123.ep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270" y="4910599"/>
            <a:ext cx="3770313" cy="1447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90BD31-34ED-4D10-9726-724B442BBCAD}"/>
              </a:ext>
            </a:extLst>
          </p:cNvPr>
          <p:cNvGrpSpPr/>
          <p:nvPr/>
        </p:nvGrpSpPr>
        <p:grpSpPr>
          <a:xfrm>
            <a:off x="2133282" y="1799272"/>
            <a:ext cx="7925435" cy="3259455"/>
            <a:chOff x="1754" y="2065"/>
            <a:chExt cx="12481" cy="513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B59DEE1-8530-4376-A246-12B550B85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5" y="2065"/>
              <a:ext cx="1450" cy="1453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B6A1C71-EC9B-4890-B5AA-2A811FFDDA41}"/>
                </a:ext>
              </a:extLst>
            </p:cNvPr>
            <p:cNvGrpSpPr/>
            <p:nvPr/>
          </p:nvGrpSpPr>
          <p:grpSpPr>
            <a:xfrm>
              <a:off x="7910" y="2065"/>
              <a:ext cx="1450" cy="1453"/>
              <a:chOff x="4641850" y="2933699"/>
              <a:chExt cx="920750" cy="92312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01FD71A1-7EB5-40A5-BF6B-99BA86522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4641850" y="2933699"/>
                <a:ext cx="920750" cy="92312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8" name="TextBox 7">
                <a:extLst>
                  <a:ext uri="{FF2B5EF4-FFF2-40B4-BE49-F238E27FC236}">
                    <a16:creationId xmlns:a16="http://schemas.microsoft.com/office/drawing/2014/main" id="{824FAD0A-353A-4DF9-9F75-8D71A8B3EAB2}"/>
                  </a:ext>
                </a:extLst>
              </p:cNvPr>
              <p:cNvSpPr txBox="1"/>
              <p:nvPr/>
            </p:nvSpPr>
            <p:spPr>
              <a:xfrm>
                <a:off x="4962525" y="3100825"/>
                <a:ext cx="285656" cy="286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400" b="1" dirty="0">
                    <a:latin typeface="Calibri" panose="020F0502020204030204" pitchFamily="34" charset="0"/>
                  </a:rPr>
                  <a:t>B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6FB9E6-255D-4152-84A7-0D686BF13897}"/>
                </a:ext>
              </a:extLst>
            </p:cNvPr>
            <p:cNvGrpSpPr/>
            <p:nvPr/>
          </p:nvGrpSpPr>
          <p:grpSpPr>
            <a:xfrm>
              <a:off x="11895" y="5690"/>
              <a:ext cx="2340" cy="900"/>
              <a:chOff x="7315200" y="3590925"/>
              <a:chExt cx="1485900" cy="572294"/>
            </a:xfrm>
          </p:grpSpPr>
          <p:sp>
            <p:nvSpPr>
              <p:cNvPr id="25" name="Cube 24">
                <a:extLst>
                  <a:ext uri="{FF2B5EF4-FFF2-40B4-BE49-F238E27FC236}">
                    <a16:creationId xmlns:a16="http://schemas.microsoft.com/office/drawing/2014/main" id="{E3338955-FB31-4AA1-8BD2-7D9A220FF1E8}"/>
                  </a:ext>
                </a:extLst>
              </p:cNvPr>
              <p:cNvSpPr/>
              <p:nvPr/>
            </p:nvSpPr>
            <p:spPr>
              <a:xfrm>
                <a:off x="7315200" y="3590925"/>
                <a:ext cx="1485900" cy="572294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1905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lIns="82124" tIns="41061" rIns="82124" bIns="41061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 defTabSz="814705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endParaRPr lang="en-US" altLang="en-US" sz="2400" dirty="0"/>
              </a:p>
            </p:txBody>
          </p:sp>
          <p:sp>
            <p:nvSpPr>
              <p:cNvPr id="26" name="TextBox 18">
                <a:extLst>
                  <a:ext uri="{FF2B5EF4-FFF2-40B4-BE49-F238E27FC236}">
                    <a16:creationId xmlns:a16="http://schemas.microsoft.com/office/drawing/2014/main" id="{D283C6D3-AFF2-42F9-99D3-9A2562F73C5E}"/>
                  </a:ext>
                </a:extLst>
              </p:cNvPr>
              <p:cNvSpPr txBox="1"/>
              <p:nvPr/>
            </p:nvSpPr>
            <p:spPr>
              <a:xfrm>
                <a:off x="7584530" y="3763406"/>
                <a:ext cx="813813" cy="3416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800" b="1" dirty="0">
                    <a:latin typeface="Calibri" panose="020F0502020204030204" pitchFamily="34" charset="0"/>
                  </a:rPr>
                  <a:t>Sniffer</a:t>
                </a:r>
              </a:p>
            </p:txBody>
          </p:sp>
        </p:grpSp>
        <p:sp>
          <p:nvSpPr>
            <p:cNvPr id="6" name="Flowchart: Process 5">
              <a:extLst>
                <a:ext uri="{FF2B5EF4-FFF2-40B4-BE49-F238E27FC236}">
                  <a16:creationId xmlns:a16="http://schemas.microsoft.com/office/drawing/2014/main" id="{5F1FE9E7-48CC-4802-81E1-05935511B9EA}"/>
                </a:ext>
              </a:extLst>
            </p:cNvPr>
            <p:cNvSpPr/>
            <p:nvPr/>
          </p:nvSpPr>
          <p:spPr bwMode="auto">
            <a:xfrm>
              <a:off x="2693" y="5933"/>
              <a:ext cx="1873" cy="705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82124" tIns="41061" rIns="82124" bIns="41061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1470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FDF42AE-C041-479A-A582-892D588F0656}"/>
                </a:ext>
              </a:extLst>
            </p:cNvPr>
            <p:cNvGrpSpPr/>
            <p:nvPr/>
          </p:nvGrpSpPr>
          <p:grpSpPr>
            <a:xfrm>
              <a:off x="3961" y="3535"/>
              <a:ext cx="6973" cy="3663"/>
              <a:chOff x="2143125" y="3867265"/>
              <a:chExt cx="4427910" cy="232512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6BA7A39-BAA5-4737-B8BC-0C78826E5D7A}"/>
                  </a:ext>
                </a:extLst>
              </p:cNvPr>
              <p:cNvGrpSpPr/>
              <p:nvPr/>
            </p:nvGrpSpPr>
            <p:grpSpPr>
              <a:xfrm>
                <a:off x="2143125" y="4433865"/>
                <a:ext cx="4427910" cy="1758529"/>
                <a:chOff x="6693265" y="1832396"/>
                <a:chExt cx="4427910" cy="1758529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F2FAB7A7-B6F4-4460-8017-16707AC4CCAD}"/>
                    </a:ext>
                  </a:extLst>
                </p:cNvPr>
                <p:cNvGrpSpPr/>
                <p:nvPr/>
              </p:nvGrpSpPr>
              <p:grpSpPr>
                <a:xfrm>
                  <a:off x="6693265" y="1832396"/>
                  <a:ext cx="4427910" cy="1758529"/>
                  <a:chOff x="6693265" y="1832396"/>
                  <a:chExt cx="4427910" cy="1758529"/>
                </a:xfrm>
              </p:grpSpPr>
              <p:sp>
                <p:nvSpPr>
                  <p:cNvPr id="20" name="Can 26">
                    <a:extLst>
                      <a:ext uri="{FF2B5EF4-FFF2-40B4-BE49-F238E27FC236}">
                        <a16:creationId xmlns:a16="http://schemas.microsoft.com/office/drawing/2014/main" id="{C6A3815F-DF91-47FA-8C98-E84C979AED06}"/>
                      </a:ext>
                    </a:extLst>
                  </p:cNvPr>
                  <p:cNvSpPr/>
                  <p:nvPr/>
                </p:nvSpPr>
                <p:spPr bwMode="auto">
                  <a:xfrm rot="16200000">
                    <a:off x="6752872" y="2732996"/>
                    <a:ext cx="439633" cy="558847"/>
                  </a:xfrm>
                  <a:prstGeom prst="can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82124" tIns="41061" rIns="82124" bIns="41061" anchor="ctr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814705" rtl="0" eaLnBrk="1" fontAlgn="base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" name="Cube 20">
                    <a:extLst>
                      <a:ext uri="{FF2B5EF4-FFF2-40B4-BE49-F238E27FC236}">
                        <a16:creationId xmlns:a16="http://schemas.microsoft.com/office/drawing/2014/main" id="{AA6B8FA4-1963-41D8-ACD8-99FCB43B3B1D}"/>
                      </a:ext>
                    </a:extLst>
                  </p:cNvPr>
                  <p:cNvSpPr/>
                  <p:nvPr/>
                </p:nvSpPr>
                <p:spPr>
                  <a:xfrm>
                    <a:off x="7184571" y="2101932"/>
                    <a:ext cx="3633850" cy="1488993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chemeClr val="accent1"/>
                  </a:solidFill>
                  <a:ln w="9525" cap="flat" cmpd="sng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lIns="82124" tIns="41061" rIns="82124" bIns="41061" anchor="ctr">
                    <a:spAutoFit/>
                  </a:bodyPr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  <a:cs typeface="MS PGothic" panose="020B0600070205080204" pitchFamily="34" charset="-128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MS PGothic" panose="020B0600070205080204" pitchFamily="34" charset="-128"/>
                      </a:defRPr>
                    </a:lvl5pPr>
                  </a:lstStyle>
                  <a:p>
                    <a:pPr marL="0" lvl="0" indent="0" algn="ctr" defTabSz="814705" eaLnBrk="1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</a:pPr>
                    <a:endParaRPr lang="en-US" altLang="en-US" sz="2400" dirty="0"/>
                  </a:p>
                </p:txBody>
              </p:sp>
              <p:sp>
                <p:nvSpPr>
                  <p:cNvPr id="22" name="Can 28">
                    <a:extLst>
                      <a:ext uri="{FF2B5EF4-FFF2-40B4-BE49-F238E27FC236}">
                        <a16:creationId xmlns:a16="http://schemas.microsoft.com/office/drawing/2014/main" id="{D3624108-4F9D-4A61-998E-70CD23AF66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847475" y="1832396"/>
                    <a:ext cx="439774" cy="558666"/>
                  </a:xfrm>
                  <a:prstGeom prst="can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82124" tIns="41061" rIns="82124" bIns="41061" anchor="ctr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814705" rtl="0" eaLnBrk="1" fontAlgn="base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3" name="Can 29">
                    <a:extLst>
                      <a:ext uri="{FF2B5EF4-FFF2-40B4-BE49-F238E27FC236}">
                        <a16:creationId xmlns:a16="http://schemas.microsoft.com/office/drawing/2014/main" id="{22DBFDD0-D4FD-488E-95E8-917DC1EE49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508139" y="1832396"/>
                    <a:ext cx="439774" cy="558666"/>
                  </a:xfrm>
                  <a:prstGeom prst="can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82124" tIns="41061" rIns="82124" bIns="41061" anchor="ctr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814705" rtl="0" eaLnBrk="1" fontAlgn="base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4" name="Can 30">
                    <a:extLst>
                      <a:ext uri="{FF2B5EF4-FFF2-40B4-BE49-F238E27FC236}">
                        <a16:creationId xmlns:a16="http://schemas.microsoft.com/office/drawing/2014/main" id="{0ED8C676-D7F2-4ACF-B819-B7664BE5AE1B}"/>
                      </a:ext>
                    </a:extLst>
                  </p:cNvPr>
                  <p:cNvSpPr/>
                  <p:nvPr/>
                </p:nvSpPr>
                <p:spPr bwMode="auto">
                  <a:xfrm rot="5400000" flipH="1">
                    <a:off x="10622729" y="2659195"/>
                    <a:ext cx="438045" cy="558847"/>
                  </a:xfrm>
                  <a:prstGeom prst="can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 w="9525" cap="flat" cmpd="sng" algn="ctr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lIns="82124" tIns="41061" rIns="82124" bIns="41061" anchor="ctr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814705" rtl="0" eaLnBrk="1" fontAlgn="base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6" name="Flowchart: Process 15">
                  <a:extLst>
                    <a:ext uri="{FF2B5EF4-FFF2-40B4-BE49-F238E27FC236}">
                      <a16:creationId xmlns:a16="http://schemas.microsoft.com/office/drawing/2014/main" id="{48000057-5DB0-4EE0-B413-D75F6AC9978C}"/>
                    </a:ext>
                  </a:extLst>
                </p:cNvPr>
                <p:cNvSpPr/>
                <p:nvPr/>
              </p:nvSpPr>
              <p:spPr bwMode="auto">
                <a:xfrm>
                  <a:off x="7190195" y="2789429"/>
                  <a:ext cx="2743430" cy="447568"/>
                </a:xfrm>
                <a:prstGeom prst="flowChartProcess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lIns="82124" tIns="41061" rIns="82124" bIns="41061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814705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7" name="Flowchart: Process 16">
                  <a:extLst>
                    <a:ext uri="{FF2B5EF4-FFF2-40B4-BE49-F238E27FC236}">
                      <a16:creationId xmlns:a16="http://schemas.microsoft.com/office/drawing/2014/main" id="{A2C581E6-219D-45AD-B1EC-A2ACB56FAEF2}"/>
                    </a:ext>
                  </a:extLst>
                </p:cNvPr>
                <p:cNvSpPr/>
                <p:nvPr/>
              </p:nvSpPr>
              <p:spPr bwMode="auto">
                <a:xfrm rot="16200000">
                  <a:off x="9327270" y="2627470"/>
                  <a:ext cx="749121" cy="447713"/>
                </a:xfrm>
                <a:prstGeom prst="flowChartProcess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lIns="82124" tIns="41061" rIns="82124" bIns="41061" anchor="ctr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814705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9F0E46CD-FB34-45A6-9E5C-A3E5325C9D23}"/>
                    </a:ext>
                  </a:extLst>
                </p:cNvPr>
                <p:cNvCxnSpPr/>
                <p:nvPr/>
              </p:nvCxnSpPr>
              <p:spPr>
                <a:xfrm>
                  <a:off x="9930572" y="2476500"/>
                  <a:ext cx="0" cy="414338"/>
                </a:xfrm>
                <a:prstGeom prst="line">
                  <a:avLst/>
                </a:prstGeom>
                <a:ln w="9525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3B36BC91-9B26-41ED-ACF3-7CDD7ADB4774}"/>
                    </a:ext>
                  </a:extLst>
                </p:cNvPr>
                <p:cNvCxnSpPr>
                  <a:endCxn id="17" idx="0"/>
                </p:cNvCxnSpPr>
                <p:nvPr/>
              </p:nvCxnSpPr>
              <p:spPr>
                <a:xfrm>
                  <a:off x="9477561" y="2476500"/>
                  <a:ext cx="1" cy="310896"/>
                </a:xfrm>
                <a:prstGeom prst="line">
                  <a:avLst/>
                </a:prstGeom>
                <a:ln w="9525" cap="flat" cmpd="sng">
                  <a:solidFill>
                    <a:schemeClr val="bg2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4" name="Right Arrow 20">
                <a:extLst>
                  <a:ext uri="{FF2B5EF4-FFF2-40B4-BE49-F238E27FC236}">
                    <a16:creationId xmlns:a16="http://schemas.microsoft.com/office/drawing/2014/main" id="{9A49992F-F571-40C9-9233-E0C0DB7154CB}"/>
                  </a:ext>
                </a:extLst>
              </p:cNvPr>
              <p:cNvSpPr/>
              <p:nvPr/>
            </p:nvSpPr>
            <p:spPr bwMode="auto">
              <a:xfrm rot="16200000">
                <a:off x="4854112" y="3821914"/>
                <a:ext cx="639610" cy="730311"/>
              </a:xfrm>
              <a:prstGeom prst="rightArrow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lIns="82124" tIns="41061" rIns="82124" bIns="41061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14705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72E5BBC-49CC-46AF-A681-7BDBC7F547C0}"/>
                </a:ext>
              </a:extLst>
            </p:cNvPr>
            <p:cNvGrpSpPr/>
            <p:nvPr/>
          </p:nvGrpSpPr>
          <p:grpSpPr>
            <a:xfrm>
              <a:off x="1754" y="5633"/>
              <a:ext cx="1450" cy="1452"/>
              <a:chOff x="1222375" y="4581524"/>
              <a:chExt cx="920750" cy="92312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8E8C86F-26EE-49AD-8CC1-3632FE34CD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1222375" y="4581524"/>
                <a:ext cx="920750" cy="92312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2" name="TextBox 8">
                <a:extLst>
                  <a:ext uri="{FF2B5EF4-FFF2-40B4-BE49-F238E27FC236}">
                    <a16:creationId xmlns:a16="http://schemas.microsoft.com/office/drawing/2014/main" id="{377823BA-35C9-49DA-BF08-09179281F98B}"/>
                  </a:ext>
                </a:extLst>
              </p:cNvPr>
              <p:cNvSpPr txBox="1"/>
              <p:nvPr/>
            </p:nvSpPr>
            <p:spPr>
              <a:xfrm>
                <a:off x="1543050" y="4748650"/>
                <a:ext cx="293670" cy="2862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anchor="ctr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5pPr>
              </a:lstStyle>
              <a:p>
                <a:pPr marL="0" lvl="0" indent="0" eaLnBrk="1" hangingPunct="1">
                  <a:lnSpc>
                    <a:spcPct val="90000"/>
                  </a:lnSpc>
                  <a:spcBef>
                    <a:spcPct val="0"/>
                  </a:spcBef>
                  <a:buNone/>
                </a:pPr>
                <a:r>
                  <a:rPr lang="en-US" altLang="en-US" sz="1400" b="1" dirty="0">
                    <a:latin typeface="Calibri" panose="020F0502020204030204" pitchFamily="34" charset="0"/>
                  </a:rPr>
                  <a:t>A</a:t>
                </a:r>
              </a:p>
            </p:txBody>
          </p:sp>
        </p:grp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A0CCCFA5-0BB1-4C7F-9BC1-B8408B3B19D5}"/>
                </a:ext>
              </a:extLst>
            </p:cNvPr>
            <p:cNvSpPr/>
            <p:nvPr/>
          </p:nvSpPr>
          <p:spPr bwMode="auto">
            <a:xfrm>
              <a:off x="9048" y="5943"/>
              <a:ext cx="808" cy="705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82124" tIns="41061" rIns="82124" bIns="41061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1470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" name="Right Arrow 36">
              <a:extLst>
                <a:ext uri="{FF2B5EF4-FFF2-40B4-BE49-F238E27FC236}">
                  <a16:creationId xmlns:a16="http://schemas.microsoft.com/office/drawing/2014/main" id="{2B9AC41F-FE81-44B7-A3D7-9FF0AAE2417A}"/>
                </a:ext>
              </a:extLst>
            </p:cNvPr>
            <p:cNvSpPr/>
            <p:nvPr/>
          </p:nvSpPr>
          <p:spPr bwMode="auto">
            <a:xfrm>
              <a:off x="10818" y="5600"/>
              <a:ext cx="1008" cy="1153"/>
            </a:xfrm>
            <a:prstGeom prst="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82124" tIns="41061" rIns="82124" bIns="41061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14705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0" name="Title 29">
            <a:extLst>
              <a:ext uri="{FF2B5EF4-FFF2-40B4-BE49-F238E27FC236}">
                <a16:creationId xmlns:a16="http://schemas.microsoft.com/office/drawing/2014/main" id="{B8BAA60E-7915-4420-8BF6-A1B3F446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188" y="382385"/>
            <a:ext cx="10461812" cy="1492132"/>
          </a:xfrm>
        </p:spPr>
        <p:txBody>
          <a:bodyPr/>
          <a:lstStyle/>
          <a:p>
            <a:pPr algn="ctr"/>
            <a:r>
              <a:rPr lang="en-US" altLang="en-US" dirty="0"/>
              <a:t>Port Mirroring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1" name="Content Placeholder 9">
            <a:extLst>
              <a:ext uri="{FF2B5EF4-FFF2-40B4-BE49-F238E27FC236}">
                <a16:creationId xmlns:a16="http://schemas.microsoft.com/office/drawing/2014/main" id="{FB432E09-FD76-4F9B-A505-E64DFBC19726}"/>
              </a:ext>
            </a:extLst>
          </p:cNvPr>
          <p:cNvSpPr>
            <a:spLocks noGrp="1"/>
          </p:cNvSpPr>
          <p:nvPr/>
        </p:nvSpPr>
        <p:spPr>
          <a:xfrm>
            <a:off x="2747627" y="5296687"/>
            <a:ext cx="6629400" cy="8683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1800" dirty="0"/>
              <a:t>The port-mirroring option allows you to place a port in spanning mode so that every frame from Host A is captured by both Host B and the sniffer.</a:t>
            </a:r>
          </a:p>
        </p:txBody>
      </p:sp>
    </p:spTree>
    <p:extLst>
      <p:ext uri="{BB962C8B-B14F-4D97-AF65-F5344CB8AC3E}">
        <p14:creationId xmlns:p14="http://schemas.microsoft.com/office/powerpoint/2010/main" val="63234713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292</TotalTime>
  <Words>1600</Words>
  <Application>Microsoft Macintosh PowerPoint</Application>
  <PresentationFormat>Widescreen</PresentationFormat>
  <Paragraphs>221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Gill Sans MT</vt:lpstr>
      <vt:lpstr>Impact</vt:lpstr>
      <vt:lpstr>Times</vt:lpstr>
      <vt:lpstr>Badge</vt:lpstr>
      <vt:lpstr>Chapter 11</vt:lpstr>
      <vt:lpstr>Switches</vt:lpstr>
      <vt:lpstr>Switches Cont.</vt:lpstr>
      <vt:lpstr>Address Learning </vt:lpstr>
      <vt:lpstr>Forwarding/Filter Table</vt:lpstr>
      <vt:lpstr> Forwarding/Filter Table Evaluation      </vt:lpstr>
      <vt:lpstr>Loops</vt:lpstr>
      <vt:lpstr>Spanning Tree Protocol (STP)</vt:lpstr>
      <vt:lpstr>Spanning Tree Protocol (STP)</vt:lpstr>
      <vt:lpstr>Virtual LANS (VLANs)</vt:lpstr>
      <vt:lpstr>Quality of Service (QoS)</vt:lpstr>
      <vt:lpstr>VLAN Membership</vt:lpstr>
      <vt:lpstr>VLAN Trunking Protocol (VTP)</vt:lpstr>
      <vt:lpstr>VLAN Trunking Protocol (802.1q)</vt:lpstr>
      <vt:lpstr>Switches Removing  the Physical Boundary  </vt:lpstr>
      <vt:lpstr>Port Security</vt:lpstr>
      <vt:lpstr>Advanced Features</vt:lpstr>
      <vt:lpstr>Power over Ethernet (PoE)</vt:lpstr>
      <vt:lpstr>Port Mirroring/Spanning</vt:lpstr>
      <vt:lpstr>Port Mirroring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</dc:title>
  <dc:creator>Angel Maldonado</dc:creator>
  <cp:lastModifiedBy>Adrienne Bailey</cp:lastModifiedBy>
  <cp:revision>15</cp:revision>
  <dcterms:created xsi:type="dcterms:W3CDTF">2020-04-07T16:47:28Z</dcterms:created>
  <dcterms:modified xsi:type="dcterms:W3CDTF">2022-09-20T14:34:25Z</dcterms:modified>
</cp:coreProperties>
</file>